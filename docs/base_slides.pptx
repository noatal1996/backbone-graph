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1574" r:id="rId2"/>
    <p:sldId id="1581" r:id="rId3"/>
    <p:sldId id="1580" r:id="rId4"/>
    <p:sldId id="1596" r:id="rId5"/>
    <p:sldId id="1577" r:id="rId6"/>
    <p:sldId id="1582" r:id="rId7"/>
    <p:sldId id="1583" r:id="rId8"/>
    <p:sldId id="1591" r:id="rId9"/>
    <p:sldId id="1628" r:id="rId10"/>
    <p:sldId id="1613" r:id="rId11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81"/>
            <p14:sldId id="1580"/>
            <p14:sldId id="1596"/>
            <p14:sldId id="1577"/>
            <p14:sldId id="1582"/>
            <p14:sldId id="1583"/>
            <p14:sldId id="1591"/>
            <p14:sldId id="1628"/>
            <p14:sldId id="16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377"/>
    <a:srgbClr val="F59120"/>
    <a:srgbClr val="FF4343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E72004-61F2-4D6D-B395-3F69B2DB77B9}" v="6" dt="2026-02-22T11:40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 varScale="1">
        <p:scale>
          <a:sx n="93" d="100"/>
          <a:sy n="93" d="100"/>
        </p:scale>
        <p:origin x="644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mi Puzis (BGU)" userId="15455a32-cfa8-4f75-8502-2ebc95aecdb5" providerId="ADAL" clId="{4604D058-1A9B-4964-A759-971FC0161111}"/>
    <pc:docChg chg="custSel modSld">
      <pc:chgData name="Rami Puzis (BGU)" userId="15455a32-cfa8-4f75-8502-2ebc95aecdb5" providerId="ADAL" clId="{4604D058-1A9B-4964-A759-971FC0161111}" dt="2026-02-22T11:42:08.251" v="89" actId="20577"/>
      <pc:docMkLst>
        <pc:docMk/>
      </pc:docMkLst>
      <pc:sldChg chg="modSp mod">
        <pc:chgData name="Rami Puzis (BGU)" userId="15455a32-cfa8-4f75-8502-2ebc95aecdb5" providerId="ADAL" clId="{4604D058-1A9B-4964-A759-971FC0161111}" dt="2026-02-22T11:42:08.251" v="89" actId="20577"/>
        <pc:sldMkLst>
          <pc:docMk/>
          <pc:sldMk cId="2564283967" sldId="1581"/>
        </pc:sldMkLst>
        <pc:graphicFrameChg chg="mod modGraphic">
          <ac:chgData name="Rami Puzis (BGU)" userId="15455a32-cfa8-4f75-8502-2ebc95aecdb5" providerId="ADAL" clId="{4604D058-1A9B-4964-A759-971FC0161111}" dt="2026-02-22T11:42:08.251" v="89" actId="20577"/>
          <ac:graphicFrameMkLst>
            <pc:docMk/>
            <pc:sldMk cId="2564283967" sldId="1581"/>
            <ac:graphicFrameMk id="6" creationId="{B16D549A-CC57-1C2C-A976-5DA7CC5B8247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1ADD07-83FC-412A-AFCA-54ED7AB8BDE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20BF6AF-D097-451B-B004-3E4F0E0AEEB9}">
      <dgm:prSet/>
      <dgm:spPr/>
      <dgm:t>
        <a:bodyPr/>
        <a:lstStyle/>
        <a:p>
          <a:pPr rtl="0"/>
          <a:r>
            <a:rPr lang="en-GB" dirty="0"/>
            <a:t>Hypothesis: </a:t>
          </a:r>
        </a:p>
        <a:p>
          <a:pPr rtl="0"/>
          <a:r>
            <a:rPr lang="en-GB" dirty="0"/>
            <a:t>Successful information operation </a:t>
          </a:r>
          <a:r>
            <a:rPr lang="en-GB" b="0" dirty="0"/>
            <a:t>drivers</a:t>
          </a:r>
          <a:r>
            <a:rPr lang="en-GB" dirty="0"/>
            <a:t> </a:t>
          </a:r>
          <a:r>
            <a:rPr lang="en-GB" b="1" dirty="0"/>
            <a:t>lead topic-level discourse </a:t>
          </a:r>
          <a:r>
            <a:rPr lang="en-GB" dirty="0"/>
            <a:t>and act in </a:t>
          </a:r>
          <a:r>
            <a:rPr lang="en-GB" b="1" dirty="0"/>
            <a:t>coordination</a:t>
          </a:r>
          <a:r>
            <a:rPr lang="en-GB" dirty="0"/>
            <a:t> with other drivers. </a:t>
          </a:r>
          <a:endParaRPr lang="en-US" dirty="0"/>
        </a:p>
      </dgm:t>
    </dgm:pt>
    <dgm:pt modelId="{1B3DA8FE-615C-4CAD-AD1A-83C4D5C3B18E}" type="parTrans" cxnId="{C0F4BB65-B1A1-46FC-8E88-C5B7A3B5290C}">
      <dgm:prSet/>
      <dgm:spPr/>
      <dgm:t>
        <a:bodyPr/>
        <a:lstStyle/>
        <a:p>
          <a:endParaRPr lang="en-US"/>
        </a:p>
      </dgm:t>
    </dgm:pt>
    <dgm:pt modelId="{F3538FF5-C72C-4C84-89BC-6ECE192FF4F4}" type="sibTrans" cxnId="{C0F4BB65-B1A1-46FC-8E88-C5B7A3B5290C}">
      <dgm:prSet/>
      <dgm:spPr/>
      <dgm:t>
        <a:bodyPr/>
        <a:lstStyle/>
        <a:p>
          <a:endParaRPr lang="en-US"/>
        </a:p>
      </dgm:t>
    </dgm:pt>
    <dgm:pt modelId="{E39D2ACD-8A0D-4B01-833E-8042ACD0DB54}">
      <dgm:prSet/>
      <dgm:spPr/>
      <dgm:t>
        <a:bodyPr/>
        <a:lstStyle/>
        <a:p>
          <a:pPr rtl="0"/>
          <a:r>
            <a:rPr lang="en-GB" dirty="0"/>
            <a:t>Objectives:</a:t>
          </a:r>
        </a:p>
        <a:p>
          <a:pPr rtl="0"/>
          <a:r>
            <a:rPr lang="en-GB" dirty="0"/>
            <a:t>Author’s </a:t>
          </a:r>
          <a:r>
            <a:rPr lang="en-GB" b="1" dirty="0"/>
            <a:t>key score </a:t>
          </a:r>
          <a:r>
            <a:rPr lang="en-GB" b="0" dirty="0"/>
            <a:t>to </a:t>
          </a:r>
          <a:r>
            <a:rPr lang="en-GB" dirty="0"/>
            <a:t>quantify topic leadership. </a:t>
          </a:r>
        </a:p>
        <a:p>
          <a:pPr rtl="0"/>
          <a:r>
            <a:rPr lang="en-GB" b="1" dirty="0"/>
            <a:t>Backbone graph </a:t>
          </a:r>
          <a:r>
            <a:rPr lang="en-GB" b="0" dirty="0"/>
            <a:t>to </a:t>
          </a:r>
          <a:r>
            <a:rPr lang="en-GB" dirty="0"/>
            <a:t>capture coordination among key authors. </a:t>
          </a:r>
          <a:endParaRPr lang="en-US" dirty="0"/>
        </a:p>
      </dgm:t>
    </dgm:pt>
    <dgm:pt modelId="{50BCA0A0-F847-40B6-A29A-9E80CAFF435E}" type="parTrans" cxnId="{BCC7FBA5-3595-4076-A26A-50B09B66D361}">
      <dgm:prSet/>
      <dgm:spPr/>
      <dgm:t>
        <a:bodyPr/>
        <a:lstStyle/>
        <a:p>
          <a:endParaRPr lang="en-US"/>
        </a:p>
      </dgm:t>
    </dgm:pt>
    <dgm:pt modelId="{06BACE1A-323F-4E92-90EF-7FB1DEFFCD2C}" type="sibTrans" cxnId="{BCC7FBA5-3595-4076-A26A-50B09B66D361}">
      <dgm:prSet/>
      <dgm:spPr/>
      <dgm:t>
        <a:bodyPr/>
        <a:lstStyle/>
        <a:p>
          <a:endParaRPr lang="en-US"/>
        </a:p>
      </dgm:t>
    </dgm:pt>
    <dgm:pt modelId="{2A8A38E9-53CA-44D5-8DFC-907932863099}">
      <dgm:prSet custT="1"/>
      <dgm:spPr/>
      <dgm:t>
        <a:bodyPr/>
        <a:lstStyle/>
        <a:p>
          <a:pPr rtl="0"/>
          <a:r>
            <a:rPr lang="en-GB" sz="1800" kern="1200" dirty="0"/>
            <a:t>Goal:</a:t>
          </a:r>
        </a:p>
        <a:p>
          <a:pPr rtl="0"/>
          <a:r>
            <a:rPr lang="en-GB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Calculation</a:t>
          </a:r>
          <a:r>
            <a:rPr lang="en-GB" sz="1800" kern="1200" dirty="0"/>
            <a:t> of </a:t>
          </a:r>
          <a:r>
            <a:rPr lang="en-GB" sz="1800" b="1" kern="1200" dirty="0"/>
            <a:t>graph-based indicators </a:t>
          </a:r>
          <a:r>
            <a:rPr lang="en-GB" sz="1800" kern="1200" dirty="0"/>
            <a:t>(e.g., centralities) to identify information operation (IO) drivers.</a:t>
          </a:r>
          <a:endParaRPr lang="en-US" sz="1800" kern="1200" dirty="0"/>
        </a:p>
      </dgm:t>
    </dgm:pt>
    <dgm:pt modelId="{1C19421E-9F25-4C69-A119-786E9C23DCF0}" type="parTrans" cxnId="{3ACB8547-BA01-42D1-807F-761232340476}">
      <dgm:prSet/>
      <dgm:spPr/>
      <dgm:t>
        <a:bodyPr/>
        <a:lstStyle/>
        <a:p>
          <a:endParaRPr lang="en-US"/>
        </a:p>
      </dgm:t>
    </dgm:pt>
    <dgm:pt modelId="{DAD72EB5-E415-4649-A88F-D2A6BD457E78}" type="sibTrans" cxnId="{3ACB8547-BA01-42D1-807F-761232340476}">
      <dgm:prSet/>
      <dgm:spPr/>
      <dgm:t>
        <a:bodyPr/>
        <a:lstStyle/>
        <a:p>
          <a:endParaRPr lang="en-US"/>
        </a:p>
      </dgm:t>
    </dgm:pt>
    <dgm:pt modelId="{B49D8D80-4BEC-43F9-8332-FDD107B3F2C9}" type="pres">
      <dgm:prSet presAssocID="{551ADD07-83FC-412A-AFCA-54ED7AB8BDE9}" presName="root" presStyleCnt="0">
        <dgm:presLayoutVars>
          <dgm:dir/>
          <dgm:resizeHandles val="exact"/>
        </dgm:presLayoutVars>
      </dgm:prSet>
      <dgm:spPr/>
    </dgm:pt>
    <dgm:pt modelId="{234596F3-45E6-4A0B-84CB-CD7F1CEC7BB6}" type="pres">
      <dgm:prSet presAssocID="{920BF6AF-D097-451B-B004-3E4F0E0AEEB9}" presName="compNode" presStyleCnt="0"/>
      <dgm:spPr/>
    </dgm:pt>
    <dgm:pt modelId="{2C6B269B-04EF-4B77-8D34-4ED88A9CC619}" type="pres">
      <dgm:prSet presAssocID="{920BF6AF-D097-451B-B004-3E4F0E0AEEB9}" presName="bgRect" presStyleLbl="bgShp" presStyleIdx="0" presStyleCnt="3"/>
      <dgm:spPr/>
    </dgm:pt>
    <dgm:pt modelId="{AB766CAB-60EC-49F0-89A5-002DEB1DC9EC}" type="pres">
      <dgm:prSet presAssocID="{920BF6AF-D097-451B-B004-3E4F0E0AEEB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fic Thought with solid fill"/>
        </a:ext>
      </dgm:extLst>
    </dgm:pt>
    <dgm:pt modelId="{0B721B38-D226-410F-BAC9-2D888665195E}" type="pres">
      <dgm:prSet presAssocID="{920BF6AF-D097-451B-B004-3E4F0E0AEEB9}" presName="spaceRect" presStyleCnt="0"/>
      <dgm:spPr/>
    </dgm:pt>
    <dgm:pt modelId="{3E637D1C-C465-4876-A83C-04C72BB5E998}" type="pres">
      <dgm:prSet presAssocID="{920BF6AF-D097-451B-B004-3E4F0E0AEEB9}" presName="parTx" presStyleLbl="revTx" presStyleIdx="0" presStyleCnt="3">
        <dgm:presLayoutVars>
          <dgm:chMax val="0"/>
          <dgm:chPref val="0"/>
        </dgm:presLayoutVars>
      </dgm:prSet>
      <dgm:spPr/>
    </dgm:pt>
    <dgm:pt modelId="{A0B18739-A66C-4214-A36E-80ABCD3F56E6}" type="pres">
      <dgm:prSet presAssocID="{F3538FF5-C72C-4C84-89BC-6ECE192FF4F4}" presName="sibTrans" presStyleCnt="0"/>
      <dgm:spPr/>
    </dgm:pt>
    <dgm:pt modelId="{E94B648F-B109-44D3-A362-5A7CD8456848}" type="pres">
      <dgm:prSet presAssocID="{E39D2ACD-8A0D-4B01-833E-8042ACD0DB54}" presName="compNode" presStyleCnt="0"/>
      <dgm:spPr/>
    </dgm:pt>
    <dgm:pt modelId="{02F5843F-E1CD-4550-87C4-36EB26BEC779}" type="pres">
      <dgm:prSet presAssocID="{E39D2ACD-8A0D-4B01-833E-8042ACD0DB54}" presName="bgRect" presStyleLbl="bgShp" presStyleIdx="1" presStyleCnt="3"/>
      <dgm:spPr/>
    </dgm:pt>
    <dgm:pt modelId="{9E158E14-3B86-4CC1-9750-95325F6E3EB0}" type="pres">
      <dgm:prSet presAssocID="{E39D2ACD-8A0D-4B01-833E-8042ACD0DB5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 with solid fill"/>
        </a:ext>
      </dgm:extLst>
    </dgm:pt>
    <dgm:pt modelId="{F60FB6F8-463F-492D-AC38-859ADB965D33}" type="pres">
      <dgm:prSet presAssocID="{E39D2ACD-8A0D-4B01-833E-8042ACD0DB54}" presName="spaceRect" presStyleCnt="0"/>
      <dgm:spPr/>
    </dgm:pt>
    <dgm:pt modelId="{F428F88E-A70C-48F6-A66B-5274C025ABDE}" type="pres">
      <dgm:prSet presAssocID="{E39D2ACD-8A0D-4B01-833E-8042ACD0DB54}" presName="parTx" presStyleLbl="revTx" presStyleIdx="1" presStyleCnt="3">
        <dgm:presLayoutVars>
          <dgm:chMax val="0"/>
          <dgm:chPref val="0"/>
        </dgm:presLayoutVars>
      </dgm:prSet>
      <dgm:spPr/>
    </dgm:pt>
    <dgm:pt modelId="{F5E726E4-A878-457E-933C-BCEA315CA0C3}" type="pres">
      <dgm:prSet presAssocID="{06BACE1A-323F-4E92-90EF-7FB1DEFFCD2C}" presName="sibTrans" presStyleCnt="0"/>
      <dgm:spPr/>
    </dgm:pt>
    <dgm:pt modelId="{BD3B9828-9F25-45F0-995B-881D686D90DF}" type="pres">
      <dgm:prSet presAssocID="{2A8A38E9-53CA-44D5-8DFC-907932863099}" presName="compNode" presStyleCnt="0"/>
      <dgm:spPr/>
    </dgm:pt>
    <dgm:pt modelId="{85833E2F-A6EA-4B2D-BD32-529530AB4589}" type="pres">
      <dgm:prSet presAssocID="{2A8A38E9-53CA-44D5-8DFC-907932863099}" presName="bgRect" presStyleLbl="bgShp" presStyleIdx="2" presStyleCnt="3"/>
      <dgm:spPr/>
    </dgm:pt>
    <dgm:pt modelId="{847822B6-69AC-4972-8322-EB9ABE8D34B9}" type="pres">
      <dgm:prSet presAssocID="{2A8A38E9-53CA-44D5-8DFC-90793286309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 with solid fill"/>
        </a:ext>
      </dgm:extLst>
    </dgm:pt>
    <dgm:pt modelId="{DDA98E99-0ADD-4B53-8FFE-DE6E80B72A59}" type="pres">
      <dgm:prSet presAssocID="{2A8A38E9-53CA-44D5-8DFC-907932863099}" presName="spaceRect" presStyleCnt="0"/>
      <dgm:spPr/>
    </dgm:pt>
    <dgm:pt modelId="{7E1E5A94-5C6C-43EF-91F4-61637B702812}" type="pres">
      <dgm:prSet presAssocID="{2A8A38E9-53CA-44D5-8DFC-90793286309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C0F4BB65-B1A1-46FC-8E88-C5B7A3B5290C}" srcId="{551ADD07-83FC-412A-AFCA-54ED7AB8BDE9}" destId="{920BF6AF-D097-451B-B004-3E4F0E0AEEB9}" srcOrd="0" destOrd="0" parTransId="{1B3DA8FE-615C-4CAD-AD1A-83C4D5C3B18E}" sibTransId="{F3538FF5-C72C-4C84-89BC-6ECE192FF4F4}"/>
    <dgm:cxn modelId="{3ACB8547-BA01-42D1-807F-761232340476}" srcId="{551ADD07-83FC-412A-AFCA-54ED7AB8BDE9}" destId="{2A8A38E9-53CA-44D5-8DFC-907932863099}" srcOrd="2" destOrd="0" parTransId="{1C19421E-9F25-4C69-A119-786E9C23DCF0}" sibTransId="{DAD72EB5-E415-4649-A88F-D2A6BD457E78}"/>
    <dgm:cxn modelId="{476DC380-D90B-4963-BA1D-EF004B8DFF9C}" type="presOf" srcId="{2A8A38E9-53CA-44D5-8DFC-907932863099}" destId="{7E1E5A94-5C6C-43EF-91F4-61637B702812}" srcOrd="0" destOrd="0" presId="urn:microsoft.com/office/officeart/2018/2/layout/IconVerticalSolidList"/>
    <dgm:cxn modelId="{BE2D088D-B685-4251-B03A-05C57EA6D1CA}" type="presOf" srcId="{E39D2ACD-8A0D-4B01-833E-8042ACD0DB54}" destId="{F428F88E-A70C-48F6-A66B-5274C025ABDE}" srcOrd="0" destOrd="0" presId="urn:microsoft.com/office/officeart/2018/2/layout/IconVerticalSolidList"/>
    <dgm:cxn modelId="{F98D408E-0BAD-4B33-9130-865164C21D5B}" type="presOf" srcId="{920BF6AF-D097-451B-B004-3E4F0E0AEEB9}" destId="{3E637D1C-C465-4876-A83C-04C72BB5E998}" srcOrd="0" destOrd="0" presId="urn:microsoft.com/office/officeart/2018/2/layout/IconVerticalSolidList"/>
    <dgm:cxn modelId="{BCC7FBA5-3595-4076-A26A-50B09B66D361}" srcId="{551ADD07-83FC-412A-AFCA-54ED7AB8BDE9}" destId="{E39D2ACD-8A0D-4B01-833E-8042ACD0DB54}" srcOrd="1" destOrd="0" parTransId="{50BCA0A0-F847-40B6-A29A-9E80CAFF435E}" sibTransId="{06BACE1A-323F-4E92-90EF-7FB1DEFFCD2C}"/>
    <dgm:cxn modelId="{AAF066BC-CAAA-4763-ADA3-D4F009CCE9A2}" type="presOf" srcId="{551ADD07-83FC-412A-AFCA-54ED7AB8BDE9}" destId="{B49D8D80-4BEC-43F9-8332-FDD107B3F2C9}" srcOrd="0" destOrd="0" presId="urn:microsoft.com/office/officeart/2018/2/layout/IconVerticalSolidList"/>
    <dgm:cxn modelId="{BCE67295-3472-4649-8578-5A2AF0877308}" type="presParOf" srcId="{B49D8D80-4BEC-43F9-8332-FDD107B3F2C9}" destId="{234596F3-45E6-4A0B-84CB-CD7F1CEC7BB6}" srcOrd="0" destOrd="0" presId="urn:microsoft.com/office/officeart/2018/2/layout/IconVerticalSolidList"/>
    <dgm:cxn modelId="{37B27883-AE4D-4F43-AAA9-364B1799A38D}" type="presParOf" srcId="{234596F3-45E6-4A0B-84CB-CD7F1CEC7BB6}" destId="{2C6B269B-04EF-4B77-8D34-4ED88A9CC619}" srcOrd="0" destOrd="0" presId="urn:microsoft.com/office/officeart/2018/2/layout/IconVerticalSolidList"/>
    <dgm:cxn modelId="{1FE31726-CE1A-4FF2-8F3A-3F6A8C1ECB72}" type="presParOf" srcId="{234596F3-45E6-4A0B-84CB-CD7F1CEC7BB6}" destId="{AB766CAB-60EC-49F0-89A5-002DEB1DC9EC}" srcOrd="1" destOrd="0" presId="urn:microsoft.com/office/officeart/2018/2/layout/IconVerticalSolidList"/>
    <dgm:cxn modelId="{D43CBF48-864E-42B2-B4C7-FEFD0C4EA1C1}" type="presParOf" srcId="{234596F3-45E6-4A0B-84CB-CD7F1CEC7BB6}" destId="{0B721B38-D226-410F-BAC9-2D888665195E}" srcOrd="2" destOrd="0" presId="urn:microsoft.com/office/officeart/2018/2/layout/IconVerticalSolidList"/>
    <dgm:cxn modelId="{F2616297-CF9C-4A9F-B438-8A02AF8EA604}" type="presParOf" srcId="{234596F3-45E6-4A0B-84CB-CD7F1CEC7BB6}" destId="{3E637D1C-C465-4876-A83C-04C72BB5E998}" srcOrd="3" destOrd="0" presId="urn:microsoft.com/office/officeart/2018/2/layout/IconVerticalSolidList"/>
    <dgm:cxn modelId="{021E74C0-B682-4A7C-9B3C-80BC6A1A451E}" type="presParOf" srcId="{B49D8D80-4BEC-43F9-8332-FDD107B3F2C9}" destId="{A0B18739-A66C-4214-A36E-80ABCD3F56E6}" srcOrd="1" destOrd="0" presId="urn:microsoft.com/office/officeart/2018/2/layout/IconVerticalSolidList"/>
    <dgm:cxn modelId="{5DD145BE-095B-4298-ADFC-8002C6AAD15E}" type="presParOf" srcId="{B49D8D80-4BEC-43F9-8332-FDD107B3F2C9}" destId="{E94B648F-B109-44D3-A362-5A7CD8456848}" srcOrd="2" destOrd="0" presId="urn:microsoft.com/office/officeart/2018/2/layout/IconVerticalSolidList"/>
    <dgm:cxn modelId="{96C74A1F-B98D-4223-A5E9-7277AE40F887}" type="presParOf" srcId="{E94B648F-B109-44D3-A362-5A7CD8456848}" destId="{02F5843F-E1CD-4550-87C4-36EB26BEC779}" srcOrd="0" destOrd="0" presId="urn:microsoft.com/office/officeart/2018/2/layout/IconVerticalSolidList"/>
    <dgm:cxn modelId="{37551C3B-A61E-40CD-95E6-06EC81BA6221}" type="presParOf" srcId="{E94B648F-B109-44D3-A362-5A7CD8456848}" destId="{9E158E14-3B86-4CC1-9750-95325F6E3EB0}" srcOrd="1" destOrd="0" presId="urn:microsoft.com/office/officeart/2018/2/layout/IconVerticalSolidList"/>
    <dgm:cxn modelId="{5B8E7111-26D5-45A9-A2C9-F67EC4DD4DD7}" type="presParOf" srcId="{E94B648F-B109-44D3-A362-5A7CD8456848}" destId="{F60FB6F8-463F-492D-AC38-859ADB965D33}" srcOrd="2" destOrd="0" presId="urn:microsoft.com/office/officeart/2018/2/layout/IconVerticalSolidList"/>
    <dgm:cxn modelId="{CAAC9538-3BDC-4D91-AC63-E046372345FF}" type="presParOf" srcId="{E94B648F-B109-44D3-A362-5A7CD8456848}" destId="{F428F88E-A70C-48F6-A66B-5274C025ABDE}" srcOrd="3" destOrd="0" presId="urn:microsoft.com/office/officeart/2018/2/layout/IconVerticalSolidList"/>
    <dgm:cxn modelId="{BB8A6ED7-F291-4709-814C-3DFCF74B0B5C}" type="presParOf" srcId="{B49D8D80-4BEC-43F9-8332-FDD107B3F2C9}" destId="{F5E726E4-A878-457E-933C-BCEA315CA0C3}" srcOrd="3" destOrd="0" presId="urn:microsoft.com/office/officeart/2018/2/layout/IconVerticalSolidList"/>
    <dgm:cxn modelId="{193E6BFC-A4A5-4A3B-BE91-424D6674F48E}" type="presParOf" srcId="{B49D8D80-4BEC-43F9-8332-FDD107B3F2C9}" destId="{BD3B9828-9F25-45F0-995B-881D686D90DF}" srcOrd="4" destOrd="0" presId="urn:microsoft.com/office/officeart/2018/2/layout/IconVerticalSolidList"/>
    <dgm:cxn modelId="{605738E7-7BB8-4D55-B283-D6BDF1D1C1C7}" type="presParOf" srcId="{BD3B9828-9F25-45F0-995B-881D686D90DF}" destId="{85833E2F-A6EA-4B2D-BD32-529530AB4589}" srcOrd="0" destOrd="0" presId="urn:microsoft.com/office/officeart/2018/2/layout/IconVerticalSolidList"/>
    <dgm:cxn modelId="{AD77C2DA-7E28-4367-8BE2-3300AC8794C3}" type="presParOf" srcId="{BD3B9828-9F25-45F0-995B-881D686D90DF}" destId="{847822B6-69AC-4972-8322-EB9ABE8D34B9}" srcOrd="1" destOrd="0" presId="urn:microsoft.com/office/officeart/2018/2/layout/IconVerticalSolidList"/>
    <dgm:cxn modelId="{833343CF-0F77-4BD0-9825-DC8C6C39F459}" type="presParOf" srcId="{BD3B9828-9F25-45F0-995B-881D686D90DF}" destId="{DDA98E99-0ADD-4B53-8FFE-DE6E80B72A59}" srcOrd="2" destOrd="0" presId="urn:microsoft.com/office/officeart/2018/2/layout/IconVerticalSolidList"/>
    <dgm:cxn modelId="{C9F44501-FBA1-4F35-B8A0-6554C28CFF8F}" type="presParOf" srcId="{BD3B9828-9F25-45F0-995B-881D686D90DF}" destId="{7E1E5A94-5C6C-43EF-91F4-61637B70281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6B269B-04EF-4B77-8D34-4ED88A9CC619}">
      <dsp:nvSpPr>
        <dsp:cNvPr id="0" name=""/>
        <dsp:cNvSpPr/>
      </dsp:nvSpPr>
      <dsp:spPr>
        <a:xfrm>
          <a:off x="0" y="53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766CAB-60EC-49F0-89A5-002DEB1DC9EC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637D1C-C465-4876-A83C-04C72BB5E998}">
      <dsp:nvSpPr>
        <dsp:cNvPr id="0" name=""/>
        <dsp:cNvSpPr/>
      </dsp:nvSpPr>
      <dsp:spPr>
        <a:xfrm>
          <a:off x="1435590" y="53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Hypothesis: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Successful information operation </a:t>
          </a:r>
          <a:r>
            <a:rPr lang="en-GB" sz="1800" b="0" kern="1200" dirty="0"/>
            <a:t>drivers</a:t>
          </a:r>
          <a:r>
            <a:rPr lang="en-GB" sz="1800" kern="1200" dirty="0"/>
            <a:t> </a:t>
          </a:r>
          <a:r>
            <a:rPr lang="en-GB" sz="1800" b="1" kern="1200" dirty="0"/>
            <a:t>lead topic-level discourse </a:t>
          </a:r>
          <a:r>
            <a:rPr lang="en-GB" sz="1800" kern="1200" dirty="0"/>
            <a:t>and act in </a:t>
          </a:r>
          <a:r>
            <a:rPr lang="en-GB" sz="1800" b="1" kern="1200" dirty="0"/>
            <a:t>coordination</a:t>
          </a:r>
          <a:r>
            <a:rPr lang="en-GB" sz="1800" kern="1200" dirty="0"/>
            <a:t> with other drivers. </a:t>
          </a:r>
          <a:endParaRPr lang="en-US" sz="1800" kern="1200" dirty="0"/>
        </a:p>
      </dsp:txBody>
      <dsp:txXfrm>
        <a:off x="1435590" y="531"/>
        <a:ext cx="9147065" cy="1242935"/>
      </dsp:txXfrm>
    </dsp:sp>
    <dsp:sp modelId="{02F5843F-E1CD-4550-87C4-36EB26BEC779}">
      <dsp:nvSpPr>
        <dsp:cNvPr id="0" name=""/>
        <dsp:cNvSpPr/>
      </dsp:nvSpPr>
      <dsp:spPr>
        <a:xfrm>
          <a:off x="0" y="155420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158E14-3B86-4CC1-9750-95325F6E3EB0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28F88E-A70C-48F6-A66B-5274C025ABDE}">
      <dsp:nvSpPr>
        <dsp:cNvPr id="0" name=""/>
        <dsp:cNvSpPr/>
      </dsp:nvSpPr>
      <dsp:spPr>
        <a:xfrm>
          <a:off x="1435590" y="155420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Objectives: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Author’s </a:t>
          </a:r>
          <a:r>
            <a:rPr lang="en-GB" sz="1800" b="1" kern="1200" dirty="0"/>
            <a:t>key score </a:t>
          </a:r>
          <a:r>
            <a:rPr lang="en-GB" sz="1800" b="0" kern="1200" dirty="0"/>
            <a:t>to </a:t>
          </a:r>
          <a:r>
            <a:rPr lang="en-GB" sz="1800" kern="1200" dirty="0"/>
            <a:t>quantify topic leadership.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b="1" kern="1200" dirty="0"/>
            <a:t>Backbone graph </a:t>
          </a:r>
          <a:r>
            <a:rPr lang="en-GB" sz="1800" b="0" kern="1200" dirty="0"/>
            <a:t>to </a:t>
          </a:r>
          <a:r>
            <a:rPr lang="en-GB" sz="1800" kern="1200" dirty="0"/>
            <a:t>capture coordination among key authors. </a:t>
          </a:r>
          <a:endParaRPr lang="en-US" sz="1800" kern="1200" dirty="0"/>
        </a:p>
      </dsp:txBody>
      <dsp:txXfrm>
        <a:off x="1435590" y="1554201"/>
        <a:ext cx="9147065" cy="1242935"/>
      </dsp:txXfrm>
    </dsp:sp>
    <dsp:sp modelId="{85833E2F-A6EA-4B2D-BD32-529530AB4589}">
      <dsp:nvSpPr>
        <dsp:cNvPr id="0" name=""/>
        <dsp:cNvSpPr/>
      </dsp:nvSpPr>
      <dsp:spPr>
        <a:xfrm>
          <a:off x="0" y="3107870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7822B6-69AC-4972-8322-EB9ABE8D34B9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1E5A94-5C6C-43EF-91F4-61637B702812}">
      <dsp:nvSpPr>
        <dsp:cNvPr id="0" name=""/>
        <dsp:cNvSpPr/>
      </dsp:nvSpPr>
      <dsp:spPr>
        <a:xfrm>
          <a:off x="1435590" y="3107870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Goal: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Calculation</a:t>
          </a:r>
          <a:r>
            <a:rPr lang="en-GB" sz="1800" kern="1200" dirty="0"/>
            <a:t> of </a:t>
          </a:r>
          <a:r>
            <a:rPr lang="en-GB" sz="1800" b="1" kern="1200" dirty="0"/>
            <a:t>graph-based indicators </a:t>
          </a:r>
          <a:r>
            <a:rPr lang="en-GB" sz="1800" kern="1200" dirty="0"/>
            <a:t>(e.g., centralities) to identify information operation (IO) drivers.</a:t>
          </a:r>
          <a:endParaRPr lang="en-US" sz="1800" kern="1200" dirty="0"/>
        </a:p>
      </dsp:txBody>
      <dsp:txXfrm>
        <a:off x="1435590" y="3107870"/>
        <a:ext cx="9147065" cy="12429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י"א/אדר/תשפ"ו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473ED-A99E-1255-DF0A-F46C0A3F8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38042E-74BF-F12B-EB05-B5A12A791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9362C-8306-7A0F-CDF5-AFC8289AE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EDC18-E9C8-4ECA-7039-35E23F9D9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57236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7" name="Picture 6" descr="A document with text on it&#10;&#10;AI-generated content may be incorrect.">
            <a:extLst>
              <a:ext uri="{FF2B5EF4-FFF2-40B4-BE49-F238E27FC236}">
                <a16:creationId xmlns:a16="http://schemas.microsoft.com/office/drawing/2014/main" id="{221434F7-1295-8CB3-5E53-891A52C3D7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6" t="8664" r="8034" b="78094"/>
          <a:stretch>
            <a:fillRect/>
          </a:stretch>
        </p:blipFill>
        <p:spPr>
          <a:xfrm>
            <a:off x="1038256" y="2478278"/>
            <a:ext cx="10821413" cy="2294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28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30.12.3000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54D25-02A9-78EB-690B-D93ACC2A9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C47FB-3B8E-1F68-D6EB-C3B6C0E7B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Core Concepts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68C5A-EA8F-5CB7-FF7C-6442F88DB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</a:t>
            </a:fld>
            <a:endParaRPr lang="he-IL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B16D549A-CC57-1C2C-A976-5DA7CC5B82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0926029"/>
              </p:ext>
            </p:extLst>
          </p:nvPr>
        </p:nvGraphicFramePr>
        <p:xfrm>
          <a:off x="1243087" y="1825625"/>
          <a:ext cx="1058265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4283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A5E6-67A6-5CC2-AA8C-8AEBAB88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F828567-A0B2-4EE2-B776-601A30421946}"/>
              </a:ext>
            </a:extLst>
          </p:cNvPr>
          <p:cNvSpPr/>
          <p:nvPr/>
        </p:nvSpPr>
        <p:spPr>
          <a:xfrm>
            <a:off x="3932608" y="5410867"/>
            <a:ext cx="2149642" cy="6425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Boost Author Selection</a:t>
            </a:r>
            <a:endParaRPr lang="en-IL" sz="1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D202656-0FAA-3E0A-1841-9E488B105D79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6082250" y="4455122"/>
            <a:ext cx="834189" cy="12770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AF861B9-33A2-CCAC-A0E0-6075D8434240}"/>
              </a:ext>
            </a:extLst>
          </p:cNvPr>
          <p:cNvSpPr txBox="1"/>
          <p:nvPr/>
        </p:nvSpPr>
        <p:spPr>
          <a:xfrm>
            <a:off x="6625161" y="5030238"/>
            <a:ext cx="1334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Boost workflow to be decided</a:t>
            </a:r>
            <a:endParaRPr lang="en-IL" sz="1400" dirty="0"/>
          </a:p>
        </p:txBody>
      </p:sp>
    </p:spTree>
    <p:extLst>
      <p:ext uri="{BB962C8B-B14F-4D97-AF65-F5344CB8AC3E}">
        <p14:creationId xmlns:p14="http://schemas.microsoft.com/office/powerpoint/2010/main" val="2852582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053291"/>
              </p:ext>
            </p:extLst>
          </p:nvPr>
        </p:nvGraphicFramePr>
        <p:xfrm>
          <a:off x="1296561" y="1594306"/>
          <a:ext cx="10601378" cy="5227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Collection of 26 information operation (IO).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Campaigns from multiple countries.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Fully labeled (IO vs. Control accounts).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sz="2000" b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b="1" u="sng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000" b="1" u="none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  <a:endParaRPr lang="en-US" sz="2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US 2024 Election Dataset</a:t>
                      </a:r>
                    </a:p>
                    <a:p>
                      <a:pPr marL="0" indent="0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Clean dataset.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42,211,159 tweets.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January 1 – December 31, 2024.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000" b="1" u="none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Key Timeline Events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Jul 13 – Attempted assassination of Donald Trump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Jul 21 – Joe Biden withdrew from presidential race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Aug 5 – Kamala Harris formally nominated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Nov 5 – Election Day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Nov 6 – Election results announced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6C1-AB65-35BD-8133-F3F29DB9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IO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1FA6F-2F61-214E-F20E-E15E3A7E9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Information Operation (IO):</a:t>
            </a:r>
            <a:r>
              <a:rPr lang="en-GB" dirty="0"/>
              <a:t> A collection of publications by coordinated actors pursuing a shared intent while misleading others.</a:t>
            </a:r>
          </a:p>
          <a:p>
            <a:pPr fontAlgn="base"/>
            <a:r>
              <a:rPr lang="en-GB" b="1" dirty="0"/>
              <a:t>IO Driver:</a:t>
            </a:r>
            <a:r>
              <a:rPr lang="en-GB" dirty="0"/>
              <a:t> An account that promotes one or more IO.</a:t>
            </a:r>
          </a:p>
          <a:p>
            <a:pPr fontAlgn="base"/>
            <a:r>
              <a:rPr lang="en-GB" b="1" dirty="0"/>
              <a:t>Author ‘s IO Label:</a:t>
            </a:r>
            <a:r>
              <a:rPr lang="en-GB" dirty="0"/>
              <a:t> label =  1 if the author is a IO Driver and label = 0 if not.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42458-50C9-BF06-3967-CE25C3C3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92892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F5D21-FEAA-6801-6A47-D72173FC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8C365-C8A0-2A99-D1C2-5872EAA4D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Key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F7DE5-3E08-EDD2-0E70-2E2FD9E3B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Key Author:</a:t>
            </a:r>
            <a:r>
              <a:rPr lang="en-GB" dirty="0"/>
              <a:t> An author who is a leading participant in one or more topic(s).</a:t>
            </a:r>
          </a:p>
          <a:p>
            <a:r>
              <a:rPr lang="en-GB" b="1" dirty="0"/>
              <a:t>Author-Topic Key Score: </a:t>
            </a:r>
            <a:r>
              <a:rPr lang="en-GB" dirty="0"/>
              <a:t>A measure of how strongly an author is associated with a topic, emphasizing topic-specific content. It is calculated based on the use of topic-related entities (e.g., hashtags, mentions, URLs) in the author’s posts.</a:t>
            </a:r>
            <a:endParaRPr lang="en-GB" b="1" dirty="0"/>
          </a:p>
          <a:p>
            <a:r>
              <a:rPr lang="en-GB" b="1" dirty="0"/>
              <a:t>Author Key Score: </a:t>
            </a:r>
            <a:r>
              <a:rPr lang="en-GB" dirty="0"/>
              <a:t>sum of the </a:t>
            </a:r>
            <a:r>
              <a:rPr lang="en-GB" i="1" dirty="0"/>
              <a:t>Author-Topic Key Score </a:t>
            </a:r>
            <a:r>
              <a:rPr lang="en-GB" dirty="0"/>
              <a:t>across all topics</a:t>
            </a:r>
            <a:r>
              <a:rPr lang="en-GB" i="1" dirty="0"/>
              <a:t>.</a:t>
            </a:r>
          </a:p>
          <a:p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43EF8-3FAF-E450-9AAA-2FA80E88E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90370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31453-5316-D9B7-938F-2E71B0F5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D6C-06E1-D2FD-D6D7-A5B2B115A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</a:t>
            </a:r>
            <a:r>
              <a:rPr lang="en-GB" dirty="0"/>
              <a:t>Boost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613BB-A790-CA2A-55AD-2E034BEFF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Boost author: </a:t>
            </a:r>
            <a:r>
              <a:rPr lang="en-GB" dirty="0"/>
              <a:t>An author whose activity is followed by a significant increase in discussion activity.</a:t>
            </a:r>
          </a:p>
          <a:p>
            <a:r>
              <a:rPr lang="en-GB" b="1" dirty="0"/>
              <a:t>Author`s Boost Score: </a:t>
            </a:r>
            <a:r>
              <a:rPr lang="en-GB" dirty="0"/>
              <a:t>A quantitative measure calculated as the cumulative burst weights associated with a user's activity, based on discussion volume increases occurring shortly after the user posts or contributes.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80B6C7-B0F5-46CB-5DE4-36B539A76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75685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Key authors.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Represent behavioural similarity, based on co-actions (e.g. same hashtag usage, repos)</a:t>
            </a:r>
          </a:p>
          <a:p>
            <a:r>
              <a:rPr lang="en-GB" sz="2800" b="1" dirty="0"/>
              <a:t>Edges’ Weights:</a:t>
            </a:r>
            <a:r>
              <a:rPr lang="en-GB" sz="2800" dirty="0"/>
              <a:t> The number of the occurrences of co-actions between the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Represent the discussion structure and expose signals of coordinated behaviour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0CF04-DED3-2E08-8761-891A60FEF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18744-AA3F-0C94-68C3-B98E69E97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879976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 err="1"/>
              <a:t>Tfidf</a:t>
            </a:r>
            <a:r>
              <a:rPr lang="en-GB" b="1" dirty="0"/>
              <a:t> sum: </a:t>
            </a:r>
            <a:r>
              <a:rPr lang="en-GB" dirty="0"/>
              <a:t>The sum of the all the per-topic </a:t>
            </a:r>
            <a:r>
              <a:rPr lang="en-GB" dirty="0" err="1"/>
              <a:t>tdidf</a:t>
            </a:r>
            <a:r>
              <a:rPr lang="en-GB" dirty="0"/>
              <a:t> score. How much the author is a leading participant in the topics.</a:t>
            </a:r>
          </a:p>
          <a:p>
            <a:r>
              <a:rPr lang="en-GB" b="1" dirty="0"/>
              <a:t>K-core: </a:t>
            </a:r>
            <a:r>
              <a:rPr lang="en-GB" dirty="0"/>
              <a:t>Indicates how deeply embedded a user is within the dense group.</a:t>
            </a:r>
          </a:p>
          <a:p>
            <a:r>
              <a:rPr lang="en-GB" b="1" dirty="0" err="1"/>
              <a:t>Pagerank</a:t>
            </a:r>
            <a:r>
              <a:rPr lang="en-GB" b="1" dirty="0"/>
              <a:t>: </a:t>
            </a:r>
            <a:r>
              <a:rPr lang="en-GB" dirty="0"/>
              <a:t>Estimates a user’s overall importance based on how many important users connect to them.</a:t>
            </a:r>
          </a:p>
          <a:p>
            <a:r>
              <a:rPr lang="en-GB" b="1" dirty="0"/>
              <a:t>Clustering: </a:t>
            </a:r>
            <a:r>
              <a:rPr lang="en-GB" dirty="0"/>
              <a:t>Measures how tightly connected a user’s </a:t>
            </a:r>
            <a:r>
              <a:rPr lang="en-GB" dirty="0" err="1"/>
              <a:t>neighbors</a:t>
            </a:r>
            <a:r>
              <a:rPr lang="en-GB" dirty="0"/>
              <a:t> are to each other.</a:t>
            </a:r>
          </a:p>
          <a:p>
            <a:r>
              <a:rPr lang="en-GB" b="1" dirty="0"/>
              <a:t>Square clustering: </a:t>
            </a:r>
            <a:r>
              <a:rPr lang="en-GB" dirty="0"/>
              <a:t>Measures how often a user participates in tightly connected small group structures.</a:t>
            </a:r>
          </a:p>
          <a:p>
            <a:r>
              <a:rPr lang="en-GB" b="1" dirty="0"/>
              <a:t>Degree centrality: </a:t>
            </a:r>
            <a:r>
              <a:rPr lang="en-GB" dirty="0"/>
              <a:t>Counts how many direct connections a user has.</a:t>
            </a:r>
          </a:p>
          <a:p>
            <a:r>
              <a:rPr lang="en-GB" b="1" dirty="0"/>
              <a:t>Eigenvector centrality: </a:t>
            </a:r>
            <a:r>
              <a:rPr lang="en-GB" dirty="0"/>
              <a:t>Shows whether a user is connected to other high-scoring users.</a:t>
            </a:r>
          </a:p>
          <a:p>
            <a:r>
              <a:rPr lang="en-GB" b="1" dirty="0"/>
              <a:t>Harmonic centrality: </a:t>
            </a:r>
            <a:r>
              <a:rPr lang="en-GB" dirty="0"/>
              <a:t>Reflects how easily a user can reach many others in the network.</a:t>
            </a:r>
          </a:p>
          <a:p>
            <a:r>
              <a:rPr lang="en-GB" b="1" dirty="0"/>
              <a:t>Betweenness centrality: </a:t>
            </a:r>
            <a:r>
              <a:rPr lang="en-GB" dirty="0"/>
              <a:t>measures how frequently a node appears on the shortest path between other,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9E058-D5C2-C2B9-04B1-D7B341490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77267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BEF17-A85B-69A7-4947-96097D1A5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E2D88-5AB1-052E-FB13-E091040FA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 &amp; IO Indicators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DFBC-E283-482F-07BA-A333B910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10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66A4053E-AB18-5F2F-D1F0-F2B2E52984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2" t="3063" r="4355"/>
          <a:stretch>
            <a:fillRect/>
          </a:stretch>
        </p:blipFill>
        <p:spPr>
          <a:xfrm>
            <a:off x="1616927" y="1630362"/>
            <a:ext cx="6362773" cy="5176361"/>
          </a:xfrm>
        </p:spPr>
      </p:pic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94C0EF37-C21E-64B9-190B-12A5FFAC380E}"/>
              </a:ext>
            </a:extLst>
          </p:cNvPr>
          <p:cNvSpPr/>
          <p:nvPr/>
        </p:nvSpPr>
        <p:spPr>
          <a:xfrm>
            <a:off x="6840109" y="4305300"/>
            <a:ext cx="558911" cy="559646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D78D894D-6702-3125-2BFF-3DB2ECBA4904}"/>
              </a:ext>
            </a:extLst>
          </p:cNvPr>
          <p:cNvSpPr/>
          <p:nvPr/>
        </p:nvSpPr>
        <p:spPr>
          <a:xfrm>
            <a:off x="8256994" y="2008500"/>
            <a:ext cx="360000" cy="360000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99B6F5-B9F8-08F7-1704-81E9386024CC}"/>
              </a:ext>
            </a:extLst>
          </p:cNvPr>
          <p:cNvSpPr txBox="1"/>
          <p:nvPr/>
        </p:nvSpPr>
        <p:spPr>
          <a:xfrm>
            <a:off x="8824162" y="1983610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degree centrality </a:t>
            </a:r>
            <a:endParaRPr lang="en-IL" dirty="0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755C2BB5-5CCD-8048-0623-B56A7107E499}"/>
              </a:ext>
            </a:extLst>
          </p:cNvPr>
          <p:cNvSpPr/>
          <p:nvPr/>
        </p:nvSpPr>
        <p:spPr>
          <a:xfrm>
            <a:off x="1738768" y="3086616"/>
            <a:ext cx="1057772" cy="891024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28978A85-2029-EA91-65C8-D4836607FD42}"/>
              </a:ext>
            </a:extLst>
          </p:cNvPr>
          <p:cNvSpPr/>
          <p:nvPr/>
        </p:nvSpPr>
        <p:spPr>
          <a:xfrm>
            <a:off x="8256994" y="3116584"/>
            <a:ext cx="360000" cy="360000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25336-454F-FE31-1422-436892C703EC}"/>
              </a:ext>
            </a:extLst>
          </p:cNvPr>
          <p:cNvSpPr txBox="1"/>
          <p:nvPr/>
        </p:nvSpPr>
        <p:spPr>
          <a:xfrm>
            <a:off x="8824162" y="3095422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k-core</a:t>
            </a:r>
            <a:endParaRPr lang="en-IL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871B8A36-FB76-083A-5FA0-EA7EA872E11A}"/>
              </a:ext>
            </a:extLst>
          </p:cNvPr>
          <p:cNvSpPr/>
          <p:nvPr/>
        </p:nvSpPr>
        <p:spPr>
          <a:xfrm>
            <a:off x="8256994" y="3670626"/>
            <a:ext cx="360000" cy="36000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BCE1F5E2-96CB-66E7-B575-B51DA37B4E37}"/>
              </a:ext>
            </a:extLst>
          </p:cNvPr>
          <p:cNvSpPr/>
          <p:nvPr/>
        </p:nvSpPr>
        <p:spPr>
          <a:xfrm>
            <a:off x="3481782" y="3449324"/>
            <a:ext cx="2251102" cy="153924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54FF2-3B58-D836-F1A2-897465C04679}"/>
              </a:ext>
            </a:extLst>
          </p:cNvPr>
          <p:cNvSpPr txBox="1"/>
          <p:nvPr/>
        </p:nvSpPr>
        <p:spPr>
          <a:xfrm>
            <a:off x="8824162" y="3698672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high</a:t>
            </a:r>
            <a:endParaRPr lang="en-IL" dirty="0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CFD6D60-027A-1FE4-805D-AC0BDD584F9A}"/>
              </a:ext>
            </a:extLst>
          </p:cNvPr>
          <p:cNvSpPr/>
          <p:nvPr/>
        </p:nvSpPr>
        <p:spPr>
          <a:xfrm>
            <a:off x="8256994" y="2562542"/>
            <a:ext cx="360000" cy="360000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BBC2B-DFD1-CC39-847A-385C36AC7347}"/>
              </a:ext>
            </a:extLst>
          </p:cNvPr>
          <p:cNvSpPr txBox="1"/>
          <p:nvPr/>
        </p:nvSpPr>
        <p:spPr>
          <a:xfrm>
            <a:off x="8824162" y="2553210"/>
            <a:ext cx="283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eigenvector centrality </a:t>
            </a:r>
            <a:endParaRPr lang="en-IL" dirty="0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87C4792C-A2E7-5B20-B256-55095FB999CA}"/>
              </a:ext>
            </a:extLst>
          </p:cNvPr>
          <p:cNvSpPr/>
          <p:nvPr/>
        </p:nvSpPr>
        <p:spPr>
          <a:xfrm>
            <a:off x="4708538" y="2184404"/>
            <a:ext cx="966331" cy="825496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80593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11570</TotalTime>
  <Words>747</Words>
  <Application>Microsoft Office PowerPoint</Application>
  <PresentationFormat>Widescreen</PresentationFormat>
  <Paragraphs>82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Backbone Graph</vt:lpstr>
      <vt:lpstr>Core Concepts</vt:lpstr>
      <vt:lpstr>PowerPoint Presentation</vt:lpstr>
      <vt:lpstr>Datasets</vt:lpstr>
      <vt:lpstr>Terms &amp; Definitions - IO</vt:lpstr>
      <vt:lpstr>Terms &amp; Definitions - Key</vt:lpstr>
      <vt:lpstr>Terms &amp; Definitions - Boost</vt:lpstr>
      <vt:lpstr>Backbone Graph</vt:lpstr>
      <vt:lpstr>Indicators</vt:lpstr>
      <vt:lpstr>Backbone Graph &amp; IO Indicators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339</cp:revision>
  <dcterms:created xsi:type="dcterms:W3CDTF">2021-05-04T15:24:24Z</dcterms:created>
  <dcterms:modified xsi:type="dcterms:W3CDTF">2026-02-28T22:02:04Z</dcterms:modified>
</cp:coreProperties>
</file>