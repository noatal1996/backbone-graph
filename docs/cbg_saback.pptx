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1574" r:id="rId2"/>
    <p:sldId id="1597" r:id="rId3"/>
    <p:sldId id="1598" r:id="rId4"/>
    <p:sldId id="1575" r:id="rId5"/>
    <p:sldId id="1596" r:id="rId6"/>
    <p:sldId id="1611" r:id="rId7"/>
    <p:sldId id="1614" r:id="rId8"/>
    <p:sldId id="1608" r:id="rId9"/>
    <p:sldId id="1601" r:id="rId10"/>
    <p:sldId id="1604" r:id="rId11"/>
    <p:sldId id="1603" r:id="rId12"/>
    <p:sldId id="1581" r:id="rId13"/>
    <p:sldId id="1605" r:id="rId14"/>
    <p:sldId id="1584" r:id="rId15"/>
    <p:sldId id="1585" r:id="rId16"/>
    <p:sldId id="1606" r:id="rId17"/>
    <p:sldId id="1587" r:id="rId18"/>
    <p:sldId id="1607" r:id="rId19"/>
    <p:sldId id="1589" r:id="rId20"/>
    <p:sldId id="1609" r:id="rId21"/>
    <p:sldId id="1591" r:id="rId22"/>
    <p:sldId id="1594" r:id="rId23"/>
    <p:sldId id="1610" r:id="rId24"/>
    <p:sldId id="1593" r:id="rId25"/>
    <p:sldId id="1612" r:id="rId26"/>
    <p:sldId id="1613" r:id="rId27"/>
    <p:sldId id="1595" r:id="rId28"/>
    <p:sldId id="1616" r:id="rId29"/>
    <p:sldId id="1615" r:id="rId30"/>
    <p:sldId id="260" r:id="rId31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A84E6CC-2EA2-4553-A6A4-DAF877036261}">
          <p14:sldIdLst>
            <p14:sldId id="1574"/>
            <p14:sldId id="1597"/>
            <p14:sldId id="1598"/>
            <p14:sldId id="1575"/>
            <p14:sldId id="1596"/>
            <p14:sldId id="1611"/>
            <p14:sldId id="1614"/>
            <p14:sldId id="1608"/>
            <p14:sldId id="1601"/>
            <p14:sldId id="1604"/>
            <p14:sldId id="1603"/>
            <p14:sldId id="1581"/>
            <p14:sldId id="1605"/>
            <p14:sldId id="1584"/>
            <p14:sldId id="1585"/>
            <p14:sldId id="1606"/>
            <p14:sldId id="1587"/>
            <p14:sldId id="1607"/>
            <p14:sldId id="1589"/>
            <p14:sldId id="1609"/>
            <p14:sldId id="1591"/>
            <p14:sldId id="1594"/>
            <p14:sldId id="1610"/>
            <p14:sldId id="1593"/>
            <p14:sldId id="1612"/>
            <p14:sldId id="1613"/>
            <p14:sldId id="1595"/>
            <p14:sldId id="1616"/>
            <p14:sldId id="1615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377"/>
    <a:srgbClr val="F59120"/>
    <a:srgbClr val="FF4343"/>
    <a:srgbClr val="548235"/>
    <a:srgbClr val="009DBB"/>
    <a:srgbClr val="0688BA"/>
    <a:srgbClr val="005488"/>
    <a:srgbClr val="006189"/>
    <a:srgbClr val="5D5D5F"/>
    <a:srgbClr val="FE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033" autoAdjust="0"/>
  </p:normalViewPr>
  <p:slideViewPr>
    <p:cSldViewPr snapToGrid="0">
      <p:cViewPr varScale="1">
        <p:scale>
          <a:sx n="79" d="100"/>
          <a:sy n="79" d="100"/>
        </p:scale>
        <p:origin x="744" y="5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חן פרידמן" userId="bcd6e6b1-6b56-4e54-af8d-4432b359a0fe" providerId="ADAL" clId="{ACE5DC10-28ED-45B3-AF90-6C4947596268}"/>
    <pc:docChg chg="undo custSel addSld delSld modSld sldOrd">
      <pc:chgData name="חן פרידמן" userId="bcd6e6b1-6b56-4e54-af8d-4432b359a0fe" providerId="ADAL" clId="{ACE5DC10-28ED-45B3-AF90-6C4947596268}" dt="2025-12-21T11:51:30.649" v="225" actId="20577"/>
      <pc:docMkLst>
        <pc:docMk/>
      </pc:docMkLst>
      <pc:sldChg chg="modSp">
        <pc:chgData name="חן פרידמן" userId="bcd6e6b1-6b56-4e54-af8d-4432b359a0fe" providerId="ADAL" clId="{ACE5DC10-28ED-45B3-AF90-6C4947596268}" dt="2025-12-21T11:14:02.598" v="49" actId="20577"/>
        <pc:sldMkLst>
          <pc:docMk/>
          <pc:sldMk cId="132160383" sldId="1574"/>
        </pc:sldMkLst>
        <pc:spChg chg="mod">
          <ac:chgData name="חן פרידמן" userId="bcd6e6b1-6b56-4e54-af8d-4432b359a0fe" providerId="ADAL" clId="{ACE5DC10-28ED-45B3-AF90-6C4947596268}" dt="2025-12-21T11:14:02.598" v="49" actId="20577"/>
          <ac:spMkLst>
            <pc:docMk/>
            <pc:sldMk cId="132160383" sldId="1574"/>
            <ac:spMk id="6" creationId="{B553B468-8035-4F27-9A10-D7A4E7C759F1}"/>
          </ac:spMkLst>
        </pc:spChg>
      </pc:sldChg>
      <pc:sldChg chg="del">
        <pc:chgData name="חן פרידמן" userId="bcd6e6b1-6b56-4e54-af8d-4432b359a0fe" providerId="ADAL" clId="{ACE5DC10-28ED-45B3-AF90-6C4947596268}" dt="2025-12-21T11:12:08.976" v="4" actId="2696"/>
        <pc:sldMkLst>
          <pc:docMk/>
          <pc:sldMk cId="3172543812" sldId="1667"/>
        </pc:sldMkLst>
      </pc:sldChg>
      <pc:sldChg chg="addSp delSp modSp add">
        <pc:chgData name="חן פרידמן" userId="bcd6e6b1-6b56-4e54-af8d-4432b359a0fe" providerId="ADAL" clId="{ACE5DC10-28ED-45B3-AF90-6C4947596268}" dt="2025-12-21T11:12:25.273" v="15" actId="478"/>
        <pc:sldMkLst>
          <pc:docMk/>
          <pc:sldMk cId="2570145380" sldId="1668"/>
        </pc:sldMkLst>
        <pc:spChg chg="del">
          <ac:chgData name="חן פרידמן" userId="bcd6e6b1-6b56-4e54-af8d-4432b359a0fe" providerId="ADAL" clId="{ACE5DC10-28ED-45B3-AF90-6C4947596268}" dt="2025-12-21T11:12:25.273" v="15" actId="478"/>
          <ac:spMkLst>
            <pc:docMk/>
            <pc:sldMk cId="2570145380" sldId="1668"/>
            <ac:spMk id="2" creationId="{611C8480-7996-425D-8334-60680BA9CF3A}"/>
          </ac:spMkLst>
        </pc:spChg>
        <pc:spChg chg="del mod">
          <ac:chgData name="חן פרידמן" userId="bcd6e6b1-6b56-4e54-af8d-4432b359a0fe" providerId="ADAL" clId="{ACE5DC10-28ED-45B3-AF90-6C4947596268}" dt="2025-12-21T11:12:06.714" v="3"/>
          <ac:spMkLst>
            <pc:docMk/>
            <pc:sldMk cId="2570145380" sldId="1668"/>
            <ac:spMk id="3" creationId="{EDAF9AAB-1EED-42C4-960F-4BF899666680}"/>
          </ac:spMkLst>
        </pc:spChg>
        <pc:picChg chg="add mod">
          <ac:chgData name="חן פרידמן" userId="bcd6e6b1-6b56-4e54-af8d-4432b359a0fe" providerId="ADAL" clId="{ACE5DC10-28ED-45B3-AF90-6C4947596268}" dt="2025-12-21T11:12:24.136" v="14" actId="1076"/>
          <ac:picMkLst>
            <pc:docMk/>
            <pc:sldMk cId="2570145380" sldId="1668"/>
            <ac:picMk id="6" creationId="{2F133023-E1FA-4D9A-A1DB-DDDFD4905063}"/>
          </ac:picMkLst>
        </pc:picChg>
        <pc:picChg chg="add del mod">
          <ac:chgData name="חן פרידמן" userId="bcd6e6b1-6b56-4e54-af8d-4432b359a0fe" providerId="ADAL" clId="{ACE5DC10-28ED-45B3-AF90-6C4947596268}" dt="2025-12-21T11:12:22.136" v="13" actId="478"/>
          <ac:picMkLst>
            <pc:docMk/>
            <pc:sldMk cId="2570145380" sldId="1668"/>
            <ac:picMk id="8" creationId="{7BFC025C-0ED8-410B-B11F-6AAC0560BCE9}"/>
          </ac:picMkLst>
        </pc:picChg>
        <pc:picChg chg="add del mod">
          <ac:chgData name="חן פרידמן" userId="bcd6e6b1-6b56-4e54-af8d-4432b359a0fe" providerId="ADAL" clId="{ACE5DC10-28ED-45B3-AF90-6C4947596268}" dt="2025-12-21T11:12:20.713" v="12" actId="478"/>
          <ac:picMkLst>
            <pc:docMk/>
            <pc:sldMk cId="2570145380" sldId="1668"/>
            <ac:picMk id="10" creationId="{E61A6B70-CAD7-4BDA-B50A-47009B4E9FE3}"/>
          </ac:picMkLst>
        </pc:picChg>
      </pc:sldChg>
      <pc:sldChg chg="del">
        <pc:chgData name="חן פרידמן" userId="bcd6e6b1-6b56-4e54-af8d-4432b359a0fe" providerId="ADAL" clId="{ACE5DC10-28ED-45B3-AF90-6C4947596268}" dt="2025-12-21T11:11:51.180" v="0" actId="2696"/>
        <pc:sldMkLst>
          <pc:docMk/>
          <pc:sldMk cId="3698545494" sldId="1668"/>
        </pc:sldMkLst>
      </pc:sldChg>
      <pc:sldChg chg="add">
        <pc:chgData name="חן פרידמן" userId="bcd6e6b1-6b56-4e54-af8d-4432b359a0fe" providerId="ADAL" clId="{ACE5DC10-28ED-45B3-AF90-6C4947596268}" dt="2025-12-21T11:12:10.511" v="5"/>
        <pc:sldMkLst>
          <pc:docMk/>
          <pc:sldMk cId="3180822841" sldId="1669"/>
        </pc:sldMkLst>
      </pc:sldChg>
      <pc:sldChg chg="addSp delSp modSp add ord">
        <pc:chgData name="חן פרידמן" userId="bcd6e6b1-6b56-4e54-af8d-4432b359a0fe" providerId="ADAL" clId="{ACE5DC10-28ED-45B3-AF90-6C4947596268}" dt="2025-12-21T11:12:19.728" v="11"/>
        <pc:sldMkLst>
          <pc:docMk/>
          <pc:sldMk cId="2758228725" sldId="1670"/>
        </pc:sldMkLst>
        <pc:spChg chg="del">
          <ac:chgData name="חן פרידמן" userId="bcd6e6b1-6b56-4e54-af8d-4432b359a0fe" providerId="ADAL" clId="{ACE5DC10-28ED-45B3-AF90-6C4947596268}" dt="2025-12-21T11:12:16.249" v="9" actId="478"/>
          <ac:spMkLst>
            <pc:docMk/>
            <pc:sldMk cId="2758228725" sldId="1670"/>
            <ac:spMk id="2" creationId="{611C8480-7996-425D-8334-60680BA9CF3A}"/>
          </ac:spMkLst>
        </pc:spChg>
        <pc:spChg chg="add del mod">
          <ac:chgData name="חן פרידמן" userId="bcd6e6b1-6b56-4e54-af8d-4432b359a0fe" providerId="ADAL" clId="{ACE5DC10-28ED-45B3-AF90-6C4947596268}" dt="2025-12-21T11:12:17.702" v="10" actId="478"/>
          <ac:spMkLst>
            <pc:docMk/>
            <pc:sldMk cId="2758228725" sldId="1670"/>
            <ac:spMk id="5" creationId="{E6D37E27-E3B0-495E-9BAE-B828BF003926}"/>
          </ac:spMkLst>
        </pc:spChg>
        <pc:picChg chg="del">
          <ac:chgData name="חן פרידמן" userId="bcd6e6b1-6b56-4e54-af8d-4432b359a0fe" providerId="ADAL" clId="{ACE5DC10-28ED-45B3-AF90-6C4947596268}" dt="2025-12-21T11:12:14.748" v="8" actId="478"/>
          <ac:picMkLst>
            <pc:docMk/>
            <pc:sldMk cId="2758228725" sldId="1670"/>
            <ac:picMk id="6" creationId="{2F133023-E1FA-4D9A-A1DB-DDDFD4905063}"/>
          </ac:picMkLst>
        </pc:picChg>
        <pc:picChg chg="del">
          <ac:chgData name="חן פרידמן" userId="bcd6e6b1-6b56-4e54-af8d-4432b359a0fe" providerId="ADAL" clId="{ACE5DC10-28ED-45B3-AF90-6C4947596268}" dt="2025-12-21T11:12:13.433" v="7" actId="478"/>
          <ac:picMkLst>
            <pc:docMk/>
            <pc:sldMk cId="2758228725" sldId="1670"/>
            <ac:picMk id="10" creationId="{E61A6B70-CAD7-4BDA-B50A-47009B4E9FE3}"/>
          </ac:picMkLst>
        </pc:picChg>
      </pc:sldChg>
      <pc:sldChg chg="addSp delSp modSp add">
        <pc:chgData name="חן פרידמן" userId="bcd6e6b1-6b56-4e54-af8d-4432b359a0fe" providerId="ADAL" clId="{ACE5DC10-28ED-45B3-AF90-6C4947596268}" dt="2025-12-21T11:13:44.014" v="36" actId="1076"/>
        <pc:sldMkLst>
          <pc:docMk/>
          <pc:sldMk cId="1890324457" sldId="1671"/>
        </pc:sldMkLst>
        <pc:spChg chg="del">
          <ac:chgData name="חן פרידמן" userId="bcd6e6b1-6b56-4e54-af8d-4432b359a0fe" providerId="ADAL" clId="{ACE5DC10-28ED-45B3-AF90-6C4947596268}" dt="2025-12-21T11:13:02.776" v="19" actId="478"/>
          <ac:spMkLst>
            <pc:docMk/>
            <pc:sldMk cId="1890324457" sldId="1671"/>
            <ac:spMk id="2" creationId="{4534A598-5C48-4C65-AE5A-E2DB7ACCD4E2}"/>
          </ac:spMkLst>
        </pc:spChg>
        <pc:spChg chg="del">
          <ac:chgData name="חן פרידמן" userId="bcd6e6b1-6b56-4e54-af8d-4432b359a0fe" providerId="ADAL" clId="{ACE5DC10-28ED-45B3-AF90-6C4947596268}" dt="2025-12-21T11:13:01.043" v="18"/>
          <ac:spMkLst>
            <pc:docMk/>
            <pc:sldMk cId="1890324457" sldId="1671"/>
            <ac:spMk id="3" creationId="{5445E6B7-55E5-4ED2-B890-06BB48E5CBE8}"/>
          </ac:spMkLst>
        </pc:spChg>
        <pc:spChg chg="add">
          <ac:chgData name="חן פרידמן" userId="bcd6e6b1-6b56-4e54-af8d-4432b359a0fe" providerId="ADAL" clId="{ACE5DC10-28ED-45B3-AF90-6C4947596268}" dt="2025-12-21T11:12:49.162" v="17"/>
          <ac:spMkLst>
            <pc:docMk/>
            <pc:sldMk cId="1890324457" sldId="1671"/>
            <ac:spMk id="5" creationId="{5A237CFF-B177-42ED-BEA5-BC519A06AD66}"/>
          </ac:spMkLst>
        </pc:spChg>
        <pc:picChg chg="add mod">
          <ac:chgData name="חן פרידמן" userId="bcd6e6b1-6b56-4e54-af8d-4432b359a0fe" providerId="ADAL" clId="{ACE5DC10-28ED-45B3-AF90-6C4947596268}" dt="2025-12-21T11:13:44.014" v="36" actId="1076"/>
          <ac:picMkLst>
            <pc:docMk/>
            <pc:sldMk cId="1890324457" sldId="1671"/>
            <ac:picMk id="7" creationId="{BCF6D5A2-3487-41EC-9FB0-B4D22C56DA05}"/>
          </ac:picMkLst>
        </pc:picChg>
        <pc:picChg chg="add mod">
          <ac:chgData name="חן פרידמן" userId="bcd6e6b1-6b56-4e54-af8d-4432b359a0fe" providerId="ADAL" clId="{ACE5DC10-28ED-45B3-AF90-6C4947596268}" dt="2025-12-21T11:13:42.446" v="35" actId="1076"/>
          <ac:picMkLst>
            <pc:docMk/>
            <pc:sldMk cId="1890324457" sldId="1671"/>
            <ac:picMk id="8" creationId="{6456F3BF-855C-4B07-B655-11FA129733AC}"/>
          </ac:picMkLst>
        </pc:picChg>
      </pc:sldChg>
      <pc:sldChg chg="modSp add">
        <pc:chgData name="חן פרידמן" userId="bcd6e6b1-6b56-4e54-af8d-4432b359a0fe" providerId="ADAL" clId="{ACE5DC10-28ED-45B3-AF90-6C4947596268}" dt="2025-12-21T11:23:02.651" v="127" actId="20577"/>
        <pc:sldMkLst>
          <pc:docMk/>
          <pc:sldMk cId="1046037921" sldId="1672"/>
        </pc:sldMkLst>
        <pc:spChg chg="mod">
          <ac:chgData name="חן פרידמן" userId="bcd6e6b1-6b56-4e54-af8d-4432b359a0fe" providerId="ADAL" clId="{ACE5DC10-28ED-45B3-AF90-6C4947596268}" dt="2025-12-21T11:15:09.268" v="67" actId="20577"/>
          <ac:spMkLst>
            <pc:docMk/>
            <pc:sldMk cId="1046037921" sldId="1672"/>
            <ac:spMk id="2" creationId="{C64B55AE-1C64-4DB8-BABF-92DAD5071A9E}"/>
          </ac:spMkLst>
        </pc:spChg>
        <pc:spChg chg="mod">
          <ac:chgData name="חן פרידמן" userId="bcd6e6b1-6b56-4e54-af8d-4432b359a0fe" providerId="ADAL" clId="{ACE5DC10-28ED-45B3-AF90-6C4947596268}" dt="2025-12-21T11:23:02.651" v="127" actId="20577"/>
          <ac:spMkLst>
            <pc:docMk/>
            <pc:sldMk cId="1046037921" sldId="1672"/>
            <ac:spMk id="3" creationId="{1C82B475-3B25-4157-A709-6826BE9F3579}"/>
          </ac:spMkLst>
        </pc:spChg>
      </pc:sldChg>
      <pc:sldChg chg="addSp delSp modSp add del">
        <pc:chgData name="חן פרידמן" userId="bcd6e6b1-6b56-4e54-af8d-4432b359a0fe" providerId="ADAL" clId="{ACE5DC10-28ED-45B3-AF90-6C4947596268}" dt="2025-12-21T11:13:46.877" v="37" actId="2696"/>
        <pc:sldMkLst>
          <pc:docMk/>
          <pc:sldMk cId="3924862743" sldId="1672"/>
        </pc:sldMkLst>
        <pc:spChg chg="del">
          <ac:chgData name="חן פרידמן" userId="bcd6e6b1-6b56-4e54-af8d-4432b359a0fe" providerId="ADAL" clId="{ACE5DC10-28ED-45B3-AF90-6C4947596268}" dt="2025-12-21T11:13:21.215" v="23" actId="478"/>
          <ac:spMkLst>
            <pc:docMk/>
            <pc:sldMk cId="3924862743" sldId="1672"/>
            <ac:spMk id="2" creationId="{6031BB85-E542-4542-A794-C08DBE02854C}"/>
          </ac:spMkLst>
        </pc:spChg>
        <pc:spChg chg="del">
          <ac:chgData name="חן פרידמן" userId="bcd6e6b1-6b56-4e54-af8d-4432b359a0fe" providerId="ADAL" clId="{ACE5DC10-28ED-45B3-AF90-6C4947596268}" dt="2025-12-21T11:13:19.137" v="22"/>
          <ac:spMkLst>
            <pc:docMk/>
            <pc:sldMk cId="3924862743" sldId="1672"/>
            <ac:spMk id="3" creationId="{4D874549-3564-4703-86DA-A74F5158E332}"/>
          </ac:spMkLst>
        </pc:spChg>
        <pc:spChg chg="add mod">
          <ac:chgData name="חן פרידמן" userId="bcd6e6b1-6b56-4e54-af8d-4432b359a0fe" providerId="ADAL" clId="{ACE5DC10-28ED-45B3-AF90-6C4947596268}" dt="2025-12-21T11:13:32.266" v="30"/>
          <ac:spMkLst>
            <pc:docMk/>
            <pc:sldMk cId="3924862743" sldId="1672"/>
            <ac:spMk id="7" creationId="{B4F41F94-C103-43F8-B4D2-AEE75DE07D50}"/>
          </ac:spMkLst>
        </pc:spChg>
        <pc:picChg chg="add del mod">
          <ac:chgData name="חן פרידמן" userId="bcd6e6b1-6b56-4e54-af8d-4432b359a0fe" providerId="ADAL" clId="{ACE5DC10-28ED-45B3-AF90-6C4947596268}" dt="2025-12-21T11:13:32.266" v="30"/>
          <ac:picMkLst>
            <pc:docMk/>
            <pc:sldMk cId="3924862743" sldId="1672"/>
            <ac:picMk id="6" creationId="{2E135506-04B0-4D80-B25C-C23C8A0DBE95}"/>
          </ac:picMkLst>
        </pc:picChg>
      </pc:sldChg>
      <pc:sldChg chg="addSp delSp modSp add">
        <pc:chgData name="חן פרידמן" userId="bcd6e6b1-6b56-4e54-af8d-4432b359a0fe" providerId="ADAL" clId="{ACE5DC10-28ED-45B3-AF90-6C4947596268}" dt="2025-12-21T11:51:30.649" v="225" actId="20577"/>
        <pc:sldMkLst>
          <pc:docMk/>
          <pc:sldMk cId="3651782336" sldId="1673"/>
        </pc:sldMkLst>
        <pc:spChg chg="del">
          <ac:chgData name="חן פרידמן" userId="bcd6e6b1-6b56-4e54-af8d-4432b359a0fe" providerId="ADAL" clId="{ACE5DC10-28ED-45B3-AF90-6C4947596268}" dt="2025-12-21T11:18:20.768" v="107" actId="478"/>
          <ac:spMkLst>
            <pc:docMk/>
            <pc:sldMk cId="3651782336" sldId="1673"/>
            <ac:spMk id="2" creationId="{0FAB2C54-B502-40B6-BC64-213E566F52CA}"/>
          </ac:spMkLst>
        </pc:spChg>
        <pc:spChg chg="del">
          <ac:chgData name="חן פרידמן" userId="bcd6e6b1-6b56-4e54-af8d-4432b359a0fe" providerId="ADAL" clId="{ACE5DC10-28ED-45B3-AF90-6C4947596268}" dt="2025-12-21T11:18:16.551" v="104"/>
          <ac:spMkLst>
            <pc:docMk/>
            <pc:sldMk cId="3651782336" sldId="1673"/>
            <ac:spMk id="3" creationId="{1B2FC6A3-0114-444B-949F-D81FD8FC7496}"/>
          </ac:spMkLst>
        </pc:spChg>
        <pc:spChg chg="add">
          <ac:chgData name="חן פרידמן" userId="bcd6e6b1-6b56-4e54-af8d-4432b359a0fe" providerId="ADAL" clId="{ACE5DC10-28ED-45B3-AF90-6C4947596268}" dt="2025-12-21T11:18:09.333" v="103"/>
          <ac:spMkLst>
            <pc:docMk/>
            <pc:sldMk cId="3651782336" sldId="1673"/>
            <ac:spMk id="5" creationId="{3938DE6C-3A22-4C1B-8315-1389478D26D3}"/>
          </ac:spMkLst>
        </pc:spChg>
        <pc:spChg chg="add del mod">
          <ac:chgData name="חן פרידמן" userId="bcd6e6b1-6b56-4e54-af8d-4432b359a0fe" providerId="ADAL" clId="{ACE5DC10-28ED-45B3-AF90-6C4947596268}" dt="2025-12-21T11:18:19.864" v="106" actId="478"/>
          <ac:spMkLst>
            <pc:docMk/>
            <pc:sldMk cId="3651782336" sldId="1673"/>
            <ac:spMk id="6" creationId="{A22E1544-B20A-4DCE-954A-3CEEC79DE825}"/>
          </ac:spMkLst>
        </pc:spChg>
        <pc:spChg chg="add">
          <ac:chgData name="חן פרידמן" userId="bcd6e6b1-6b56-4e54-af8d-4432b359a0fe" providerId="ADAL" clId="{ACE5DC10-28ED-45B3-AF90-6C4947596268}" dt="2025-12-21T11:18:17.953" v="105"/>
          <ac:spMkLst>
            <pc:docMk/>
            <pc:sldMk cId="3651782336" sldId="1673"/>
            <ac:spMk id="7" creationId="{4C079B29-3544-47A9-9DEF-D9B0BDECDFD2}"/>
          </ac:spMkLst>
        </pc:spChg>
        <pc:spChg chg="add mod">
          <ac:chgData name="חן פרידמן" userId="bcd6e6b1-6b56-4e54-af8d-4432b359a0fe" providerId="ADAL" clId="{ACE5DC10-28ED-45B3-AF90-6C4947596268}" dt="2025-12-21T11:51:30.649" v="225" actId="20577"/>
          <ac:spMkLst>
            <pc:docMk/>
            <pc:sldMk cId="3651782336" sldId="1673"/>
            <ac:spMk id="10" creationId="{5DDAE688-B8B9-4580-BCE1-2616ED9EF69D}"/>
          </ac:spMkLst>
        </pc:spChg>
        <pc:spChg chg="add del mod">
          <ac:chgData name="חן פרידמן" userId="bcd6e6b1-6b56-4e54-af8d-4432b359a0fe" providerId="ADAL" clId="{ACE5DC10-28ED-45B3-AF90-6C4947596268}" dt="2025-12-21T11:22:49.261" v="121" actId="478"/>
          <ac:spMkLst>
            <pc:docMk/>
            <pc:sldMk cId="3651782336" sldId="1673"/>
            <ac:spMk id="11" creationId="{1853392B-CCFB-4CE6-A8D5-707C6A7B69BC}"/>
          </ac:spMkLst>
        </pc:spChg>
        <pc:picChg chg="add mod">
          <ac:chgData name="חן פרידמן" userId="bcd6e6b1-6b56-4e54-af8d-4432b359a0fe" providerId="ADAL" clId="{ACE5DC10-28ED-45B3-AF90-6C4947596268}" dt="2025-12-21T11:19:38.659" v="109" actId="1076"/>
          <ac:picMkLst>
            <pc:docMk/>
            <pc:sldMk cId="3651782336" sldId="1673"/>
            <ac:picMk id="9" creationId="{FEE92867-95D2-4E1E-8C00-88EA64E9635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915196C-CDBC-4DEE-A220-849C85FC22AC}" type="datetimeFigureOut">
              <a:rPr lang="he-IL" smtClean="0"/>
              <a:t>כ"ה/שבט/תשפ"ו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7F6CD5E7-A5BE-4430-AD67-E129D63AAC5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382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10856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D1B19-9B3F-52B4-1406-A3E8B63FF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9148B-DCE7-D348-6B8B-486CD7F793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BAED3D-2BE5-A730-602C-04D8CCCB74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ADDE7B-A372-3AE3-02CF-4C8AE5991A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9552122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[1]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Seckin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O. C., Pote, M.,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Nwala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A. C., Yin, L.,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Flammini, A., &amp; Menczer, F. (2025, June). Labeled datasets for research on information operations. In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Proceedings of the International AAAI Conference on Web and Social Media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(Vol. 19, pp. 2567-2574).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Balasubramanian, A., Zou, V., Narayana, H., You, C.,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&amp; Ferrara, E. (2024). A public dataset tracking social media discourse about the 2024 us presidential election on twitter/x.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arXiv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preprint arXiv:2411.00376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120918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799743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A06B5-5402-C7B4-3B41-BE0B07377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4F3EDF-ABBB-2BC3-3013-B6011BA869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F4E362-55D4-7479-4EA3-71D9ABBB56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C3B89D-E825-20E3-7E2A-8A3D43B9D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137922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dirty="0"/>
              <a:t>used</a:t>
            </a:r>
            <a:r>
              <a:rPr lang="en-GB" sz="1600" dirty="0"/>
              <a:t> </a:t>
            </a:r>
            <a:r>
              <a:rPr lang="en-GB" sz="1200" dirty="0"/>
              <a:t>in</a:t>
            </a:r>
            <a:r>
              <a:rPr lang="en-GB" sz="1600" dirty="0"/>
              <a:t> </a:t>
            </a:r>
            <a:r>
              <a:rPr lang="en-GB" sz="1200" dirty="0"/>
              <a:t>natural language processing and information retrieval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855035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379786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771DE-C423-C0C5-D730-C42F989A6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B6EF9E-BF01-69A5-B455-2F0395C8C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719C99-2C33-3E7C-4869-C292504AC8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0C6D-8767-F986-1157-349232FFDE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201959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D1760-78DB-D18D-FBB8-239E0A7E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2EC71B-5AA6-886B-0231-A74B41DE5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997CC-4715-39C7-93DD-C967C3080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57815-7BE0-C4B1-B3D0-083C2D02F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687258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771D0-3498-9926-3D45-CB19D6CC5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6BF001-388A-A507-838D-898BCD246D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115DA1-B271-710E-C2A1-878433E689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D3A0D-62CA-6939-E846-9ED9CB4E94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708454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00E97-1269-7E2B-1581-D4E8D9FC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698FE1-3D66-BEFC-5A5B-388AD9A94A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78256E-4859-C953-928D-D14453A1B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E093A5-59A0-12E4-39B3-28ED44EF3E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745067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A86C7-359B-0C90-82C1-8AB423BEA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62C748-8602-96EC-CFA4-B5B569646E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2480F6-9022-F11E-4648-587D2970A8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01FB4-8FFD-3053-E198-DADF651164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333272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473ED-A99E-1255-DF0A-F46C0A3F8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38042E-74BF-F12B-EB05-B5A12A7916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9362C-8306-7A0F-CDF5-AFC8289AE9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4EDC18-E9C8-4ECA-7039-35E23F9D9D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572360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DD219-5D86-EF6C-D07F-3B5EA548C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F405D6-737F-0B98-5C5A-8C83848514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1326A5-3FFB-7341-842A-243943CE07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EC46E-FC93-25C0-25F6-76A4227073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400523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6EE99-448E-4B33-2BA5-5E33596FC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4785A3-E8D9-4D55-0487-E800511FF0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934A7F-6BB5-30A8-CA31-C6ACC00524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239E01-28D9-8FBD-A1E6-34C8F93D32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933255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647F-80C7-2236-EC62-A54740DD3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C2095D-0DCC-9FA6-6CC0-CA06BC8EE0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4CE52A-8FC7-F2DD-E019-271546E4D3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EE2851-14A4-DD27-2D0C-827472018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141549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83E6-A85C-4E94-BAD4-349975C5C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5376" y="1354011"/>
            <a:ext cx="9144000" cy="238760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3D7B5-5BE4-46C1-BA83-AEDFF303D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5376" y="4218431"/>
            <a:ext cx="9144000" cy="1374013"/>
          </a:xfrm>
        </p:spPr>
        <p:txBody>
          <a:bodyPr>
            <a:normAutofit/>
          </a:bodyPr>
          <a:lstStyle>
            <a:lvl1pPr marL="0" indent="0" algn="l">
              <a:buNone/>
              <a:defRPr lang="he-IL" sz="20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subtitle style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03C65-1526-4474-93EA-92201F973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B3A86-AB79-4388-8CA5-9FC4B834779B}" type="datetime8">
              <a:rPr lang="he-IL" smtClean="0"/>
              <a:t>12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4A285-90E9-4F27-9CCA-0A2DBEB4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19B0E-8F10-4832-ADC3-EA2B0C457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6172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5C3A-1C12-429A-B672-CB062EE35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2D984-D254-42A5-88FD-71A5B8FF6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8C169-3299-4F42-91D0-7AF77E39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4CBFB-2532-48BA-BAE2-ADD925390740}" type="datetime8">
              <a:rPr lang="he-IL" smtClean="0"/>
              <a:t>12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2A088-F9A8-4123-A1D2-FE1125036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A253D-F657-44F9-AA3F-37F3CF175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1454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CE174-92FD-46FC-9A31-EF3515102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50" y="1709738"/>
            <a:ext cx="7852146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61C8F-4A58-4042-B898-A57C837DF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95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B49A7-5C76-42AD-8811-4CADE04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C1FDD-37C4-4A6B-BF31-779943CE32CF}" type="datetime8">
              <a:rPr lang="he-IL" smtClean="0"/>
              <a:t>12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F3F55-C2A3-4A87-96C0-A01E9BCA6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76F6-B98E-4B7D-839A-27BF94944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90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15C3C-CE9E-4F7A-B728-9A335B51FB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 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48EB9-480D-4A31-8BC3-B899B4AAB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AF003-9AC3-4B4C-A1AA-89972395A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0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9E07C-7B13-4A7C-AEAC-814BACFD9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226C-A76A-4927-8F1D-1BD4AC033ABB}" type="datetime8">
              <a:rPr lang="he-IL" smtClean="0"/>
              <a:t>12 פברואר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6D24B-DA20-4CC6-87E7-866505B0C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E9C41-8689-47B3-A905-63422020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7299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D0EE-D523-4780-A9CF-B6EE518CD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117" y="355600"/>
            <a:ext cx="8743124" cy="1325563"/>
          </a:xfr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6447D-A16E-4B99-8F74-2BA51BF54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3148" y="1717419"/>
            <a:ext cx="5157787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B268A-D31A-4C35-948F-BF312EE59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53148" y="2511171"/>
            <a:ext cx="5157787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D0F3C6-09D4-4383-99DD-32F9053AC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1752" y="1717419"/>
            <a:ext cx="5183188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91A8D3-C002-4BA1-96FF-375F70D218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41752" y="2517267"/>
            <a:ext cx="5183188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5CAC5E-E4EB-4131-AAEF-73C347968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DF2BF-D428-43E9-B36B-6DD16CF93579}" type="datetime8">
              <a:rPr lang="he-IL" smtClean="0"/>
              <a:t>12 פברואר 26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C57A3-285F-4D36-851E-593C5F287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F8AB8-B698-4176-96F8-B833FE01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42569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FBF78-4DF0-407A-8E5A-BEF1E0D8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A3A88-6914-48FB-BE6F-948C3C66F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A9136-4922-4C74-B05C-12CD0951E601}" type="datetime8">
              <a:rPr lang="he-IL" smtClean="0"/>
              <a:t>12 פברואר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50A1D4-4FBF-400A-B2CE-30A42EF7F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B1F93-B2D0-4E42-B3CE-E85D6FC90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52457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88500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13734-3C5F-473D-9DD6-0C484ADFB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F3CA8-2E63-412C-AA06-0D760EBE5965}" type="datetime8">
              <a:rPr lang="he-IL" smtClean="0"/>
              <a:t>12 פברואר 26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48D2E8-A18C-4B06-AF11-07B4F9C5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7CBE2-2F2D-43B9-8BC3-25BA1DDA4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78659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0516-8B4A-495E-BFE5-33BF2DA50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2684" y="98132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53460-117E-457C-9F0F-1AA7B34F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0804" y="987425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E485A-1FF8-4FDD-A659-6ACC79989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912684" y="2581529"/>
            <a:ext cx="3932237" cy="329514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A78A4-064B-49BB-9360-FC686D8B5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7B867-AA4A-4FF3-AD8B-0AD0F18EE595}" type="datetime8">
              <a:rPr lang="he-IL" smtClean="0"/>
              <a:t>12 פברואר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0114A-6704-44C0-BCAE-EAB756E64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98D20-B7C4-4CE0-812C-9B6976E0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24658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81F6-3528-4A38-B435-490FC2AF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173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7A6AE1-0DCE-4A5A-AC24-95C331B15D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987425"/>
            <a:ext cx="5259387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CD3E13-E71C-4EE3-BA14-54D61F7290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27173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A2D14-BF1B-420A-B0DF-91CD6E77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9EBD3-88E8-46DB-BD3B-F935B7013014}" type="datetime8">
              <a:rPr lang="he-IL" smtClean="0"/>
              <a:t>12 פברואר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227BD5-73FD-47B4-BCDF-92BB6EA15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5EAC3-6043-41F9-B8D4-7F41DABB2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72402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CA57A-6715-4A64-AF19-74F32284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19522-954F-44AB-A8B2-881237A98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7FD09-CBF4-4ADA-B2BB-979C1F74B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56BC8-8E7D-4896-9980-77BC87FB8E3E}" type="datetime8">
              <a:rPr lang="he-IL" smtClean="0"/>
              <a:t>12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DEA1C-6A3E-4E8A-94C4-85129424B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897DB-9E67-41A9-B2B3-D6E613340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51003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7D7B8-0F66-43EC-B9A2-C261F37BC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B89D3-E69A-49EE-8D8C-EAC8400E34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10142" y="365125"/>
            <a:ext cx="7262357" cy="5811838"/>
          </a:xfrm>
        </p:spPr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9B41-D269-4701-B27C-CDDBCF20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327C8-CB36-417E-834B-544633ADCE63}" type="datetime8">
              <a:rPr lang="he-IL" smtClean="0"/>
              <a:t>12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D14E7-5E00-4D30-9BDD-9B32BEA0F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1914F-9592-4EB2-998B-B922F8A2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55566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ork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72684E-6693-F58C-BC24-150353E83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65D1C-C98B-44F5-AB2A-FEE3E85D0A94}" type="datetime8">
              <a:rPr lang="he-IL" smtClean="0"/>
              <a:t>12 פברואר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C0620-C9BE-4C99-2D6C-A02A9A677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48F728-5692-0756-E6BD-FFB67E1A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9" name="Picture 8" descr="A document with text on it&#10;&#10;AI-generated content may be incorrect.">
            <a:extLst>
              <a:ext uri="{FF2B5EF4-FFF2-40B4-BE49-F238E27FC236}">
                <a16:creationId xmlns:a16="http://schemas.microsoft.com/office/drawing/2014/main" id="{4A6D55D5-DFBA-E0B3-0219-6E4D255B0C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77" t="8796" r="8571" b="78403"/>
          <a:stretch>
            <a:fillRect/>
          </a:stretch>
        </p:blipFill>
        <p:spPr>
          <a:xfrm>
            <a:off x="1072186" y="2463071"/>
            <a:ext cx="10753557" cy="223369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FF33BC-21D6-16B0-C505-3CEE5CDF6D13}"/>
              </a:ext>
            </a:extLst>
          </p:cNvPr>
          <p:cNvSpPr txBox="1"/>
          <p:nvPr userDrawn="1"/>
        </p:nvSpPr>
        <p:spPr>
          <a:xfrm>
            <a:off x="3072268" y="679697"/>
            <a:ext cx="8753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0" kern="1200" dirty="0">
                <a:solidFill>
                  <a:srgbClr val="009DBB"/>
                </a:solidFill>
                <a:latin typeface="+mj-lt"/>
                <a:ea typeface="+mj-ea"/>
                <a:cs typeface="+mj-cs"/>
              </a:rPr>
              <a:t>Workflow</a:t>
            </a:r>
            <a:endParaRPr lang="en-IL" sz="4400" b="0" kern="1200" dirty="0">
              <a:solidFill>
                <a:srgbClr val="009DBB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1238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EEDABD8-1012-46AD-89C2-C8E4E06DB9B5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75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9C71F-AAAB-425C-B1EA-7A7182DF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FA75E-5AAA-412B-BAE0-CF5F86B37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10143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198C1-7EB5-4CA4-98A0-2833A18F3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1014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65D1C-C98B-44F5-AB2A-FEE3E85D0A94}" type="datetime8">
              <a:rPr lang="he-IL" smtClean="0"/>
              <a:t>12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97CC5-2317-4D8E-8C89-E7B89F4BE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10543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048FF-C291-43F3-A9DD-3B48AE56F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8704" y="6476841"/>
            <a:ext cx="4522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1D43D3-8C77-B77A-1D9D-8CDC43D8429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57" y="6139952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3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9DB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zenodo.org/records/14189193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 descr="A green object on a black surface&#10;&#10;Description automatically generated with low confidence">
            <a:extLst>
              <a:ext uri="{FF2B5EF4-FFF2-40B4-BE49-F238E27FC236}">
                <a16:creationId xmlns:a16="http://schemas.microsoft.com/office/drawing/2014/main" id="{3CB67A20-DF50-FA5C-9F89-051979AEC2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6" r="11818" b="26261"/>
          <a:stretch/>
        </p:blipFill>
        <p:spPr>
          <a:xfrm>
            <a:off x="4547937" y="0"/>
            <a:ext cx="7644062" cy="3656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F2EE9F-F796-A6BB-3045-695978EABEE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830" r="-1" b="7292"/>
          <a:stretch/>
        </p:blipFill>
        <p:spPr>
          <a:xfrm>
            <a:off x="4547938" y="3681409"/>
            <a:ext cx="7644062" cy="317659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220BDD-53D9-474C-9782-2415C685DF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956582"/>
            <a:ext cx="5395912" cy="1724819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Backbone Graph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553B468-8035-4F27-9A10-D7A4E7C75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824627"/>
            <a:ext cx="4089399" cy="1917801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prstClr val="white"/>
                </a:solidFill>
              </a:rPr>
              <a:t>21.01.2026</a:t>
            </a:r>
          </a:p>
          <a:p>
            <a:r>
              <a:rPr lang="en-US" dirty="0"/>
              <a:t>Amit Ner Gaon, Noa Tal</a:t>
            </a:r>
          </a:p>
          <a:p>
            <a:r>
              <a:rPr lang="en-US" dirty="0"/>
              <a:t>Prof. Rami </a:t>
            </a:r>
            <a:r>
              <a:rPr lang="en-US" dirty="0" err="1"/>
              <a:t>Puzis</a:t>
            </a:r>
            <a:endParaRPr lang="en-IL" dirty="0"/>
          </a:p>
          <a:p>
            <a:endParaRPr lang="en-US" b="1" dirty="0">
              <a:solidFill>
                <a:prstClr val="white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E9033-B890-41F0-A499-F7F83D1F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E6AB8EDD-9EF2-4633-A1C2-4D908C1019B4}" type="slidenum">
              <a:rPr kumimoji="0" lang="he-IL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he-IL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itle 4">
            <a:extLst>
              <a:ext uri="{FF2B5EF4-FFF2-40B4-BE49-F238E27FC236}">
                <a16:creationId xmlns:a16="http://schemas.microsoft.com/office/drawing/2014/main" id="{6D84A53B-A147-EEC0-9D81-D931915B4D17}"/>
              </a:ext>
            </a:extLst>
          </p:cNvPr>
          <p:cNvSpPr txBox="1">
            <a:spLocks/>
          </p:cNvSpPr>
          <p:nvPr/>
        </p:nvSpPr>
        <p:spPr>
          <a:xfrm>
            <a:off x="838200" y="3706020"/>
            <a:ext cx="3138714" cy="62546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DE9F95-0435-3A81-61D6-23ED74B595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3" y="0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0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86CF-41AA-7F14-874C-2DBF05DDA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A2D70-6A55-771B-DBB3-9BA0A76DB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Introduction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AFA02-699F-C8B4-27EE-973531006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491356"/>
          </a:xfrm>
        </p:spPr>
        <p:txBody>
          <a:bodyPr>
            <a:normAutofit fontScale="77500" lnSpcReduction="20000"/>
          </a:bodyPr>
          <a:lstStyle/>
          <a:p>
            <a:r>
              <a:rPr lang="en-GB" sz="3900" dirty="0"/>
              <a:t>Information Operations (IOs) definition: A set of actors performing similar or complementary actions in pursuit of a common intent, while misleading others.</a:t>
            </a:r>
          </a:p>
          <a:p>
            <a:r>
              <a:rPr lang="en-GB" sz="3900" dirty="0"/>
              <a:t>Social media is the modern public square BUT increasingly exploited by IO.</a:t>
            </a:r>
          </a:p>
          <a:p>
            <a:r>
              <a:rPr lang="en-GB" sz="3900" dirty="0"/>
              <a:t>The Problem:</a:t>
            </a:r>
          </a:p>
          <a:p>
            <a:pPr lvl="1">
              <a:buFontTx/>
              <a:buChar char="-"/>
            </a:pPr>
            <a:r>
              <a:rPr lang="en-GB" sz="3900" dirty="0"/>
              <a:t>LLMs make content detection harder.</a:t>
            </a:r>
          </a:p>
          <a:p>
            <a:pPr lvl="1">
              <a:buFontTx/>
              <a:buChar char="-"/>
            </a:pPr>
            <a:r>
              <a:rPr lang="en-GB" sz="3900" dirty="0"/>
              <a:t>Traditional semantic features are no longer enough.</a:t>
            </a:r>
          </a:p>
          <a:p>
            <a:r>
              <a:rPr lang="en-GB" sz="3900" dirty="0"/>
              <a:t>Our Approach:</a:t>
            </a:r>
          </a:p>
          <a:p>
            <a:pPr lvl="1">
              <a:buFontTx/>
              <a:buChar char="-"/>
            </a:pPr>
            <a:r>
              <a:rPr lang="en-GB" sz="3900" dirty="0"/>
              <a:t>Focus on WHO acts, not WHAT they say</a:t>
            </a:r>
          </a:p>
          <a:p>
            <a:pPr lvl="1">
              <a:buFontTx/>
              <a:buChar char="-"/>
            </a:pPr>
            <a:r>
              <a:rPr lang="en-GB" sz="3900" dirty="0"/>
              <a:t>Structural features + coordination patterns</a:t>
            </a:r>
          </a:p>
          <a:p>
            <a:endParaRPr lang="en-US" sz="3900" dirty="0"/>
          </a:p>
          <a:p>
            <a:pPr lvl="1">
              <a:buFontTx/>
              <a:buChar char="-"/>
            </a:pPr>
            <a:endParaRPr lang="en-GB" sz="3500" dirty="0"/>
          </a:p>
          <a:p>
            <a:endParaRPr lang="en-GB" sz="3600" dirty="0">
              <a:solidFill>
                <a:srgbClr val="FF0000"/>
              </a:solidFill>
            </a:endParaRPr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1D1A80-AEDE-2BC8-C91B-F7FF0AA0E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24056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83ADC35-446C-6244-68C0-AB19DC69C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F7731-A5D6-A5D6-B947-8809B148B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Introduction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4AA17-52A5-C4E4-4B3C-968711677C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491356"/>
          </a:xfrm>
        </p:spPr>
        <p:txBody>
          <a:bodyPr>
            <a:normAutofit fontScale="77500" lnSpcReduction="20000"/>
          </a:bodyPr>
          <a:lstStyle/>
          <a:p>
            <a:r>
              <a:rPr lang="en-GB" sz="3900" dirty="0"/>
              <a:t>Information Operations (IOs) definition: A set of actors performing similar or complementary actions in pursuit of a common intent, while misleading others.</a:t>
            </a:r>
          </a:p>
          <a:p>
            <a:r>
              <a:rPr lang="en-GB" sz="3900" dirty="0"/>
              <a:t>Social media serves as the modern public square but is increasingly exploited by IOs.</a:t>
            </a:r>
          </a:p>
          <a:p>
            <a:r>
              <a:rPr lang="en-GB" sz="3900" dirty="0"/>
              <a:t>IOs rely on Coordinated Inauthentic Behavior (CIB) to amplify narratives and distort public discourse.</a:t>
            </a:r>
          </a:p>
          <a:p>
            <a:r>
              <a:rPr lang="en-GB" sz="3900" dirty="0"/>
              <a:t>Large language models (LLMs) can generate fluent, human-like content, limiting the discriminative power of semantic features alone.</a:t>
            </a:r>
          </a:p>
          <a:p>
            <a:r>
              <a:rPr lang="en-GB" sz="3900" dirty="0"/>
              <a:t>We therefore aim to identify IO actors using structural features and coordination patterns in online discourse.</a:t>
            </a:r>
          </a:p>
          <a:p>
            <a:endParaRPr lang="en-GB" sz="3600" dirty="0">
              <a:solidFill>
                <a:srgbClr val="FF0000"/>
              </a:solidFill>
            </a:endParaRPr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EABADF-DC39-301C-4C98-5C58B72B2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75271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E9894-1986-0EB3-10CB-47FFB17FD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Main Ideas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A14D0-C167-09F1-B20E-C7C9A17B6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sz="3600" dirty="0"/>
              <a:t>Aim to accurate identification of IO (information operation) authors.</a:t>
            </a:r>
          </a:p>
          <a:p>
            <a:endParaRPr lang="en-GB" sz="3600" dirty="0"/>
          </a:p>
          <a:p>
            <a:r>
              <a:rPr lang="en-GB" sz="3600" dirty="0"/>
              <a:t>Focus on relationships and interactions between authors.</a:t>
            </a:r>
          </a:p>
          <a:p>
            <a:endParaRPr lang="en-GB" sz="3600" dirty="0"/>
          </a:p>
          <a:p>
            <a:r>
              <a:rPr lang="en-GB" sz="3600" dirty="0"/>
              <a:t>Narrow analysis to key authors only.</a:t>
            </a:r>
          </a:p>
          <a:p>
            <a:endParaRPr lang="en-GB" sz="3600" dirty="0"/>
          </a:p>
          <a:p>
            <a:r>
              <a:rPr lang="en-GB" sz="3600" dirty="0"/>
              <a:t>Identify abnormal coordinated behavioural patterns.</a:t>
            </a:r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10356-1155-2E2F-361F-7F144C8D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55559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51D72-4134-AB7E-1B0A-64CFD080E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5590" y="398183"/>
            <a:ext cx="8753475" cy="1325563"/>
          </a:xfrm>
        </p:spPr>
        <p:txBody>
          <a:bodyPr>
            <a:normAutofit/>
          </a:bodyPr>
          <a:lstStyle/>
          <a:p>
            <a:r>
              <a:rPr lang="en-US" dirty="0"/>
              <a:t>Datasets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544F5D-1213-B7D4-11B6-681FD5C86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5</a:t>
            </a:fld>
            <a:endParaRPr lang="he-I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DCB54C2-7A31-3765-2BD6-58614883B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8197935"/>
              </p:ext>
            </p:extLst>
          </p:nvPr>
        </p:nvGraphicFramePr>
        <p:xfrm>
          <a:off x="1538615" y="1612234"/>
          <a:ext cx="10601378" cy="5394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00689">
                  <a:extLst>
                    <a:ext uri="{9D8B030D-6E8A-4147-A177-3AD203B41FA5}">
                      <a16:colId xmlns:a16="http://schemas.microsoft.com/office/drawing/2014/main" val="2664862571"/>
                    </a:ext>
                  </a:extLst>
                </a:gridCol>
                <a:gridCol w="5300689">
                  <a:extLst>
                    <a:ext uri="{9D8B030D-6E8A-4147-A177-3AD203B41FA5}">
                      <a16:colId xmlns:a16="http://schemas.microsoft.com/office/drawing/2014/main" val="2429324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L" sz="2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sz="2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Labeled </a:t>
                      </a:r>
                      <a:r>
                        <a:rPr lang="en-US" sz="2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IO Corpus [1]</a:t>
                      </a:r>
                    </a:p>
                    <a:p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Curated collection of 26 Information Operation (IO) campaigns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Each campaign fully labeled (IO vs. Control accounts)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  <a:hlinkClick r:id="rId3"/>
                        </a:rPr>
                        <a:t>https://zenodo.org/records/14189193</a:t>
                      </a: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rgbClr val="F58377"/>
                          </a:solidFill>
                        </a:rPr>
                        <a:t>More details on the next slides…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b="1" u="sng" dirty="0">
                          <a:solidFill>
                            <a:schemeClr val="tx1"/>
                          </a:solidFill>
                        </a:rPr>
                        <a:t>Ecuador Campaign Subset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787 IO accounts | 21,138 Control accounts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700K IO tweets | 770K Control tweets</a:t>
                      </a: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US 2024 Election Dataset[2]</a:t>
                      </a:r>
                    </a:p>
                    <a:p>
                      <a:pPr marL="0" indent="0">
                        <a:buNone/>
                      </a:pP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Clean dataset with corrupted/problematic rows removed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42,211,159 tweets | January 1 – December 31, 2024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b="0" u="sng" dirty="0">
                          <a:solidFill>
                            <a:schemeClr val="tx1"/>
                          </a:solidFill>
                        </a:rPr>
                        <a:t>Key Timeline Events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Jul 13 – Attempted assassination of Donald Trump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Jul 21 – Joe Biden withdrew from presidential race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Aug 5 – Kamala Harris formally nominated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Nov 5 – Election Day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Nov 6 – Election results announced</a:t>
                      </a: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39872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5155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EDA26-C1A5-76D7-1BB2-7A8D2A239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>
                <a:solidFill>
                  <a:schemeClr val="tx1"/>
                </a:solidFill>
              </a:rPr>
              <a:t> </a:t>
            </a:r>
            <a:r>
              <a:rPr lang="en-GB" dirty="0"/>
              <a:t>Labeled </a:t>
            </a:r>
            <a:r>
              <a:rPr lang="en-US" dirty="0"/>
              <a:t>IO Corpus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707C64-6902-608D-B34D-32FB06F2D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63073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Each campaign is a </a:t>
            </a:r>
            <a:r>
              <a:rPr lang="en-GB" b="1" dirty="0"/>
              <a:t>separate dataset.</a:t>
            </a:r>
            <a:endParaRPr lang="en-GB" dirty="0"/>
          </a:p>
          <a:p>
            <a:r>
              <a:rPr lang="en-GB" dirty="0"/>
              <a:t>Contains posts related to the </a:t>
            </a:r>
            <a:r>
              <a:rPr lang="en-GB" b="1" dirty="0"/>
              <a:t>general subject of the campaign.</a:t>
            </a:r>
            <a:endParaRPr lang="en-GB" dirty="0"/>
          </a:p>
          <a:p>
            <a:r>
              <a:rPr lang="en-GB" dirty="0"/>
              <a:t>Includes:</a:t>
            </a:r>
          </a:p>
          <a:p>
            <a:pPr marL="457200" lvl="1" indent="0">
              <a:buNone/>
            </a:pPr>
            <a:r>
              <a:rPr lang="en-GB" dirty="0"/>
              <a:t>- Post text</a:t>
            </a:r>
          </a:p>
          <a:p>
            <a:pPr marL="457200" lvl="1" indent="0">
              <a:buNone/>
            </a:pPr>
            <a:r>
              <a:rPr lang="en-GB" dirty="0"/>
              <a:t>- Entities: hashtags, URLs (anonymized), account mentions (anonymized)</a:t>
            </a:r>
          </a:p>
          <a:p>
            <a:pPr marL="457200" lvl="1" indent="0">
              <a:buNone/>
            </a:pPr>
            <a:r>
              <a:rPr lang="en-GB" dirty="0"/>
              <a:t>- Timestamp</a:t>
            </a:r>
          </a:p>
          <a:p>
            <a:pPr marL="457200" lvl="1" indent="0">
              <a:buNone/>
            </a:pPr>
            <a:r>
              <a:rPr lang="en-GB" dirty="0"/>
              <a:t>- Post metadata: account ID, reply-to account ID (anonymized)…</a:t>
            </a:r>
          </a:p>
          <a:p>
            <a:pPr marL="457200" lvl="1" indent="0">
              <a:buNone/>
            </a:pPr>
            <a:r>
              <a:rPr lang="en-GB" dirty="0"/>
              <a:t>- Account metadata: creation date, follower count…</a:t>
            </a:r>
          </a:p>
          <a:p>
            <a:r>
              <a:rPr lang="en-GB" dirty="0"/>
              <a:t>Dataset construction:</a:t>
            </a:r>
          </a:p>
          <a:p>
            <a:pPr marL="457200" lvl="1" indent="0">
              <a:buNone/>
            </a:pPr>
            <a:r>
              <a:rPr lang="en-GB" dirty="0"/>
              <a:t>- IO accounts identified and released by the social media platform.</a:t>
            </a:r>
          </a:p>
          <a:p>
            <a:pPr marL="457200" lvl="1" indent="0">
              <a:buNone/>
            </a:pPr>
            <a:r>
              <a:rPr lang="en-GB" dirty="0"/>
              <a:t>- Control accounts collected from users posting on campaign-related topics and in the same period.</a:t>
            </a:r>
          </a:p>
          <a:p>
            <a:r>
              <a:rPr lang="en-GB" dirty="0"/>
              <a:t>Labels:</a:t>
            </a:r>
          </a:p>
          <a:p>
            <a:pPr marL="457200" lvl="1" indent="0">
              <a:buNone/>
            </a:pPr>
            <a:r>
              <a:rPr lang="en-GB" sz="2100" dirty="0"/>
              <a:t>- Labels are provided by the social media platform.</a:t>
            </a:r>
          </a:p>
          <a:p>
            <a:pPr marL="457200" lvl="1" indent="0">
              <a:buNone/>
            </a:pPr>
            <a:r>
              <a:rPr lang="en-GB" sz="2100" dirty="0"/>
              <a:t>- </a:t>
            </a:r>
            <a:r>
              <a:rPr lang="en-GB" sz="2100" b="1" dirty="0"/>
              <a:t>Labels are used only for validation</a:t>
            </a:r>
            <a:r>
              <a:rPr lang="en-GB" b="1" dirty="0"/>
              <a:t>.</a:t>
            </a:r>
          </a:p>
          <a:p>
            <a:pPr marL="457200" lvl="1" indent="0">
              <a:buNone/>
            </a:pPr>
            <a:r>
              <a:rPr lang="en-GB" sz="2100" dirty="0"/>
              <a:t>- No labels are used in graph construction or classification.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F6DC1B-727A-A30C-346A-DAE32F121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579151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D0628-6780-1384-CA4B-A5131543D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26D9D-D869-889F-EA1B-8CA3DA16C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IL" dirty="0"/>
              <a:t> </a:t>
            </a:r>
            <a:r>
              <a:rPr lang="en-GB" dirty="0"/>
              <a:t>Labeled </a:t>
            </a:r>
            <a:r>
              <a:rPr lang="en-US" dirty="0"/>
              <a:t>IO Corpus - Ecuador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BB860E-190A-B98A-87F4-A07A0B4C4E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0" y="2011536"/>
            <a:ext cx="5099824" cy="4351338"/>
          </a:xfrm>
        </p:spPr>
        <p:txBody>
          <a:bodyPr>
            <a:normAutofit/>
          </a:bodyPr>
          <a:lstStyle/>
          <a:p>
            <a:r>
              <a:rPr lang="en-US" dirty="0"/>
              <a:t>787 IO accounts | 21,138 Control accounts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700K IO tweets | 770K Control tweets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10E3D-0ECC-E98C-4D94-B7BC6D784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7</a:t>
            </a:fld>
            <a:endParaRPr lang="he-IL"/>
          </a:p>
        </p:txBody>
      </p:sp>
      <p:pic>
        <p:nvPicPr>
          <p:cNvPr id="6" name="Picture 5" descr="A timeline of the year&#10;&#10;AI-generated content may be incorrect.">
            <a:extLst>
              <a:ext uri="{FF2B5EF4-FFF2-40B4-BE49-F238E27FC236}">
                <a16:creationId xmlns:a16="http://schemas.microsoft.com/office/drawing/2014/main" id="{873AE556-26CD-7E9D-1F69-69C59E614B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96" t="9898" r="5901" b="6568"/>
          <a:stretch>
            <a:fillRect/>
          </a:stretch>
        </p:blipFill>
        <p:spPr>
          <a:xfrm>
            <a:off x="1984917" y="1371227"/>
            <a:ext cx="3668752" cy="5376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478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3EE809C-DDEA-9B91-B68F-F8FE7081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ADDC573-9D2A-2AB2-C786-5C17788F5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8</a:t>
            </a:fld>
            <a:endParaRPr lang="he-IL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FDC29EB-6C7C-970E-155C-41DC54BA50D0}"/>
              </a:ext>
            </a:extLst>
          </p:cNvPr>
          <p:cNvSpPr/>
          <p:nvPr/>
        </p:nvSpPr>
        <p:spPr>
          <a:xfrm>
            <a:off x="877824" y="2364058"/>
            <a:ext cx="2434089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6147462-4BEB-A86A-3C8E-47CC47928453}"/>
              </a:ext>
            </a:extLst>
          </p:cNvPr>
          <p:cNvSpPr/>
          <p:nvPr/>
        </p:nvSpPr>
        <p:spPr>
          <a:xfrm>
            <a:off x="3713356" y="2364057"/>
            <a:ext cx="5460083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F3D83FC-1680-C16C-0791-74BC6CEEE296}"/>
              </a:ext>
            </a:extLst>
          </p:cNvPr>
          <p:cNvSpPr/>
          <p:nvPr/>
        </p:nvSpPr>
        <p:spPr>
          <a:xfrm>
            <a:off x="9634654" y="2364056"/>
            <a:ext cx="2320165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6511BC-4713-830A-45E5-0A374F82B4C8}"/>
              </a:ext>
            </a:extLst>
          </p:cNvPr>
          <p:cNvSpPr/>
          <p:nvPr/>
        </p:nvSpPr>
        <p:spPr>
          <a:xfrm>
            <a:off x="1019074" y="3876907"/>
            <a:ext cx="2259386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AC4CAAC-9F29-A858-619F-F4D628EB2743}"/>
              </a:ext>
            </a:extLst>
          </p:cNvPr>
          <p:cNvSpPr/>
          <p:nvPr/>
        </p:nvSpPr>
        <p:spPr>
          <a:xfrm>
            <a:off x="3713356" y="3876907"/>
            <a:ext cx="2631688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D0A0C56-DC94-ABB9-24DC-82E6579678B3}"/>
              </a:ext>
            </a:extLst>
          </p:cNvPr>
          <p:cNvSpPr/>
          <p:nvPr/>
        </p:nvSpPr>
        <p:spPr>
          <a:xfrm>
            <a:off x="9634654" y="3876906"/>
            <a:ext cx="2320165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B648400-6FB5-0C21-CE6E-F34FC276CB97}"/>
              </a:ext>
            </a:extLst>
          </p:cNvPr>
          <p:cNvSpPr/>
          <p:nvPr/>
        </p:nvSpPr>
        <p:spPr>
          <a:xfrm>
            <a:off x="6674005" y="3876906"/>
            <a:ext cx="2631688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4699681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C7965B-885F-67B3-F8C6-58FA0A832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9</a:t>
            </a:fld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6136189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8398B-F7AB-19EE-5B85-9AC3E8C31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329E4F-8D65-CC0A-06D5-07F7C6FA1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10</a:t>
            </a:fld>
            <a:endParaRPr lang="he-IL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19E09B3-19C0-459B-DBB7-700C7A72C84F}"/>
              </a:ext>
            </a:extLst>
          </p:cNvPr>
          <p:cNvSpPr/>
          <p:nvPr/>
        </p:nvSpPr>
        <p:spPr>
          <a:xfrm>
            <a:off x="877824" y="2364058"/>
            <a:ext cx="2434089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0742075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E0CD0-A559-1E21-6735-647E6E232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9EF5BE-5D1F-DF4A-0CDF-D920902E3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11</a:t>
            </a:fld>
            <a:endParaRPr lang="he-I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BADA0D-6E73-6B2F-17D9-4719BDE1B7FC}"/>
              </a:ext>
            </a:extLst>
          </p:cNvPr>
          <p:cNvSpPr/>
          <p:nvPr/>
        </p:nvSpPr>
        <p:spPr>
          <a:xfrm>
            <a:off x="3713356" y="2364057"/>
            <a:ext cx="5460083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9540009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3E1CF-F501-BA78-A405-8F9FE55A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DA07F-726D-5309-24B1-8D8FD8B57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Narratives Clustering &amp; </a:t>
            </a:r>
            <a:br>
              <a:rPr lang="en-GB" dirty="0"/>
            </a:br>
            <a:r>
              <a:rPr lang="en-GB" dirty="0"/>
              <a:t>Entities Recognition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DBB99-E333-E814-DFD8-B2A30F11C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b="1" dirty="0"/>
              <a:t>Narratives</a:t>
            </a:r>
            <a:r>
              <a:rPr lang="en-GB" sz="3300" b="1" dirty="0"/>
              <a:t> Clustering: </a:t>
            </a:r>
            <a:r>
              <a:rPr lang="en-GB" sz="3300" dirty="0"/>
              <a:t>group semantically similar posts.</a:t>
            </a:r>
          </a:p>
          <a:p>
            <a:pPr lvl="1">
              <a:buFontTx/>
              <a:buChar char="-"/>
            </a:pPr>
            <a:r>
              <a:rPr lang="en-GB" sz="3300" dirty="0"/>
              <a:t>Will be used for </a:t>
            </a:r>
            <a:r>
              <a:rPr lang="en-GB" sz="3300" dirty="0" err="1"/>
              <a:t>tf-idf</a:t>
            </a:r>
            <a:r>
              <a:rPr lang="en-GB" sz="3300" dirty="0"/>
              <a:t> </a:t>
            </a:r>
            <a:r>
              <a:rPr lang="en-US" sz="3300" dirty="0"/>
              <a:t>score calculation</a:t>
            </a:r>
            <a:r>
              <a:rPr lang="en-GB" sz="3300" dirty="0"/>
              <a:t>.</a:t>
            </a:r>
          </a:p>
          <a:p>
            <a:pPr lvl="1">
              <a:buFontTx/>
              <a:buChar char="-"/>
            </a:pPr>
            <a:endParaRPr lang="en-GB" sz="3300" dirty="0"/>
          </a:p>
          <a:p>
            <a:r>
              <a:rPr lang="en-GB" sz="3300" b="1" dirty="0"/>
              <a:t>Entity Recognition: </a:t>
            </a:r>
            <a:r>
              <a:rPr lang="en-GB" sz="3300" dirty="0"/>
              <a:t>name entities recognition (NER).</a:t>
            </a:r>
          </a:p>
          <a:p>
            <a:pPr marL="457200" lvl="1" indent="0">
              <a:buNone/>
            </a:pPr>
            <a:r>
              <a:rPr lang="en-GB" sz="3300" dirty="0"/>
              <a:t>- Will be use for behavioural similarity.</a:t>
            </a:r>
          </a:p>
          <a:p>
            <a:pPr marL="457200" lvl="1" indent="0">
              <a:buNone/>
            </a:pPr>
            <a:endParaRPr lang="en-GB" sz="3200" dirty="0"/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A95D79-0EC6-4542-6F92-46E4F5A6A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607347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C3AE-6EB8-8D4D-3523-DAE8AF6B7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E82AB87-77D7-01AC-E3C7-8719A0DC0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13</a:t>
            </a:fld>
            <a:endParaRPr lang="he-IL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5B635-A416-D1E7-A3C8-91720E1AB60A}"/>
              </a:ext>
            </a:extLst>
          </p:cNvPr>
          <p:cNvSpPr/>
          <p:nvPr/>
        </p:nvSpPr>
        <p:spPr>
          <a:xfrm>
            <a:off x="9634654" y="2364056"/>
            <a:ext cx="2320165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213978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F6EA1-FAAD-E397-A58E-4820223D2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8A148-31C4-BE5B-2786-3D9132CB8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Entity-Topic TF-IDF Score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C0E13-7FF1-6DB2-4802-A385B1200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 TF-IDF: </a:t>
            </a:r>
            <a:r>
              <a:rPr lang="en-GB" sz="4000" dirty="0"/>
              <a:t>Term Frequency - Inverse Document Frequency</a:t>
            </a:r>
          </a:p>
          <a:p>
            <a:endParaRPr lang="en-US" sz="4000" dirty="0"/>
          </a:p>
          <a:p>
            <a:r>
              <a:rPr lang="en-US" sz="4000" dirty="0"/>
              <a:t>TF-IDF … </a:t>
            </a:r>
            <a:r>
              <a:rPr lang="en-GB" sz="4000" dirty="0"/>
              <a:t>is a statistical method … to evaluate how important a word is to a document in relation to a larger collection of documents </a:t>
            </a:r>
            <a:r>
              <a:rPr lang="en-GB" sz="3200" dirty="0"/>
              <a:t>(geeks for geeks).</a:t>
            </a:r>
          </a:p>
          <a:p>
            <a:endParaRPr lang="en-GB" sz="3300" dirty="0"/>
          </a:p>
          <a:p>
            <a:endParaRPr lang="en-GB" sz="3300" dirty="0"/>
          </a:p>
          <a:p>
            <a:pPr marL="457200" lvl="1" indent="0">
              <a:buNone/>
            </a:pPr>
            <a:endParaRPr lang="en-GB" sz="3200" dirty="0"/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032366-0482-6B07-AE65-F1A1E26BF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773067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09712-7E39-C7BB-CC6C-21FDC6927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95C0B-1A5F-D364-3525-3A3FDBDA5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Entity-Topic TF-IDF Score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2899F-703D-332C-417F-E2319058A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3300" dirty="0"/>
              <a:t>In this project:</a:t>
            </a:r>
          </a:p>
          <a:p>
            <a:pPr lvl="1">
              <a:buFontTx/>
              <a:buChar char="-"/>
            </a:pPr>
            <a:r>
              <a:rPr lang="en-GB" sz="2900" dirty="0"/>
              <a:t>Documents are topics derived from topic clustering. </a:t>
            </a:r>
          </a:p>
          <a:p>
            <a:pPr lvl="1">
              <a:buFontTx/>
              <a:buChar char="-"/>
            </a:pPr>
            <a:r>
              <a:rPr lang="en-GB" sz="3200" dirty="0"/>
              <a:t>Entities are social markers in social media discourse (e.g., hashtags, URLs, mentions, named actors).</a:t>
            </a:r>
          </a:p>
          <a:p>
            <a:pPr marL="457200" lvl="1" indent="0">
              <a:buNone/>
            </a:pPr>
            <a:endParaRPr lang="en-GB" sz="3200" dirty="0"/>
          </a:p>
          <a:p>
            <a:r>
              <a:rPr lang="en-GB" sz="3300" dirty="0"/>
              <a:t>Quantify the importance of entities within each topic.</a:t>
            </a:r>
          </a:p>
          <a:p>
            <a:endParaRPr lang="en-GB" sz="3300" dirty="0"/>
          </a:p>
          <a:p>
            <a:r>
              <a:rPr lang="en-GB" sz="3300" dirty="0"/>
              <a:t>Highlight entities that are distinctive rather than common.</a:t>
            </a:r>
          </a:p>
          <a:p>
            <a:pPr marL="457200" lvl="1" indent="0">
              <a:buNone/>
            </a:pPr>
            <a:endParaRPr lang="en-GB" sz="3200" dirty="0"/>
          </a:p>
          <a:p>
            <a:pPr lvl="1"/>
            <a:endParaRPr lang="en-GB" sz="3300" dirty="0"/>
          </a:p>
          <a:p>
            <a:pPr lvl="1"/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2438A4-2E34-7B04-EDC0-D62241F1A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128367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BFF92-8E2A-3590-77B3-60599282F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02F392-4F9F-A1CC-4243-5916118D3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16</a:t>
            </a:fld>
            <a:endParaRPr lang="he-IL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2C5A494-92EA-9110-F8E8-85926E758575}"/>
              </a:ext>
            </a:extLst>
          </p:cNvPr>
          <p:cNvSpPr/>
          <p:nvPr/>
        </p:nvSpPr>
        <p:spPr>
          <a:xfrm>
            <a:off x="1019074" y="3876907"/>
            <a:ext cx="2259386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4080008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87CBA-0392-B7B9-3106-F4750BDB5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5FC2B-8178-02A3-4647-34A8996D3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Post &amp; Author Scoring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FE2D2-EED4-764A-2240-7AD9E0254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 lnSpcReduction="10000"/>
          </a:bodyPr>
          <a:lstStyle/>
          <a:p>
            <a:r>
              <a:rPr lang="en-GB" sz="3600" dirty="0"/>
              <a:t>The TF-IDF score of a post for a topic is computed as the </a:t>
            </a:r>
            <a:r>
              <a:rPr lang="en-GB" sz="3600" b="1" dirty="0"/>
              <a:t>sum of the TF-IDF scores of all entities </a:t>
            </a:r>
            <a:r>
              <a:rPr lang="en-GB" sz="3600" dirty="0"/>
              <a:t>appearing in that post. 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Author score for a topic is:</a:t>
            </a:r>
          </a:p>
          <a:p>
            <a:pPr lvl="1">
              <a:buFontTx/>
              <a:buChar char="-"/>
            </a:pPr>
            <a:r>
              <a:rPr lang="en-GB" sz="3200" dirty="0"/>
              <a:t>TF is the sum of his/her posts’ TF-IDF score.</a:t>
            </a:r>
          </a:p>
          <a:p>
            <a:pPr lvl="1">
              <a:buFontTx/>
              <a:buChar char="-"/>
            </a:pPr>
            <a:r>
              <a:rPr lang="en-GB" sz="3200" dirty="0"/>
              <a:t>IDF is the total number of the topics divide by the topics the author participate in.</a:t>
            </a:r>
          </a:p>
          <a:p>
            <a:pPr lvl="1">
              <a:buFontTx/>
              <a:buChar char="-"/>
            </a:pPr>
            <a:r>
              <a:rPr lang="en-GB" sz="3200" dirty="0"/>
              <a:t>TF-IDF = TF * IDF.</a:t>
            </a:r>
          </a:p>
          <a:p>
            <a:pPr lvl="1"/>
            <a:endParaRPr lang="en-GB" sz="3300" dirty="0"/>
          </a:p>
          <a:p>
            <a:pPr lvl="1"/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20CB5A-AEB6-7F2A-1B1D-3D95E7785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697059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05B64-DF27-8FD5-4F2E-1CA188163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13D47E-4052-A1D7-140B-202ED0FFA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18</a:t>
            </a:fld>
            <a:endParaRPr lang="he-IL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45009BC-3A6D-0B4E-2636-2808E1DA4AC6}"/>
              </a:ext>
            </a:extLst>
          </p:cNvPr>
          <p:cNvSpPr/>
          <p:nvPr/>
        </p:nvSpPr>
        <p:spPr>
          <a:xfrm>
            <a:off x="3713356" y="3876907"/>
            <a:ext cx="2631688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6183754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286F-EFC0-C5F8-ACEA-552EA4E05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A8F5F-929A-8AD8-9DF2-2F5C819FD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Key Authors Selection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7C2B8-A25A-3122-0C1F-4BBDC5F57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3600" dirty="0"/>
              <a:t>An author is considered a key author independently within each topic and may be a key author in one topic but not in others.</a:t>
            </a:r>
          </a:p>
          <a:p>
            <a:r>
              <a:rPr lang="en-GB" sz="3600" dirty="0"/>
              <a:t>Key authors are defined as authors ranked in the top-N (by TF-IDF score) for at least one topic.</a:t>
            </a:r>
          </a:p>
          <a:p>
            <a:r>
              <a:rPr lang="en-GB" sz="3600" dirty="0"/>
              <a:t>In the graph, all key authors are treated equally, regardless of whether they appear in one or multiple topics.</a:t>
            </a: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63BC0-8C91-1F8E-0045-0251DD3B7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949669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55F20-3769-8063-49C1-4D33BDCEF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78F141-5A91-3D76-0E83-86E67DAF0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20</a:t>
            </a:fld>
            <a:endParaRPr lang="he-IL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8B4057E-2496-168A-678C-2939AA01B135}"/>
              </a:ext>
            </a:extLst>
          </p:cNvPr>
          <p:cNvSpPr/>
          <p:nvPr/>
        </p:nvSpPr>
        <p:spPr>
          <a:xfrm>
            <a:off x="6674005" y="3876906"/>
            <a:ext cx="2631688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4451140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E27CD-C8FF-B185-45D8-666A78A6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98079-07AB-1011-721B-DDEB4687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Backbone Graph Building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FF6C3-80E1-C75C-69F0-3A7FFA1D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b="1" dirty="0"/>
              <a:t>Nodes:</a:t>
            </a:r>
            <a:r>
              <a:rPr lang="en-GB" sz="2800" dirty="0"/>
              <a:t> authors in the discourse.</a:t>
            </a:r>
          </a:p>
          <a:p>
            <a:r>
              <a:rPr lang="en-GB" sz="2800" b="1" dirty="0"/>
              <a:t>Edges: </a:t>
            </a:r>
            <a:r>
              <a:rPr lang="en-GB" sz="2800" dirty="0"/>
              <a:t>co-action relations between author pairs (e.g., co-mention, co-entity, co-topic).</a:t>
            </a:r>
            <a:endParaRPr lang="he-IL" sz="2800" dirty="0"/>
          </a:p>
          <a:p>
            <a:r>
              <a:rPr lang="en-GB" sz="2800" b="1" dirty="0"/>
              <a:t>Weights:</a:t>
            </a:r>
            <a:r>
              <a:rPr lang="en-GB" sz="2800" dirty="0"/>
              <a:t> number of co-occurrences.</a:t>
            </a:r>
          </a:p>
          <a:p>
            <a:r>
              <a:rPr lang="en-GB" sz="2800" b="1" dirty="0"/>
              <a:t>Filtering:</a:t>
            </a:r>
            <a:r>
              <a:rPr lang="en-GB" sz="2800" dirty="0"/>
              <a:t> only key authors.</a:t>
            </a:r>
          </a:p>
          <a:p>
            <a:r>
              <a:rPr lang="en-GB" sz="2800" b="1" dirty="0"/>
              <a:t>Purpose</a:t>
            </a:r>
            <a:r>
              <a:rPr lang="en-GB" sz="2800" dirty="0"/>
              <a:t>: expose coordinated behaviour and structural signals for IO detection.</a:t>
            </a:r>
          </a:p>
          <a:p>
            <a:endParaRPr lang="en-GB" dirty="0"/>
          </a:p>
          <a:p>
            <a:endParaRPr lang="en-GB" dirty="0"/>
          </a:p>
          <a:p>
            <a:pPr marL="457200" lvl="1" indent="0">
              <a:buNone/>
            </a:pP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E3158-F388-D9C9-D303-42FD2F68D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111222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57D72-3769-4162-3F92-A05CCDC8D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6FA3E-B022-B204-FB8C-1BC2E0244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Backbone Graph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C0AEB-C01F-B3A5-B6BE-FCD102F6F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22</a:t>
            </a:fld>
            <a:endParaRPr lang="he-IL"/>
          </a:p>
        </p:txBody>
      </p:sp>
      <p:pic>
        <p:nvPicPr>
          <p:cNvPr id="8" name="Content Placeholder 7" descr="A network of dots and lines&#10;&#10;AI-generated content may be incorrect.">
            <a:extLst>
              <a:ext uri="{FF2B5EF4-FFF2-40B4-BE49-F238E27FC236}">
                <a16:creationId xmlns:a16="http://schemas.microsoft.com/office/drawing/2014/main" id="{F8CEB6B9-7309-277B-AAAC-68DA1C261F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2268" y="1385094"/>
            <a:ext cx="4747419" cy="4747419"/>
          </a:xfrm>
        </p:spPr>
      </p:pic>
    </p:spTree>
    <p:extLst>
      <p:ext uri="{BB962C8B-B14F-4D97-AF65-F5344CB8AC3E}">
        <p14:creationId xmlns:p14="http://schemas.microsoft.com/office/powerpoint/2010/main" val="20678413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19B8A-8A3D-B468-AB5B-90809A272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F1795A-D216-579E-59D4-858A0FD7D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23</a:t>
            </a:fld>
            <a:endParaRPr lang="he-IL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63BEF0-7782-E658-3D6B-AAE6627156E9}"/>
              </a:ext>
            </a:extLst>
          </p:cNvPr>
          <p:cNvSpPr/>
          <p:nvPr/>
        </p:nvSpPr>
        <p:spPr>
          <a:xfrm>
            <a:off x="9634654" y="3876906"/>
            <a:ext cx="2320165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4910160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2FAF8-27B5-7B2F-8C00-D3ADA06D4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E6285-B712-C677-A828-891CA0E3C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B0DAB-66B4-7AE5-861B-97EA0D9624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dirty="0"/>
              <a:t>Assumption: organic users act mostly independently, while IO actors require systematic structural coordination to operate a campaign.</a:t>
            </a:r>
          </a:p>
          <a:p>
            <a:r>
              <a:rPr lang="en-GB" sz="2800" dirty="0"/>
              <a:t>Coordination effect: repeated co-actions produce non-random network structures among the same actors. </a:t>
            </a:r>
          </a:p>
          <a:p>
            <a:r>
              <a:rPr lang="en-GB" sz="2800" dirty="0"/>
              <a:t>Rationale: community identifiers and centralities are measures quantify how embedded, influential, or connective an actor is within the network.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056C6-625D-D2C5-5434-E67ED6E1F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389864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2C2BE-2494-BA68-E431-47326FA2C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6281F-A0E2-7F0F-877A-FFD8BAABC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 - Examples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C4676-3CA1-600D-3921-D92526888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dirty="0"/>
              <a:t>Centralities: Measure how structurally important a node is in a network. </a:t>
            </a:r>
          </a:p>
          <a:p>
            <a:pPr lvl="1">
              <a:buFontTx/>
              <a:buChar char="-"/>
            </a:pPr>
            <a:r>
              <a:rPr lang="en-GB" sz="2800" dirty="0"/>
              <a:t>Degree centrality (node): Counts the number of direct connections a node has. Reflects local connectivity.</a:t>
            </a:r>
          </a:p>
          <a:p>
            <a:pPr lvl="1">
              <a:buFontTx/>
              <a:buChar char="-"/>
            </a:pPr>
            <a:r>
              <a:rPr lang="en-GB" sz="2800" dirty="0"/>
              <a:t>Eigenvector centrality (node): the sum of the scores of the node’s neighbours. Reflect connectivity to highly connected nodes.</a:t>
            </a:r>
          </a:p>
          <a:p>
            <a:r>
              <a:rPr lang="en-GB" sz="2800" dirty="0"/>
              <a:t>k-core (node): The largest 𝑘 such that the node belongs to a subgraph where every node has at least 𝑘 neighbours. Reflects embeddedness in dense, mutually connected groups.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08EF7-7ABA-0FF1-49F5-C1F900E00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688075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BEF17-A85B-69A7-4947-96097D1A5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E2D88-5AB1-052E-FB13-E091040FA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45DFBC-E283-482F-07BA-A333B910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26</a:t>
            </a:fld>
            <a:endParaRPr lang="he-IL"/>
          </a:p>
        </p:txBody>
      </p:sp>
      <p:pic>
        <p:nvPicPr>
          <p:cNvPr id="8" name="Content Placeholder 7" descr="A network of dots and lines&#10;&#10;AI-generated content may be incorrect.">
            <a:extLst>
              <a:ext uri="{FF2B5EF4-FFF2-40B4-BE49-F238E27FC236}">
                <a16:creationId xmlns:a16="http://schemas.microsoft.com/office/drawing/2014/main" id="{66A4053E-AB18-5F2F-D1F0-F2B2E52984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52" t="3063" r="4355"/>
          <a:stretch>
            <a:fillRect/>
          </a:stretch>
        </p:blipFill>
        <p:spPr>
          <a:xfrm>
            <a:off x="1616927" y="1630362"/>
            <a:ext cx="6362773" cy="5176361"/>
          </a:xfrm>
        </p:spPr>
      </p:pic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94C0EF37-C21E-64B9-190B-12A5FFAC380E}"/>
              </a:ext>
            </a:extLst>
          </p:cNvPr>
          <p:cNvSpPr/>
          <p:nvPr/>
        </p:nvSpPr>
        <p:spPr>
          <a:xfrm>
            <a:off x="6840109" y="4305300"/>
            <a:ext cx="558911" cy="559646"/>
          </a:xfrm>
          <a:prstGeom prst="flowChartConnector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D78D894D-6702-3125-2BFF-3DB2ECBA4904}"/>
              </a:ext>
            </a:extLst>
          </p:cNvPr>
          <p:cNvSpPr/>
          <p:nvPr/>
        </p:nvSpPr>
        <p:spPr>
          <a:xfrm>
            <a:off x="8256994" y="1630362"/>
            <a:ext cx="360000" cy="360000"/>
          </a:xfrm>
          <a:prstGeom prst="flowChartConnector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99B6F5-B9F8-08F7-1704-81E9386024CC}"/>
              </a:ext>
            </a:extLst>
          </p:cNvPr>
          <p:cNvSpPr txBox="1"/>
          <p:nvPr/>
        </p:nvSpPr>
        <p:spPr>
          <a:xfrm>
            <a:off x="8824162" y="1605472"/>
            <a:ext cx="2630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 </a:t>
            </a:r>
            <a:r>
              <a:rPr lang="en-GB" dirty="0"/>
              <a:t>degree centrality </a:t>
            </a:r>
            <a:endParaRPr lang="en-IL" dirty="0"/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755C2BB5-5CCD-8048-0623-B56A7107E499}"/>
              </a:ext>
            </a:extLst>
          </p:cNvPr>
          <p:cNvSpPr/>
          <p:nvPr/>
        </p:nvSpPr>
        <p:spPr>
          <a:xfrm>
            <a:off x="1738768" y="3086616"/>
            <a:ext cx="1057772" cy="891024"/>
          </a:xfrm>
          <a:prstGeom prst="flowChartConnector">
            <a:avLst/>
          </a:prstGeom>
          <a:noFill/>
          <a:ln w="57150">
            <a:solidFill>
              <a:srgbClr val="F59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28978A85-2029-EA91-65C8-D4836607FD42}"/>
              </a:ext>
            </a:extLst>
          </p:cNvPr>
          <p:cNvSpPr/>
          <p:nvPr/>
        </p:nvSpPr>
        <p:spPr>
          <a:xfrm>
            <a:off x="8256994" y="2738446"/>
            <a:ext cx="360000" cy="360000"/>
          </a:xfrm>
          <a:prstGeom prst="flowChartConnector">
            <a:avLst/>
          </a:prstGeom>
          <a:noFill/>
          <a:ln w="57150">
            <a:solidFill>
              <a:srgbClr val="F59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425336-454F-FE31-1422-436892C703EC}"/>
              </a:ext>
            </a:extLst>
          </p:cNvPr>
          <p:cNvSpPr txBox="1"/>
          <p:nvPr/>
        </p:nvSpPr>
        <p:spPr>
          <a:xfrm>
            <a:off x="8824162" y="2717284"/>
            <a:ext cx="2630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 </a:t>
            </a:r>
            <a:r>
              <a:rPr lang="en-GB" dirty="0"/>
              <a:t>k-core</a:t>
            </a:r>
            <a:endParaRPr lang="en-IL" dirty="0"/>
          </a:p>
        </p:txBody>
      </p:sp>
      <p:sp>
        <p:nvSpPr>
          <p:cNvPr id="12" name="Flowchart: Connector 11">
            <a:extLst>
              <a:ext uri="{FF2B5EF4-FFF2-40B4-BE49-F238E27FC236}">
                <a16:creationId xmlns:a16="http://schemas.microsoft.com/office/drawing/2014/main" id="{871B8A36-FB76-083A-5FA0-EA7EA872E11A}"/>
              </a:ext>
            </a:extLst>
          </p:cNvPr>
          <p:cNvSpPr/>
          <p:nvPr/>
        </p:nvSpPr>
        <p:spPr>
          <a:xfrm>
            <a:off x="8256994" y="3292488"/>
            <a:ext cx="360000" cy="360000"/>
          </a:xfrm>
          <a:prstGeom prst="flowChartConnector">
            <a:avLst/>
          </a:prstGeom>
          <a:noFill/>
          <a:ln w="57150">
            <a:solidFill>
              <a:srgbClr val="F583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3" name="Flowchart: Connector 12">
            <a:extLst>
              <a:ext uri="{FF2B5EF4-FFF2-40B4-BE49-F238E27FC236}">
                <a16:creationId xmlns:a16="http://schemas.microsoft.com/office/drawing/2014/main" id="{BCE1F5E2-96CB-66E7-B575-B51DA37B4E37}"/>
              </a:ext>
            </a:extLst>
          </p:cNvPr>
          <p:cNvSpPr/>
          <p:nvPr/>
        </p:nvSpPr>
        <p:spPr>
          <a:xfrm>
            <a:off x="3481782" y="3449324"/>
            <a:ext cx="2251102" cy="1539240"/>
          </a:xfrm>
          <a:prstGeom prst="flowChartConnector">
            <a:avLst/>
          </a:prstGeom>
          <a:noFill/>
          <a:ln w="57150">
            <a:solidFill>
              <a:srgbClr val="F583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B54FF2-3B58-D836-F1A2-897465C04679}"/>
              </a:ext>
            </a:extLst>
          </p:cNvPr>
          <p:cNvSpPr txBox="1"/>
          <p:nvPr/>
        </p:nvSpPr>
        <p:spPr>
          <a:xfrm>
            <a:off x="8824162" y="3320534"/>
            <a:ext cx="2630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high</a:t>
            </a:r>
            <a:endParaRPr lang="en-IL" dirty="0"/>
          </a:p>
        </p:txBody>
      </p:sp>
      <p:sp>
        <p:nvSpPr>
          <p:cNvPr id="15" name="Flowchart: Connector 14">
            <a:extLst>
              <a:ext uri="{FF2B5EF4-FFF2-40B4-BE49-F238E27FC236}">
                <a16:creationId xmlns:a16="http://schemas.microsoft.com/office/drawing/2014/main" id="{BCFD6D60-027A-1FE4-805D-AC0BDD584F9A}"/>
              </a:ext>
            </a:extLst>
          </p:cNvPr>
          <p:cNvSpPr/>
          <p:nvPr/>
        </p:nvSpPr>
        <p:spPr>
          <a:xfrm>
            <a:off x="8256994" y="2184404"/>
            <a:ext cx="360000" cy="360000"/>
          </a:xfrm>
          <a:prstGeom prst="flowChartConnector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BBC2B-DFD1-CC39-847A-385C36AC7347}"/>
              </a:ext>
            </a:extLst>
          </p:cNvPr>
          <p:cNvSpPr txBox="1"/>
          <p:nvPr/>
        </p:nvSpPr>
        <p:spPr>
          <a:xfrm>
            <a:off x="8824162" y="2175072"/>
            <a:ext cx="2837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 </a:t>
            </a:r>
            <a:r>
              <a:rPr lang="en-GB" dirty="0"/>
              <a:t>eigenvector centrality </a:t>
            </a:r>
            <a:endParaRPr lang="en-IL" dirty="0"/>
          </a:p>
        </p:txBody>
      </p:sp>
      <p:sp>
        <p:nvSpPr>
          <p:cNvPr id="17" name="Flowchart: Connector 16">
            <a:extLst>
              <a:ext uri="{FF2B5EF4-FFF2-40B4-BE49-F238E27FC236}">
                <a16:creationId xmlns:a16="http://schemas.microsoft.com/office/drawing/2014/main" id="{87C4792C-A2E7-5B20-B256-55095FB999CA}"/>
              </a:ext>
            </a:extLst>
          </p:cNvPr>
          <p:cNvSpPr/>
          <p:nvPr/>
        </p:nvSpPr>
        <p:spPr>
          <a:xfrm>
            <a:off x="4708538" y="2184404"/>
            <a:ext cx="966331" cy="825496"/>
          </a:xfrm>
          <a:prstGeom prst="flowChartConnector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80593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DAACC-58F5-4F3E-57F2-581C26E0A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9FABA-EC78-9E45-CC9B-DBDACDF3E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 – Information Gain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28F45-7EDE-8903-1842-3A0863E94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27</a:t>
            </a:fld>
            <a:endParaRPr lang="he-IL"/>
          </a:p>
        </p:txBody>
      </p:sp>
      <p:pic>
        <p:nvPicPr>
          <p:cNvPr id="5" name="Content Placeholder 4" descr="A graph with blue squares&#10;&#10;AI-generated content may be incorrect.">
            <a:extLst>
              <a:ext uri="{FF2B5EF4-FFF2-40B4-BE49-F238E27FC236}">
                <a16:creationId xmlns:a16="http://schemas.microsoft.com/office/drawing/2014/main" id="{1BD2BADB-602E-7965-15F2-6FC425D57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2339" y="2064540"/>
            <a:ext cx="7707321" cy="3853660"/>
          </a:xfrm>
        </p:spPr>
      </p:pic>
    </p:spTree>
    <p:extLst>
      <p:ext uri="{BB962C8B-B14F-4D97-AF65-F5344CB8AC3E}">
        <p14:creationId xmlns:p14="http://schemas.microsoft.com/office/powerpoint/2010/main" val="641848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AC833-FD6F-D1DF-E576-C13596AD3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FAAC0-A304-ED9E-9DE2-44C6FD2C0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IO Indicators – Box Plot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DEC76D-1FA7-9970-370C-32CF9E870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28</a:t>
            </a:fld>
            <a:endParaRPr lang="he-IL"/>
          </a:p>
        </p:txBody>
      </p:sp>
      <p:pic>
        <p:nvPicPr>
          <p:cNvPr id="10" name="Picture 9" descr="A screenshot of a graph&#10;&#10;AI-generated content may be incorrect.">
            <a:extLst>
              <a:ext uri="{FF2B5EF4-FFF2-40B4-BE49-F238E27FC236}">
                <a16:creationId xmlns:a16="http://schemas.microsoft.com/office/drawing/2014/main" id="{EB900789-A8BE-139E-217D-F7BD0703E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294" y="1727200"/>
            <a:ext cx="10468410" cy="4145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6330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903B2-0F9C-87DB-DD4F-B51BBDC74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B959E-6C25-A6FE-2DF5-AA27610FB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 – </a:t>
            </a:r>
            <a:r>
              <a:rPr lang="en-GB" dirty="0" err="1"/>
              <a:t>Zscore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10360D-30D8-6E35-7D5D-1DECBACC4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29</a:t>
            </a:fld>
            <a:endParaRPr lang="he-IL"/>
          </a:p>
        </p:txBody>
      </p:sp>
      <p:pic>
        <p:nvPicPr>
          <p:cNvPr id="9" name="Content Placeholder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2C40B0B-1370-0D45-8B9E-14AE87C189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5343" y="2096810"/>
            <a:ext cx="3870772" cy="2359580"/>
          </a:xfrm>
        </p:spPr>
      </p:pic>
      <p:sp>
        <p:nvSpPr>
          <p:cNvPr id="7" name="AutoShape 2">
            <a:extLst>
              <a:ext uri="{FF2B5EF4-FFF2-40B4-BE49-F238E27FC236}">
                <a16:creationId xmlns:a16="http://schemas.microsoft.com/office/drawing/2014/main" id="{F53164B1-E4FB-A546-37F5-F32E0381A31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L"/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3F5A7AC-E71B-F3C5-42E9-1B71C626D9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144" y="2096811"/>
            <a:ext cx="3758474" cy="2359580"/>
          </a:xfrm>
          <a:prstGeom prst="rect">
            <a:avLst/>
          </a:prstGeom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4DC6A40-E5EA-AF78-0D6A-FD6E47B2CA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4841" y="2096810"/>
            <a:ext cx="3896471" cy="2359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04913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1050D-F640-0124-4C31-F28CFBF65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2AAEB2F-B311-3DF6-FB47-2EE2E861AE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4640" y="-304800"/>
            <a:ext cx="12486640" cy="7162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83E00D7-7321-A7B2-D42B-E8B37A883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56" y="0"/>
            <a:ext cx="10515600" cy="1325563"/>
          </a:xfrm>
        </p:spPr>
        <p:txBody>
          <a:bodyPr/>
          <a:lstStyle/>
          <a:p>
            <a:pPr algn="r" rtl="1"/>
            <a:r>
              <a:rPr lang="he-IL" dirty="0">
                <a:latin typeface="David" panose="020E0502060401010101" pitchFamily="34" charset="-79"/>
                <a:cs typeface="David" panose="020E0502060401010101" pitchFamily="34" charset="-79"/>
              </a:rPr>
              <a:t>שאלונים פסיכולוגיים</a:t>
            </a:r>
            <a:endParaRPr lang="en-IL" dirty="0">
              <a:latin typeface="David" panose="020E0502060401010101" pitchFamily="34" charset="-79"/>
              <a:cs typeface="David" panose="020E0502060401010101" pitchFamily="34" charset="-79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9F02DBB-A5D3-1C24-C9E8-738E65C467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9135" y="6093915"/>
            <a:ext cx="2642865" cy="797919"/>
          </a:xfrm>
          <a:prstGeom prst="rect">
            <a:avLst/>
          </a:prstGeom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E6CC82A-45C9-3638-DFE0-C01541C3CC0F}"/>
              </a:ext>
            </a:extLst>
          </p:cNvPr>
          <p:cNvSpPr txBox="1">
            <a:spLocks/>
          </p:cNvSpPr>
          <p:nvPr/>
        </p:nvSpPr>
        <p:spPr>
          <a:xfrm>
            <a:off x="2148840" y="1070043"/>
            <a:ext cx="9558116" cy="50238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lnSpc>
                <a:spcPct val="100000"/>
              </a:lnSpc>
              <a:buNone/>
            </a:pPr>
            <a:r>
              <a:rPr lang="he-IL" b="1" dirty="0">
                <a:latin typeface="David" panose="020E0502060401010101" pitchFamily="34" charset="-79"/>
              </a:rPr>
              <a:t>מי מנהל את השיח והאם בהצלחה? </a:t>
            </a:r>
          </a:p>
          <a:p>
            <a:pPr algn="r" rtl="1">
              <a:lnSpc>
                <a:spcPct val="100000"/>
              </a:lnSpc>
            </a:pPr>
            <a:r>
              <a:rPr lang="he-IL" sz="1800" dirty="0">
                <a:latin typeface="David" panose="020E0502060401010101" pitchFamily="34" charset="-79"/>
              </a:rPr>
              <a:t>זיהוי המאפיינים הפסיכולוגיים והערכיים של המשפיעים והמושפעים ומיפוי הקשרים </a:t>
            </a:r>
            <a:r>
              <a:rPr lang="he-IL" sz="1800" dirty="0" err="1">
                <a:latin typeface="David" panose="020E0502060401010101" pitchFamily="34" charset="-79"/>
              </a:rPr>
              <a:t>בינהם</a:t>
            </a:r>
            <a:r>
              <a:rPr lang="he-IL" sz="1800" dirty="0">
                <a:latin typeface="David" panose="020E0502060401010101" pitchFamily="34" charset="-79"/>
              </a:rPr>
              <a:t>. </a:t>
            </a:r>
          </a:p>
          <a:p>
            <a:pPr marL="0" indent="0" algn="r" rtl="1">
              <a:lnSpc>
                <a:spcPct val="100000"/>
              </a:lnSpc>
              <a:buNone/>
            </a:pPr>
            <a:r>
              <a:rPr lang="he-IL" sz="1800" b="1" dirty="0">
                <a:latin typeface="David" panose="020E0502060401010101" pitchFamily="34" charset="-79"/>
              </a:rPr>
              <a:t> אומדנים פסיכולוגים בניתוח טקסט באמצעות ספריית </a:t>
            </a:r>
            <a:r>
              <a:rPr lang="en-US" sz="1800" b="1" dirty="0">
                <a:latin typeface="David" panose="020E0502060401010101" pitchFamily="34" charset="-79"/>
              </a:rPr>
              <a:t>QLATENT</a:t>
            </a:r>
            <a:r>
              <a:rPr lang="he-IL" sz="1800" b="1" dirty="0">
                <a:latin typeface="David" panose="020E0502060401010101" pitchFamily="34" charset="-79"/>
              </a:rPr>
              <a:t> שפותחה ופורסמה ע"י </a:t>
            </a:r>
            <a:r>
              <a:rPr lang="en-US" sz="1800" b="1" dirty="0">
                <a:latin typeface="David" panose="020E0502060401010101" pitchFamily="34" charset="-79"/>
              </a:rPr>
              <a:t>BGU</a:t>
            </a:r>
            <a:r>
              <a:rPr lang="he-IL" sz="1800" dirty="0">
                <a:latin typeface="David" panose="020E0502060401010101" pitchFamily="34" charset="-79"/>
              </a:rPr>
              <a:t>: </a:t>
            </a:r>
          </a:p>
          <a:p>
            <a:pPr algn="r" rtl="1">
              <a:lnSpc>
                <a:spcPct val="100000"/>
              </a:lnSpc>
            </a:pPr>
            <a:r>
              <a:rPr lang="he-IL" sz="1800" dirty="0">
                <a:latin typeface="David" panose="020E0502060401010101" pitchFamily="34" charset="-79"/>
              </a:rPr>
              <a:t>ייושם ניתוח אישיות מבוסס </a:t>
            </a:r>
            <a:r>
              <a:rPr lang="en-US" sz="1800" dirty="0">
                <a:latin typeface="David" panose="020E0502060401010101" pitchFamily="34" charset="-79"/>
              </a:rPr>
              <a:t>LLM</a:t>
            </a:r>
            <a:r>
              <a:rPr lang="he-IL" sz="1800" dirty="0">
                <a:latin typeface="David" panose="020E0502060401010101" pitchFamily="34" charset="-79"/>
              </a:rPr>
              <a:t>, המדמה את פעולת השאלונים הפסיכולוגיים הקלאסיים (כגון </a:t>
            </a:r>
            <a:r>
              <a:rPr lang="en-US" sz="1800" dirty="0">
                <a:latin typeface="David" panose="020E0502060401010101" pitchFamily="34" charset="-79"/>
              </a:rPr>
              <a:t>Big Five</a:t>
            </a:r>
            <a:r>
              <a:rPr lang="he-IL" sz="1800" dirty="0">
                <a:latin typeface="David" panose="020E0502060401010101" pitchFamily="34" charset="-79"/>
              </a:rPr>
              <a:t> ועוד..)</a:t>
            </a:r>
          </a:p>
          <a:p>
            <a:pPr algn="r" rtl="1">
              <a:lnSpc>
                <a:spcPct val="100000"/>
              </a:lnSpc>
            </a:pPr>
            <a:r>
              <a:rPr lang="he-IL" sz="1800" dirty="0">
                <a:latin typeface="David" panose="020E0502060401010101" pitchFamily="34" charset="-79"/>
              </a:rPr>
              <a:t>מבוסס על הפוסטים של המשתמשים.</a:t>
            </a:r>
          </a:p>
          <a:p>
            <a:pPr algn="r" rtl="1">
              <a:lnSpc>
                <a:spcPct val="100000"/>
              </a:lnSpc>
            </a:pPr>
            <a:r>
              <a:rPr lang="he-IL" sz="1800" dirty="0">
                <a:latin typeface="David" panose="020E0502060401010101" pitchFamily="34" charset="-79"/>
              </a:rPr>
              <a:t>המודל יבצע אבחון חישובי של פרופיל אישיות, לרבות מאפיינים כגון: פתיחות, מצפוניות, אמפתיה, קונפורמיות, רמות נוירוטיות, וכן הטיות ערכיות ונטיות חברתיות</a:t>
            </a:r>
            <a:r>
              <a:rPr lang="en-US" sz="1800" dirty="0">
                <a:latin typeface="David" panose="020E0502060401010101" pitchFamily="34" charset="-79"/>
              </a:rPr>
              <a:t>- </a:t>
            </a:r>
            <a:r>
              <a:rPr lang="he-IL" sz="1800" dirty="0">
                <a:latin typeface="David" panose="020E0502060401010101" pitchFamily="34" charset="-79"/>
              </a:rPr>
              <a:t>למשל ביטויי גזענות , סקסיזם </a:t>
            </a:r>
            <a:r>
              <a:rPr lang="he-IL" sz="1800" dirty="0" err="1">
                <a:latin typeface="David" panose="020E0502060401010101" pitchFamily="34" charset="-79"/>
              </a:rPr>
              <a:t>וכו</a:t>
            </a:r>
            <a:r>
              <a:rPr lang="en-US" sz="1800" dirty="0">
                <a:latin typeface="David" panose="020E0502060401010101" pitchFamily="34" charset="-79"/>
              </a:rPr>
              <a:t>’</a:t>
            </a:r>
            <a:r>
              <a:rPr lang="he-IL" sz="1800" dirty="0">
                <a:latin typeface="David" panose="020E0502060401010101" pitchFamily="34" charset="-79"/>
              </a:rPr>
              <a:t>. </a:t>
            </a:r>
          </a:p>
          <a:p>
            <a:pPr lvl="1" algn="r" rtl="1">
              <a:lnSpc>
                <a:spcPct val="100000"/>
              </a:lnSpc>
            </a:pPr>
            <a:r>
              <a:rPr lang="he-IL" sz="1400" dirty="0">
                <a:latin typeface="David" panose="020E0502060401010101" pitchFamily="34" charset="-79"/>
              </a:rPr>
              <a:t>נזהה את הפרופיל הפסיכולוגי והערכי של משפיעים ונבחון כיצד תכונות אלו קשורות להצלחת תפעול שיח.</a:t>
            </a:r>
          </a:p>
          <a:p>
            <a:pPr lvl="1" algn="r" rtl="1">
              <a:lnSpc>
                <a:spcPct val="100000"/>
              </a:lnSpc>
            </a:pPr>
            <a:r>
              <a:rPr lang="he-IL" sz="1400" dirty="0">
                <a:latin typeface="David" panose="020E0502060401010101" pitchFamily="34" charset="-79"/>
              </a:rPr>
              <a:t>מאפיין את הציבור המושפע ונזהה טיפוסי אישיות או נטיות חברתיות נוטות להשתנות או להקצין בעקבות חשיפה לפרסומים.</a:t>
            </a:r>
          </a:p>
        </p:txBody>
      </p:sp>
    </p:spTree>
    <p:extLst>
      <p:ext uri="{BB962C8B-B14F-4D97-AF65-F5344CB8AC3E}">
        <p14:creationId xmlns:p14="http://schemas.microsoft.com/office/powerpoint/2010/main" val="37472280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11007</TotalTime>
  <Words>1311</Words>
  <Application>Microsoft Office PowerPoint</Application>
  <PresentationFormat>Widescreen</PresentationFormat>
  <Paragraphs>187</Paragraphs>
  <Slides>30</Slides>
  <Notes>16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Calibri Light</vt:lpstr>
      <vt:lpstr>David</vt:lpstr>
      <vt:lpstr>Office Theme</vt:lpstr>
      <vt:lpstr>Backbone Graph</vt:lpstr>
      <vt:lpstr>Introduction</vt:lpstr>
      <vt:lpstr>Introduction</vt:lpstr>
      <vt:lpstr>Main Ideas</vt:lpstr>
      <vt:lpstr>Datasets</vt:lpstr>
      <vt:lpstr> Labeled IO Corpus</vt:lpstr>
      <vt:lpstr> Labeled IO Corpus - Ecuador</vt:lpstr>
      <vt:lpstr>PowerPoint Presentation</vt:lpstr>
      <vt:lpstr>PowerPoint Presentation</vt:lpstr>
      <vt:lpstr>PowerPoint Presentation</vt:lpstr>
      <vt:lpstr>PowerPoint Presentation</vt:lpstr>
      <vt:lpstr>Narratives Clustering &amp;  Entities Recognition</vt:lpstr>
      <vt:lpstr>PowerPoint Presentation</vt:lpstr>
      <vt:lpstr>Entity-Topic TF-IDF Score</vt:lpstr>
      <vt:lpstr>Entity-Topic TF-IDF Score</vt:lpstr>
      <vt:lpstr>PowerPoint Presentation</vt:lpstr>
      <vt:lpstr>Post &amp; Author Scoring</vt:lpstr>
      <vt:lpstr>PowerPoint Presentation</vt:lpstr>
      <vt:lpstr>Key Authors Selection</vt:lpstr>
      <vt:lpstr>PowerPoint Presentation</vt:lpstr>
      <vt:lpstr>Backbone Graph Building</vt:lpstr>
      <vt:lpstr>Backbone Graph</vt:lpstr>
      <vt:lpstr>PowerPoint Presentation</vt:lpstr>
      <vt:lpstr>IO Indicators</vt:lpstr>
      <vt:lpstr>IO Indicators - Examples</vt:lpstr>
      <vt:lpstr>IO Indicators</vt:lpstr>
      <vt:lpstr>IO Indicators – Information Gain</vt:lpstr>
      <vt:lpstr>IO Indicators – Box Plot</vt:lpstr>
      <vt:lpstr>IO Indicators – Zscore</vt:lpstr>
      <vt:lpstr>שאלונים פסיכולוגיים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Edita Grolman</dc:creator>
  <cp:lastModifiedBy>Amit Ner Gaon</cp:lastModifiedBy>
  <cp:revision>314</cp:revision>
  <dcterms:created xsi:type="dcterms:W3CDTF">2021-05-04T15:24:24Z</dcterms:created>
  <dcterms:modified xsi:type="dcterms:W3CDTF">2026-02-12T13:10:10Z</dcterms:modified>
</cp:coreProperties>
</file>