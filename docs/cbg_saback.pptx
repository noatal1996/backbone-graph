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1574" r:id="rId2"/>
    <p:sldId id="1597" r:id="rId3"/>
    <p:sldId id="1598" r:id="rId4"/>
    <p:sldId id="1575" r:id="rId5"/>
    <p:sldId id="1596" r:id="rId6"/>
    <p:sldId id="1579" r:id="rId7"/>
    <p:sldId id="1580" r:id="rId8"/>
    <p:sldId id="1582" r:id="rId9"/>
    <p:sldId id="1581" r:id="rId10"/>
    <p:sldId id="1583" r:id="rId11"/>
    <p:sldId id="1584" r:id="rId12"/>
    <p:sldId id="1585" r:id="rId13"/>
    <p:sldId id="1586" r:id="rId14"/>
    <p:sldId id="1587" r:id="rId15"/>
    <p:sldId id="1588" r:id="rId16"/>
    <p:sldId id="1589" r:id="rId17"/>
    <p:sldId id="1590" r:id="rId18"/>
    <p:sldId id="1591" r:id="rId19"/>
    <p:sldId id="1594" r:id="rId20"/>
    <p:sldId id="1592" r:id="rId21"/>
    <p:sldId id="1593" r:id="rId22"/>
    <p:sldId id="1595" r:id="rId23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343"/>
    <a:srgbClr val="F58377"/>
    <a:srgbClr val="F59120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27" autoAdjust="0"/>
  </p:normalViewPr>
  <p:slideViewPr>
    <p:cSldViewPr snapToGrid="0">
      <p:cViewPr varScale="1">
        <p:scale>
          <a:sx n="74" d="100"/>
          <a:sy n="74" d="100"/>
        </p:scale>
        <p:origin x="1364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ט"ז/טבת/תשפ"ו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D1B19-9B3F-52B4-1406-A3E8B63F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148B-DCE7-D348-6B8B-486CD7F79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ED3D-2BE5-A730-602C-04D8CCCB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DDE7B-A372-3AE3-02CF-4C8AE5991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521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05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05.01.2026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is the modern public square BUT increasingly exploited by IO.</a:t>
            </a:r>
          </a:p>
          <a:p>
            <a:r>
              <a:rPr lang="en-GB" sz="3900" dirty="0"/>
              <a:t>The Problem:</a:t>
            </a:r>
          </a:p>
          <a:p>
            <a:pPr lvl="1">
              <a:buFontTx/>
              <a:buChar char="-"/>
            </a:pPr>
            <a:r>
              <a:rPr lang="en-GB" sz="3900" dirty="0"/>
              <a:t>LLMs make content detection harder.</a:t>
            </a:r>
          </a:p>
          <a:p>
            <a:pPr lvl="1">
              <a:buFontTx/>
              <a:buChar char="-"/>
            </a:pPr>
            <a:r>
              <a:rPr lang="en-GB" sz="3900" dirty="0"/>
              <a:t>Traditional semantic features are no longer enough.</a:t>
            </a:r>
          </a:p>
          <a:p>
            <a:r>
              <a:rPr lang="en-GB" sz="3900" dirty="0"/>
              <a:t>Our Approach:</a:t>
            </a:r>
          </a:p>
          <a:p>
            <a:pPr lvl="1">
              <a:buFontTx/>
              <a:buChar char="-"/>
            </a:pPr>
            <a:r>
              <a:rPr lang="en-GB" sz="3900" dirty="0"/>
              <a:t>Focus on WHO acts, not WHAT they say</a:t>
            </a:r>
          </a:p>
          <a:p>
            <a:pPr lvl="1">
              <a:buFontTx/>
              <a:buChar char="-"/>
            </a:pPr>
            <a:r>
              <a:rPr lang="en-GB" sz="3900" dirty="0"/>
              <a:t>Structural features + coordination patterns</a:t>
            </a:r>
          </a:p>
          <a:p>
            <a:endParaRPr lang="en-US" sz="3900" dirty="0"/>
          </a:p>
          <a:p>
            <a:pPr lvl="1">
              <a:buFontTx/>
              <a:buChar char="-"/>
            </a:pPr>
            <a:endParaRPr lang="en-GB" sz="3500" dirty="0"/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DC35-446C-6244-68C0-AB19DC6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7731-A5D6-A5D6-B947-8809B148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4AA17-52A5-C4E4-4B3C-968711677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ABADF-DC39-301C-4C98-5C58B72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5271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229" y="109251"/>
            <a:ext cx="8753475" cy="1325563"/>
          </a:xfrm>
        </p:spPr>
        <p:txBody>
          <a:bodyPr>
            <a:normAutofit/>
          </a:bodyPr>
          <a:lstStyle/>
          <a:p>
            <a:r>
              <a:rPr lang="en-US" sz="2800" b="1" dirty="0"/>
              <a:t>Datasets: Labelled IO Corpus &amp; US 2024 Election Data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616612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Labelled 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211-38F6-3004-1851-3595FBDFD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64B4A-621B-EF3B-EE14-D59EE33E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712F5-E20A-DE3D-54D2-B2D6544A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381B395B-F819-6EED-AE13-0A1FE99EE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399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F7433-9644-65F0-FB3A-6026340BF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D8E1A-658F-3A2B-5BEC-6908BB89E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E20CF-5091-745F-F115-F06B89AD0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  <p:pic>
        <p:nvPicPr>
          <p:cNvPr id="6" name="Picture 5" descr="A diagram of a system&#10;&#10;AI-generated content may be incorrect.">
            <a:extLst>
              <a:ext uri="{FF2B5EF4-FFF2-40B4-BE49-F238E27FC236}">
                <a16:creationId xmlns:a16="http://schemas.microsoft.com/office/drawing/2014/main" id="{A5E1720A-7B3F-25E5-8FC1-F5886058F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B98F8B0-0521-F71D-2B71-F32D5408B951}"/>
              </a:ext>
            </a:extLst>
          </p:cNvPr>
          <p:cNvSpPr/>
          <p:nvPr/>
        </p:nvSpPr>
        <p:spPr>
          <a:xfrm>
            <a:off x="877824" y="2228850"/>
            <a:ext cx="2596896" cy="102235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689078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D8D8-4B22-6991-BB3D-3C03C5041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9BC16-E497-67C4-50BA-25A2402E3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42BEF-7FD1-31CF-1E85-102CA9193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939A0E39-997B-522E-B4B0-36E06AAE1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9E57A49-60DE-A63B-5538-52923D026952}"/>
              </a:ext>
            </a:extLst>
          </p:cNvPr>
          <p:cNvSpPr/>
          <p:nvPr/>
        </p:nvSpPr>
        <p:spPr>
          <a:xfrm>
            <a:off x="3566160" y="2228850"/>
            <a:ext cx="51389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186535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Topic Clustering &amp; 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300" b="1" dirty="0"/>
              <a:t>Topic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00C0F-3996-85BD-0DC9-D5093CDD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3F8FD-3B90-9CF5-B873-C1A001615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1FDFB4-095D-2E39-F873-D92B727A0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F97C2A5B-135E-8936-0AFC-AE8B6D83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FFF692-13BA-3886-D028-6ADCD4B08044}"/>
              </a:ext>
            </a:extLst>
          </p:cNvPr>
          <p:cNvSpPr/>
          <p:nvPr/>
        </p:nvSpPr>
        <p:spPr>
          <a:xfrm>
            <a:off x="8959850" y="2190750"/>
            <a:ext cx="227507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29437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Entities 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Entities 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DF23-5B54-AE9B-E41D-2F5B8864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71D6D-AC8D-8B89-9985-DF4C7970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536BF-072E-6EFA-73FF-B5215F4BE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6CBEB942-5E4E-DA43-A21A-CBFF60654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8364ABA-1D13-C06E-B355-685EC86AD38E}"/>
              </a:ext>
            </a:extLst>
          </p:cNvPr>
          <p:cNvSpPr/>
          <p:nvPr/>
        </p:nvSpPr>
        <p:spPr>
          <a:xfrm>
            <a:off x="1109472" y="3721100"/>
            <a:ext cx="21417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362646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264C1-7740-C6A3-A41C-65A19232B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35446-15F7-557E-B6BE-628D639B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DCB9E-6F40-2FD9-C7CD-A336AB75B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C769BB7A-5E47-02F8-878C-6AFB31EDD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4474D5D-F240-A473-DDAB-545D8AD986EC}"/>
              </a:ext>
            </a:extLst>
          </p:cNvPr>
          <p:cNvSpPr/>
          <p:nvPr/>
        </p:nvSpPr>
        <p:spPr>
          <a:xfrm>
            <a:off x="3668522" y="3708400"/>
            <a:ext cx="22052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6838434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75F24-04B8-7779-AD14-EE95C37A9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A3FDE-1C62-A512-71EE-CFE734ED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25DF0-B7DA-8989-6D5F-83CD87480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D206718D-6AFE-F19A-4776-3632F096E7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3570A6B-B61D-1809-E512-D9687E79D202}"/>
              </a:ext>
            </a:extLst>
          </p:cNvPr>
          <p:cNvSpPr/>
          <p:nvPr/>
        </p:nvSpPr>
        <p:spPr>
          <a:xfrm>
            <a:off x="6346391" y="3740150"/>
            <a:ext cx="22052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799570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E4DB-33D4-3886-E9B4-2B5F43C86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8D8F-0758-9222-0A12-759FFCC51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B77B4-1130-22BF-E743-AEA412A7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20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839BB112-0EFF-BAFA-E635-ECF2AD263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52E5A72-2538-7924-BCE4-577C751C5E8A}"/>
              </a:ext>
            </a:extLst>
          </p:cNvPr>
          <p:cNvSpPr/>
          <p:nvPr/>
        </p:nvSpPr>
        <p:spPr>
          <a:xfrm>
            <a:off x="8943541" y="3721100"/>
            <a:ext cx="22052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87044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  <a:p>
            <a:r>
              <a:rPr lang="en-GB" sz="2800" dirty="0"/>
              <a:t>Indicator examples: k-Core, degree centrality, betweenness centrality.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10542</TotalTime>
  <Words>919</Words>
  <Application>Microsoft Office PowerPoint</Application>
  <PresentationFormat>Widescreen</PresentationFormat>
  <Paragraphs>140</Paragraphs>
  <Slides>22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Backbone Graph</vt:lpstr>
      <vt:lpstr>Introduction</vt:lpstr>
      <vt:lpstr>Introduction</vt:lpstr>
      <vt:lpstr>Main Ideas</vt:lpstr>
      <vt:lpstr>Datasets: Labelled IO Corpus &amp; US 2024 Election Data</vt:lpstr>
      <vt:lpstr>Workflow</vt:lpstr>
      <vt:lpstr>Workflow</vt:lpstr>
      <vt:lpstr>Workflow</vt:lpstr>
      <vt:lpstr>Topic Clustering &amp; Entities Recognition</vt:lpstr>
      <vt:lpstr>Workflow</vt:lpstr>
      <vt:lpstr>Entities Topic TF-IDF Score</vt:lpstr>
      <vt:lpstr>Entities Topic TF-IDF Score</vt:lpstr>
      <vt:lpstr>Workflow</vt:lpstr>
      <vt:lpstr>Post &amp; Author Scoring</vt:lpstr>
      <vt:lpstr>Workflow</vt:lpstr>
      <vt:lpstr>Key Authors Selection</vt:lpstr>
      <vt:lpstr>Workflow</vt:lpstr>
      <vt:lpstr>Backbone Graph</vt:lpstr>
      <vt:lpstr>Backbone Graph</vt:lpstr>
      <vt:lpstr>Workflow</vt:lpstr>
      <vt:lpstr>IO Indicators</vt:lpstr>
      <vt:lpstr>IO 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300</cp:revision>
  <dcterms:created xsi:type="dcterms:W3CDTF">2021-05-04T15:24:24Z</dcterms:created>
  <dcterms:modified xsi:type="dcterms:W3CDTF">2026-01-05T11:03:40Z</dcterms:modified>
</cp:coreProperties>
</file>