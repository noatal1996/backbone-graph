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3"/>
  </p:notesMasterIdLst>
  <p:sldIdLst>
    <p:sldId id="1574" r:id="rId2"/>
    <p:sldId id="1597" r:id="rId3"/>
    <p:sldId id="1575" r:id="rId4"/>
    <p:sldId id="1596" r:id="rId5"/>
    <p:sldId id="1579" r:id="rId6"/>
    <p:sldId id="1580" r:id="rId7"/>
    <p:sldId id="1582" r:id="rId8"/>
    <p:sldId id="1581" r:id="rId9"/>
    <p:sldId id="1583" r:id="rId10"/>
    <p:sldId id="1584" r:id="rId11"/>
    <p:sldId id="1585" r:id="rId12"/>
    <p:sldId id="1586" r:id="rId13"/>
    <p:sldId id="1587" r:id="rId14"/>
    <p:sldId id="1588" r:id="rId15"/>
    <p:sldId id="1589" r:id="rId16"/>
    <p:sldId id="1590" r:id="rId17"/>
    <p:sldId id="1591" r:id="rId18"/>
    <p:sldId id="1594" r:id="rId19"/>
    <p:sldId id="1592" r:id="rId20"/>
    <p:sldId id="1593" r:id="rId21"/>
    <p:sldId id="1595" r:id="rId22"/>
  </p:sldIdLst>
  <p:sldSz cx="12192000" cy="6858000"/>
  <p:notesSz cx="6858000" cy="9144000"/>
  <p:defaultTextStyle>
    <a:defPPr>
      <a:defRPr lang="he-IL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4343"/>
    <a:srgbClr val="F58377"/>
    <a:srgbClr val="F59120"/>
    <a:srgbClr val="548235"/>
    <a:srgbClr val="009DBB"/>
    <a:srgbClr val="0688BA"/>
    <a:srgbClr val="005488"/>
    <a:srgbClr val="006189"/>
    <a:srgbClr val="5D5D5F"/>
    <a:srgbClr val="FE010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81027" autoAdjust="0"/>
  </p:normalViewPr>
  <p:slideViewPr>
    <p:cSldViewPr snapToGrid="0">
      <p:cViewPr varScale="1">
        <p:scale>
          <a:sx n="125" d="100"/>
          <a:sy n="125" d="100"/>
        </p:scale>
        <p:origin x="1536" y="90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notesMaster" Target="notesMasters/notesMaster1.xml"/><Relationship Id="rId28" Type="http://schemas.microsoft.com/office/2016/11/relationships/changesInfo" Target="changesInfos/changesInfo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חן פרידמן" userId="bcd6e6b1-6b56-4e54-af8d-4432b359a0fe" providerId="ADAL" clId="{ACE5DC10-28ED-45B3-AF90-6C4947596268}"/>
    <pc:docChg chg="undo custSel addSld delSld modSld sldOrd">
      <pc:chgData name="חן פרידמן" userId="bcd6e6b1-6b56-4e54-af8d-4432b359a0fe" providerId="ADAL" clId="{ACE5DC10-28ED-45B3-AF90-6C4947596268}" dt="2025-12-21T11:51:30.649" v="225" actId="20577"/>
      <pc:docMkLst>
        <pc:docMk/>
      </pc:docMkLst>
      <pc:sldChg chg="modSp">
        <pc:chgData name="חן פרידמן" userId="bcd6e6b1-6b56-4e54-af8d-4432b359a0fe" providerId="ADAL" clId="{ACE5DC10-28ED-45B3-AF90-6C4947596268}" dt="2025-12-21T11:14:02.598" v="49" actId="20577"/>
        <pc:sldMkLst>
          <pc:docMk/>
          <pc:sldMk cId="132160383" sldId="1574"/>
        </pc:sldMkLst>
        <pc:spChg chg="mod">
          <ac:chgData name="חן פרידמן" userId="bcd6e6b1-6b56-4e54-af8d-4432b359a0fe" providerId="ADAL" clId="{ACE5DC10-28ED-45B3-AF90-6C4947596268}" dt="2025-12-21T11:14:02.598" v="49" actId="20577"/>
          <ac:spMkLst>
            <pc:docMk/>
            <pc:sldMk cId="132160383" sldId="1574"/>
            <ac:spMk id="6" creationId="{B553B468-8035-4F27-9A10-D7A4E7C759F1}"/>
          </ac:spMkLst>
        </pc:spChg>
      </pc:sldChg>
      <pc:sldChg chg="del">
        <pc:chgData name="חן פרידמן" userId="bcd6e6b1-6b56-4e54-af8d-4432b359a0fe" providerId="ADAL" clId="{ACE5DC10-28ED-45B3-AF90-6C4947596268}" dt="2025-12-21T11:12:08.976" v="4" actId="2696"/>
        <pc:sldMkLst>
          <pc:docMk/>
          <pc:sldMk cId="3172543812" sldId="1667"/>
        </pc:sldMkLst>
      </pc:sldChg>
      <pc:sldChg chg="addSp delSp modSp add">
        <pc:chgData name="חן פרידמן" userId="bcd6e6b1-6b56-4e54-af8d-4432b359a0fe" providerId="ADAL" clId="{ACE5DC10-28ED-45B3-AF90-6C4947596268}" dt="2025-12-21T11:12:25.273" v="15" actId="478"/>
        <pc:sldMkLst>
          <pc:docMk/>
          <pc:sldMk cId="2570145380" sldId="1668"/>
        </pc:sldMkLst>
        <pc:spChg chg="del">
          <ac:chgData name="חן פרידמן" userId="bcd6e6b1-6b56-4e54-af8d-4432b359a0fe" providerId="ADAL" clId="{ACE5DC10-28ED-45B3-AF90-6C4947596268}" dt="2025-12-21T11:12:25.273" v="15" actId="478"/>
          <ac:spMkLst>
            <pc:docMk/>
            <pc:sldMk cId="2570145380" sldId="1668"/>
            <ac:spMk id="2" creationId="{611C8480-7996-425D-8334-60680BA9CF3A}"/>
          </ac:spMkLst>
        </pc:spChg>
        <pc:spChg chg="del mod">
          <ac:chgData name="חן פרידמן" userId="bcd6e6b1-6b56-4e54-af8d-4432b359a0fe" providerId="ADAL" clId="{ACE5DC10-28ED-45B3-AF90-6C4947596268}" dt="2025-12-21T11:12:06.714" v="3"/>
          <ac:spMkLst>
            <pc:docMk/>
            <pc:sldMk cId="2570145380" sldId="1668"/>
            <ac:spMk id="3" creationId="{EDAF9AAB-1EED-42C4-960F-4BF899666680}"/>
          </ac:spMkLst>
        </pc:spChg>
        <pc:picChg chg="add mod">
          <ac:chgData name="חן פרידמן" userId="bcd6e6b1-6b56-4e54-af8d-4432b359a0fe" providerId="ADAL" clId="{ACE5DC10-28ED-45B3-AF90-6C4947596268}" dt="2025-12-21T11:12:24.136" v="14" actId="1076"/>
          <ac:picMkLst>
            <pc:docMk/>
            <pc:sldMk cId="2570145380" sldId="1668"/>
            <ac:picMk id="6" creationId="{2F133023-E1FA-4D9A-A1DB-DDDFD4905063}"/>
          </ac:picMkLst>
        </pc:picChg>
        <pc:picChg chg="add del mod">
          <ac:chgData name="חן פרידמן" userId="bcd6e6b1-6b56-4e54-af8d-4432b359a0fe" providerId="ADAL" clId="{ACE5DC10-28ED-45B3-AF90-6C4947596268}" dt="2025-12-21T11:12:22.136" v="13" actId="478"/>
          <ac:picMkLst>
            <pc:docMk/>
            <pc:sldMk cId="2570145380" sldId="1668"/>
            <ac:picMk id="8" creationId="{7BFC025C-0ED8-410B-B11F-6AAC0560BCE9}"/>
          </ac:picMkLst>
        </pc:picChg>
        <pc:picChg chg="add del mod">
          <ac:chgData name="חן פרידמן" userId="bcd6e6b1-6b56-4e54-af8d-4432b359a0fe" providerId="ADAL" clId="{ACE5DC10-28ED-45B3-AF90-6C4947596268}" dt="2025-12-21T11:12:20.713" v="12" actId="478"/>
          <ac:picMkLst>
            <pc:docMk/>
            <pc:sldMk cId="2570145380" sldId="1668"/>
            <ac:picMk id="10" creationId="{E61A6B70-CAD7-4BDA-B50A-47009B4E9FE3}"/>
          </ac:picMkLst>
        </pc:picChg>
      </pc:sldChg>
      <pc:sldChg chg="del">
        <pc:chgData name="חן פרידמן" userId="bcd6e6b1-6b56-4e54-af8d-4432b359a0fe" providerId="ADAL" clId="{ACE5DC10-28ED-45B3-AF90-6C4947596268}" dt="2025-12-21T11:11:51.180" v="0" actId="2696"/>
        <pc:sldMkLst>
          <pc:docMk/>
          <pc:sldMk cId="3698545494" sldId="1668"/>
        </pc:sldMkLst>
      </pc:sldChg>
      <pc:sldChg chg="add">
        <pc:chgData name="חן פרידמן" userId="bcd6e6b1-6b56-4e54-af8d-4432b359a0fe" providerId="ADAL" clId="{ACE5DC10-28ED-45B3-AF90-6C4947596268}" dt="2025-12-21T11:12:10.511" v="5"/>
        <pc:sldMkLst>
          <pc:docMk/>
          <pc:sldMk cId="3180822841" sldId="1669"/>
        </pc:sldMkLst>
      </pc:sldChg>
      <pc:sldChg chg="addSp delSp modSp add ord">
        <pc:chgData name="חן פרידמן" userId="bcd6e6b1-6b56-4e54-af8d-4432b359a0fe" providerId="ADAL" clId="{ACE5DC10-28ED-45B3-AF90-6C4947596268}" dt="2025-12-21T11:12:19.728" v="11"/>
        <pc:sldMkLst>
          <pc:docMk/>
          <pc:sldMk cId="2758228725" sldId="1670"/>
        </pc:sldMkLst>
        <pc:spChg chg="del">
          <ac:chgData name="חן פרידמן" userId="bcd6e6b1-6b56-4e54-af8d-4432b359a0fe" providerId="ADAL" clId="{ACE5DC10-28ED-45B3-AF90-6C4947596268}" dt="2025-12-21T11:12:16.249" v="9" actId="478"/>
          <ac:spMkLst>
            <pc:docMk/>
            <pc:sldMk cId="2758228725" sldId="1670"/>
            <ac:spMk id="2" creationId="{611C8480-7996-425D-8334-60680BA9CF3A}"/>
          </ac:spMkLst>
        </pc:spChg>
        <pc:spChg chg="add del mod">
          <ac:chgData name="חן פרידמן" userId="bcd6e6b1-6b56-4e54-af8d-4432b359a0fe" providerId="ADAL" clId="{ACE5DC10-28ED-45B3-AF90-6C4947596268}" dt="2025-12-21T11:12:17.702" v="10" actId="478"/>
          <ac:spMkLst>
            <pc:docMk/>
            <pc:sldMk cId="2758228725" sldId="1670"/>
            <ac:spMk id="5" creationId="{E6D37E27-E3B0-495E-9BAE-B828BF003926}"/>
          </ac:spMkLst>
        </pc:spChg>
        <pc:picChg chg="del">
          <ac:chgData name="חן פרידמן" userId="bcd6e6b1-6b56-4e54-af8d-4432b359a0fe" providerId="ADAL" clId="{ACE5DC10-28ED-45B3-AF90-6C4947596268}" dt="2025-12-21T11:12:14.748" v="8" actId="478"/>
          <ac:picMkLst>
            <pc:docMk/>
            <pc:sldMk cId="2758228725" sldId="1670"/>
            <ac:picMk id="6" creationId="{2F133023-E1FA-4D9A-A1DB-DDDFD4905063}"/>
          </ac:picMkLst>
        </pc:picChg>
        <pc:picChg chg="del">
          <ac:chgData name="חן פרידמן" userId="bcd6e6b1-6b56-4e54-af8d-4432b359a0fe" providerId="ADAL" clId="{ACE5DC10-28ED-45B3-AF90-6C4947596268}" dt="2025-12-21T11:12:13.433" v="7" actId="478"/>
          <ac:picMkLst>
            <pc:docMk/>
            <pc:sldMk cId="2758228725" sldId="1670"/>
            <ac:picMk id="10" creationId="{E61A6B70-CAD7-4BDA-B50A-47009B4E9FE3}"/>
          </ac:picMkLst>
        </pc:picChg>
      </pc:sldChg>
      <pc:sldChg chg="addSp delSp modSp add">
        <pc:chgData name="חן פרידמן" userId="bcd6e6b1-6b56-4e54-af8d-4432b359a0fe" providerId="ADAL" clId="{ACE5DC10-28ED-45B3-AF90-6C4947596268}" dt="2025-12-21T11:13:44.014" v="36" actId="1076"/>
        <pc:sldMkLst>
          <pc:docMk/>
          <pc:sldMk cId="1890324457" sldId="1671"/>
        </pc:sldMkLst>
        <pc:spChg chg="del">
          <ac:chgData name="חן פרידמן" userId="bcd6e6b1-6b56-4e54-af8d-4432b359a0fe" providerId="ADAL" clId="{ACE5DC10-28ED-45B3-AF90-6C4947596268}" dt="2025-12-21T11:13:02.776" v="19" actId="478"/>
          <ac:spMkLst>
            <pc:docMk/>
            <pc:sldMk cId="1890324457" sldId="1671"/>
            <ac:spMk id="2" creationId="{4534A598-5C48-4C65-AE5A-E2DB7ACCD4E2}"/>
          </ac:spMkLst>
        </pc:spChg>
        <pc:spChg chg="del">
          <ac:chgData name="חן פרידמן" userId="bcd6e6b1-6b56-4e54-af8d-4432b359a0fe" providerId="ADAL" clId="{ACE5DC10-28ED-45B3-AF90-6C4947596268}" dt="2025-12-21T11:13:01.043" v="18"/>
          <ac:spMkLst>
            <pc:docMk/>
            <pc:sldMk cId="1890324457" sldId="1671"/>
            <ac:spMk id="3" creationId="{5445E6B7-55E5-4ED2-B890-06BB48E5CBE8}"/>
          </ac:spMkLst>
        </pc:spChg>
        <pc:spChg chg="add">
          <ac:chgData name="חן פרידמן" userId="bcd6e6b1-6b56-4e54-af8d-4432b359a0fe" providerId="ADAL" clId="{ACE5DC10-28ED-45B3-AF90-6C4947596268}" dt="2025-12-21T11:12:49.162" v="17"/>
          <ac:spMkLst>
            <pc:docMk/>
            <pc:sldMk cId="1890324457" sldId="1671"/>
            <ac:spMk id="5" creationId="{5A237CFF-B177-42ED-BEA5-BC519A06AD66}"/>
          </ac:spMkLst>
        </pc:spChg>
        <pc:picChg chg="add mod">
          <ac:chgData name="חן פרידמן" userId="bcd6e6b1-6b56-4e54-af8d-4432b359a0fe" providerId="ADAL" clId="{ACE5DC10-28ED-45B3-AF90-6C4947596268}" dt="2025-12-21T11:13:44.014" v="36" actId="1076"/>
          <ac:picMkLst>
            <pc:docMk/>
            <pc:sldMk cId="1890324457" sldId="1671"/>
            <ac:picMk id="7" creationId="{BCF6D5A2-3487-41EC-9FB0-B4D22C56DA05}"/>
          </ac:picMkLst>
        </pc:picChg>
        <pc:picChg chg="add mod">
          <ac:chgData name="חן פרידמן" userId="bcd6e6b1-6b56-4e54-af8d-4432b359a0fe" providerId="ADAL" clId="{ACE5DC10-28ED-45B3-AF90-6C4947596268}" dt="2025-12-21T11:13:42.446" v="35" actId="1076"/>
          <ac:picMkLst>
            <pc:docMk/>
            <pc:sldMk cId="1890324457" sldId="1671"/>
            <ac:picMk id="8" creationId="{6456F3BF-855C-4B07-B655-11FA129733AC}"/>
          </ac:picMkLst>
        </pc:picChg>
      </pc:sldChg>
      <pc:sldChg chg="modSp add">
        <pc:chgData name="חן פרידמן" userId="bcd6e6b1-6b56-4e54-af8d-4432b359a0fe" providerId="ADAL" clId="{ACE5DC10-28ED-45B3-AF90-6C4947596268}" dt="2025-12-21T11:23:02.651" v="127" actId="20577"/>
        <pc:sldMkLst>
          <pc:docMk/>
          <pc:sldMk cId="1046037921" sldId="1672"/>
        </pc:sldMkLst>
        <pc:spChg chg="mod">
          <ac:chgData name="חן פרידמן" userId="bcd6e6b1-6b56-4e54-af8d-4432b359a0fe" providerId="ADAL" clId="{ACE5DC10-28ED-45B3-AF90-6C4947596268}" dt="2025-12-21T11:15:09.268" v="67" actId="20577"/>
          <ac:spMkLst>
            <pc:docMk/>
            <pc:sldMk cId="1046037921" sldId="1672"/>
            <ac:spMk id="2" creationId="{C64B55AE-1C64-4DB8-BABF-92DAD5071A9E}"/>
          </ac:spMkLst>
        </pc:spChg>
        <pc:spChg chg="mod">
          <ac:chgData name="חן פרידמן" userId="bcd6e6b1-6b56-4e54-af8d-4432b359a0fe" providerId="ADAL" clId="{ACE5DC10-28ED-45B3-AF90-6C4947596268}" dt="2025-12-21T11:23:02.651" v="127" actId="20577"/>
          <ac:spMkLst>
            <pc:docMk/>
            <pc:sldMk cId="1046037921" sldId="1672"/>
            <ac:spMk id="3" creationId="{1C82B475-3B25-4157-A709-6826BE9F3579}"/>
          </ac:spMkLst>
        </pc:spChg>
      </pc:sldChg>
      <pc:sldChg chg="addSp delSp modSp add del">
        <pc:chgData name="חן פרידמן" userId="bcd6e6b1-6b56-4e54-af8d-4432b359a0fe" providerId="ADAL" clId="{ACE5DC10-28ED-45B3-AF90-6C4947596268}" dt="2025-12-21T11:13:46.877" v="37" actId="2696"/>
        <pc:sldMkLst>
          <pc:docMk/>
          <pc:sldMk cId="3924862743" sldId="1672"/>
        </pc:sldMkLst>
        <pc:spChg chg="del">
          <ac:chgData name="חן פרידמן" userId="bcd6e6b1-6b56-4e54-af8d-4432b359a0fe" providerId="ADAL" clId="{ACE5DC10-28ED-45B3-AF90-6C4947596268}" dt="2025-12-21T11:13:21.215" v="23" actId="478"/>
          <ac:spMkLst>
            <pc:docMk/>
            <pc:sldMk cId="3924862743" sldId="1672"/>
            <ac:spMk id="2" creationId="{6031BB85-E542-4542-A794-C08DBE02854C}"/>
          </ac:spMkLst>
        </pc:spChg>
        <pc:spChg chg="del">
          <ac:chgData name="חן פרידמן" userId="bcd6e6b1-6b56-4e54-af8d-4432b359a0fe" providerId="ADAL" clId="{ACE5DC10-28ED-45B3-AF90-6C4947596268}" dt="2025-12-21T11:13:19.137" v="22"/>
          <ac:spMkLst>
            <pc:docMk/>
            <pc:sldMk cId="3924862743" sldId="1672"/>
            <ac:spMk id="3" creationId="{4D874549-3564-4703-86DA-A74F5158E332}"/>
          </ac:spMkLst>
        </pc:spChg>
        <pc:spChg chg="add mod">
          <ac:chgData name="חן פרידמן" userId="bcd6e6b1-6b56-4e54-af8d-4432b359a0fe" providerId="ADAL" clId="{ACE5DC10-28ED-45B3-AF90-6C4947596268}" dt="2025-12-21T11:13:32.266" v="30"/>
          <ac:spMkLst>
            <pc:docMk/>
            <pc:sldMk cId="3924862743" sldId="1672"/>
            <ac:spMk id="7" creationId="{B4F41F94-C103-43F8-B4D2-AEE75DE07D50}"/>
          </ac:spMkLst>
        </pc:spChg>
        <pc:picChg chg="add del mod">
          <ac:chgData name="חן פרידמן" userId="bcd6e6b1-6b56-4e54-af8d-4432b359a0fe" providerId="ADAL" clId="{ACE5DC10-28ED-45B3-AF90-6C4947596268}" dt="2025-12-21T11:13:32.266" v="30"/>
          <ac:picMkLst>
            <pc:docMk/>
            <pc:sldMk cId="3924862743" sldId="1672"/>
            <ac:picMk id="6" creationId="{2E135506-04B0-4D80-B25C-C23C8A0DBE95}"/>
          </ac:picMkLst>
        </pc:picChg>
      </pc:sldChg>
      <pc:sldChg chg="addSp delSp modSp add">
        <pc:chgData name="חן פרידמן" userId="bcd6e6b1-6b56-4e54-af8d-4432b359a0fe" providerId="ADAL" clId="{ACE5DC10-28ED-45B3-AF90-6C4947596268}" dt="2025-12-21T11:51:30.649" v="225" actId="20577"/>
        <pc:sldMkLst>
          <pc:docMk/>
          <pc:sldMk cId="3651782336" sldId="1673"/>
        </pc:sldMkLst>
        <pc:spChg chg="del">
          <ac:chgData name="חן פרידמן" userId="bcd6e6b1-6b56-4e54-af8d-4432b359a0fe" providerId="ADAL" clId="{ACE5DC10-28ED-45B3-AF90-6C4947596268}" dt="2025-12-21T11:18:20.768" v="107" actId="478"/>
          <ac:spMkLst>
            <pc:docMk/>
            <pc:sldMk cId="3651782336" sldId="1673"/>
            <ac:spMk id="2" creationId="{0FAB2C54-B502-40B6-BC64-213E566F52CA}"/>
          </ac:spMkLst>
        </pc:spChg>
        <pc:spChg chg="del">
          <ac:chgData name="חן פרידמן" userId="bcd6e6b1-6b56-4e54-af8d-4432b359a0fe" providerId="ADAL" clId="{ACE5DC10-28ED-45B3-AF90-6C4947596268}" dt="2025-12-21T11:18:16.551" v="104"/>
          <ac:spMkLst>
            <pc:docMk/>
            <pc:sldMk cId="3651782336" sldId="1673"/>
            <ac:spMk id="3" creationId="{1B2FC6A3-0114-444B-949F-D81FD8FC7496}"/>
          </ac:spMkLst>
        </pc:spChg>
        <pc:spChg chg="add">
          <ac:chgData name="חן פרידמן" userId="bcd6e6b1-6b56-4e54-af8d-4432b359a0fe" providerId="ADAL" clId="{ACE5DC10-28ED-45B3-AF90-6C4947596268}" dt="2025-12-21T11:18:09.333" v="103"/>
          <ac:spMkLst>
            <pc:docMk/>
            <pc:sldMk cId="3651782336" sldId="1673"/>
            <ac:spMk id="5" creationId="{3938DE6C-3A22-4C1B-8315-1389478D26D3}"/>
          </ac:spMkLst>
        </pc:spChg>
        <pc:spChg chg="add del mod">
          <ac:chgData name="חן פרידמן" userId="bcd6e6b1-6b56-4e54-af8d-4432b359a0fe" providerId="ADAL" clId="{ACE5DC10-28ED-45B3-AF90-6C4947596268}" dt="2025-12-21T11:18:19.864" v="106" actId="478"/>
          <ac:spMkLst>
            <pc:docMk/>
            <pc:sldMk cId="3651782336" sldId="1673"/>
            <ac:spMk id="6" creationId="{A22E1544-B20A-4DCE-954A-3CEEC79DE825}"/>
          </ac:spMkLst>
        </pc:spChg>
        <pc:spChg chg="add">
          <ac:chgData name="חן פרידמן" userId="bcd6e6b1-6b56-4e54-af8d-4432b359a0fe" providerId="ADAL" clId="{ACE5DC10-28ED-45B3-AF90-6C4947596268}" dt="2025-12-21T11:18:17.953" v="105"/>
          <ac:spMkLst>
            <pc:docMk/>
            <pc:sldMk cId="3651782336" sldId="1673"/>
            <ac:spMk id="7" creationId="{4C079B29-3544-47A9-9DEF-D9B0BDECDFD2}"/>
          </ac:spMkLst>
        </pc:spChg>
        <pc:spChg chg="add mod">
          <ac:chgData name="חן פרידמן" userId="bcd6e6b1-6b56-4e54-af8d-4432b359a0fe" providerId="ADAL" clId="{ACE5DC10-28ED-45B3-AF90-6C4947596268}" dt="2025-12-21T11:51:30.649" v="225" actId="20577"/>
          <ac:spMkLst>
            <pc:docMk/>
            <pc:sldMk cId="3651782336" sldId="1673"/>
            <ac:spMk id="10" creationId="{5DDAE688-B8B9-4580-BCE1-2616ED9EF69D}"/>
          </ac:spMkLst>
        </pc:spChg>
        <pc:spChg chg="add del mod">
          <ac:chgData name="חן פרידמן" userId="bcd6e6b1-6b56-4e54-af8d-4432b359a0fe" providerId="ADAL" clId="{ACE5DC10-28ED-45B3-AF90-6C4947596268}" dt="2025-12-21T11:22:49.261" v="121" actId="478"/>
          <ac:spMkLst>
            <pc:docMk/>
            <pc:sldMk cId="3651782336" sldId="1673"/>
            <ac:spMk id="11" creationId="{1853392B-CCFB-4CE6-A8D5-707C6A7B69BC}"/>
          </ac:spMkLst>
        </pc:spChg>
        <pc:picChg chg="add mod">
          <ac:chgData name="חן פרידמן" userId="bcd6e6b1-6b56-4e54-af8d-4432b359a0fe" providerId="ADAL" clId="{ACE5DC10-28ED-45B3-AF90-6C4947596268}" dt="2025-12-21T11:19:38.659" v="109" actId="1076"/>
          <ac:picMkLst>
            <pc:docMk/>
            <pc:sldMk cId="3651782336" sldId="1673"/>
            <ac:picMk id="9" creationId="{FEE92867-95D2-4E1E-8C00-88EA64E9635E}"/>
          </ac:picMkLst>
        </pc:pic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endParaRPr lang="he-IL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fld id="{2915196C-CDBC-4DEE-A220-849C85FC22AC}" type="datetimeFigureOut">
              <a:rPr lang="he-IL" smtClean="0"/>
              <a:t>ט"ו/טבת/תשפ"ו</a:t>
            </a:fld>
            <a:endParaRPr lang="he-IL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he-IL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he-I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endParaRPr lang="he-IL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fld id="{7F6CD5E7-A5BE-4430-AD67-E129D63AAC5C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419382996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L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F6CD5E7-A5BE-4430-AD67-E129D63AAC5C}" type="slidenum">
              <a:rPr lang="he-IL" smtClean="0"/>
              <a:t>2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71085637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L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IL" dirty="0"/>
              <a:t>[1]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Seckin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O. C., Pote, M.,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Nwala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A. C., Yin, L.,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Luceri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L., Flammini, A., &amp; Menczer, F. (2025, June). Labeled datasets for research on information operations. In </a:t>
            </a:r>
            <a:r>
              <a:rPr lang="en-US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Proceedings of the International AAAI Conference on Web and Social Media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(Vol. 19, pp. 2567-2574).</a:t>
            </a:r>
          </a:p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[2] Balasubramanian, A., Zou, V., Narayana, H., You, C.,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Luceri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L., &amp; Ferrara, E. (2024). A public dataset tracking social media discourse about the 2024 us presidential election on twitter/x. </a:t>
            </a:r>
            <a:r>
              <a:rPr lang="en-US" sz="1200" b="0" i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arXiv</a:t>
            </a:r>
            <a:r>
              <a:rPr lang="en-US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preprint arXiv:2411.00376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  <a:endParaRPr lang="en-IL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F6CD5E7-A5BE-4430-AD67-E129D63AAC5C}" type="slidenum">
              <a:rPr lang="he-IL" smtClean="0"/>
              <a:t>4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421209185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L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sz="1200" dirty="0"/>
              <a:t>used</a:t>
            </a:r>
            <a:r>
              <a:rPr lang="en-GB" sz="1600" dirty="0"/>
              <a:t> </a:t>
            </a:r>
            <a:r>
              <a:rPr lang="en-GB" sz="1200" dirty="0"/>
              <a:t>in</a:t>
            </a:r>
            <a:r>
              <a:rPr lang="en-GB" sz="1600" dirty="0"/>
              <a:t> </a:t>
            </a:r>
            <a:r>
              <a:rPr lang="en-GB" sz="1200" dirty="0"/>
              <a:t>natural language processing and information retrieval</a:t>
            </a:r>
            <a:endParaRPr lang="en-IL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F6CD5E7-A5BE-4430-AD67-E129D63AAC5C}" type="slidenum">
              <a:rPr lang="he-IL" smtClean="0"/>
              <a:t>10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278550354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L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L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F6CD5E7-A5BE-4430-AD67-E129D63AAC5C}" type="slidenum">
              <a:rPr lang="he-IL" smtClean="0"/>
              <a:t>13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363797860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F771DE-C423-C0C5-D730-C42F989A65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3B6EF9E-BF01-69A5-B455-2F0395C8C24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L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0719C99-2C33-3E7C-4869-C292504AC8E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L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F9D0C6D-8767-F986-1157-349232FFDEB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F6CD5E7-A5BE-4430-AD67-E129D63AAC5C}" type="slidenum">
              <a:rPr lang="he-IL" smtClean="0"/>
              <a:t>15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362019596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2D1760-78DB-D18D-FBB8-239E0A7E74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02EC71B-5AA6-886B-0231-A74B41DE502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L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FD997CC-4715-39C7-93DD-C967C30807B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L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1C57815-7BE0-C4B1-B3D0-083C2D02FC9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F6CD5E7-A5BE-4430-AD67-E129D63AAC5C}" type="slidenum">
              <a:rPr lang="he-IL" smtClean="0"/>
              <a:t>17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1668725800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C771D0-3498-9926-3D45-CB19D6CC56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B6BF001-388A-A507-838D-898BCD246DA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L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1115DA1-B271-710E-C2A1-878433E689C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L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55D3A0D-62CA-6939-E846-9ED9CB4E944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F6CD5E7-A5BE-4430-AD67-E129D63AAC5C}" type="slidenum">
              <a:rPr lang="he-IL" smtClean="0"/>
              <a:t>18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770845484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700E97-1269-7E2B-1581-D4E8D9FCCB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8698FE1-3D66-BEFC-5A5B-388AD9A94A1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L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278256E-4859-C953-928D-D14453A1BBA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L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7E093A5-59A0-12E4-39B3-28ED44EF3E1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F6CD5E7-A5BE-4430-AD67-E129D63AAC5C}" type="slidenum">
              <a:rPr lang="he-IL" smtClean="0"/>
              <a:t>20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1174506778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4DD219-5D86-EF6C-D07F-3B5EA548CC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4F405D6-737F-0B98-5C5A-8C838485143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L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31326A5-3FFB-7341-842A-243943CE078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L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88EC46E-FC93-25C0-25F6-76A42270733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F6CD5E7-A5BE-4430-AD67-E129D63AAC5C}" type="slidenum">
              <a:rPr lang="he-IL" smtClean="0"/>
              <a:t>21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214005236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F783E6-A85C-4E94-BAD4-349975C5C1D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65376" y="1354011"/>
            <a:ext cx="9144000" cy="2387600"/>
          </a:xfrm>
        </p:spPr>
        <p:txBody>
          <a:bodyPr anchor="b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he-IL" sz="4800" kern="1200" dirty="0">
                <a:solidFill>
                  <a:srgbClr val="009DBB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Click to edit Master title style</a:t>
            </a:r>
            <a:endParaRPr lang="he-IL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DA3D7B5-5BE4-46C1-BA83-AEDFF303DE6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865376" y="4218431"/>
            <a:ext cx="9144000" cy="1374013"/>
          </a:xfrm>
        </p:spPr>
        <p:txBody>
          <a:bodyPr>
            <a:normAutofit/>
          </a:bodyPr>
          <a:lstStyle>
            <a:lvl1pPr marL="0" indent="0" algn="l">
              <a:buNone/>
              <a:defRPr lang="he-IL" sz="2000" kern="1200" dirty="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lang="en-US" dirty="0"/>
              <a:t>Click to edit Master subtitle style</a:t>
            </a:r>
            <a:endParaRPr lang="he-IL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E103C65-1526-4474-93EA-92201F973A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6B3A86-AB79-4388-8CA5-9FC4B834779B}" type="datetime8">
              <a:rPr lang="he-IL" smtClean="0"/>
              <a:t>04 ינואר 26</a:t>
            </a:fld>
            <a:endParaRPr lang="he-I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984A285-90E9-4F27-9CCA-0A2DBEB472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B119B0E-8F10-4832-ADC3-EA2B0C4574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728704" y="6464649"/>
            <a:ext cx="452233" cy="365125"/>
          </a:xfrm>
        </p:spPr>
        <p:txBody>
          <a:bodyPr/>
          <a:lstStyle/>
          <a:p>
            <a:fld id="{E6AB8EDD-9EF2-4633-A1C2-4D908C1019B4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120617239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AA65C3A-1C12-429A-B672-CB062EE35E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  <a:endParaRPr lang="he-IL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002D984-D254-42A5-88FD-71A5B8FF61E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43087" y="1825625"/>
            <a:ext cx="10582656" cy="4351338"/>
          </a:xfrm>
        </p:spPr>
        <p:txBody>
          <a:bodyPr>
            <a:normAutofit/>
          </a:bodyPr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he-IL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678C169-3299-4F42-91D0-7AF77E3982B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34CBFB-2532-48BA-BAE2-ADD925390740}" type="datetime8">
              <a:rPr lang="he-IL" smtClean="0"/>
              <a:t>04 ינואר 26</a:t>
            </a:fld>
            <a:endParaRPr lang="he-I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602A088-F9A8-4123-A1D2-FE11250361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8AA253D-F657-44F9-AA3F-37F3CF175C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728704" y="6464649"/>
            <a:ext cx="452233" cy="365125"/>
          </a:xfrm>
        </p:spPr>
        <p:txBody>
          <a:bodyPr/>
          <a:lstStyle/>
          <a:p>
            <a:fld id="{E6AB8EDD-9EF2-4633-A1C2-4D908C1019B4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361454776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ACE174-92FD-46FC-9A31-EF35151025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79550" y="1709738"/>
            <a:ext cx="7852146" cy="2852737"/>
          </a:xfrm>
        </p:spPr>
        <p:txBody>
          <a:bodyPr anchor="b">
            <a:normAutofit/>
          </a:bodyPr>
          <a:lstStyle>
            <a:lvl1pPr>
              <a:defRPr sz="5400"/>
            </a:lvl1pPr>
          </a:lstStyle>
          <a:p>
            <a:r>
              <a:rPr lang="en-US" dirty="0"/>
              <a:t>Click to edit Master title style</a:t>
            </a:r>
            <a:endParaRPr lang="he-IL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A261C8F-4A58-4042-B898-A57C837DF59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4795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46B49A7-5C76-42AD-8811-4CADE0447C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AC1FDD-37C4-4A6B-BF31-779943CE32CF}" type="datetime8">
              <a:rPr lang="he-IL" smtClean="0"/>
              <a:t>04 ינואר 26</a:t>
            </a:fld>
            <a:endParaRPr lang="he-I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BBF3F55-C2A3-4A87-96C0-A01E9BCA66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77976F6-B98E-4B7D-839A-27BF949442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728704" y="6464649"/>
            <a:ext cx="452233" cy="365125"/>
          </a:xfrm>
        </p:spPr>
        <p:txBody>
          <a:bodyPr/>
          <a:lstStyle/>
          <a:p>
            <a:fld id="{E6AB8EDD-9EF2-4633-A1C2-4D908C1019B4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349908896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A15C3C-CE9E-4F7A-B728-9A335B51FB2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dirty="0"/>
              <a:t>Click to edit Master title style </a:t>
            </a:r>
            <a:endParaRPr lang="he-IL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2B48EB9-480D-4A31-8BC3-B899B4AABD3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1236991" y="1821101"/>
            <a:ext cx="5181600" cy="4351338"/>
          </a:xfrm>
        </p:spPr>
        <p:txBody>
          <a:bodyPr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he-IL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2CAF003-9AC3-4B4C-A1AA-89972395A09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570991" y="1821101"/>
            <a:ext cx="5181600" cy="4351338"/>
          </a:xfrm>
        </p:spPr>
        <p:txBody>
          <a:bodyPr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he-IL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B39E07C-7B13-4A7C-AEAC-814BACFD91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3C226C-A76A-4927-8F1D-1BD4AC033ABB}" type="datetime8">
              <a:rPr lang="he-IL" smtClean="0"/>
              <a:t>04 ינואר 26</a:t>
            </a:fld>
            <a:endParaRPr lang="he-IL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936D24B-DA20-4CC6-87E7-866505B0C5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BBE9C41-8689-47B3-A905-634220202E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728704" y="6464649"/>
            <a:ext cx="452233" cy="365125"/>
          </a:xfrm>
        </p:spPr>
        <p:txBody>
          <a:bodyPr/>
          <a:lstStyle/>
          <a:p>
            <a:fld id="{E6AB8EDD-9EF2-4633-A1C2-4D908C1019B4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323729985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FDD0EE-D523-4780-A9CF-B6EE518CD28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83117" y="355600"/>
            <a:ext cx="8743124" cy="1325563"/>
          </a:xfrm>
        </p:spPr>
        <p:txBody>
          <a:bodyPr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he-IL" sz="4400" kern="1200" dirty="0">
                <a:solidFill>
                  <a:srgbClr val="009DBB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Click to edit Master title style</a:t>
            </a:r>
            <a:endParaRPr lang="he-IL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9B6447D-A16E-4B99-8F74-2BA51BF54CA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053148" y="1717419"/>
            <a:ext cx="5157787" cy="823912"/>
          </a:xfrm>
        </p:spPr>
        <p:txBody>
          <a:bodyPr anchor="ctr">
            <a:noAutofit/>
          </a:bodyPr>
          <a:lstStyle>
            <a:lvl1pPr marL="0" indent="0" algn="ctr">
              <a:buNone/>
              <a:defRPr lang="en-US" sz="2400" kern="1200" dirty="0">
                <a:solidFill>
                  <a:srgbClr val="009DBB"/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89B268A-D31A-4C35-948F-BF312EE597E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1053148" y="2511171"/>
            <a:ext cx="5157787" cy="3684588"/>
          </a:xfrm>
        </p:spPr>
        <p:txBody>
          <a:bodyPr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he-IL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7D0F3C6-09D4-4383-99DD-32F9053ACE2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641752" y="1717419"/>
            <a:ext cx="5183188" cy="823912"/>
          </a:xfrm>
        </p:spPr>
        <p:txBody>
          <a:bodyPr anchor="ctr">
            <a:noAutofit/>
          </a:bodyPr>
          <a:lstStyle>
            <a:lvl1pPr marL="0" indent="0" algn="ctr">
              <a:buNone/>
              <a:defRPr lang="en-US" sz="2400" kern="1200" dirty="0">
                <a:solidFill>
                  <a:srgbClr val="009DBB"/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lv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A91A8D3-C002-4BA1-96FF-375F70D2187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641752" y="2517267"/>
            <a:ext cx="5183188" cy="3684588"/>
          </a:xfrm>
        </p:spPr>
        <p:txBody>
          <a:bodyPr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he-IL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1A5CAC5E-E4EB-4131-AAEF-73C3479688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0DF2BF-D428-43E9-B36B-6DD16CF93579}" type="datetime8">
              <a:rPr lang="he-IL" smtClean="0"/>
              <a:t>04 ינואר 26</a:t>
            </a:fld>
            <a:endParaRPr lang="he-IL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5FEC57A3-285F-4D36-851E-593C5F2874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126F8AB8-B698-4176-96F8-B833FE0139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728704" y="6464649"/>
            <a:ext cx="452233" cy="365125"/>
          </a:xfrm>
        </p:spPr>
        <p:txBody>
          <a:bodyPr/>
          <a:lstStyle/>
          <a:p>
            <a:fld id="{E6AB8EDD-9EF2-4633-A1C2-4D908C1019B4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334256931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AFBF78-4DF0-407A-8E5A-BEF1E0D8B0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he-IL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C9A3A88-6914-48FB-BE6F-948C3C66FB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90A9136-4922-4C74-B05C-12CD0951E601}" type="datetime8">
              <a:rPr lang="he-IL" smtClean="0"/>
              <a:t>04 ינואר 26</a:t>
            </a:fld>
            <a:endParaRPr lang="he-IL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350A1D4-4FBF-400A-B2CE-30A42EF7FB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D8B1F93-B2D0-4E42-B3CE-E85D6FC90C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728704" y="6452457"/>
            <a:ext cx="452233" cy="365125"/>
          </a:xfrm>
        </p:spPr>
        <p:txBody>
          <a:bodyPr/>
          <a:lstStyle/>
          <a:p>
            <a:fld id="{E6AB8EDD-9EF2-4633-A1C2-4D908C1019B4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378850066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6213734-3C5F-473D-9DD6-0C484ADFB5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9F3CA8-2E63-412C-AA06-0D760EBE5965}" type="datetime8">
              <a:rPr lang="he-IL" smtClean="0"/>
              <a:t>04 ינואר 26</a:t>
            </a:fld>
            <a:endParaRPr lang="he-IL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8F48D2E8-A18C-4B06-AF11-07B4F9C53F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5A7CBE2-2F2D-43B9-8BC3-25BA1DDA40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728704" y="6464649"/>
            <a:ext cx="452233" cy="365125"/>
          </a:xfrm>
        </p:spPr>
        <p:txBody>
          <a:bodyPr/>
          <a:lstStyle/>
          <a:p>
            <a:fld id="{E6AB8EDD-9EF2-4633-A1C2-4D908C1019B4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407865919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C80516-8B4A-495E-BFE5-33BF2DA504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912684" y="981329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dirty="0"/>
              <a:t>Click to edit Master title style</a:t>
            </a:r>
            <a:endParaRPr lang="he-IL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6353460-117E-457C-9F0F-1AA7B34F212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20804" y="987425"/>
            <a:ext cx="6172200" cy="4873625"/>
          </a:xfrm>
        </p:spPr>
        <p:txBody>
          <a:bodyPr>
            <a:normAutofit/>
          </a:bodyPr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he-IL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83E485A-1FF8-4FDD-A659-6ACC7998996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1912684" y="2581529"/>
            <a:ext cx="3932237" cy="3295142"/>
          </a:xfrm>
        </p:spPr>
        <p:txBody>
          <a:bodyPr>
            <a:normAutofit/>
          </a:bodyPr>
          <a:lstStyle>
            <a:lvl1pPr marL="0" indent="0">
              <a:buNone/>
              <a:defRPr sz="20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31A78A4-064B-49BB-9360-FC686D8B5A2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AC7B867-AA4A-4FF3-AD8B-0AD0F18EE595}" type="datetime8">
              <a:rPr lang="he-IL" smtClean="0"/>
              <a:t>04 ינואר 26</a:t>
            </a:fld>
            <a:endParaRPr lang="he-IL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CD0114A-6704-44C0-BCAE-EAB756E647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3E98D20-B7C4-4CE0-812C-9B6976E08A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728704" y="6464649"/>
            <a:ext cx="452233" cy="365125"/>
          </a:xfrm>
        </p:spPr>
        <p:txBody>
          <a:bodyPr/>
          <a:lstStyle/>
          <a:p>
            <a:fld id="{E6AB8EDD-9EF2-4633-A1C2-4D908C1019B4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312465846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7181F6-3528-4A38-B435-490FC2AFC36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27173" y="987424"/>
            <a:ext cx="3932237" cy="1069975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dirty="0"/>
              <a:t>Click to edit Master title style</a:t>
            </a:r>
            <a:endParaRPr lang="he-IL" dirty="0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AE7A6AE1-0DCE-4A5A-AC24-95C331B15D5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6096000" y="987425"/>
            <a:ext cx="5259387" cy="4873625"/>
          </a:xfrm>
        </p:spPr>
        <p:txBody>
          <a:bodyPr>
            <a:normAutofit/>
          </a:bodyPr>
          <a:lstStyle>
            <a:lvl1pPr marL="0" indent="0">
              <a:buNone/>
              <a:defRPr sz="24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he-IL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4CD3E13-E71C-4EE3-BA14-54D61F7290F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2127173" y="2057400"/>
            <a:ext cx="3932237" cy="3811588"/>
          </a:xfrm>
        </p:spPr>
        <p:txBody>
          <a:bodyPr>
            <a:normAutofit/>
          </a:bodyPr>
          <a:lstStyle>
            <a:lvl1pPr marL="0" indent="0">
              <a:buNone/>
              <a:defRPr sz="20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83A2D14-BF1B-420A-B0DF-91CD6E7712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E9EBD3-88E8-46DB-BD3B-F935B7013014}" type="datetime8">
              <a:rPr lang="he-IL" smtClean="0"/>
              <a:t>04 ינואר 26</a:t>
            </a:fld>
            <a:endParaRPr lang="he-IL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0227BD5-73FD-47B4-BCDF-92BB6EA156C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4E5EAC3-6043-41F9-B8D4-7F41DABB26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728704" y="6464649"/>
            <a:ext cx="452233" cy="365125"/>
          </a:xfrm>
        </p:spPr>
        <p:txBody>
          <a:bodyPr/>
          <a:lstStyle/>
          <a:p>
            <a:fld id="{E6AB8EDD-9EF2-4633-A1C2-4D908C1019B4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137240200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5CA57A-6715-4A64-AF19-74F3228417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he-IL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7D19522-954F-44AB-A8B2-881237A98AC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>
            <a:normAutofit/>
          </a:bodyPr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he-IL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CC7FD09-CBF4-4ADA-B2BB-979C1F74B2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8F56BC8-8E7D-4896-9980-77BC87FB8E3E}" type="datetime8">
              <a:rPr lang="he-IL" smtClean="0"/>
              <a:t>04 ינואר 26</a:t>
            </a:fld>
            <a:endParaRPr lang="he-I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A3DEA1C-6A3E-4E8A-94C4-85129424B90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81897DB-9E67-41A9-B2B3-D6E613340B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728704" y="6464649"/>
            <a:ext cx="452233" cy="365125"/>
          </a:xfrm>
        </p:spPr>
        <p:txBody>
          <a:bodyPr/>
          <a:lstStyle/>
          <a:p>
            <a:fld id="{E6AB8EDD-9EF2-4633-A1C2-4D908C1019B4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165100360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F7C7D7B8-0F66-43EC-B9A2-C261F37BC43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 dirty="0"/>
              <a:t>Click to edit Master title style</a:t>
            </a:r>
            <a:endParaRPr lang="he-IL" dirty="0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60B89D3-E69A-49EE-8D8C-EAC8400E34B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1310142" y="365125"/>
            <a:ext cx="7262357" cy="5811838"/>
          </a:xfrm>
        </p:spPr>
        <p:txBody>
          <a:bodyPr vert="eaVert">
            <a:normAutofit/>
          </a:bodyPr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he-IL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B0A9B41-D269-4701-B27C-CDDBCF201A0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E327C8-CB36-417E-834B-544633ADCE63}" type="datetime8">
              <a:rPr lang="he-IL" smtClean="0"/>
              <a:t>04 ינואר 26</a:t>
            </a:fld>
            <a:endParaRPr lang="he-I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CBD14E7-5E00-4D30-9BDD-9B32BEA0F9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C81914F-9592-4EB2-998B-B922F8A281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728704" y="6464649"/>
            <a:ext cx="452233" cy="365125"/>
          </a:xfrm>
        </p:spPr>
        <p:txBody>
          <a:bodyPr/>
          <a:lstStyle/>
          <a:p>
            <a:fld id="{E6AB8EDD-9EF2-4633-A1C2-4D908C1019B4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261555663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image" Target="../media/image2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1EEDABD8-1012-46AD-89C2-C8E4E06DB9B5}"/>
              </a:ext>
            </a:extLst>
          </p:cNvPr>
          <p:cNvPicPr>
            <a:picLocks noChangeAspect="1"/>
          </p:cNvPicPr>
          <p:nvPr userDrawn="1"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333375" y="0"/>
            <a:ext cx="12192000" cy="6858000"/>
          </a:xfrm>
          <a:prstGeom prst="rect">
            <a:avLst/>
          </a:prstGeom>
        </p:spPr>
      </p:pic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7C9C71F-AAAB-425C-B1EA-7A7182DF40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72268" y="401637"/>
            <a:ext cx="8753475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  <a:endParaRPr lang="he-IL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2EFA75E-5AAA-412B-BAE0-CF5F86B37FA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310143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he-IL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D5198C1-7EB5-4CA4-98A0-2833A18F30E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1310143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E065D1C-C98B-44F5-AB2A-FEE3E85D0A94}" type="datetime8">
              <a:rPr lang="he-IL" smtClean="0"/>
              <a:t>04 ינואר 26</a:t>
            </a:fld>
            <a:endParaRPr lang="he-I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8897CC5-2317-4D8E-8C89-E7B89F4BE95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510543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he-I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5F048FF-C291-43F3-A9DD-3B48AE56F5B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728704" y="6476841"/>
            <a:ext cx="45223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AB8EDD-9EF2-4633-A1C2-4D908C1019B4}" type="slidenum">
              <a:rPr lang="he-IL" smtClean="0"/>
              <a:pPr/>
              <a:t>‹#›</a:t>
            </a:fld>
            <a:endParaRPr lang="he-IL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B61D43D3-8C77-B77A-1D9D-8CDC43D8429F}"/>
              </a:ext>
            </a:extLst>
          </p:cNvPr>
          <p:cNvPicPr>
            <a:picLocks noChangeAspect="1"/>
          </p:cNvPicPr>
          <p:nvPr userDrawn="1"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52957" y="6139952"/>
            <a:ext cx="2642865" cy="7979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5335723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rgbClr val="009DBB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he-IL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27BDFED6-6E33-4606-AFE2-886ADB1C018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1">
              <a:lumMod val="95000"/>
              <a:lumOff val="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2" name="Picture 1" descr="A green object on a black surface&#10;&#10;Description automatically generated with low confidence">
            <a:extLst>
              <a:ext uri="{FF2B5EF4-FFF2-40B4-BE49-F238E27FC236}">
                <a16:creationId xmlns:a16="http://schemas.microsoft.com/office/drawing/2014/main" id="{3CB67A20-DF50-FA5C-9F89-051979AEC244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0416" r="11818" b="26261"/>
          <a:stretch/>
        </p:blipFill>
        <p:spPr>
          <a:xfrm>
            <a:off x="4547937" y="0"/>
            <a:ext cx="7644062" cy="3656797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A6F2EE9F-F796-A6BB-3045-695978EABEE3}"/>
              </a:ext>
            </a:extLst>
          </p:cNvPr>
          <p:cNvPicPr>
            <a:picLocks noChangeAspect="1"/>
          </p:cNvPicPr>
          <p:nvPr/>
        </p:nvPicPr>
        <p:blipFill rotWithShape="1"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t="18830" r="-1" b="7292"/>
          <a:stretch/>
        </p:blipFill>
        <p:spPr>
          <a:xfrm>
            <a:off x="4547938" y="3681409"/>
            <a:ext cx="7644062" cy="3176595"/>
          </a:xfrm>
          <a:prstGeom prst="rect">
            <a:avLst/>
          </a:prstGeom>
        </p:spPr>
      </p:pic>
      <p:sp>
        <p:nvSpPr>
          <p:cNvPr id="19" name="Rectangle 18">
            <a:extLst>
              <a:ext uri="{FF2B5EF4-FFF2-40B4-BE49-F238E27FC236}">
                <a16:creationId xmlns:a16="http://schemas.microsoft.com/office/drawing/2014/main" id="{890DEF05-784E-4B61-89E4-04C4ECF4E5A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36000">
                <a:schemeClr val="tx1">
                  <a:lumMod val="95000"/>
                  <a:lumOff val="5000"/>
                </a:schemeClr>
              </a:gs>
              <a:gs pos="81000">
                <a:schemeClr val="tx1">
                  <a:lumMod val="95000"/>
                  <a:lumOff val="5000"/>
                  <a:alpha val="0"/>
                </a:schemeClr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F8220BDD-53D9-474C-9782-2415C685DF9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200" y="1956582"/>
            <a:ext cx="5395912" cy="1724819"/>
          </a:xfrm>
        </p:spPr>
        <p:txBody>
          <a:bodyPr>
            <a:noAutofit/>
          </a:bodyPr>
          <a:lstStyle/>
          <a:p>
            <a:r>
              <a:rPr lang="en-US" sz="4000" dirty="0">
                <a:solidFill>
                  <a:schemeClr val="bg1"/>
                </a:solidFill>
              </a:rPr>
              <a:t>Backbone Graph</a:t>
            </a:r>
          </a:p>
        </p:txBody>
      </p:sp>
      <p:sp>
        <p:nvSpPr>
          <p:cNvPr id="6" name="Subtitle 5">
            <a:extLst>
              <a:ext uri="{FF2B5EF4-FFF2-40B4-BE49-F238E27FC236}">
                <a16:creationId xmlns:a16="http://schemas.microsoft.com/office/drawing/2014/main" id="{B553B468-8035-4F27-9A10-D7A4E7C759F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38200" y="3824627"/>
            <a:ext cx="4089399" cy="1917801"/>
          </a:xfrm>
        </p:spPr>
        <p:txBody>
          <a:bodyPr>
            <a:noAutofit/>
          </a:bodyPr>
          <a:lstStyle/>
          <a:p>
            <a:r>
              <a:rPr lang="en-US" b="1" dirty="0">
                <a:solidFill>
                  <a:prstClr val="white"/>
                </a:solidFill>
              </a:rPr>
              <a:t>05.01.2026</a:t>
            </a:r>
          </a:p>
          <a:p>
            <a:r>
              <a:rPr lang="en-US" dirty="0"/>
              <a:t>Amit Ner Gaon, Noa Tal</a:t>
            </a:r>
          </a:p>
          <a:p>
            <a:r>
              <a:rPr lang="en-US" dirty="0"/>
              <a:t>Prof. Rami </a:t>
            </a:r>
            <a:r>
              <a:rPr lang="en-US" dirty="0" err="1"/>
              <a:t>Puzis</a:t>
            </a:r>
            <a:endParaRPr lang="en-IL" dirty="0"/>
          </a:p>
          <a:p>
            <a:endParaRPr lang="en-US" b="1" dirty="0">
              <a:solidFill>
                <a:prstClr val="white"/>
              </a:solidFill>
            </a:endParaRPr>
          </a:p>
        </p:txBody>
      </p: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C41BAEC7-F7B0-4224-8B18-8F74B7D87F0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>
            <a:off x="838200" y="3681408"/>
            <a:ext cx="11353799" cy="0"/>
          </a:xfrm>
          <a:prstGeom prst="line">
            <a:avLst/>
          </a:prstGeom>
          <a:ln w="1270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D9E9033-B890-41F0-A499-F7F83D1F0E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>
            <a:norm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fld id="{E6AB8EDD-9EF2-4633-A1C2-4D908C1019B4}" type="slidenum">
              <a:rPr kumimoji="0" lang="he-IL" sz="12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anose="020F0502020204030204"/>
                <a:ea typeface="+mn-ea"/>
                <a:cs typeface="Arial" panose="020B0604020202020204" pitchFamily="34" charset="0"/>
              </a:rPr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  <a:defRPr/>
              </a:pPr>
              <a:t>1</a:t>
            </a:fld>
            <a:endParaRPr kumimoji="0" lang="he-IL" sz="12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 panose="020F0502020204030204"/>
              <a:ea typeface="+mn-ea"/>
              <a:cs typeface="Arial" panose="020B0604020202020204" pitchFamily="34" charset="0"/>
            </a:endParaRPr>
          </a:p>
        </p:txBody>
      </p:sp>
      <p:sp>
        <p:nvSpPr>
          <p:cNvPr id="28" name="Title 4">
            <a:extLst>
              <a:ext uri="{FF2B5EF4-FFF2-40B4-BE49-F238E27FC236}">
                <a16:creationId xmlns:a16="http://schemas.microsoft.com/office/drawing/2014/main" id="{6D84A53B-A147-EEC0-9D81-D931915B4D17}"/>
              </a:ext>
            </a:extLst>
          </p:cNvPr>
          <p:cNvSpPr txBox="1">
            <a:spLocks/>
          </p:cNvSpPr>
          <p:nvPr/>
        </p:nvSpPr>
        <p:spPr>
          <a:xfrm>
            <a:off x="838200" y="3706020"/>
            <a:ext cx="3138714" cy="625462"/>
          </a:xfrm>
          <a:prstGeom prst="rect">
            <a:avLst/>
          </a:prstGeom>
        </p:spPr>
        <p:txBody>
          <a:bodyPr vert="horz" lIns="91440" tIns="45720" rIns="91440" bIns="45720" rtlCol="0" anchor="b">
            <a:normAutofit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he-IL" sz="4800" kern="1200" dirty="0">
                <a:solidFill>
                  <a:srgbClr val="009DBB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40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 Light" panose="020F0302020204030204"/>
              <a:ea typeface="+mj-ea"/>
              <a:cs typeface="+mj-cs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B9DE9F95-0435-3A81-61D6-23ED74B5950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203" y="0"/>
            <a:ext cx="2642865" cy="7979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216038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4486CF-41AA-7F14-874C-2DBF05DDA5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BA2D70-6A55-771B-DBB3-9BA0A76DBC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GB" dirty="0"/>
              <a:t>Introduction</a:t>
            </a:r>
            <a:endParaRPr lang="en-IL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1CAFA02-699F-C8B4-27EE-9735310060E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43087" y="1825625"/>
            <a:ext cx="10582656" cy="4491356"/>
          </a:xfrm>
        </p:spPr>
        <p:txBody>
          <a:bodyPr>
            <a:normAutofit fontScale="77500" lnSpcReduction="20000"/>
          </a:bodyPr>
          <a:lstStyle/>
          <a:p>
            <a:r>
              <a:rPr lang="en-GB" sz="3900" dirty="0"/>
              <a:t>Information Operations (IOs) definition: A set of actors performing similar or complementary actions in pursuit of a common intent, while misleading others.</a:t>
            </a:r>
          </a:p>
          <a:p>
            <a:r>
              <a:rPr lang="en-GB" sz="3900" dirty="0"/>
              <a:t>Social media serves as the modern public square but is increasingly exploited by IOs.</a:t>
            </a:r>
          </a:p>
          <a:p>
            <a:r>
              <a:rPr lang="en-GB" sz="3900" dirty="0"/>
              <a:t>IOs rely on Coordinated Inauthentic Behavior (CIB) to amplify narratives and distort public discourse.</a:t>
            </a:r>
          </a:p>
          <a:p>
            <a:r>
              <a:rPr lang="en-GB" sz="3900" dirty="0"/>
              <a:t>Large language models (LLMs) can generate fluent, human-like content, limiting the discriminative power of semantic features alone.</a:t>
            </a:r>
          </a:p>
          <a:p>
            <a:r>
              <a:rPr lang="en-GB" sz="3900" dirty="0"/>
              <a:t>We therefore aim to identify IO actors using structural features and coordination patterns in online discourse.</a:t>
            </a:r>
          </a:p>
          <a:p>
            <a:endParaRPr lang="en-GB" sz="3600" dirty="0">
              <a:solidFill>
                <a:srgbClr val="FF0000"/>
              </a:solidFill>
            </a:endParaRPr>
          </a:p>
          <a:p>
            <a:endParaRPr lang="en-GB" sz="3600" dirty="0"/>
          </a:p>
          <a:p>
            <a:endParaRPr lang="en-IL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81D1A80-AEDE-2BC8-C91B-F7FF0AA0E2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AB8EDD-9EF2-4633-A1C2-4D908C1019B4}" type="slidenum">
              <a:rPr lang="he-IL" smtClean="0"/>
              <a:t>2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342405623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0E9894-1986-0EB3-10CB-47FFB17FD7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GB" dirty="0"/>
              <a:t>Main Ideas</a:t>
            </a:r>
            <a:endParaRPr lang="en-IL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E5A14D0-C167-09F1-B20E-C7C9A17B6E5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GB" sz="3600" dirty="0"/>
              <a:t>Aim to accurate identification of IO (information operation) authors.</a:t>
            </a:r>
          </a:p>
          <a:p>
            <a:endParaRPr lang="en-GB" sz="3600" dirty="0"/>
          </a:p>
          <a:p>
            <a:r>
              <a:rPr lang="en-GB" sz="3600" dirty="0"/>
              <a:t>Focus on relationships and interactions between authors.</a:t>
            </a:r>
          </a:p>
          <a:p>
            <a:endParaRPr lang="en-GB" sz="3600" dirty="0"/>
          </a:p>
          <a:p>
            <a:r>
              <a:rPr lang="en-GB" sz="3600" dirty="0"/>
              <a:t>Narrow analysis to key authors only.</a:t>
            </a:r>
          </a:p>
          <a:p>
            <a:endParaRPr lang="en-GB" sz="3600" dirty="0"/>
          </a:p>
          <a:p>
            <a:r>
              <a:rPr lang="en-GB" sz="3600" dirty="0"/>
              <a:t>Identify abnormal coordinated behavioural patterns.</a:t>
            </a:r>
          </a:p>
          <a:p>
            <a:endParaRPr lang="en-GB" sz="3600" dirty="0"/>
          </a:p>
          <a:p>
            <a:endParaRPr lang="en-IL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7710356-1155-2E2F-361F-7F144C8D20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AB8EDD-9EF2-4633-A1C2-4D908C1019B4}" type="slidenum">
              <a:rPr lang="he-IL" smtClean="0"/>
              <a:t>3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115555995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A51D72-4134-AB7E-1B0A-64CFD080E3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975229" y="109251"/>
            <a:ext cx="8753475" cy="1325563"/>
          </a:xfrm>
        </p:spPr>
        <p:txBody>
          <a:bodyPr>
            <a:normAutofit/>
          </a:bodyPr>
          <a:lstStyle/>
          <a:p>
            <a:r>
              <a:rPr lang="en-US" sz="2800" b="1" dirty="0"/>
              <a:t>Datasets: Labelled IO Corpus &amp; US 2024 Election Data</a:t>
            </a:r>
            <a:endParaRPr lang="en-US" sz="28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8544F5D-1213-B7D4-11B6-681FD5C864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AB8EDD-9EF2-4633-A1C2-4D908C1019B4}" type="slidenum">
              <a:rPr lang="he-IL" smtClean="0"/>
              <a:t>4</a:t>
            </a:fld>
            <a:endParaRPr lang="he-IL"/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9DCB54C2-7A31-3765-2BD6-58614883BFB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07616612"/>
              </p:ext>
            </p:extLst>
          </p:nvPr>
        </p:nvGraphicFramePr>
        <p:xfrm>
          <a:off x="1538615" y="1612234"/>
          <a:ext cx="10601378" cy="539496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5300689">
                  <a:extLst>
                    <a:ext uri="{9D8B030D-6E8A-4147-A177-3AD203B41FA5}">
                      <a16:colId xmlns:a16="http://schemas.microsoft.com/office/drawing/2014/main" val="2664862571"/>
                    </a:ext>
                  </a:extLst>
                </a:gridCol>
                <a:gridCol w="5300689">
                  <a:extLst>
                    <a:ext uri="{9D8B030D-6E8A-4147-A177-3AD203B41FA5}">
                      <a16:colId xmlns:a16="http://schemas.microsoft.com/office/drawing/2014/main" val="242932449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IL" sz="2400" b="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en-US" sz="2400" b="0" dirty="0">
                          <a:solidFill>
                            <a:schemeClr val="tx1"/>
                          </a:solidFill>
                        </a:rPr>
                        <a:t>Labelled IO Corpus [1]</a:t>
                      </a:r>
                    </a:p>
                    <a:p>
                      <a:endParaRPr lang="en-US" b="0" dirty="0">
                        <a:solidFill>
                          <a:schemeClr val="tx1"/>
                        </a:solidFill>
                      </a:endParaRPr>
                    </a:p>
                    <a:p>
                      <a:pPr marL="285750" indent="-285750">
                        <a:lnSpc>
                          <a:spcPct val="150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n-US" b="0" dirty="0">
                          <a:solidFill>
                            <a:schemeClr val="tx1"/>
                          </a:solidFill>
                        </a:rPr>
                        <a:t>Curated collection of 26 Information Operation (IO) campaigns</a:t>
                      </a:r>
                    </a:p>
                    <a:p>
                      <a:pPr marL="285750" indent="-285750">
                        <a:lnSpc>
                          <a:spcPct val="150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n-US" b="0" dirty="0">
                          <a:solidFill>
                            <a:schemeClr val="tx1"/>
                          </a:solidFill>
                        </a:rPr>
                        <a:t>Each campaign fully labeled (IO vs. Control accounts)</a:t>
                      </a:r>
                    </a:p>
                    <a:p>
                      <a:pPr>
                        <a:lnSpc>
                          <a:spcPct val="150000"/>
                        </a:lnSpc>
                      </a:pPr>
                      <a:r>
                        <a:rPr lang="en-US" b="1" u="sng" dirty="0">
                          <a:solidFill>
                            <a:schemeClr val="tx1"/>
                          </a:solidFill>
                        </a:rPr>
                        <a:t>Ecuador Campaign Subset</a:t>
                      </a:r>
                    </a:p>
                    <a:p>
                      <a:pPr marL="342900" indent="-342900">
                        <a:lnSpc>
                          <a:spcPct val="150000"/>
                        </a:lnSpc>
                        <a:buFont typeface="+mj-lt"/>
                        <a:buAutoNum type="arabicPeriod"/>
                      </a:pPr>
                      <a:r>
                        <a:rPr lang="en-US" b="0" dirty="0">
                          <a:solidFill>
                            <a:schemeClr val="tx1"/>
                          </a:solidFill>
                        </a:rPr>
                        <a:t>787 IO accounts | 21,138 Control accounts</a:t>
                      </a:r>
                    </a:p>
                    <a:p>
                      <a:pPr marL="342900" indent="-342900">
                        <a:lnSpc>
                          <a:spcPct val="150000"/>
                        </a:lnSpc>
                        <a:buFont typeface="+mj-lt"/>
                        <a:buAutoNum type="arabicPeriod"/>
                      </a:pPr>
                      <a:r>
                        <a:rPr lang="en-US" b="0" dirty="0">
                          <a:solidFill>
                            <a:schemeClr val="tx1"/>
                          </a:solidFill>
                        </a:rPr>
                        <a:t>700K IO tweets | 770K Control tweets</a:t>
                      </a:r>
                    </a:p>
                    <a:p>
                      <a:endParaRPr lang="en-IL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2400" b="0" dirty="0">
                          <a:solidFill>
                            <a:schemeClr val="tx1"/>
                          </a:solidFill>
                        </a:rPr>
                        <a:t>US 2024 Election Dataset[2]</a:t>
                      </a:r>
                    </a:p>
                    <a:p>
                      <a:pPr marL="0" indent="0">
                        <a:buNone/>
                      </a:pPr>
                      <a:endParaRPr lang="en-US" b="0" dirty="0">
                        <a:solidFill>
                          <a:schemeClr val="tx1"/>
                        </a:solidFill>
                      </a:endParaRPr>
                    </a:p>
                    <a:p>
                      <a:pPr marL="285750" indent="-285750">
                        <a:lnSpc>
                          <a:spcPct val="150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n-US" b="0" dirty="0">
                          <a:solidFill>
                            <a:schemeClr val="tx1"/>
                          </a:solidFill>
                        </a:rPr>
                        <a:t>Clean dataset with corrupted/problematic rows removed</a:t>
                      </a:r>
                    </a:p>
                    <a:p>
                      <a:pPr marL="285750" indent="-285750">
                        <a:lnSpc>
                          <a:spcPct val="150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n-US" b="0" dirty="0">
                          <a:solidFill>
                            <a:schemeClr val="tx1"/>
                          </a:solidFill>
                        </a:rPr>
                        <a:t>42,211,159 tweets | January 1 – December 31, 2024</a:t>
                      </a:r>
                    </a:p>
                    <a:p>
                      <a:pPr>
                        <a:lnSpc>
                          <a:spcPct val="150000"/>
                        </a:lnSpc>
                      </a:pPr>
                      <a:r>
                        <a:rPr lang="en-US" b="0" u="sng" dirty="0">
                          <a:solidFill>
                            <a:schemeClr val="tx1"/>
                          </a:solidFill>
                        </a:rPr>
                        <a:t>Key Timeline Events</a:t>
                      </a:r>
                    </a:p>
                    <a:p>
                      <a:pPr marL="342900" indent="-342900">
                        <a:lnSpc>
                          <a:spcPct val="150000"/>
                        </a:lnSpc>
                        <a:buFont typeface="+mj-lt"/>
                        <a:buAutoNum type="arabicPeriod"/>
                      </a:pPr>
                      <a:r>
                        <a:rPr lang="en-US" b="0" dirty="0">
                          <a:solidFill>
                            <a:schemeClr val="tx1"/>
                          </a:solidFill>
                        </a:rPr>
                        <a:t>Jul 13 – Attempted assassination of Donald Trump</a:t>
                      </a:r>
                    </a:p>
                    <a:p>
                      <a:pPr marL="342900" indent="-342900">
                        <a:lnSpc>
                          <a:spcPct val="150000"/>
                        </a:lnSpc>
                        <a:buFont typeface="+mj-lt"/>
                        <a:buAutoNum type="arabicPeriod"/>
                      </a:pPr>
                      <a:r>
                        <a:rPr lang="en-US" b="0" dirty="0">
                          <a:solidFill>
                            <a:schemeClr val="tx1"/>
                          </a:solidFill>
                        </a:rPr>
                        <a:t>Jul 21 – Joe Biden withdrew from presidential race</a:t>
                      </a:r>
                    </a:p>
                    <a:p>
                      <a:pPr marL="342900" indent="-342900">
                        <a:lnSpc>
                          <a:spcPct val="150000"/>
                        </a:lnSpc>
                        <a:buFont typeface="+mj-lt"/>
                        <a:buAutoNum type="arabicPeriod"/>
                      </a:pPr>
                      <a:r>
                        <a:rPr lang="en-US" b="0" dirty="0">
                          <a:solidFill>
                            <a:schemeClr val="tx1"/>
                          </a:solidFill>
                        </a:rPr>
                        <a:t>Aug 5 – Kamala Harris formally nominated</a:t>
                      </a:r>
                    </a:p>
                    <a:p>
                      <a:pPr marL="342900" indent="-342900">
                        <a:lnSpc>
                          <a:spcPct val="150000"/>
                        </a:lnSpc>
                        <a:buFont typeface="+mj-lt"/>
                        <a:buAutoNum type="arabicPeriod"/>
                      </a:pPr>
                      <a:r>
                        <a:rPr lang="en-US" b="0" dirty="0">
                          <a:solidFill>
                            <a:schemeClr val="tx1"/>
                          </a:solidFill>
                        </a:rPr>
                        <a:t>Nov 5 – Election Day</a:t>
                      </a:r>
                    </a:p>
                    <a:p>
                      <a:pPr marL="342900" indent="-342900">
                        <a:lnSpc>
                          <a:spcPct val="150000"/>
                        </a:lnSpc>
                        <a:buFont typeface="+mj-lt"/>
                        <a:buAutoNum type="arabicPeriod"/>
                      </a:pPr>
                      <a:r>
                        <a:rPr lang="en-US" b="0" dirty="0">
                          <a:solidFill>
                            <a:schemeClr val="tx1"/>
                          </a:solidFill>
                        </a:rPr>
                        <a:t>Nov 6 – Election results announced</a:t>
                      </a:r>
                    </a:p>
                    <a:p>
                      <a:endParaRPr lang="en-IL" b="0" dirty="0">
                        <a:solidFill>
                          <a:schemeClr val="tx1"/>
                        </a:solidFill>
                      </a:endParaRPr>
                    </a:p>
                    <a:p>
                      <a:endParaRPr lang="en-IL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2398725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48515575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09A211-38F6-3004-1851-3595FBDFD8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964B4A-621B-EF3B-EE14-D59EE33EFA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GB" dirty="0"/>
              <a:t>Workflow</a:t>
            </a:r>
            <a:endParaRPr lang="en-IL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15712F5-E20A-DE3D-54D2-B2D6544A02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AB8EDD-9EF2-4633-A1C2-4D908C1019B4}" type="slidenum">
              <a:rPr lang="he-IL" smtClean="0"/>
              <a:t>5</a:t>
            </a:fld>
            <a:endParaRPr lang="he-IL"/>
          </a:p>
        </p:txBody>
      </p:sp>
      <p:pic>
        <p:nvPicPr>
          <p:cNvPr id="3" name="Picture 2" descr="A diagram of a system&#10;&#10;AI-generated content may be incorrect.">
            <a:extLst>
              <a:ext uri="{FF2B5EF4-FFF2-40B4-BE49-F238E27FC236}">
                <a16:creationId xmlns:a16="http://schemas.microsoft.com/office/drawing/2014/main" id="{381B395B-F819-6EED-AE13-0A1FE99EE7B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09472" y="2297798"/>
            <a:ext cx="9924288" cy="23504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5739969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1F7433-9644-65F0-FB3A-6026340BF2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0D8E1A-658F-3A2B-5BEC-6908BB89ED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GB" dirty="0"/>
              <a:t>Workflow</a:t>
            </a:r>
            <a:endParaRPr lang="en-IL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5DE20CF-5091-745F-F115-F06B89AD07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AB8EDD-9EF2-4633-A1C2-4D908C1019B4}" type="slidenum">
              <a:rPr lang="he-IL" smtClean="0"/>
              <a:t>6</a:t>
            </a:fld>
            <a:endParaRPr lang="he-IL"/>
          </a:p>
        </p:txBody>
      </p:sp>
      <p:pic>
        <p:nvPicPr>
          <p:cNvPr id="6" name="Picture 5" descr="A diagram of a system&#10;&#10;AI-generated content may be incorrect.">
            <a:extLst>
              <a:ext uri="{FF2B5EF4-FFF2-40B4-BE49-F238E27FC236}">
                <a16:creationId xmlns:a16="http://schemas.microsoft.com/office/drawing/2014/main" id="{A5E1720A-7B3F-25E5-8FC1-F5886058F8B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09472" y="2297798"/>
            <a:ext cx="9924288" cy="2350401"/>
          </a:xfrm>
          <a:prstGeom prst="rect">
            <a:avLst/>
          </a:prstGeom>
        </p:spPr>
      </p:pic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2B98F8B0-0521-F71D-2B71-F32D5408B951}"/>
              </a:ext>
            </a:extLst>
          </p:cNvPr>
          <p:cNvSpPr/>
          <p:nvPr/>
        </p:nvSpPr>
        <p:spPr>
          <a:xfrm>
            <a:off x="877824" y="2228850"/>
            <a:ext cx="2596896" cy="1022350"/>
          </a:xfrm>
          <a:prstGeom prst="roundRect">
            <a:avLst/>
          </a:prstGeom>
          <a:noFill/>
          <a:ln w="38100">
            <a:solidFill>
              <a:srgbClr val="FF434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L" dirty="0"/>
          </a:p>
        </p:txBody>
      </p:sp>
    </p:spTree>
    <p:extLst>
      <p:ext uri="{BB962C8B-B14F-4D97-AF65-F5344CB8AC3E}">
        <p14:creationId xmlns:p14="http://schemas.microsoft.com/office/powerpoint/2010/main" val="68907822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68D8D8-4B22-6991-BB3D-3C03C50416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89BC16-E497-67C4-50BA-25A2402E3E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GB" dirty="0"/>
              <a:t>Workflow</a:t>
            </a:r>
            <a:endParaRPr lang="en-IL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3942BEF-7FD1-31CF-1E85-102CA91935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AB8EDD-9EF2-4633-A1C2-4D908C1019B4}" type="slidenum">
              <a:rPr lang="he-IL" smtClean="0"/>
              <a:t>7</a:t>
            </a:fld>
            <a:endParaRPr lang="he-IL"/>
          </a:p>
        </p:txBody>
      </p:sp>
      <p:pic>
        <p:nvPicPr>
          <p:cNvPr id="3" name="Picture 2" descr="A diagram of a system&#10;&#10;AI-generated content may be incorrect.">
            <a:extLst>
              <a:ext uri="{FF2B5EF4-FFF2-40B4-BE49-F238E27FC236}">
                <a16:creationId xmlns:a16="http://schemas.microsoft.com/office/drawing/2014/main" id="{939A0E39-997B-522E-B4B0-36E06AAE1B0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09472" y="2297798"/>
            <a:ext cx="9924288" cy="2350401"/>
          </a:xfrm>
          <a:prstGeom prst="rect">
            <a:avLst/>
          </a:prstGeom>
        </p:spPr>
      </p:pic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29E57A49-60DE-A63B-5538-52923D026952}"/>
              </a:ext>
            </a:extLst>
          </p:cNvPr>
          <p:cNvSpPr/>
          <p:nvPr/>
        </p:nvSpPr>
        <p:spPr>
          <a:xfrm>
            <a:off x="3566160" y="2228850"/>
            <a:ext cx="5138928" cy="1016000"/>
          </a:xfrm>
          <a:prstGeom prst="roundRect">
            <a:avLst/>
          </a:prstGeom>
          <a:noFill/>
          <a:ln w="38100">
            <a:solidFill>
              <a:srgbClr val="FF434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L" dirty="0"/>
          </a:p>
        </p:txBody>
      </p:sp>
    </p:spTree>
    <p:extLst>
      <p:ext uri="{BB962C8B-B14F-4D97-AF65-F5344CB8AC3E}">
        <p14:creationId xmlns:p14="http://schemas.microsoft.com/office/powerpoint/2010/main" val="418653505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A3E1CF-F501-BA78-A405-8F9FE55ADE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9DA07F-726D-5309-24B1-8D8FD8B578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72268" y="401637"/>
            <a:ext cx="8949044" cy="1325563"/>
          </a:xfrm>
        </p:spPr>
        <p:txBody>
          <a:bodyPr>
            <a:normAutofit/>
          </a:bodyPr>
          <a:lstStyle/>
          <a:p>
            <a:r>
              <a:rPr lang="en-GB" dirty="0"/>
              <a:t>Topic Clustering &amp; Entities Recognition</a:t>
            </a:r>
            <a:endParaRPr lang="en-IL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EFDBB99-E333-E814-DFD8-B2A30F11C75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GB" sz="3300" b="1" dirty="0"/>
              <a:t>Topic Clustering: </a:t>
            </a:r>
            <a:r>
              <a:rPr lang="en-GB" sz="3300" dirty="0"/>
              <a:t>group semantically similar posts.</a:t>
            </a:r>
          </a:p>
          <a:p>
            <a:pPr lvl="1">
              <a:buFontTx/>
              <a:buChar char="-"/>
            </a:pPr>
            <a:r>
              <a:rPr lang="en-GB" sz="3300" dirty="0"/>
              <a:t>Will be used for </a:t>
            </a:r>
            <a:r>
              <a:rPr lang="en-GB" sz="3300" dirty="0" err="1"/>
              <a:t>tf-idf</a:t>
            </a:r>
            <a:r>
              <a:rPr lang="en-GB" sz="3300" dirty="0"/>
              <a:t> </a:t>
            </a:r>
            <a:r>
              <a:rPr lang="en-US" sz="3300" dirty="0"/>
              <a:t>score calculation</a:t>
            </a:r>
            <a:r>
              <a:rPr lang="en-GB" sz="3300" dirty="0"/>
              <a:t>.</a:t>
            </a:r>
          </a:p>
          <a:p>
            <a:pPr lvl="1">
              <a:buFontTx/>
              <a:buChar char="-"/>
            </a:pPr>
            <a:endParaRPr lang="en-GB" sz="3300" dirty="0"/>
          </a:p>
          <a:p>
            <a:r>
              <a:rPr lang="en-GB" sz="3300" b="1" dirty="0"/>
              <a:t>Entity Recognition: </a:t>
            </a:r>
            <a:r>
              <a:rPr lang="en-GB" sz="3300" dirty="0"/>
              <a:t>name entities recognition (NER).</a:t>
            </a:r>
          </a:p>
          <a:p>
            <a:pPr marL="457200" lvl="1" indent="0">
              <a:buNone/>
            </a:pPr>
            <a:r>
              <a:rPr lang="en-GB" sz="3300" dirty="0"/>
              <a:t>- Will be use for behavioural similarity.</a:t>
            </a:r>
          </a:p>
          <a:p>
            <a:pPr marL="457200" lvl="1" indent="0">
              <a:buNone/>
            </a:pPr>
            <a:endParaRPr lang="en-GB" sz="3200" dirty="0"/>
          </a:p>
          <a:p>
            <a:endParaRPr lang="en-GB" sz="3600" dirty="0"/>
          </a:p>
          <a:p>
            <a:endParaRPr lang="en-IL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0A95D79-0EC6-4542-6F92-46E4F5A6A4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AB8EDD-9EF2-4633-A1C2-4D908C1019B4}" type="slidenum">
              <a:rPr lang="he-IL" smtClean="0"/>
              <a:t>8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216073473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500C0F-3996-85BD-0DC9-D5093CDDD0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03F8FD-3B90-9CF5-B873-C1A001615D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GB" dirty="0"/>
              <a:t>Workflow</a:t>
            </a:r>
            <a:endParaRPr lang="en-IL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21FDFB4-095D-2E39-F873-D92B727A03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AB8EDD-9EF2-4633-A1C2-4D908C1019B4}" type="slidenum">
              <a:rPr lang="he-IL" smtClean="0"/>
              <a:t>9</a:t>
            </a:fld>
            <a:endParaRPr lang="he-IL"/>
          </a:p>
        </p:txBody>
      </p:sp>
      <p:pic>
        <p:nvPicPr>
          <p:cNvPr id="3" name="Picture 2" descr="A diagram of a system&#10;&#10;AI-generated content may be incorrect.">
            <a:extLst>
              <a:ext uri="{FF2B5EF4-FFF2-40B4-BE49-F238E27FC236}">
                <a16:creationId xmlns:a16="http://schemas.microsoft.com/office/drawing/2014/main" id="{F97C2A5B-135E-8936-0AFC-AE8B6D835D7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09472" y="2297798"/>
            <a:ext cx="9924288" cy="2350401"/>
          </a:xfrm>
          <a:prstGeom prst="rect">
            <a:avLst/>
          </a:prstGeom>
        </p:spPr>
      </p:pic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2FFFF692-13BA-3886-D028-6ADCD4B08044}"/>
              </a:ext>
            </a:extLst>
          </p:cNvPr>
          <p:cNvSpPr/>
          <p:nvPr/>
        </p:nvSpPr>
        <p:spPr>
          <a:xfrm>
            <a:off x="8959850" y="2190750"/>
            <a:ext cx="2275078" cy="1016000"/>
          </a:xfrm>
          <a:prstGeom prst="roundRect">
            <a:avLst/>
          </a:prstGeom>
          <a:noFill/>
          <a:ln w="38100">
            <a:solidFill>
              <a:srgbClr val="FF434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L" dirty="0"/>
          </a:p>
        </p:txBody>
      </p:sp>
    </p:spTree>
    <p:extLst>
      <p:ext uri="{BB962C8B-B14F-4D97-AF65-F5344CB8AC3E}">
        <p14:creationId xmlns:p14="http://schemas.microsoft.com/office/powerpoint/2010/main" val="342943793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AF6EA1-FAAD-E397-A58E-4820223D23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08A148-31C4-BE5B-2786-3D9132CB8F3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72268" y="401637"/>
            <a:ext cx="8949044" cy="1325563"/>
          </a:xfrm>
        </p:spPr>
        <p:txBody>
          <a:bodyPr>
            <a:normAutofit/>
          </a:bodyPr>
          <a:lstStyle/>
          <a:p>
            <a:r>
              <a:rPr lang="en-GB" dirty="0"/>
              <a:t>Entities Topic TF-IDF Score</a:t>
            </a:r>
            <a:endParaRPr lang="en-IL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3FC0E13-7FF1-6DB2-4802-A385B120075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4000" dirty="0"/>
              <a:t> TF-IDF: </a:t>
            </a:r>
            <a:r>
              <a:rPr lang="en-GB" sz="4000" dirty="0"/>
              <a:t>Term Frequency - Inverse Document Frequency</a:t>
            </a:r>
          </a:p>
          <a:p>
            <a:endParaRPr lang="en-US" sz="4000" dirty="0"/>
          </a:p>
          <a:p>
            <a:r>
              <a:rPr lang="en-US" sz="4000" dirty="0"/>
              <a:t>TF-IDF … </a:t>
            </a:r>
            <a:r>
              <a:rPr lang="en-GB" sz="4000" dirty="0"/>
              <a:t>is a statistical method … to evaluate how important a word is to a document in relation to a larger collection of documents </a:t>
            </a:r>
            <a:r>
              <a:rPr lang="en-GB" sz="3200" dirty="0"/>
              <a:t>(geeks for geeks).</a:t>
            </a:r>
          </a:p>
          <a:p>
            <a:endParaRPr lang="en-GB" sz="3300" dirty="0"/>
          </a:p>
          <a:p>
            <a:endParaRPr lang="en-GB" sz="3300" dirty="0"/>
          </a:p>
          <a:p>
            <a:pPr marL="457200" lvl="1" indent="0">
              <a:buNone/>
            </a:pPr>
            <a:endParaRPr lang="en-GB" sz="3200" dirty="0"/>
          </a:p>
          <a:p>
            <a:endParaRPr lang="en-GB" sz="3600" dirty="0"/>
          </a:p>
          <a:p>
            <a:endParaRPr lang="en-IL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8032366-0482-6B07-AE65-F1A1E26BF4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AB8EDD-9EF2-4633-A1C2-4D908C1019B4}" type="slidenum">
              <a:rPr lang="he-IL" smtClean="0"/>
              <a:t>10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117730677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209712-7E39-C7BB-CC6C-21FDC6927B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C95C0B-1A5F-D364-3525-3A3FDBDA54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72268" y="401637"/>
            <a:ext cx="8949044" cy="1325563"/>
          </a:xfrm>
        </p:spPr>
        <p:txBody>
          <a:bodyPr>
            <a:normAutofit/>
          </a:bodyPr>
          <a:lstStyle/>
          <a:p>
            <a:r>
              <a:rPr lang="en-GB" dirty="0"/>
              <a:t>Entities Topic TF-IDF Score</a:t>
            </a:r>
            <a:endParaRPr lang="en-IL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CA2899F-703D-332C-417F-E2319058A48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43087" y="1825624"/>
            <a:ext cx="10582656" cy="4441825"/>
          </a:xfrm>
        </p:spPr>
        <p:txBody>
          <a:bodyPr>
            <a:normAutofit/>
          </a:bodyPr>
          <a:lstStyle/>
          <a:p>
            <a:r>
              <a:rPr lang="en-GB" sz="3300" dirty="0"/>
              <a:t>In this project:</a:t>
            </a:r>
          </a:p>
          <a:p>
            <a:pPr lvl="1">
              <a:buFontTx/>
              <a:buChar char="-"/>
            </a:pPr>
            <a:r>
              <a:rPr lang="en-GB" sz="2900" dirty="0"/>
              <a:t>Documents are topics derived from topic clustering. </a:t>
            </a:r>
          </a:p>
          <a:p>
            <a:pPr lvl="1">
              <a:buFontTx/>
              <a:buChar char="-"/>
            </a:pPr>
            <a:r>
              <a:rPr lang="en-GB" sz="3200" dirty="0"/>
              <a:t>Entities are social markers in social media discourse (e.g., hashtags, URLs, mentions, named actors).</a:t>
            </a:r>
          </a:p>
          <a:p>
            <a:pPr marL="457200" lvl="1" indent="0">
              <a:buNone/>
            </a:pPr>
            <a:endParaRPr lang="en-GB" sz="3200" dirty="0"/>
          </a:p>
          <a:p>
            <a:r>
              <a:rPr lang="en-GB" sz="3300" dirty="0"/>
              <a:t>Quantify the importance of entities within each topic.</a:t>
            </a:r>
          </a:p>
          <a:p>
            <a:endParaRPr lang="en-GB" sz="3300" dirty="0"/>
          </a:p>
          <a:p>
            <a:r>
              <a:rPr lang="en-GB" sz="3300" dirty="0"/>
              <a:t>Highlight entities that are distinctive rather than common.</a:t>
            </a:r>
          </a:p>
          <a:p>
            <a:pPr marL="457200" lvl="1" indent="0">
              <a:buNone/>
            </a:pPr>
            <a:endParaRPr lang="en-GB" sz="3200" dirty="0"/>
          </a:p>
          <a:p>
            <a:pPr lvl="1"/>
            <a:endParaRPr lang="en-GB" sz="3300" dirty="0"/>
          </a:p>
          <a:p>
            <a:pPr lvl="1"/>
            <a:endParaRPr lang="en-GB" sz="33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C2438A4-2E34-7B04-EDC0-D62241F1AD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AB8EDD-9EF2-4633-A1C2-4D908C1019B4}" type="slidenum">
              <a:rPr lang="he-IL" smtClean="0"/>
              <a:t>11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341283672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D2DF23-5B54-AE9B-E41D-2F5B8864F8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C71D6D-AC8D-8B89-9985-DF4C7970DF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GB" dirty="0"/>
              <a:t>Workflow</a:t>
            </a:r>
            <a:endParaRPr lang="en-IL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29536BF-072E-6EFA-73FF-B5215F4BE1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AB8EDD-9EF2-4633-A1C2-4D908C1019B4}" type="slidenum">
              <a:rPr lang="he-IL" smtClean="0"/>
              <a:t>12</a:t>
            </a:fld>
            <a:endParaRPr lang="he-IL"/>
          </a:p>
        </p:txBody>
      </p:sp>
      <p:pic>
        <p:nvPicPr>
          <p:cNvPr id="3" name="Picture 2" descr="A diagram of a system&#10;&#10;AI-generated content may be incorrect.">
            <a:extLst>
              <a:ext uri="{FF2B5EF4-FFF2-40B4-BE49-F238E27FC236}">
                <a16:creationId xmlns:a16="http://schemas.microsoft.com/office/drawing/2014/main" id="{6CBEB942-5E4E-DA43-A21A-CBFF60654EB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09472" y="2297798"/>
            <a:ext cx="9924288" cy="2350401"/>
          </a:xfrm>
          <a:prstGeom prst="rect">
            <a:avLst/>
          </a:prstGeom>
        </p:spPr>
      </p:pic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38364ABA-1D13-C06E-B355-685EC86AD38E}"/>
              </a:ext>
            </a:extLst>
          </p:cNvPr>
          <p:cNvSpPr/>
          <p:nvPr/>
        </p:nvSpPr>
        <p:spPr>
          <a:xfrm>
            <a:off x="1109472" y="3721100"/>
            <a:ext cx="2141728" cy="1016000"/>
          </a:xfrm>
          <a:prstGeom prst="roundRect">
            <a:avLst/>
          </a:prstGeom>
          <a:noFill/>
          <a:ln w="38100">
            <a:solidFill>
              <a:srgbClr val="FF434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L" dirty="0"/>
          </a:p>
        </p:txBody>
      </p:sp>
    </p:spTree>
    <p:extLst>
      <p:ext uri="{BB962C8B-B14F-4D97-AF65-F5344CB8AC3E}">
        <p14:creationId xmlns:p14="http://schemas.microsoft.com/office/powerpoint/2010/main" val="136264630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D87CBA-0392-B7B9-3106-F4750BDB51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F5FC2B-8178-02A3-4647-34A8996D31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72268" y="401637"/>
            <a:ext cx="8949044" cy="1325563"/>
          </a:xfrm>
        </p:spPr>
        <p:txBody>
          <a:bodyPr>
            <a:normAutofit/>
          </a:bodyPr>
          <a:lstStyle/>
          <a:p>
            <a:r>
              <a:rPr lang="en-GB" dirty="0"/>
              <a:t>Post &amp; Author Scoring</a:t>
            </a:r>
            <a:endParaRPr lang="en-IL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16FE2D2-EED4-764A-2240-7AD9E02547C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43087" y="1825624"/>
            <a:ext cx="10582656" cy="4441825"/>
          </a:xfrm>
        </p:spPr>
        <p:txBody>
          <a:bodyPr>
            <a:normAutofit lnSpcReduction="10000"/>
          </a:bodyPr>
          <a:lstStyle/>
          <a:p>
            <a:r>
              <a:rPr lang="en-GB" sz="3600" dirty="0"/>
              <a:t>The TF-IDF score of a post for a topic is computed as the </a:t>
            </a:r>
            <a:r>
              <a:rPr lang="en-GB" sz="3600" b="1" dirty="0"/>
              <a:t>sum of the TF-IDF scores of all entities </a:t>
            </a:r>
            <a:r>
              <a:rPr lang="en-GB" sz="3600" dirty="0"/>
              <a:t>appearing in that post. </a:t>
            </a:r>
          </a:p>
          <a:p>
            <a:pPr marL="0" indent="0">
              <a:buNone/>
            </a:pPr>
            <a:endParaRPr lang="en-GB" sz="3600" dirty="0"/>
          </a:p>
          <a:p>
            <a:r>
              <a:rPr lang="en-GB" sz="3600" dirty="0"/>
              <a:t>Author score for a topic is:</a:t>
            </a:r>
          </a:p>
          <a:p>
            <a:pPr lvl="1">
              <a:buFontTx/>
              <a:buChar char="-"/>
            </a:pPr>
            <a:r>
              <a:rPr lang="en-GB" sz="3200" dirty="0"/>
              <a:t>TF is the sum of his/her posts’ TF-IDF score.</a:t>
            </a:r>
          </a:p>
          <a:p>
            <a:pPr lvl="1">
              <a:buFontTx/>
              <a:buChar char="-"/>
            </a:pPr>
            <a:r>
              <a:rPr lang="en-GB" sz="3200" dirty="0"/>
              <a:t>IDF is the total number of the topics divide by the topics the author participate in.</a:t>
            </a:r>
          </a:p>
          <a:p>
            <a:pPr lvl="1">
              <a:buFontTx/>
              <a:buChar char="-"/>
            </a:pPr>
            <a:r>
              <a:rPr lang="en-GB" sz="3200" dirty="0"/>
              <a:t>TF-IDF = TF * IDF.</a:t>
            </a:r>
          </a:p>
          <a:p>
            <a:pPr lvl="1"/>
            <a:endParaRPr lang="en-GB" sz="3300" dirty="0"/>
          </a:p>
          <a:p>
            <a:pPr lvl="1"/>
            <a:endParaRPr lang="en-GB" sz="33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F20CB5A-AEB6-7F2A-1B1D-3D95E77851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AB8EDD-9EF2-4633-A1C2-4D908C1019B4}" type="slidenum">
              <a:rPr lang="he-IL" smtClean="0"/>
              <a:t>13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406970599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3264C1-7740-C6A3-A41C-65A19232BE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C35446-15F7-557E-B6BE-628D639B51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GB" dirty="0"/>
              <a:t>Workflow</a:t>
            </a:r>
            <a:endParaRPr lang="en-IL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21DCB9E-6F40-2FD9-C7CD-A336AB75B0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AB8EDD-9EF2-4633-A1C2-4D908C1019B4}" type="slidenum">
              <a:rPr lang="he-IL" smtClean="0"/>
              <a:t>14</a:t>
            </a:fld>
            <a:endParaRPr lang="he-IL"/>
          </a:p>
        </p:txBody>
      </p:sp>
      <p:pic>
        <p:nvPicPr>
          <p:cNvPr id="3" name="Picture 2" descr="A diagram of a system&#10;&#10;AI-generated content may be incorrect.">
            <a:extLst>
              <a:ext uri="{FF2B5EF4-FFF2-40B4-BE49-F238E27FC236}">
                <a16:creationId xmlns:a16="http://schemas.microsoft.com/office/drawing/2014/main" id="{C769BB7A-5E47-02F8-878C-6AFB31EDDDD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09472" y="2297798"/>
            <a:ext cx="9924288" cy="2350401"/>
          </a:xfrm>
          <a:prstGeom prst="rect">
            <a:avLst/>
          </a:prstGeom>
        </p:spPr>
      </p:pic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B4474D5D-F240-A473-DDAB-545D8AD986EC}"/>
              </a:ext>
            </a:extLst>
          </p:cNvPr>
          <p:cNvSpPr/>
          <p:nvPr/>
        </p:nvSpPr>
        <p:spPr>
          <a:xfrm>
            <a:off x="3668522" y="3708400"/>
            <a:ext cx="2205228" cy="1016000"/>
          </a:xfrm>
          <a:prstGeom prst="roundRect">
            <a:avLst/>
          </a:prstGeom>
          <a:noFill/>
          <a:ln w="38100">
            <a:solidFill>
              <a:srgbClr val="FF434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L" dirty="0"/>
          </a:p>
        </p:txBody>
      </p:sp>
    </p:spTree>
    <p:extLst>
      <p:ext uri="{BB962C8B-B14F-4D97-AF65-F5344CB8AC3E}">
        <p14:creationId xmlns:p14="http://schemas.microsoft.com/office/powerpoint/2010/main" val="268384344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30286F-EFC0-C5F8-ACEA-552EA4E057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3A8F5F-929A-8AD8-9DF2-2F5C819FDA9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72268" y="401637"/>
            <a:ext cx="8949044" cy="1325563"/>
          </a:xfrm>
        </p:spPr>
        <p:txBody>
          <a:bodyPr>
            <a:normAutofit/>
          </a:bodyPr>
          <a:lstStyle/>
          <a:p>
            <a:r>
              <a:rPr lang="en-GB" dirty="0"/>
              <a:t>Key Authors Selection</a:t>
            </a:r>
            <a:endParaRPr lang="en-IL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6C7C2B8-A25A-3122-0C1F-4BBDC5F5762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43087" y="1825624"/>
            <a:ext cx="10582656" cy="4441825"/>
          </a:xfrm>
        </p:spPr>
        <p:txBody>
          <a:bodyPr>
            <a:normAutofit/>
          </a:bodyPr>
          <a:lstStyle/>
          <a:p>
            <a:r>
              <a:rPr lang="en-GB" sz="3600" dirty="0"/>
              <a:t>An author is considered a key author independently within each topic and may be a key author in one topic but not in others.</a:t>
            </a:r>
          </a:p>
          <a:p>
            <a:r>
              <a:rPr lang="en-GB" sz="3600" dirty="0"/>
              <a:t>Key authors are defined as authors ranked in the top-N (by TF-IDF score) for at least one topic.</a:t>
            </a:r>
          </a:p>
          <a:p>
            <a:r>
              <a:rPr lang="en-GB" sz="3600" dirty="0"/>
              <a:t>In the graph, all key authors are treated equally, regardless of whether they appear in one or multiple topics.</a:t>
            </a:r>
            <a:endParaRPr lang="en-GB" sz="33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C663BC0-8C91-1F8E-0045-0251DD3B7D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AB8EDD-9EF2-4633-A1C2-4D908C1019B4}" type="slidenum">
              <a:rPr lang="he-IL" smtClean="0"/>
              <a:t>15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429496691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C75F24-04B8-7779-AD14-EE95C37A9B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7A3FDE-1C62-A512-71EE-CFE734EDAE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GB" dirty="0"/>
              <a:t>Workflow</a:t>
            </a:r>
            <a:endParaRPr lang="en-IL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6025DF0-B7DA-8989-6D5F-83CD874807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AB8EDD-9EF2-4633-A1C2-4D908C1019B4}" type="slidenum">
              <a:rPr lang="he-IL" smtClean="0"/>
              <a:t>16</a:t>
            </a:fld>
            <a:endParaRPr lang="he-IL"/>
          </a:p>
        </p:txBody>
      </p:sp>
      <p:pic>
        <p:nvPicPr>
          <p:cNvPr id="3" name="Picture 2" descr="A diagram of a system&#10;&#10;AI-generated content may be incorrect.">
            <a:extLst>
              <a:ext uri="{FF2B5EF4-FFF2-40B4-BE49-F238E27FC236}">
                <a16:creationId xmlns:a16="http://schemas.microsoft.com/office/drawing/2014/main" id="{D206718D-6AFE-F19A-4776-3632F096E7B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09472" y="2297798"/>
            <a:ext cx="9924288" cy="2350401"/>
          </a:xfrm>
          <a:prstGeom prst="rect">
            <a:avLst/>
          </a:prstGeom>
        </p:spPr>
      </p:pic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63570A6B-B61D-1809-E512-D9687E79D202}"/>
              </a:ext>
            </a:extLst>
          </p:cNvPr>
          <p:cNvSpPr/>
          <p:nvPr/>
        </p:nvSpPr>
        <p:spPr>
          <a:xfrm>
            <a:off x="6346391" y="3740150"/>
            <a:ext cx="2205228" cy="1016000"/>
          </a:xfrm>
          <a:prstGeom prst="roundRect">
            <a:avLst/>
          </a:prstGeom>
          <a:noFill/>
          <a:ln w="38100">
            <a:solidFill>
              <a:srgbClr val="FF434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L" dirty="0"/>
          </a:p>
        </p:txBody>
      </p:sp>
    </p:spTree>
    <p:extLst>
      <p:ext uri="{BB962C8B-B14F-4D97-AF65-F5344CB8AC3E}">
        <p14:creationId xmlns:p14="http://schemas.microsoft.com/office/powerpoint/2010/main" val="379957012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8E27CD-C8FF-B185-45D8-666A78A68D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798079-07AB-1011-721B-DDEB468739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72268" y="401637"/>
            <a:ext cx="8949044" cy="1325563"/>
          </a:xfrm>
        </p:spPr>
        <p:txBody>
          <a:bodyPr>
            <a:normAutofit/>
          </a:bodyPr>
          <a:lstStyle/>
          <a:p>
            <a:r>
              <a:rPr lang="en-GB" dirty="0"/>
              <a:t>Backbone Graph</a:t>
            </a:r>
            <a:endParaRPr lang="en-IL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FBFF6C3-80E1-C75C-69F0-3A7FFA1D100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43087" y="1825624"/>
            <a:ext cx="10582656" cy="4441825"/>
          </a:xfrm>
        </p:spPr>
        <p:txBody>
          <a:bodyPr>
            <a:normAutofit/>
          </a:bodyPr>
          <a:lstStyle/>
          <a:p>
            <a:r>
              <a:rPr lang="en-GB" sz="2800" b="1" dirty="0"/>
              <a:t>Nodes:</a:t>
            </a:r>
            <a:r>
              <a:rPr lang="en-GB" sz="2800" dirty="0"/>
              <a:t> authors in the discourse.</a:t>
            </a:r>
          </a:p>
          <a:p>
            <a:r>
              <a:rPr lang="en-GB" sz="2800" b="1" dirty="0"/>
              <a:t>Edges: </a:t>
            </a:r>
            <a:r>
              <a:rPr lang="en-GB" sz="2800" dirty="0"/>
              <a:t>co-action relations between author pairs (e.g., co-mention, co-entity, co-topic).</a:t>
            </a:r>
            <a:endParaRPr lang="he-IL" sz="2800" dirty="0"/>
          </a:p>
          <a:p>
            <a:r>
              <a:rPr lang="en-GB" sz="2800" b="1" dirty="0"/>
              <a:t>Weights:</a:t>
            </a:r>
            <a:r>
              <a:rPr lang="en-GB" sz="2800" dirty="0"/>
              <a:t> number of co-occurrences.</a:t>
            </a:r>
          </a:p>
          <a:p>
            <a:r>
              <a:rPr lang="en-GB" sz="2800" b="1" dirty="0"/>
              <a:t>Filtering:</a:t>
            </a:r>
            <a:r>
              <a:rPr lang="en-GB" sz="2800" dirty="0"/>
              <a:t> only key authors.</a:t>
            </a:r>
          </a:p>
          <a:p>
            <a:r>
              <a:rPr lang="en-GB" sz="2800" b="1" dirty="0"/>
              <a:t>Purpose</a:t>
            </a:r>
            <a:r>
              <a:rPr lang="en-GB" sz="2800" dirty="0"/>
              <a:t>: expose coordinated behaviour and structural signals for IO detection.</a:t>
            </a:r>
          </a:p>
          <a:p>
            <a:endParaRPr lang="en-GB" dirty="0"/>
          </a:p>
          <a:p>
            <a:endParaRPr lang="en-GB" dirty="0"/>
          </a:p>
          <a:p>
            <a:pPr marL="457200" lvl="1" indent="0">
              <a:buNone/>
            </a:pPr>
            <a:endParaRPr lang="en-GB" sz="33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05E3158-F388-D9C9-D303-42FD2F68D2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AB8EDD-9EF2-4633-A1C2-4D908C1019B4}" type="slidenum">
              <a:rPr lang="he-IL" smtClean="0"/>
              <a:t>17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301112229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F57D72-3769-4162-3F92-A05CCDC8D4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C6FA3E-B022-B204-FB8C-1BC2E024462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72268" y="401637"/>
            <a:ext cx="8949044" cy="1325563"/>
          </a:xfrm>
        </p:spPr>
        <p:txBody>
          <a:bodyPr>
            <a:normAutofit/>
          </a:bodyPr>
          <a:lstStyle/>
          <a:p>
            <a:r>
              <a:rPr lang="en-GB" dirty="0"/>
              <a:t>Backbone Graph</a:t>
            </a:r>
            <a:endParaRPr lang="en-IL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46C0AEB-C01F-B3A5-B6BE-FCD102F6F8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AB8EDD-9EF2-4633-A1C2-4D908C1019B4}" type="slidenum">
              <a:rPr lang="he-IL" smtClean="0"/>
              <a:t>18</a:t>
            </a:fld>
            <a:endParaRPr lang="he-IL"/>
          </a:p>
        </p:txBody>
      </p:sp>
      <p:pic>
        <p:nvPicPr>
          <p:cNvPr id="8" name="Content Placeholder 7" descr="A network of dots and lines&#10;&#10;AI-generated content may be incorrect.">
            <a:extLst>
              <a:ext uri="{FF2B5EF4-FFF2-40B4-BE49-F238E27FC236}">
                <a16:creationId xmlns:a16="http://schemas.microsoft.com/office/drawing/2014/main" id="{F8CEB6B9-7309-277B-AAAC-68DA1C261F0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72268" y="1385094"/>
            <a:ext cx="4747419" cy="4747419"/>
          </a:xfrm>
        </p:spPr>
      </p:pic>
    </p:spTree>
    <p:extLst>
      <p:ext uri="{BB962C8B-B14F-4D97-AF65-F5344CB8AC3E}">
        <p14:creationId xmlns:p14="http://schemas.microsoft.com/office/powerpoint/2010/main" val="206784134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51E4DB-33D4-3886-E9B4-2B5F43C86D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E28D8F-0758-9222-0A12-759FFCC51C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GB" dirty="0"/>
              <a:t>Workflow</a:t>
            </a:r>
            <a:endParaRPr lang="en-IL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2AB77B4-1130-22BF-E743-AEA412A7E7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AB8EDD-9EF2-4633-A1C2-4D908C1019B4}" type="slidenum">
              <a:rPr lang="he-IL" smtClean="0"/>
              <a:t>19</a:t>
            </a:fld>
            <a:endParaRPr lang="he-IL"/>
          </a:p>
        </p:txBody>
      </p:sp>
      <p:pic>
        <p:nvPicPr>
          <p:cNvPr id="3" name="Picture 2" descr="A diagram of a system&#10;&#10;AI-generated content may be incorrect.">
            <a:extLst>
              <a:ext uri="{FF2B5EF4-FFF2-40B4-BE49-F238E27FC236}">
                <a16:creationId xmlns:a16="http://schemas.microsoft.com/office/drawing/2014/main" id="{839BB112-0EFF-BAFA-E635-ECF2AD26369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09472" y="2297798"/>
            <a:ext cx="9924288" cy="2350401"/>
          </a:xfrm>
          <a:prstGeom prst="rect">
            <a:avLst/>
          </a:prstGeom>
        </p:spPr>
      </p:pic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552E5A72-2538-7924-BCE4-577C751C5E8A}"/>
              </a:ext>
            </a:extLst>
          </p:cNvPr>
          <p:cNvSpPr/>
          <p:nvPr/>
        </p:nvSpPr>
        <p:spPr>
          <a:xfrm>
            <a:off x="8943541" y="3721100"/>
            <a:ext cx="2205228" cy="1016000"/>
          </a:xfrm>
          <a:prstGeom prst="roundRect">
            <a:avLst/>
          </a:prstGeom>
          <a:noFill/>
          <a:ln w="38100">
            <a:solidFill>
              <a:srgbClr val="FF434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L" dirty="0"/>
          </a:p>
        </p:txBody>
      </p:sp>
    </p:spTree>
    <p:extLst>
      <p:ext uri="{BB962C8B-B14F-4D97-AF65-F5344CB8AC3E}">
        <p14:creationId xmlns:p14="http://schemas.microsoft.com/office/powerpoint/2010/main" val="408704499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02FAF8-27B5-7B2F-8C00-D3ADA06D40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2E6285-B712-C677-A828-891CA0E3C0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72268" y="401637"/>
            <a:ext cx="8949044" cy="1325563"/>
          </a:xfrm>
        </p:spPr>
        <p:txBody>
          <a:bodyPr>
            <a:normAutofit/>
          </a:bodyPr>
          <a:lstStyle/>
          <a:p>
            <a:r>
              <a:rPr lang="en-GB" dirty="0"/>
              <a:t>IO Indicators</a:t>
            </a:r>
            <a:endParaRPr lang="en-IL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45B0DAB-66B4-7AE5-861B-97EA0D9624A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43087" y="1825624"/>
            <a:ext cx="10582656" cy="4441825"/>
          </a:xfrm>
        </p:spPr>
        <p:txBody>
          <a:bodyPr>
            <a:normAutofit/>
          </a:bodyPr>
          <a:lstStyle/>
          <a:p>
            <a:r>
              <a:rPr lang="en-GB" sz="2800" dirty="0"/>
              <a:t>Assumption: organic users act mostly independently, while IO actors require systematic structural coordination to operate a campaign.</a:t>
            </a:r>
          </a:p>
          <a:p>
            <a:r>
              <a:rPr lang="en-GB" sz="2800" dirty="0"/>
              <a:t>Coordination effect: repeated co-actions produce non-random network structures among the same actors. </a:t>
            </a:r>
          </a:p>
          <a:p>
            <a:r>
              <a:rPr lang="en-GB" sz="2800" dirty="0"/>
              <a:t>Rationale: community identifiers and centralities are measures quantify how embedded, influential, or connective an actor is within the network. </a:t>
            </a:r>
          </a:p>
          <a:p>
            <a:r>
              <a:rPr lang="en-GB" sz="2800" dirty="0"/>
              <a:t>Indicator examples: k-Core, degree centrality, betweenness centrality.</a:t>
            </a:r>
            <a:endParaRPr lang="en-GB" sz="33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1A056C6-625D-D2C5-5434-E67ED6E1F8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AB8EDD-9EF2-4633-A1C2-4D908C1019B4}" type="slidenum">
              <a:rPr lang="he-IL" smtClean="0"/>
              <a:t>20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223898642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9DAACC-58F5-4F3E-57F2-581C26E0AF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C9FABA-EC78-9E45-CC9B-DBDACDF3EC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72268" y="401637"/>
            <a:ext cx="8949044" cy="1325563"/>
          </a:xfrm>
        </p:spPr>
        <p:txBody>
          <a:bodyPr>
            <a:normAutofit/>
          </a:bodyPr>
          <a:lstStyle/>
          <a:p>
            <a:r>
              <a:rPr lang="en-GB" dirty="0"/>
              <a:t>IO Indicators</a:t>
            </a:r>
            <a:endParaRPr lang="en-IL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D628F45-7EDE-8903-1842-3A0863E947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AB8EDD-9EF2-4633-A1C2-4D908C1019B4}" type="slidenum">
              <a:rPr lang="he-IL" smtClean="0"/>
              <a:t>21</a:t>
            </a:fld>
            <a:endParaRPr lang="he-IL"/>
          </a:p>
        </p:txBody>
      </p:sp>
      <p:pic>
        <p:nvPicPr>
          <p:cNvPr id="5" name="Content Placeholder 4" descr="A graph with blue squares&#10;&#10;AI-generated content may be incorrect.">
            <a:extLst>
              <a:ext uri="{FF2B5EF4-FFF2-40B4-BE49-F238E27FC236}">
                <a16:creationId xmlns:a16="http://schemas.microsoft.com/office/drawing/2014/main" id="{1BD2BADB-602E-7965-15F2-6FC425D5715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42339" y="2064540"/>
            <a:ext cx="7707321" cy="3853660"/>
          </a:xfrm>
        </p:spPr>
      </p:pic>
    </p:spTree>
    <p:extLst>
      <p:ext uri="{BB962C8B-B14F-4D97-AF65-F5344CB8AC3E}">
        <p14:creationId xmlns:p14="http://schemas.microsoft.com/office/powerpoint/2010/main" val="6418480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10536</TotalTime>
  <Words>842</Words>
  <Application>Microsoft Office PowerPoint</Application>
  <PresentationFormat>Widescreen</PresentationFormat>
  <Paragraphs>126</Paragraphs>
  <Slides>21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5" baseType="lpstr">
      <vt:lpstr>Arial</vt:lpstr>
      <vt:lpstr>Calibri</vt:lpstr>
      <vt:lpstr>Calibri Light</vt:lpstr>
      <vt:lpstr>Office Theme</vt:lpstr>
      <vt:lpstr>Backbone Graph</vt:lpstr>
      <vt:lpstr>Introduction</vt:lpstr>
      <vt:lpstr>Main Ideas</vt:lpstr>
      <vt:lpstr>Datasets: Labelled IO Corpus &amp; US 2024 Election Data</vt:lpstr>
      <vt:lpstr>Workflow</vt:lpstr>
      <vt:lpstr>Workflow</vt:lpstr>
      <vt:lpstr>Workflow</vt:lpstr>
      <vt:lpstr>Topic Clustering &amp; Entities Recognition</vt:lpstr>
      <vt:lpstr>Workflow</vt:lpstr>
      <vt:lpstr>Entities Topic TF-IDF Score</vt:lpstr>
      <vt:lpstr>Entities Topic TF-IDF Score</vt:lpstr>
      <vt:lpstr>Workflow</vt:lpstr>
      <vt:lpstr>Post &amp; Author Scoring</vt:lpstr>
      <vt:lpstr>Workflow</vt:lpstr>
      <vt:lpstr>Key Authors Selection</vt:lpstr>
      <vt:lpstr>Workflow</vt:lpstr>
      <vt:lpstr>Backbone Graph</vt:lpstr>
      <vt:lpstr>Backbone Graph</vt:lpstr>
      <vt:lpstr>Workflow</vt:lpstr>
      <vt:lpstr>IO Indicators</vt:lpstr>
      <vt:lpstr>IO Indicators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Edita Grolman</dc:creator>
  <cp:lastModifiedBy>Amit Ner Gaon</cp:lastModifiedBy>
  <cp:revision>299</cp:revision>
  <dcterms:created xsi:type="dcterms:W3CDTF">2021-05-04T15:24:24Z</dcterms:created>
  <dcterms:modified xsi:type="dcterms:W3CDTF">2026-01-04T14:00:39Z</dcterms:modified>
</cp:coreProperties>
</file>