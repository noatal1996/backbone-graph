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1574" r:id="rId2"/>
    <p:sldId id="1581" r:id="rId3"/>
    <p:sldId id="1580" r:id="rId4"/>
    <p:sldId id="1577" r:id="rId5"/>
    <p:sldId id="1582" r:id="rId6"/>
    <p:sldId id="1583" r:id="rId7"/>
    <p:sldId id="1628" r:id="rId8"/>
    <p:sldId id="1575" r:id="rId9"/>
    <p:sldId id="1576" r:id="rId10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81"/>
            <p14:sldId id="1580"/>
            <p14:sldId id="1577"/>
            <p14:sldId id="1582"/>
            <p14:sldId id="1583"/>
            <p14:sldId id="1628"/>
            <p14:sldId id="1575"/>
            <p14:sldId id="15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r>
            <a:rPr lang="en-GB" dirty="0"/>
            <a:t>The research begins with the hypothesis that successful information operation </a:t>
          </a:r>
          <a:r>
            <a:rPr lang="en-GB" b="0" dirty="0"/>
            <a:t>drivers</a:t>
          </a:r>
          <a:r>
            <a:rPr lang="en-GB" dirty="0"/>
            <a:t> must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a network of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r>
            <a:rPr lang="en-GB" dirty="0"/>
            <a:t>We compute a</a:t>
          </a:r>
          <a:r>
            <a:rPr lang="en-GB" b="1" dirty="0"/>
            <a:t> key score </a:t>
          </a:r>
          <a:r>
            <a:rPr lang="en-GB" dirty="0"/>
            <a:t>for each author to quantify topic leadership and construct a </a:t>
          </a:r>
          <a:r>
            <a:rPr lang="en-GB" b="1" dirty="0"/>
            <a:t>backbone graph </a:t>
          </a:r>
          <a:r>
            <a:rPr lang="en-GB" dirty="0"/>
            <a:t>capturing coordination among high-scoring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/>
      <dgm:spPr/>
      <dgm:t>
        <a:bodyPr/>
        <a:lstStyle/>
        <a:p>
          <a:r>
            <a:rPr lang="en-GB" dirty="0"/>
            <a:t>Thus, enables the computation of </a:t>
          </a:r>
          <a:r>
            <a:rPr lang="en-GB" b="1" dirty="0"/>
            <a:t>graph-based indicators </a:t>
          </a:r>
          <a:r>
            <a:rPr lang="en-GB" dirty="0"/>
            <a:t>(e.g., centralities) to identify information operation drivers.</a:t>
          </a:r>
          <a:endParaRPr lang="en-US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The research begins with the hypothesis that successful information operation </a:t>
          </a:r>
          <a:r>
            <a:rPr lang="en-GB" sz="2300" b="0" kern="1200" dirty="0"/>
            <a:t>drivers</a:t>
          </a:r>
          <a:r>
            <a:rPr lang="en-GB" sz="2300" kern="1200" dirty="0"/>
            <a:t> must </a:t>
          </a:r>
          <a:r>
            <a:rPr lang="en-GB" sz="2300" b="1" kern="1200" dirty="0"/>
            <a:t>lead topic-level discourse </a:t>
          </a:r>
          <a:r>
            <a:rPr lang="en-GB" sz="2300" kern="1200" dirty="0"/>
            <a:t>and act in </a:t>
          </a:r>
          <a:r>
            <a:rPr lang="en-GB" sz="2300" b="1" kern="1200" dirty="0"/>
            <a:t>coordination</a:t>
          </a:r>
          <a:r>
            <a:rPr lang="en-GB" sz="2300" kern="1200" dirty="0"/>
            <a:t> with a network of other drivers. </a:t>
          </a:r>
          <a:endParaRPr lang="en-US" sz="23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We compute a</a:t>
          </a:r>
          <a:r>
            <a:rPr lang="en-GB" sz="2300" b="1" kern="1200" dirty="0"/>
            <a:t> key score </a:t>
          </a:r>
          <a:r>
            <a:rPr lang="en-GB" sz="2300" kern="1200" dirty="0"/>
            <a:t>for each author to quantify topic leadership and construct a </a:t>
          </a:r>
          <a:r>
            <a:rPr lang="en-GB" sz="2300" b="1" kern="1200" dirty="0"/>
            <a:t>backbone graph </a:t>
          </a:r>
          <a:r>
            <a:rPr lang="en-GB" sz="2300" kern="1200" dirty="0"/>
            <a:t>capturing coordination among high-scoring authors. </a:t>
          </a:r>
          <a:endParaRPr lang="en-US" sz="23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Thus, enables the computation of </a:t>
          </a:r>
          <a:r>
            <a:rPr lang="en-GB" sz="2300" b="1" kern="1200" dirty="0"/>
            <a:t>graph-based indicators </a:t>
          </a:r>
          <a:r>
            <a:rPr lang="en-GB" sz="2300" kern="1200" dirty="0"/>
            <a:t>(e.g., centralities) to identify information operation drivers.</a:t>
          </a:r>
          <a:endParaRPr lang="en-US" sz="23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ה'/אדר/תשפ"ו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19.02.2026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776922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A5E6-67A6-5CC2-AA8C-8AEBAB88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828567-A0B2-4EE2-B776-601A30421946}"/>
              </a:ext>
            </a:extLst>
          </p:cNvPr>
          <p:cNvSpPr/>
          <p:nvPr/>
        </p:nvSpPr>
        <p:spPr>
          <a:xfrm>
            <a:off x="3978876" y="5369012"/>
            <a:ext cx="2117124" cy="6425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Boost Author Selection</a:t>
            </a:r>
            <a:endParaRPr lang="en-IL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202656-0FAA-3E0A-1841-9E488B105D7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096000" y="4399005"/>
            <a:ext cx="928816" cy="129128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F861B9-33A2-CCAC-A0E0-6075D8434240}"/>
              </a:ext>
            </a:extLst>
          </p:cNvPr>
          <p:cNvSpPr txBox="1"/>
          <p:nvPr/>
        </p:nvSpPr>
        <p:spPr>
          <a:xfrm>
            <a:off x="6499653" y="5066096"/>
            <a:ext cx="1334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Boost workflow to be decided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85258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b="1" dirty="0"/>
              <a:t>Information Operation (IO):</a:t>
            </a:r>
            <a:r>
              <a:rPr lang="en-GB" dirty="0"/>
              <a:t> A collection of publications produced by a set of actors performing similar or complementary actions in pursuit of a shared intent 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1453-5316-D9B7-938F-2E71B0F5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D6C-06E1-D2FD-D6D7-A5B2B115A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</a:t>
            </a:r>
            <a:r>
              <a:rPr lang="en-GB" dirty="0"/>
              <a:t>Boost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613BB-A790-CA2A-55AD-2E034BEFF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Boost author: </a:t>
            </a:r>
            <a:r>
              <a:rPr lang="en-GB" dirty="0"/>
              <a:t>An author whose activity is followed by a significant increase in discussion activity.</a:t>
            </a:r>
          </a:p>
          <a:p>
            <a:r>
              <a:rPr lang="en-GB" b="1" dirty="0"/>
              <a:t>Author`s Boost Score: </a:t>
            </a:r>
            <a:r>
              <a:rPr lang="en-GB" dirty="0"/>
              <a:t>A quantitative measure calculated as the cumulative burst weights associated with a user's activity, based on discussion volume increases occurring shortly after the user posts or contributes.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0B6C7-B0F5-46CB-5DE4-36B539A7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5685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CF04-DED3-2E08-8761-891A60FEF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18744-AA3F-0C94-68C3-B98E69E97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87997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 err="1"/>
              <a:t>Tfidf</a:t>
            </a:r>
            <a:r>
              <a:rPr lang="en-GB" b="1" dirty="0"/>
              <a:t> sum: </a:t>
            </a:r>
            <a:r>
              <a:rPr lang="en-GB" dirty="0"/>
              <a:t>The sum of the all the per-topic </a:t>
            </a:r>
            <a:r>
              <a:rPr lang="en-GB" dirty="0" err="1"/>
              <a:t>tdidf</a:t>
            </a:r>
            <a:r>
              <a:rPr lang="en-GB" dirty="0"/>
              <a:t> score. How much the author is a leading participant in the topics.</a:t>
            </a:r>
          </a:p>
          <a:p>
            <a:r>
              <a:rPr lang="en-GB" b="1" dirty="0"/>
              <a:t>K-core: </a:t>
            </a:r>
            <a:r>
              <a:rPr lang="en-GB" dirty="0"/>
              <a:t>Indicates how deeply embedded a user is within the dense group.</a:t>
            </a:r>
          </a:p>
          <a:p>
            <a:r>
              <a:rPr lang="en-GB" b="1" dirty="0" err="1"/>
              <a:t>Pagerank</a:t>
            </a:r>
            <a:r>
              <a:rPr lang="en-GB" b="1" dirty="0"/>
              <a:t>: </a:t>
            </a:r>
            <a:r>
              <a:rPr lang="en-GB" dirty="0"/>
              <a:t>Estimates a user’s overall importance based on how many important users connect to them.</a:t>
            </a:r>
          </a:p>
          <a:p>
            <a:r>
              <a:rPr lang="en-GB" b="1" dirty="0"/>
              <a:t>Clustering: </a:t>
            </a:r>
            <a:r>
              <a:rPr lang="en-GB" dirty="0"/>
              <a:t>Measures how tightly connected a user’s </a:t>
            </a:r>
            <a:r>
              <a:rPr lang="en-GB" dirty="0" err="1"/>
              <a:t>neighbors</a:t>
            </a:r>
            <a:r>
              <a:rPr lang="en-GB" dirty="0"/>
              <a:t> are to each other.</a:t>
            </a:r>
          </a:p>
          <a:p>
            <a:r>
              <a:rPr lang="en-GB" b="1" dirty="0"/>
              <a:t>Square clustering: </a:t>
            </a:r>
            <a:r>
              <a:rPr lang="en-GB" dirty="0"/>
              <a:t>Measures how often a user participates in tightly connected small group structures.</a:t>
            </a:r>
          </a:p>
          <a:p>
            <a:r>
              <a:rPr lang="en-GB" b="1" dirty="0"/>
              <a:t>Degree centrality: </a:t>
            </a:r>
            <a:r>
              <a:rPr lang="en-GB" dirty="0"/>
              <a:t>Counts how many direct connections a user has.</a:t>
            </a:r>
          </a:p>
          <a:p>
            <a:r>
              <a:rPr lang="en-GB" b="1" dirty="0"/>
              <a:t>Eigenvector centrality: </a:t>
            </a:r>
            <a:r>
              <a:rPr lang="en-GB" dirty="0"/>
              <a:t>Shows whether a user is connected to other high-scoring users.</a:t>
            </a:r>
          </a:p>
          <a:p>
            <a:r>
              <a:rPr lang="en-GB" b="1" dirty="0"/>
              <a:t>Harmonic centrality: </a:t>
            </a:r>
            <a:r>
              <a:rPr lang="en-GB" dirty="0"/>
              <a:t>Reflects how easily a user can reach many others in the network.</a:t>
            </a:r>
          </a:p>
          <a:p>
            <a:r>
              <a:rPr lang="en-GB" b="1" dirty="0"/>
              <a:t>Betweenness centrality: </a:t>
            </a:r>
            <a:r>
              <a:rPr lang="en-GB" dirty="0"/>
              <a:t>measures how frequently a node appears on the shortest path between other,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E058-D5C2-C2B9-04B1-D7B34149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7267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B01E5-E339-0213-69E4-B75795308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Venn</a:t>
            </a:r>
            <a:endParaRPr lang="en-IL" dirty="0"/>
          </a:p>
        </p:txBody>
      </p:sp>
      <p:pic>
        <p:nvPicPr>
          <p:cNvPr id="6" name="Content Placeholder 5" descr="A diagram of a number of people&#10;&#10;AI-generated content may be incorrect.">
            <a:extLst>
              <a:ext uri="{FF2B5EF4-FFF2-40B4-BE49-F238E27FC236}">
                <a16:creationId xmlns:a16="http://schemas.microsoft.com/office/drawing/2014/main" id="{3B6BA33B-B733-1446-280A-E092CBA16B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500" y="1881351"/>
            <a:ext cx="5076945" cy="415720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CAB6D-BE3B-52AA-0BBF-D040CE97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pic>
        <p:nvPicPr>
          <p:cNvPr id="7" name="Content Placeholder 7" descr="A diagram of a number of people&#10;&#10;AI-generated content may be incorrect.">
            <a:extLst>
              <a:ext uri="{FF2B5EF4-FFF2-40B4-BE49-F238E27FC236}">
                <a16:creationId xmlns:a16="http://schemas.microsoft.com/office/drawing/2014/main" id="{D6066C24-CDF2-1558-D94C-F814A4E98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8798" y="1881351"/>
            <a:ext cx="5076945" cy="415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91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EA019-FA8A-523F-0575-0BE15485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D4AB6-F6A1-EC88-9A62-D9DF74C03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Venn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B127B-7F38-56CB-ABCA-F71DB0088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9" name="Picture 8" descr="A diagram of a venn diagram&#10;&#10;AI-generated content may be incorrect.">
            <a:extLst>
              <a:ext uri="{FF2B5EF4-FFF2-40B4-BE49-F238E27FC236}">
                <a16:creationId xmlns:a16="http://schemas.microsoft.com/office/drawing/2014/main" id="{1F304956-97E4-EE42-D104-24E2B8D3DD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915" y="1453931"/>
            <a:ext cx="5106170" cy="5245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595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11315</TotalTime>
  <Words>460</Words>
  <Application>Microsoft Office PowerPoint</Application>
  <PresentationFormat>Widescreen</PresentationFormat>
  <Paragraphs>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Backbone Graph</vt:lpstr>
      <vt:lpstr>Core Concepts</vt:lpstr>
      <vt:lpstr>PowerPoint Presentation</vt:lpstr>
      <vt:lpstr>Terms &amp; Definitions - IO</vt:lpstr>
      <vt:lpstr>Terms &amp; Definitions - Key</vt:lpstr>
      <vt:lpstr>Terms &amp; Definitions - Boost</vt:lpstr>
      <vt:lpstr>Indicators</vt:lpstr>
      <vt:lpstr>Venn</vt:lpstr>
      <vt:lpstr>Venn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325</cp:revision>
  <dcterms:created xsi:type="dcterms:W3CDTF">2021-05-04T15:24:24Z</dcterms:created>
  <dcterms:modified xsi:type="dcterms:W3CDTF">2026-02-22T08:22:48Z</dcterms:modified>
</cp:coreProperties>
</file>