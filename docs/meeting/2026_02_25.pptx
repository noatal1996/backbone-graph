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1574" r:id="rId2"/>
    <p:sldId id="1581" r:id="rId3"/>
    <p:sldId id="1580" r:id="rId4"/>
    <p:sldId id="1596" r:id="rId5"/>
    <p:sldId id="1577" r:id="rId6"/>
    <p:sldId id="1582" r:id="rId7"/>
    <p:sldId id="1583" r:id="rId8"/>
    <p:sldId id="1628" r:id="rId9"/>
    <p:sldId id="1631" r:id="rId10"/>
    <p:sldId id="1632" r:id="rId11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A84E6CC-2EA2-4553-A6A4-DAF877036261}">
          <p14:sldIdLst>
            <p14:sldId id="1574"/>
            <p14:sldId id="1581"/>
            <p14:sldId id="1580"/>
            <p14:sldId id="1596"/>
            <p14:sldId id="1577"/>
            <p14:sldId id="1582"/>
            <p14:sldId id="1583"/>
            <p14:sldId id="1628"/>
            <p14:sldId id="1631"/>
            <p14:sldId id="163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8377"/>
    <a:srgbClr val="F59120"/>
    <a:srgbClr val="FF4343"/>
    <a:srgbClr val="548235"/>
    <a:srgbClr val="009DBB"/>
    <a:srgbClr val="0688BA"/>
    <a:srgbClr val="005488"/>
    <a:srgbClr val="006189"/>
    <a:srgbClr val="5D5D5F"/>
    <a:srgbClr val="FE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>
      <p:cViewPr varScale="1">
        <p:scale>
          <a:sx n="79" d="100"/>
          <a:sy n="79" d="100"/>
        </p:scale>
        <p:origin x="744" y="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1ADD07-83FC-412A-AFCA-54ED7AB8BDE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20BF6AF-D097-451B-B004-3E4F0E0AEEB9}">
      <dgm:prSet/>
      <dgm:spPr/>
      <dgm:t>
        <a:bodyPr/>
        <a:lstStyle/>
        <a:p>
          <a:pPr rtl="0"/>
          <a:r>
            <a:rPr lang="en-GB" dirty="0"/>
            <a:t>Hypothesis: </a:t>
          </a:r>
        </a:p>
        <a:p>
          <a:pPr rtl="0"/>
          <a:r>
            <a:rPr lang="en-GB" dirty="0"/>
            <a:t>successful information operation </a:t>
          </a:r>
          <a:r>
            <a:rPr lang="en-GB" b="0" dirty="0"/>
            <a:t>drivers</a:t>
          </a:r>
          <a:r>
            <a:rPr lang="en-GB" dirty="0"/>
            <a:t> </a:t>
          </a:r>
          <a:r>
            <a:rPr lang="en-GB" b="1" dirty="0"/>
            <a:t>lead topic-level discourse </a:t>
          </a:r>
          <a:r>
            <a:rPr lang="en-GB" dirty="0"/>
            <a:t>and act in </a:t>
          </a:r>
          <a:r>
            <a:rPr lang="en-GB" b="1" dirty="0"/>
            <a:t>coordination</a:t>
          </a:r>
          <a:r>
            <a:rPr lang="en-GB" dirty="0"/>
            <a:t> with other drivers. </a:t>
          </a:r>
          <a:endParaRPr lang="en-US" dirty="0"/>
        </a:p>
      </dgm:t>
    </dgm:pt>
    <dgm:pt modelId="{1B3DA8FE-615C-4CAD-AD1A-83C4D5C3B18E}" type="parTrans" cxnId="{C0F4BB65-B1A1-46FC-8E88-C5B7A3B5290C}">
      <dgm:prSet/>
      <dgm:spPr/>
      <dgm:t>
        <a:bodyPr/>
        <a:lstStyle/>
        <a:p>
          <a:endParaRPr lang="en-US"/>
        </a:p>
      </dgm:t>
    </dgm:pt>
    <dgm:pt modelId="{F3538FF5-C72C-4C84-89BC-6ECE192FF4F4}" type="sibTrans" cxnId="{C0F4BB65-B1A1-46FC-8E88-C5B7A3B5290C}">
      <dgm:prSet/>
      <dgm:spPr/>
      <dgm:t>
        <a:bodyPr/>
        <a:lstStyle/>
        <a:p>
          <a:endParaRPr lang="en-US"/>
        </a:p>
      </dgm:t>
    </dgm:pt>
    <dgm:pt modelId="{E39D2ACD-8A0D-4B01-833E-8042ACD0DB54}">
      <dgm:prSet/>
      <dgm:spPr/>
      <dgm:t>
        <a:bodyPr/>
        <a:lstStyle/>
        <a:p>
          <a:pPr rtl="0"/>
          <a:r>
            <a:rPr lang="en-GB" dirty="0"/>
            <a:t>Objectives:</a:t>
          </a:r>
        </a:p>
        <a:p>
          <a:pPr rtl="0"/>
          <a:r>
            <a:rPr lang="en-GB" dirty="0"/>
            <a:t>Author’s </a:t>
          </a:r>
          <a:r>
            <a:rPr lang="en-GB" b="1" dirty="0"/>
            <a:t>key score </a:t>
          </a:r>
          <a:r>
            <a:rPr lang="en-GB" b="0" dirty="0"/>
            <a:t>to </a:t>
          </a:r>
          <a:r>
            <a:rPr lang="en-GB" dirty="0"/>
            <a:t>quantify topic leadership. </a:t>
          </a:r>
        </a:p>
        <a:p>
          <a:pPr rtl="0"/>
          <a:r>
            <a:rPr lang="en-GB" b="1" dirty="0"/>
            <a:t>Backbone graph </a:t>
          </a:r>
          <a:r>
            <a:rPr lang="en-GB" b="0" dirty="0"/>
            <a:t>to </a:t>
          </a:r>
          <a:r>
            <a:rPr lang="en-GB" dirty="0"/>
            <a:t>capture coordination among key authors. </a:t>
          </a:r>
          <a:endParaRPr lang="en-US" dirty="0"/>
        </a:p>
      </dgm:t>
    </dgm:pt>
    <dgm:pt modelId="{50BCA0A0-F847-40B6-A29A-9E80CAFF435E}" type="parTrans" cxnId="{BCC7FBA5-3595-4076-A26A-50B09B66D361}">
      <dgm:prSet/>
      <dgm:spPr/>
      <dgm:t>
        <a:bodyPr/>
        <a:lstStyle/>
        <a:p>
          <a:endParaRPr lang="en-US"/>
        </a:p>
      </dgm:t>
    </dgm:pt>
    <dgm:pt modelId="{06BACE1A-323F-4E92-90EF-7FB1DEFFCD2C}" type="sibTrans" cxnId="{BCC7FBA5-3595-4076-A26A-50B09B66D361}">
      <dgm:prSet/>
      <dgm:spPr/>
      <dgm:t>
        <a:bodyPr/>
        <a:lstStyle/>
        <a:p>
          <a:endParaRPr lang="en-US"/>
        </a:p>
      </dgm:t>
    </dgm:pt>
    <dgm:pt modelId="{2A8A38E9-53CA-44D5-8DFC-907932863099}">
      <dgm:prSet custT="1"/>
      <dgm:spPr/>
      <dgm:t>
        <a:bodyPr/>
        <a:lstStyle/>
        <a:p>
          <a:pPr rtl="0"/>
          <a:r>
            <a:rPr lang="en-GB" sz="1800" kern="1200" dirty="0"/>
            <a:t>Goal:</a:t>
          </a:r>
        </a:p>
        <a:p>
          <a:pPr rtl="0"/>
          <a:r>
            <a:rPr lang="en-GB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Calculation</a:t>
          </a:r>
          <a:r>
            <a:rPr lang="en-GB" sz="1800" kern="1200" dirty="0"/>
            <a:t> of </a:t>
          </a:r>
          <a:r>
            <a:rPr lang="en-GB" sz="1800" b="1" kern="1200" dirty="0"/>
            <a:t>graph-based indicators </a:t>
          </a:r>
          <a:r>
            <a:rPr lang="en-GB" sz="1800" kern="1200" dirty="0"/>
            <a:t>(e.g., centralities) to identify information operation (IO) drivers.</a:t>
          </a:r>
          <a:endParaRPr lang="en-US" sz="1800" kern="1200" dirty="0"/>
        </a:p>
      </dgm:t>
    </dgm:pt>
    <dgm:pt modelId="{1C19421E-9F25-4C69-A119-786E9C23DCF0}" type="parTrans" cxnId="{3ACB8547-BA01-42D1-807F-761232340476}">
      <dgm:prSet/>
      <dgm:spPr/>
      <dgm:t>
        <a:bodyPr/>
        <a:lstStyle/>
        <a:p>
          <a:endParaRPr lang="en-US"/>
        </a:p>
      </dgm:t>
    </dgm:pt>
    <dgm:pt modelId="{DAD72EB5-E415-4649-A88F-D2A6BD457E78}" type="sibTrans" cxnId="{3ACB8547-BA01-42D1-807F-761232340476}">
      <dgm:prSet/>
      <dgm:spPr/>
      <dgm:t>
        <a:bodyPr/>
        <a:lstStyle/>
        <a:p>
          <a:endParaRPr lang="en-US"/>
        </a:p>
      </dgm:t>
    </dgm:pt>
    <dgm:pt modelId="{B49D8D80-4BEC-43F9-8332-FDD107B3F2C9}" type="pres">
      <dgm:prSet presAssocID="{551ADD07-83FC-412A-AFCA-54ED7AB8BDE9}" presName="root" presStyleCnt="0">
        <dgm:presLayoutVars>
          <dgm:dir/>
          <dgm:resizeHandles val="exact"/>
        </dgm:presLayoutVars>
      </dgm:prSet>
      <dgm:spPr/>
    </dgm:pt>
    <dgm:pt modelId="{234596F3-45E6-4A0B-84CB-CD7F1CEC7BB6}" type="pres">
      <dgm:prSet presAssocID="{920BF6AF-D097-451B-B004-3E4F0E0AEEB9}" presName="compNode" presStyleCnt="0"/>
      <dgm:spPr/>
    </dgm:pt>
    <dgm:pt modelId="{2C6B269B-04EF-4B77-8D34-4ED88A9CC619}" type="pres">
      <dgm:prSet presAssocID="{920BF6AF-D097-451B-B004-3E4F0E0AEEB9}" presName="bgRect" presStyleLbl="bgShp" presStyleIdx="0" presStyleCnt="3"/>
      <dgm:spPr/>
    </dgm:pt>
    <dgm:pt modelId="{AB766CAB-60EC-49F0-89A5-002DEB1DC9EC}" type="pres">
      <dgm:prSet presAssocID="{920BF6AF-D097-451B-B004-3E4F0E0AEEB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fic Thought with solid fill"/>
        </a:ext>
      </dgm:extLst>
    </dgm:pt>
    <dgm:pt modelId="{0B721B38-D226-410F-BAC9-2D888665195E}" type="pres">
      <dgm:prSet presAssocID="{920BF6AF-D097-451B-B004-3E4F0E0AEEB9}" presName="spaceRect" presStyleCnt="0"/>
      <dgm:spPr/>
    </dgm:pt>
    <dgm:pt modelId="{3E637D1C-C465-4876-A83C-04C72BB5E998}" type="pres">
      <dgm:prSet presAssocID="{920BF6AF-D097-451B-B004-3E4F0E0AEEB9}" presName="parTx" presStyleLbl="revTx" presStyleIdx="0" presStyleCnt="3">
        <dgm:presLayoutVars>
          <dgm:chMax val="0"/>
          <dgm:chPref val="0"/>
        </dgm:presLayoutVars>
      </dgm:prSet>
      <dgm:spPr/>
    </dgm:pt>
    <dgm:pt modelId="{A0B18739-A66C-4214-A36E-80ABCD3F56E6}" type="pres">
      <dgm:prSet presAssocID="{F3538FF5-C72C-4C84-89BC-6ECE192FF4F4}" presName="sibTrans" presStyleCnt="0"/>
      <dgm:spPr/>
    </dgm:pt>
    <dgm:pt modelId="{E94B648F-B109-44D3-A362-5A7CD8456848}" type="pres">
      <dgm:prSet presAssocID="{E39D2ACD-8A0D-4B01-833E-8042ACD0DB54}" presName="compNode" presStyleCnt="0"/>
      <dgm:spPr/>
    </dgm:pt>
    <dgm:pt modelId="{02F5843F-E1CD-4550-87C4-36EB26BEC779}" type="pres">
      <dgm:prSet presAssocID="{E39D2ACD-8A0D-4B01-833E-8042ACD0DB54}" presName="bgRect" presStyleLbl="bgShp" presStyleIdx="1" presStyleCnt="3"/>
      <dgm:spPr/>
    </dgm:pt>
    <dgm:pt modelId="{9E158E14-3B86-4CC1-9750-95325F6E3EB0}" type="pres">
      <dgm:prSet presAssocID="{E39D2ACD-8A0D-4B01-833E-8042ACD0DB5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 with solid fill"/>
        </a:ext>
      </dgm:extLst>
    </dgm:pt>
    <dgm:pt modelId="{F60FB6F8-463F-492D-AC38-859ADB965D33}" type="pres">
      <dgm:prSet presAssocID="{E39D2ACD-8A0D-4B01-833E-8042ACD0DB54}" presName="spaceRect" presStyleCnt="0"/>
      <dgm:spPr/>
    </dgm:pt>
    <dgm:pt modelId="{F428F88E-A70C-48F6-A66B-5274C025ABDE}" type="pres">
      <dgm:prSet presAssocID="{E39D2ACD-8A0D-4B01-833E-8042ACD0DB54}" presName="parTx" presStyleLbl="revTx" presStyleIdx="1" presStyleCnt="3">
        <dgm:presLayoutVars>
          <dgm:chMax val="0"/>
          <dgm:chPref val="0"/>
        </dgm:presLayoutVars>
      </dgm:prSet>
      <dgm:spPr/>
    </dgm:pt>
    <dgm:pt modelId="{F5E726E4-A878-457E-933C-BCEA315CA0C3}" type="pres">
      <dgm:prSet presAssocID="{06BACE1A-323F-4E92-90EF-7FB1DEFFCD2C}" presName="sibTrans" presStyleCnt="0"/>
      <dgm:spPr/>
    </dgm:pt>
    <dgm:pt modelId="{BD3B9828-9F25-45F0-995B-881D686D90DF}" type="pres">
      <dgm:prSet presAssocID="{2A8A38E9-53CA-44D5-8DFC-907932863099}" presName="compNode" presStyleCnt="0"/>
      <dgm:spPr/>
    </dgm:pt>
    <dgm:pt modelId="{85833E2F-A6EA-4B2D-BD32-529530AB4589}" type="pres">
      <dgm:prSet presAssocID="{2A8A38E9-53CA-44D5-8DFC-907932863099}" presName="bgRect" presStyleLbl="bgShp" presStyleIdx="2" presStyleCnt="3"/>
      <dgm:spPr/>
    </dgm:pt>
    <dgm:pt modelId="{847822B6-69AC-4972-8322-EB9ABE8D34B9}" type="pres">
      <dgm:prSet presAssocID="{2A8A38E9-53CA-44D5-8DFC-90793286309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 with solid fill"/>
        </a:ext>
      </dgm:extLst>
    </dgm:pt>
    <dgm:pt modelId="{DDA98E99-0ADD-4B53-8FFE-DE6E80B72A59}" type="pres">
      <dgm:prSet presAssocID="{2A8A38E9-53CA-44D5-8DFC-907932863099}" presName="spaceRect" presStyleCnt="0"/>
      <dgm:spPr/>
    </dgm:pt>
    <dgm:pt modelId="{7E1E5A94-5C6C-43EF-91F4-61637B702812}" type="pres">
      <dgm:prSet presAssocID="{2A8A38E9-53CA-44D5-8DFC-90793286309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0F4BB65-B1A1-46FC-8E88-C5B7A3B5290C}" srcId="{551ADD07-83FC-412A-AFCA-54ED7AB8BDE9}" destId="{920BF6AF-D097-451B-B004-3E4F0E0AEEB9}" srcOrd="0" destOrd="0" parTransId="{1B3DA8FE-615C-4CAD-AD1A-83C4D5C3B18E}" sibTransId="{F3538FF5-C72C-4C84-89BC-6ECE192FF4F4}"/>
    <dgm:cxn modelId="{3ACB8547-BA01-42D1-807F-761232340476}" srcId="{551ADD07-83FC-412A-AFCA-54ED7AB8BDE9}" destId="{2A8A38E9-53CA-44D5-8DFC-907932863099}" srcOrd="2" destOrd="0" parTransId="{1C19421E-9F25-4C69-A119-786E9C23DCF0}" sibTransId="{DAD72EB5-E415-4649-A88F-D2A6BD457E78}"/>
    <dgm:cxn modelId="{476DC380-D90B-4963-BA1D-EF004B8DFF9C}" type="presOf" srcId="{2A8A38E9-53CA-44D5-8DFC-907932863099}" destId="{7E1E5A94-5C6C-43EF-91F4-61637B702812}" srcOrd="0" destOrd="0" presId="urn:microsoft.com/office/officeart/2018/2/layout/IconVerticalSolidList"/>
    <dgm:cxn modelId="{BE2D088D-B685-4251-B03A-05C57EA6D1CA}" type="presOf" srcId="{E39D2ACD-8A0D-4B01-833E-8042ACD0DB54}" destId="{F428F88E-A70C-48F6-A66B-5274C025ABDE}" srcOrd="0" destOrd="0" presId="urn:microsoft.com/office/officeart/2018/2/layout/IconVerticalSolidList"/>
    <dgm:cxn modelId="{F98D408E-0BAD-4B33-9130-865164C21D5B}" type="presOf" srcId="{920BF6AF-D097-451B-B004-3E4F0E0AEEB9}" destId="{3E637D1C-C465-4876-A83C-04C72BB5E998}" srcOrd="0" destOrd="0" presId="urn:microsoft.com/office/officeart/2018/2/layout/IconVerticalSolidList"/>
    <dgm:cxn modelId="{BCC7FBA5-3595-4076-A26A-50B09B66D361}" srcId="{551ADD07-83FC-412A-AFCA-54ED7AB8BDE9}" destId="{E39D2ACD-8A0D-4B01-833E-8042ACD0DB54}" srcOrd="1" destOrd="0" parTransId="{50BCA0A0-F847-40B6-A29A-9E80CAFF435E}" sibTransId="{06BACE1A-323F-4E92-90EF-7FB1DEFFCD2C}"/>
    <dgm:cxn modelId="{AAF066BC-CAAA-4763-ADA3-D4F009CCE9A2}" type="presOf" srcId="{551ADD07-83FC-412A-AFCA-54ED7AB8BDE9}" destId="{B49D8D80-4BEC-43F9-8332-FDD107B3F2C9}" srcOrd="0" destOrd="0" presId="urn:microsoft.com/office/officeart/2018/2/layout/IconVerticalSolidList"/>
    <dgm:cxn modelId="{BCE67295-3472-4649-8578-5A2AF0877308}" type="presParOf" srcId="{B49D8D80-4BEC-43F9-8332-FDD107B3F2C9}" destId="{234596F3-45E6-4A0B-84CB-CD7F1CEC7BB6}" srcOrd="0" destOrd="0" presId="urn:microsoft.com/office/officeart/2018/2/layout/IconVerticalSolidList"/>
    <dgm:cxn modelId="{37B27883-AE4D-4F43-AAA9-364B1799A38D}" type="presParOf" srcId="{234596F3-45E6-4A0B-84CB-CD7F1CEC7BB6}" destId="{2C6B269B-04EF-4B77-8D34-4ED88A9CC619}" srcOrd="0" destOrd="0" presId="urn:microsoft.com/office/officeart/2018/2/layout/IconVerticalSolidList"/>
    <dgm:cxn modelId="{1FE31726-CE1A-4FF2-8F3A-3F6A8C1ECB72}" type="presParOf" srcId="{234596F3-45E6-4A0B-84CB-CD7F1CEC7BB6}" destId="{AB766CAB-60EC-49F0-89A5-002DEB1DC9EC}" srcOrd="1" destOrd="0" presId="urn:microsoft.com/office/officeart/2018/2/layout/IconVerticalSolidList"/>
    <dgm:cxn modelId="{D43CBF48-864E-42B2-B4C7-FEFD0C4EA1C1}" type="presParOf" srcId="{234596F3-45E6-4A0B-84CB-CD7F1CEC7BB6}" destId="{0B721B38-D226-410F-BAC9-2D888665195E}" srcOrd="2" destOrd="0" presId="urn:microsoft.com/office/officeart/2018/2/layout/IconVerticalSolidList"/>
    <dgm:cxn modelId="{F2616297-CF9C-4A9F-B438-8A02AF8EA604}" type="presParOf" srcId="{234596F3-45E6-4A0B-84CB-CD7F1CEC7BB6}" destId="{3E637D1C-C465-4876-A83C-04C72BB5E998}" srcOrd="3" destOrd="0" presId="urn:microsoft.com/office/officeart/2018/2/layout/IconVerticalSolidList"/>
    <dgm:cxn modelId="{021E74C0-B682-4A7C-9B3C-80BC6A1A451E}" type="presParOf" srcId="{B49D8D80-4BEC-43F9-8332-FDD107B3F2C9}" destId="{A0B18739-A66C-4214-A36E-80ABCD3F56E6}" srcOrd="1" destOrd="0" presId="urn:microsoft.com/office/officeart/2018/2/layout/IconVerticalSolidList"/>
    <dgm:cxn modelId="{5DD145BE-095B-4298-ADFC-8002C6AAD15E}" type="presParOf" srcId="{B49D8D80-4BEC-43F9-8332-FDD107B3F2C9}" destId="{E94B648F-B109-44D3-A362-5A7CD8456848}" srcOrd="2" destOrd="0" presId="urn:microsoft.com/office/officeart/2018/2/layout/IconVerticalSolidList"/>
    <dgm:cxn modelId="{96C74A1F-B98D-4223-A5E9-7277AE40F887}" type="presParOf" srcId="{E94B648F-B109-44D3-A362-5A7CD8456848}" destId="{02F5843F-E1CD-4550-87C4-36EB26BEC779}" srcOrd="0" destOrd="0" presId="urn:microsoft.com/office/officeart/2018/2/layout/IconVerticalSolidList"/>
    <dgm:cxn modelId="{37551C3B-A61E-40CD-95E6-06EC81BA6221}" type="presParOf" srcId="{E94B648F-B109-44D3-A362-5A7CD8456848}" destId="{9E158E14-3B86-4CC1-9750-95325F6E3EB0}" srcOrd="1" destOrd="0" presId="urn:microsoft.com/office/officeart/2018/2/layout/IconVerticalSolidList"/>
    <dgm:cxn modelId="{5B8E7111-26D5-45A9-A2C9-F67EC4DD4DD7}" type="presParOf" srcId="{E94B648F-B109-44D3-A362-5A7CD8456848}" destId="{F60FB6F8-463F-492D-AC38-859ADB965D33}" srcOrd="2" destOrd="0" presId="urn:microsoft.com/office/officeart/2018/2/layout/IconVerticalSolidList"/>
    <dgm:cxn modelId="{CAAC9538-3BDC-4D91-AC63-E046372345FF}" type="presParOf" srcId="{E94B648F-B109-44D3-A362-5A7CD8456848}" destId="{F428F88E-A70C-48F6-A66B-5274C025ABDE}" srcOrd="3" destOrd="0" presId="urn:microsoft.com/office/officeart/2018/2/layout/IconVerticalSolidList"/>
    <dgm:cxn modelId="{BB8A6ED7-F291-4709-814C-3DFCF74B0B5C}" type="presParOf" srcId="{B49D8D80-4BEC-43F9-8332-FDD107B3F2C9}" destId="{F5E726E4-A878-457E-933C-BCEA315CA0C3}" srcOrd="3" destOrd="0" presId="urn:microsoft.com/office/officeart/2018/2/layout/IconVerticalSolidList"/>
    <dgm:cxn modelId="{193E6BFC-A4A5-4A3B-BE91-424D6674F48E}" type="presParOf" srcId="{B49D8D80-4BEC-43F9-8332-FDD107B3F2C9}" destId="{BD3B9828-9F25-45F0-995B-881D686D90DF}" srcOrd="4" destOrd="0" presId="urn:microsoft.com/office/officeart/2018/2/layout/IconVerticalSolidList"/>
    <dgm:cxn modelId="{605738E7-7BB8-4D55-B283-D6BDF1D1C1C7}" type="presParOf" srcId="{BD3B9828-9F25-45F0-995B-881D686D90DF}" destId="{85833E2F-A6EA-4B2D-BD32-529530AB4589}" srcOrd="0" destOrd="0" presId="urn:microsoft.com/office/officeart/2018/2/layout/IconVerticalSolidList"/>
    <dgm:cxn modelId="{AD77C2DA-7E28-4367-8BE2-3300AC8794C3}" type="presParOf" srcId="{BD3B9828-9F25-45F0-995B-881D686D90DF}" destId="{847822B6-69AC-4972-8322-EB9ABE8D34B9}" srcOrd="1" destOrd="0" presId="urn:microsoft.com/office/officeart/2018/2/layout/IconVerticalSolidList"/>
    <dgm:cxn modelId="{833343CF-0F77-4BD0-9825-DC8C6C39F459}" type="presParOf" srcId="{BD3B9828-9F25-45F0-995B-881D686D90DF}" destId="{DDA98E99-0ADD-4B53-8FFE-DE6E80B72A59}" srcOrd="2" destOrd="0" presId="urn:microsoft.com/office/officeart/2018/2/layout/IconVerticalSolidList"/>
    <dgm:cxn modelId="{C9F44501-FBA1-4F35-B8A0-6554C28CFF8F}" type="presParOf" srcId="{BD3B9828-9F25-45F0-995B-881D686D90DF}" destId="{7E1E5A94-5C6C-43EF-91F4-61637B70281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6B269B-04EF-4B77-8D34-4ED88A9CC619}">
      <dsp:nvSpPr>
        <dsp:cNvPr id="0" name=""/>
        <dsp:cNvSpPr/>
      </dsp:nvSpPr>
      <dsp:spPr>
        <a:xfrm>
          <a:off x="0" y="531"/>
          <a:ext cx="10582656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766CAB-60EC-49F0-89A5-002DEB1DC9EC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637D1C-C465-4876-A83C-04C72BB5E998}">
      <dsp:nvSpPr>
        <dsp:cNvPr id="0" name=""/>
        <dsp:cNvSpPr/>
      </dsp:nvSpPr>
      <dsp:spPr>
        <a:xfrm>
          <a:off x="1435590" y="531"/>
          <a:ext cx="9147065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Hypothesis: </a:t>
          </a:r>
        </a:p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successful information operation </a:t>
          </a:r>
          <a:r>
            <a:rPr lang="en-GB" sz="1800" b="0" kern="1200" dirty="0"/>
            <a:t>drivers</a:t>
          </a:r>
          <a:r>
            <a:rPr lang="en-GB" sz="1800" kern="1200" dirty="0"/>
            <a:t> </a:t>
          </a:r>
          <a:r>
            <a:rPr lang="en-GB" sz="1800" b="1" kern="1200" dirty="0"/>
            <a:t>lead topic-level discourse </a:t>
          </a:r>
          <a:r>
            <a:rPr lang="en-GB" sz="1800" kern="1200" dirty="0"/>
            <a:t>and act in </a:t>
          </a:r>
          <a:r>
            <a:rPr lang="en-GB" sz="1800" b="1" kern="1200" dirty="0"/>
            <a:t>coordination</a:t>
          </a:r>
          <a:r>
            <a:rPr lang="en-GB" sz="1800" kern="1200" dirty="0"/>
            <a:t> with other drivers. </a:t>
          </a:r>
          <a:endParaRPr lang="en-US" sz="1800" kern="1200" dirty="0"/>
        </a:p>
      </dsp:txBody>
      <dsp:txXfrm>
        <a:off x="1435590" y="531"/>
        <a:ext cx="9147065" cy="1242935"/>
      </dsp:txXfrm>
    </dsp:sp>
    <dsp:sp modelId="{02F5843F-E1CD-4550-87C4-36EB26BEC779}">
      <dsp:nvSpPr>
        <dsp:cNvPr id="0" name=""/>
        <dsp:cNvSpPr/>
      </dsp:nvSpPr>
      <dsp:spPr>
        <a:xfrm>
          <a:off x="0" y="1554201"/>
          <a:ext cx="10582656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158E14-3B86-4CC1-9750-95325F6E3EB0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28F88E-A70C-48F6-A66B-5274C025ABDE}">
      <dsp:nvSpPr>
        <dsp:cNvPr id="0" name=""/>
        <dsp:cNvSpPr/>
      </dsp:nvSpPr>
      <dsp:spPr>
        <a:xfrm>
          <a:off x="1435590" y="1554201"/>
          <a:ext cx="9147065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Objectives:</a:t>
          </a:r>
        </a:p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Author’s </a:t>
          </a:r>
          <a:r>
            <a:rPr lang="en-GB" sz="1800" b="1" kern="1200" dirty="0"/>
            <a:t>key score </a:t>
          </a:r>
          <a:r>
            <a:rPr lang="en-GB" sz="1800" b="0" kern="1200" dirty="0"/>
            <a:t>to </a:t>
          </a:r>
          <a:r>
            <a:rPr lang="en-GB" sz="1800" kern="1200" dirty="0"/>
            <a:t>quantify topic leadership. </a:t>
          </a:r>
        </a:p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Backbone graph </a:t>
          </a:r>
          <a:r>
            <a:rPr lang="en-GB" sz="1800" b="0" kern="1200" dirty="0"/>
            <a:t>to </a:t>
          </a:r>
          <a:r>
            <a:rPr lang="en-GB" sz="1800" kern="1200" dirty="0"/>
            <a:t>capture coordination among key authors. </a:t>
          </a:r>
          <a:endParaRPr lang="en-US" sz="1800" kern="1200" dirty="0"/>
        </a:p>
      </dsp:txBody>
      <dsp:txXfrm>
        <a:off x="1435590" y="1554201"/>
        <a:ext cx="9147065" cy="1242935"/>
      </dsp:txXfrm>
    </dsp:sp>
    <dsp:sp modelId="{85833E2F-A6EA-4B2D-BD32-529530AB4589}">
      <dsp:nvSpPr>
        <dsp:cNvPr id="0" name=""/>
        <dsp:cNvSpPr/>
      </dsp:nvSpPr>
      <dsp:spPr>
        <a:xfrm>
          <a:off x="0" y="3107870"/>
          <a:ext cx="10582656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7822B6-69AC-4972-8322-EB9ABE8D34B9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1E5A94-5C6C-43EF-91F4-61637B702812}">
      <dsp:nvSpPr>
        <dsp:cNvPr id="0" name=""/>
        <dsp:cNvSpPr/>
      </dsp:nvSpPr>
      <dsp:spPr>
        <a:xfrm>
          <a:off x="1435590" y="3107870"/>
          <a:ext cx="9147065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Goal:</a:t>
          </a:r>
        </a:p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Calculation</a:t>
          </a:r>
          <a:r>
            <a:rPr lang="en-GB" sz="1800" kern="1200" dirty="0"/>
            <a:t> of </a:t>
          </a:r>
          <a:r>
            <a:rPr lang="en-GB" sz="1800" b="1" kern="1200" dirty="0"/>
            <a:t>graph-based indicators </a:t>
          </a:r>
          <a:r>
            <a:rPr lang="en-GB" sz="1800" kern="1200" dirty="0"/>
            <a:t>(e.g., centralities) to identify information operation (IO) drivers.</a:t>
          </a:r>
          <a:endParaRPr lang="en-US" sz="1800" kern="1200" dirty="0"/>
        </a:p>
      </dsp:txBody>
      <dsp:txXfrm>
        <a:off x="1435590" y="3107870"/>
        <a:ext cx="9147065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2915196C-CDBC-4DEE-A220-849C85FC22AC}" type="datetimeFigureOut">
              <a:rPr lang="he-IL" smtClean="0"/>
              <a:t>ח'/אדר/תשפ"ו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7F6CD5E7-A5BE-4430-AD67-E129D63AAC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3829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L" dirty="0"/>
              <a:t>[1]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Seckin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O. C., Pote, M.,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Nwala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A. C., Yin, L.,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Luceri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L., Flammini, A., &amp; Menczer, F. (2025, June). Labeled datasets for research on information operations. In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Proceedings of the International AAAI Conference on Web and Social Media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(Vol. 19, pp. 2567-2574).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[2] Balasubramanian, A., Zou, V., Narayana, H., You, C.,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Luceri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L., &amp; Ferrara, E. (2024). A public dataset tracking social media discourse about the 2024 us presidential election on twitter/x. 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arXiv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preprint arXiv:2411.00376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12091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83E6-A85C-4E94-BAD4-349975C5C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5376" y="1354011"/>
            <a:ext cx="9144000" cy="23876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8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A3D7B5-5BE4-46C1-BA83-AEDFF303D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5376" y="4218431"/>
            <a:ext cx="9144000" cy="1374013"/>
          </a:xfrm>
        </p:spPr>
        <p:txBody>
          <a:bodyPr>
            <a:normAutofit/>
          </a:bodyPr>
          <a:lstStyle>
            <a:lvl1pPr marL="0" indent="0" algn="l">
              <a:buNone/>
              <a:defRPr lang="he-IL" sz="20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subtitle style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03C65-1526-4474-93EA-92201F973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B3A86-AB79-4388-8CA5-9FC4B834779B}" type="datetime8">
              <a:rPr lang="he-IL" smtClean="0"/>
              <a:t>25 פברואר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4A285-90E9-4F27-9CCA-0A2DBEB47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19B0E-8F10-4832-ADC3-EA2B0C457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06172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65C3A-1C12-429A-B672-CB062EE35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2D984-D254-42A5-88FD-71A5B8FF6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C169-3299-4F42-91D0-7AF77E398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4CBFB-2532-48BA-BAE2-ADD925390740}" type="datetime8">
              <a:rPr lang="he-IL" smtClean="0"/>
              <a:t>25 פברואר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2A088-F9A8-4123-A1D2-FE1125036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A253D-F657-44F9-AA3F-37F3CF175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14547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CE174-92FD-46FC-9A31-EF3515102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50" y="1709738"/>
            <a:ext cx="7852146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61C8F-4A58-4042-B898-A57C837DF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95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B49A7-5C76-42AD-8811-4CADE0447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C1FDD-37C4-4A6B-BF31-779943CE32CF}" type="datetime8">
              <a:rPr lang="he-IL" smtClean="0"/>
              <a:t>25 פברואר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F3F55-C2A3-4A87-96C0-A01E9BCA6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976F6-B98E-4B7D-839A-27BF9494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90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15C3C-CE9E-4F7A-B728-9A335B51FB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 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48EB9-480D-4A31-8BC3-B899B4AABD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6991" y="1821101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CAF003-9AC3-4B4C-A1AA-89972395A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0991" y="1821101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9E07C-7B13-4A7C-AEAC-814BACFD9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C226C-A76A-4927-8F1D-1BD4AC033ABB}" type="datetime8">
              <a:rPr lang="he-IL" smtClean="0"/>
              <a:t>25 פברואר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6D24B-DA20-4CC6-87E7-866505B0C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E9C41-8689-47B3-A905-634220202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7299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DD0EE-D523-4780-A9CF-B6EE518CD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117" y="355600"/>
            <a:ext cx="8743124" cy="1325563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6447D-A16E-4B99-8F74-2BA51BF54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3148" y="1717419"/>
            <a:ext cx="5157787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2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B268A-D31A-4C35-948F-BF312EE59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3148" y="2511171"/>
            <a:ext cx="5157787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0F3C6-09D4-4383-99DD-32F9053ACE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41752" y="1717419"/>
            <a:ext cx="5183188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2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91A8D3-C002-4BA1-96FF-375F70D218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41752" y="2517267"/>
            <a:ext cx="5183188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5CAC5E-E4EB-4131-AAEF-73C347968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DF2BF-D428-43E9-B36B-6DD16CF93579}" type="datetime8">
              <a:rPr lang="he-IL" smtClean="0"/>
              <a:t>25 פברואר 26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EC57A3-285F-4D36-851E-593C5F287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6F8AB8-B698-4176-96F8-B833FE013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42569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BF78-4DF0-407A-8E5A-BEF1E0D8B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9A3A88-6914-48FB-BE6F-948C3C66F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A9136-4922-4C74-B05C-12CD0951E601}" type="datetime8">
              <a:rPr lang="he-IL" smtClean="0"/>
              <a:t>25 פברואר 26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50A1D4-4FBF-400A-B2CE-30A42EF7F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8B1F93-B2D0-4E42-B3CE-E85D6FC90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52457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88500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213734-3C5F-473D-9DD6-0C484ADFB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3CA8-2E63-412C-AA06-0D760EBE5965}" type="datetime8">
              <a:rPr lang="he-IL" smtClean="0"/>
              <a:t>25 פברואר 26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48D2E8-A18C-4B06-AF11-07B4F9C53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7CBE2-2F2D-43B9-8BC3-25BA1DDA4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78659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80516-8B4A-495E-BFE5-33BF2DA50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2684" y="98132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53460-117E-457C-9F0F-1AA7B34F2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0804" y="987425"/>
            <a:ext cx="617220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E485A-1FF8-4FDD-A659-6ACC79989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12684" y="2581529"/>
            <a:ext cx="3932237" cy="329514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A78A4-064B-49BB-9360-FC686D8B5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7B867-AA4A-4FF3-AD8B-0AD0F18EE595}" type="datetime8">
              <a:rPr lang="he-IL" smtClean="0"/>
              <a:t>25 פברואר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0114A-6704-44C0-BCAE-EAB756E64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98D20-B7C4-4CE0-812C-9B6976E08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24658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81F6-3528-4A38-B435-490FC2AFC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7173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7A6AE1-0DCE-4A5A-AC24-95C331B15D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987425"/>
            <a:ext cx="5259387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CD3E13-E71C-4EE3-BA14-54D61F729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27173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A2D14-BF1B-420A-B0DF-91CD6E771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EBD3-88E8-46DB-BD3B-F935B7013014}" type="datetime8">
              <a:rPr lang="he-IL" smtClean="0"/>
              <a:t>25 פברואר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27BD5-73FD-47B4-BCDF-92BB6EA15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5EAC3-6043-41F9-B8D4-7F41DABB2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72402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CA57A-6715-4A64-AF19-74F322841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D19522-954F-44AB-A8B2-881237A98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7FD09-CBF4-4ADA-B2BB-979C1F74B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56BC8-8E7D-4896-9980-77BC87FB8E3E}" type="datetime8">
              <a:rPr lang="he-IL" smtClean="0"/>
              <a:t>25 פברואר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DEA1C-6A3E-4E8A-94C4-85129424B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897DB-9E67-41A9-B2B3-D6E613340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51003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C7D7B8-0F66-43EC-B9A2-C261F37BC4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B89D3-E69A-49EE-8D8C-EAC8400E3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10142" y="365125"/>
            <a:ext cx="7262357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A9B41-D269-4701-B27C-CDDBCF201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327C8-CB36-417E-834B-544633ADCE63}" type="datetime8">
              <a:rPr lang="he-IL" smtClean="0"/>
              <a:t>25 פברואר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D14E7-5E00-4D30-9BDD-9B32BEA0F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1914F-9592-4EB2-998B-B922F8A28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15556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2684E-6693-F58C-BC24-150353E83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65D1C-C98B-44F5-AB2A-FEE3E85D0A94}" type="datetime8">
              <a:rPr lang="he-IL" smtClean="0"/>
              <a:t>25 פברואר 26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C0620-C9BE-4C99-2D6C-A02A9A677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48F728-5692-0756-E6BD-FFB67E1A3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6" name="Picture 5" descr="A document with text on it&#10;&#10;AI-generated content may be incorrect.">
            <a:extLst>
              <a:ext uri="{FF2B5EF4-FFF2-40B4-BE49-F238E27FC236}">
                <a16:creationId xmlns:a16="http://schemas.microsoft.com/office/drawing/2014/main" id="{C90561FF-B0EA-0CEF-2458-5237DB1606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23" t="8775" r="7050" b="78302"/>
          <a:stretch>
            <a:fillRect/>
          </a:stretch>
        </p:blipFill>
        <p:spPr>
          <a:xfrm>
            <a:off x="1004330" y="2463070"/>
            <a:ext cx="10889267" cy="22336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DFF33BC-21D6-16B0-C505-3CEE5CDF6D13}"/>
              </a:ext>
            </a:extLst>
          </p:cNvPr>
          <p:cNvSpPr txBox="1"/>
          <p:nvPr userDrawn="1"/>
        </p:nvSpPr>
        <p:spPr>
          <a:xfrm>
            <a:off x="3072268" y="679697"/>
            <a:ext cx="87534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0" kern="1200" dirty="0">
                <a:solidFill>
                  <a:srgbClr val="009DBB"/>
                </a:solidFill>
                <a:latin typeface="+mj-lt"/>
                <a:ea typeface="+mj-ea"/>
                <a:cs typeface="+mj-cs"/>
              </a:rPr>
              <a:t>Workflow</a:t>
            </a:r>
            <a:endParaRPr lang="en-IL" sz="4400" b="0" kern="1200" dirty="0">
              <a:solidFill>
                <a:srgbClr val="009DBB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12383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EEDABD8-1012-46AD-89C2-C8E4E06DB9B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375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9C71F-AAAB-425C-B1EA-7A7182DF4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FA75E-5AAA-412B-BAE0-CF5F86B37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0143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198C1-7EB5-4CA4-98A0-2833A18F30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1014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65D1C-C98B-44F5-AB2A-FEE3E85D0A94}" type="datetime8">
              <a:rPr lang="he-IL" smtClean="0"/>
              <a:t>25 פברואר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97CC5-2317-4D8E-8C89-E7B89F4BE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10543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048FF-C291-43F3-A9DD-3B48AE56F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8704" y="6476841"/>
            <a:ext cx="4522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1D43D3-8C77-B77A-1D9D-8CDC43D8429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957" y="6139952"/>
            <a:ext cx="2642865" cy="7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35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9DB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zenodo.org/records/14189193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 descr="A green object on a black surface&#10;&#10;Description automatically generated with low confidence">
            <a:extLst>
              <a:ext uri="{FF2B5EF4-FFF2-40B4-BE49-F238E27FC236}">
                <a16:creationId xmlns:a16="http://schemas.microsoft.com/office/drawing/2014/main" id="{3CB67A20-DF50-FA5C-9F89-051979AEC2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16" r="11818" b="26261"/>
          <a:stretch/>
        </p:blipFill>
        <p:spPr>
          <a:xfrm>
            <a:off x="4547937" y="0"/>
            <a:ext cx="7644062" cy="36567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F2EE9F-F796-A6BB-3045-695978EABEE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830" r="-1" b="7292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220BDD-53D9-474C-9782-2415C685D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956582"/>
            <a:ext cx="5395912" cy="1724819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Backbone Graph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553B468-8035-4F27-9A10-D7A4E7C75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824627"/>
            <a:ext cx="4089399" cy="1917801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prstClr val="white"/>
                </a:solidFill>
              </a:rPr>
              <a:t>25.02.2026</a:t>
            </a:r>
          </a:p>
          <a:p>
            <a:r>
              <a:rPr lang="en-US" dirty="0"/>
              <a:t>Amit Ner Gaon, Noa Tal</a:t>
            </a:r>
          </a:p>
          <a:p>
            <a:r>
              <a:rPr lang="en-US" dirty="0"/>
              <a:t>Prof. Rami </a:t>
            </a:r>
            <a:r>
              <a:rPr lang="en-US" dirty="0" err="1"/>
              <a:t>Puzis</a:t>
            </a:r>
            <a:endParaRPr lang="en-IL" dirty="0"/>
          </a:p>
          <a:p>
            <a:endParaRPr lang="en-US" b="1" dirty="0">
              <a:solidFill>
                <a:prstClr val="white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E9033-B890-41F0-A499-F7F83D1F0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E6AB8EDD-9EF2-4633-A1C2-4D908C1019B4}" type="slidenum">
              <a:rPr kumimoji="0" lang="he-IL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he-IL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8" name="Title 4">
            <a:extLst>
              <a:ext uri="{FF2B5EF4-FFF2-40B4-BE49-F238E27FC236}">
                <a16:creationId xmlns:a16="http://schemas.microsoft.com/office/drawing/2014/main" id="{6D84A53B-A147-EEC0-9D81-D931915B4D17}"/>
              </a:ext>
            </a:extLst>
          </p:cNvPr>
          <p:cNvSpPr txBox="1">
            <a:spLocks/>
          </p:cNvSpPr>
          <p:nvPr/>
        </p:nvSpPr>
        <p:spPr>
          <a:xfrm>
            <a:off x="838200" y="3706020"/>
            <a:ext cx="3138714" cy="62546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8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DE9F95-0435-3A81-61D6-23ED74B595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3" y="0"/>
            <a:ext cx="2642865" cy="7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60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54D25-02A9-78EB-690B-D93ACC2A9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C47FB-3B8E-1F68-D6EB-C3B6C0E7B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Core Concepts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68C5A-EA8F-5CB7-FF7C-6442F88DB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2</a:t>
            </a:fld>
            <a:endParaRPr lang="he-IL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16D549A-CC57-1C2C-A976-5DA7CC5B82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2782491"/>
              </p:ext>
            </p:extLst>
          </p:nvPr>
        </p:nvGraphicFramePr>
        <p:xfrm>
          <a:off x="1243087" y="1825625"/>
          <a:ext cx="10582656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4283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FA5E6-67A6-5CC2-AA8C-8AEBAB88B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3</a:t>
            </a:fld>
            <a:endParaRPr lang="he-IL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828567-A0B2-4EE2-B776-601A30421946}"/>
              </a:ext>
            </a:extLst>
          </p:cNvPr>
          <p:cNvSpPr/>
          <p:nvPr/>
        </p:nvSpPr>
        <p:spPr>
          <a:xfrm>
            <a:off x="4140242" y="5342117"/>
            <a:ext cx="2117124" cy="6425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Boost Author Selection</a:t>
            </a:r>
            <a:endParaRPr lang="en-IL" sz="14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D202656-0FAA-3E0A-1841-9E488B105D79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6257366" y="4446494"/>
            <a:ext cx="869575" cy="12168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AF861B9-33A2-CCAC-A0E0-6075D8434240}"/>
              </a:ext>
            </a:extLst>
          </p:cNvPr>
          <p:cNvSpPr txBox="1"/>
          <p:nvPr/>
        </p:nvSpPr>
        <p:spPr>
          <a:xfrm>
            <a:off x="6625161" y="5030238"/>
            <a:ext cx="13345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Boost workflow to be decided</a:t>
            </a:r>
            <a:endParaRPr lang="en-IL" sz="1400" dirty="0"/>
          </a:p>
        </p:txBody>
      </p:sp>
    </p:spTree>
    <p:extLst>
      <p:ext uri="{BB962C8B-B14F-4D97-AF65-F5344CB8AC3E}">
        <p14:creationId xmlns:p14="http://schemas.microsoft.com/office/powerpoint/2010/main" val="2852582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51D72-4134-AB7E-1B0A-64CFD080E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590" y="398183"/>
            <a:ext cx="8753475" cy="1325563"/>
          </a:xfrm>
        </p:spPr>
        <p:txBody>
          <a:bodyPr>
            <a:normAutofit/>
          </a:bodyPr>
          <a:lstStyle/>
          <a:p>
            <a:r>
              <a:rPr lang="en-US" dirty="0"/>
              <a:t>Datasets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44F5D-1213-B7D4-11B6-681FD5C86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4</a:t>
            </a:fld>
            <a:endParaRPr lang="he-IL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CB54C2-7A31-3765-2BD6-58614883B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053291"/>
              </p:ext>
            </p:extLst>
          </p:nvPr>
        </p:nvGraphicFramePr>
        <p:xfrm>
          <a:off x="1296561" y="1594306"/>
          <a:ext cx="10601378" cy="5227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00689">
                  <a:extLst>
                    <a:ext uri="{9D8B030D-6E8A-4147-A177-3AD203B41FA5}">
                      <a16:colId xmlns:a16="http://schemas.microsoft.com/office/drawing/2014/main" val="2664862571"/>
                    </a:ext>
                  </a:extLst>
                </a:gridCol>
                <a:gridCol w="5300689">
                  <a:extLst>
                    <a:ext uri="{9D8B030D-6E8A-4147-A177-3AD203B41FA5}">
                      <a16:colId xmlns:a16="http://schemas.microsoft.com/office/drawing/2014/main" val="2429324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2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GB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Labeled </a:t>
                      </a: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IO Corpus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Collection of 26 information operation (IO).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Campaigns from multiple countries.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Fully labeled (IO vs. Control accounts).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hlinkClick r:id="rId3"/>
                        </a:rPr>
                        <a:t>https://zenodo.org/records/14189193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b="1" u="sng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Ecuador Campaign Subset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787 IO accounts | 21,138 Control accounts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700K IO tweets | 770K Control tweets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 2024 Election Dataset</a:t>
                      </a:r>
                    </a:p>
                    <a:p>
                      <a:pPr marL="0" indent="0">
                        <a:buNone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Clean dataset.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42,211,159 tweets.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January 1 – December 31, 2024.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b="1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Key Timeline Events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Jul 13 – Attempted assassination of Donald Trump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Jul 21 – Joe Biden withdrew from presidential race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Aug 5 – Kamala Harris formally nominated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Nov 5 – Election Day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Nov 6 – Election results announced</a:t>
                      </a:r>
                    </a:p>
                    <a:p>
                      <a:endParaRPr lang="en-IL" b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I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987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5155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AF6C1-AB65-35BD-8133-F3F29DB90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Terms &amp; Definitions - IO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1FA6F-2F61-214E-F20E-E15E3A7E9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Information Operation (IO):</a:t>
            </a:r>
            <a:r>
              <a:rPr lang="en-GB" dirty="0"/>
              <a:t> A collection of publications by coordinated actors pursuing a shared intent while misleading others.</a:t>
            </a:r>
          </a:p>
          <a:p>
            <a:pPr fontAlgn="base"/>
            <a:r>
              <a:rPr lang="en-GB" b="1" dirty="0"/>
              <a:t>IO Driver:</a:t>
            </a:r>
            <a:r>
              <a:rPr lang="en-GB" dirty="0"/>
              <a:t> An account that promotes one or more IO.</a:t>
            </a:r>
          </a:p>
          <a:p>
            <a:pPr fontAlgn="base"/>
            <a:r>
              <a:rPr lang="en-GB" b="1" dirty="0"/>
              <a:t>Author ‘s IO Label:</a:t>
            </a:r>
            <a:r>
              <a:rPr lang="en-GB" dirty="0"/>
              <a:t> label =  1 if the author is a IO Driver and label = 0 if not.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42458-50C9-BF06-3967-CE25C3C30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92892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F5D21-FEAA-6801-6A47-D72173FC7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8C365-C8A0-2A99-D1C2-5872EAA4D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Terms &amp; Definitions - Key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F7DE5-3E08-EDD2-0E70-2E2FD9E3B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Key Author:</a:t>
            </a:r>
            <a:r>
              <a:rPr lang="en-GB" dirty="0"/>
              <a:t> An author who is a leading participant in one or more topic(s).</a:t>
            </a:r>
          </a:p>
          <a:p>
            <a:r>
              <a:rPr lang="en-GB" b="1" dirty="0"/>
              <a:t>Author-Topic Key Score: </a:t>
            </a:r>
            <a:r>
              <a:rPr lang="en-GB" dirty="0"/>
              <a:t>A measure of how strongly an author is associated with a topic, emphasizing topic-specific content. It is calculated based on the use of topic-related entities (e.g., hashtags, mentions, URLs) in the author’s posts.</a:t>
            </a:r>
            <a:endParaRPr lang="en-GB" b="1" dirty="0"/>
          </a:p>
          <a:p>
            <a:r>
              <a:rPr lang="en-GB" b="1" dirty="0"/>
              <a:t>Author Key Score: </a:t>
            </a:r>
            <a:r>
              <a:rPr lang="en-GB" dirty="0"/>
              <a:t>sum of the </a:t>
            </a:r>
            <a:r>
              <a:rPr lang="en-GB" i="1" dirty="0"/>
              <a:t>Author-Topic Key Score </a:t>
            </a:r>
            <a:r>
              <a:rPr lang="en-GB" dirty="0"/>
              <a:t>across all topics</a:t>
            </a:r>
            <a:r>
              <a:rPr lang="en-GB" i="1" dirty="0"/>
              <a:t>.</a:t>
            </a:r>
          </a:p>
          <a:p>
            <a:endParaRPr lang="en-GB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43EF8-3FAF-E450-9AAA-2FA80E88E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90370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31453-5316-D9B7-938F-2E71B0F52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A4D6C-06E1-D2FD-D6D7-A5B2B115A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Terms &amp; Definitions - </a:t>
            </a:r>
            <a:r>
              <a:rPr lang="en-GB" dirty="0"/>
              <a:t>Boost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613BB-A790-CA2A-55AD-2E034BEFF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Boost author: </a:t>
            </a:r>
            <a:r>
              <a:rPr lang="en-GB" dirty="0"/>
              <a:t>An author whose activity is followed by a significant increase pattern in discussion activity.</a:t>
            </a:r>
          </a:p>
          <a:p>
            <a:r>
              <a:rPr lang="en-GB" b="1" dirty="0"/>
              <a:t>Author`s Boost Score: </a:t>
            </a:r>
            <a:r>
              <a:rPr lang="en-GB" dirty="0"/>
              <a:t>A quantitative measure calculated as the cumulative burst weights associated with a user's activity, based on discussion volume increases occurring shortly after the user posts or contributes.</a:t>
            </a:r>
          </a:p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0B6C7-B0F5-46CB-5DE4-36B539A76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75685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0CF04-DED3-2E08-8761-891A60FEF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Indicators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18744-AA3F-0C94-68C3-B98E69E97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4"/>
            <a:ext cx="10582656" cy="4879976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 err="1"/>
              <a:t>Tfidf</a:t>
            </a:r>
            <a:r>
              <a:rPr lang="en-GB" b="1" dirty="0"/>
              <a:t> sum: </a:t>
            </a:r>
            <a:r>
              <a:rPr lang="en-GB" dirty="0"/>
              <a:t>The sum of the all the per-topic </a:t>
            </a:r>
            <a:r>
              <a:rPr lang="en-GB" dirty="0" err="1"/>
              <a:t>tdidf</a:t>
            </a:r>
            <a:r>
              <a:rPr lang="en-GB" dirty="0"/>
              <a:t> score. How much the author is a leading participant in the topics.</a:t>
            </a:r>
          </a:p>
          <a:p>
            <a:r>
              <a:rPr lang="en-GB" b="1" dirty="0"/>
              <a:t>K-core: </a:t>
            </a:r>
            <a:r>
              <a:rPr lang="en-GB" dirty="0"/>
              <a:t>Indicates how deeply embedded a user is within the dense group.</a:t>
            </a:r>
          </a:p>
          <a:p>
            <a:r>
              <a:rPr lang="en-GB" b="1" dirty="0" err="1"/>
              <a:t>Pagerank</a:t>
            </a:r>
            <a:r>
              <a:rPr lang="en-GB" b="1" dirty="0"/>
              <a:t>: </a:t>
            </a:r>
            <a:r>
              <a:rPr lang="en-GB" dirty="0"/>
              <a:t>Estimates a user’s overall importance based on how many important users connect to them.</a:t>
            </a:r>
          </a:p>
          <a:p>
            <a:r>
              <a:rPr lang="en-GB" b="1" dirty="0"/>
              <a:t>Clustering: </a:t>
            </a:r>
            <a:r>
              <a:rPr lang="en-GB" dirty="0"/>
              <a:t>Measures how tightly connected a user’s </a:t>
            </a:r>
            <a:r>
              <a:rPr lang="en-GB" dirty="0" err="1"/>
              <a:t>neighbors</a:t>
            </a:r>
            <a:r>
              <a:rPr lang="en-GB" dirty="0"/>
              <a:t> are to each other.</a:t>
            </a:r>
          </a:p>
          <a:p>
            <a:r>
              <a:rPr lang="en-GB" b="1" dirty="0"/>
              <a:t>Square clustering: </a:t>
            </a:r>
            <a:r>
              <a:rPr lang="en-GB" dirty="0"/>
              <a:t>Measures how often a user participates in tightly connected small group structures.</a:t>
            </a:r>
          </a:p>
          <a:p>
            <a:r>
              <a:rPr lang="en-GB" b="1" dirty="0"/>
              <a:t>Degree centrality: </a:t>
            </a:r>
            <a:r>
              <a:rPr lang="en-GB" dirty="0"/>
              <a:t>Counts how many direct connections a user has.</a:t>
            </a:r>
          </a:p>
          <a:p>
            <a:r>
              <a:rPr lang="en-GB" b="1" dirty="0"/>
              <a:t>Eigenvector centrality: </a:t>
            </a:r>
            <a:r>
              <a:rPr lang="en-GB" dirty="0"/>
              <a:t>Shows whether a user is connected to other high-scoring users.</a:t>
            </a:r>
          </a:p>
          <a:p>
            <a:r>
              <a:rPr lang="en-GB" b="1" dirty="0"/>
              <a:t>Harmonic centrality: </a:t>
            </a:r>
            <a:r>
              <a:rPr lang="en-GB" dirty="0"/>
              <a:t>Reflects how easily a user can reach many others in the network.</a:t>
            </a:r>
          </a:p>
          <a:p>
            <a:r>
              <a:rPr lang="en-GB" b="1" dirty="0"/>
              <a:t>Betweenness centrality: </a:t>
            </a:r>
            <a:r>
              <a:rPr lang="en-GB" dirty="0"/>
              <a:t>measures how frequently a node appears on the shortest path between other,</a:t>
            </a:r>
          </a:p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9E058-D5C2-C2B9-04B1-D7B341490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77267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DE0B1-1510-BD51-12C5-AAE4378E0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A2FB8-3586-DCB1-9835-9AF102E7B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Entities Reuse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462FE-4391-91F2-0258-7ED788DD2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8806" y="1874263"/>
            <a:ext cx="10582656" cy="4879976"/>
          </a:xfrm>
        </p:spPr>
        <p:txBody>
          <a:bodyPr>
            <a:normAutofit/>
          </a:bodyPr>
          <a:lstStyle/>
          <a:p>
            <a:r>
              <a:rPr lang="en-GB" b="1" dirty="0"/>
              <a:t>Reuse entities</a:t>
            </a:r>
            <a:r>
              <a:rPr lang="en-GB" dirty="0"/>
              <a:t> are entities (e.g., hashtags, URLs, mentions, keywords) that appear in a post and were previously used by other posts within a defined time window.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Collums in </a:t>
            </a:r>
            <a:r>
              <a:rPr lang="en-GB" dirty="0" err="1"/>
              <a:t>df</a:t>
            </a:r>
            <a:r>
              <a:rPr lang="en-GB" dirty="0"/>
              <a:t>:</a:t>
            </a:r>
          </a:p>
          <a:p>
            <a:r>
              <a:rPr lang="en-GB" dirty="0"/>
              <a:t>&lt;</a:t>
            </a:r>
            <a:r>
              <a:rPr lang="en-GB" dirty="0" err="1"/>
              <a:t>entity_type</a:t>
            </a:r>
            <a:r>
              <a:rPr lang="en-GB" dirty="0"/>
              <a:t>&gt;_reuse_&lt;</a:t>
            </a:r>
            <a:r>
              <a:rPr lang="en-GB" dirty="0" err="1"/>
              <a:t>time_window</a:t>
            </a:r>
            <a:r>
              <a:rPr lang="en-GB" dirty="0"/>
              <a:t>&gt;_</a:t>
            </a:r>
            <a:r>
              <a:rPr lang="en-GB" dirty="0" err="1"/>
              <a:t>postids</a:t>
            </a:r>
            <a:r>
              <a:rPr lang="en-GB" dirty="0"/>
              <a:t> | list | Earlier posts within a &lt;</a:t>
            </a:r>
            <a:r>
              <a:rPr lang="en-GB" dirty="0" err="1"/>
              <a:t>time_window</a:t>
            </a:r>
            <a:r>
              <a:rPr lang="en-GB" dirty="0"/>
              <a:t>&gt; that share at least one entity. </a:t>
            </a:r>
          </a:p>
          <a:p>
            <a:r>
              <a:rPr lang="en-GB" dirty="0"/>
              <a:t>&lt;entity_ type &gt;_reuse_&lt;</a:t>
            </a:r>
            <a:r>
              <a:rPr lang="en-GB" dirty="0" err="1"/>
              <a:t>time_window</a:t>
            </a:r>
            <a:r>
              <a:rPr lang="en-GB" dirty="0"/>
              <a:t>&gt;_</a:t>
            </a:r>
            <a:r>
              <a:rPr lang="en-GB" dirty="0" err="1"/>
              <a:t>accountids</a:t>
            </a:r>
            <a:r>
              <a:rPr lang="en-GB" dirty="0"/>
              <a:t> | list | Account ids of the authors of the relevant posts.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62AAE-1A5F-FA44-F631-4F509D671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06348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91C6A-7DFD-48BC-950E-F39CE739C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695EE-9CFE-6810-D3AA-9F86967F3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Entities Reuse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A39B9-D9B9-B577-0165-5767DA9D1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8806" y="1874263"/>
            <a:ext cx="10582656" cy="48799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The first post is the sampled post with reused hashtags, followed by the posts that the post use their hashtags within the 4D.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C0E68-27B8-2FB7-435D-D7234384F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10</a:t>
            </a:fld>
            <a:endParaRPr lang="he-IL"/>
          </a:p>
        </p:txBody>
      </p:sp>
      <p:pic>
        <p:nvPicPr>
          <p:cNvPr id="5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D521D8-4CDC-9A72-1D81-50A632987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746519"/>
            <a:ext cx="10582656" cy="3523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278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11586</TotalTime>
  <Words>797</Words>
  <Application>Microsoft Office PowerPoint</Application>
  <PresentationFormat>Widescreen</PresentationFormat>
  <Paragraphs>77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Backbone Graph</vt:lpstr>
      <vt:lpstr>Core Concepts</vt:lpstr>
      <vt:lpstr>PowerPoint Presentation</vt:lpstr>
      <vt:lpstr>Datasets</vt:lpstr>
      <vt:lpstr>Terms &amp; Definitions - IO</vt:lpstr>
      <vt:lpstr>Terms &amp; Definitions - Key</vt:lpstr>
      <vt:lpstr>Terms &amp; Definitions - Boost</vt:lpstr>
      <vt:lpstr>Indicators</vt:lpstr>
      <vt:lpstr>Entities Reuse</vt:lpstr>
      <vt:lpstr>Entities Reuse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Edita Grolman</dc:creator>
  <cp:lastModifiedBy>Amit Ner Gaon</cp:lastModifiedBy>
  <cp:revision>337</cp:revision>
  <dcterms:created xsi:type="dcterms:W3CDTF">2021-05-04T15:24:24Z</dcterms:created>
  <dcterms:modified xsi:type="dcterms:W3CDTF">2026-02-25T12:40:49Z</dcterms:modified>
</cp:coreProperties>
</file>