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1574" r:id="rId2"/>
    <p:sldId id="1581" r:id="rId3"/>
    <p:sldId id="1580" r:id="rId4"/>
    <p:sldId id="1596" r:id="rId5"/>
    <p:sldId id="1577" r:id="rId6"/>
    <p:sldId id="1582" r:id="rId7"/>
    <p:sldId id="1583" r:id="rId8"/>
    <p:sldId id="1591" r:id="rId9"/>
    <p:sldId id="1628" r:id="rId10"/>
    <p:sldId id="1613" r:id="rId11"/>
    <p:sldId id="1631" r:id="rId12"/>
    <p:sldId id="1632" r:id="rId13"/>
    <p:sldId id="1634" r:id="rId14"/>
    <p:sldId id="1633" r:id="rId15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81"/>
            <p14:sldId id="1580"/>
            <p14:sldId id="1596"/>
            <p14:sldId id="1577"/>
            <p14:sldId id="1582"/>
            <p14:sldId id="1583"/>
            <p14:sldId id="1591"/>
            <p14:sldId id="1628"/>
            <p14:sldId id="1613"/>
            <p14:sldId id="1631"/>
            <p14:sldId id="1632"/>
            <p14:sldId id="1634"/>
            <p14:sldId id="16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ADD07-83FC-412A-AFCA-54ED7AB8B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0BF6AF-D097-451B-B004-3E4F0E0AEEB9}">
      <dgm:prSet/>
      <dgm:spPr/>
      <dgm:t>
        <a:bodyPr/>
        <a:lstStyle/>
        <a:p>
          <a:pPr rtl="0"/>
          <a:r>
            <a:rPr lang="en-GB" dirty="0"/>
            <a:t>Hypothesis: </a:t>
          </a:r>
        </a:p>
        <a:p>
          <a:pPr rtl="0"/>
          <a:r>
            <a:rPr lang="en-GB" dirty="0"/>
            <a:t>Successful information operation </a:t>
          </a:r>
          <a:r>
            <a:rPr lang="en-GB" b="0" dirty="0"/>
            <a:t>drivers</a:t>
          </a:r>
          <a:r>
            <a:rPr lang="en-GB" dirty="0"/>
            <a:t> </a:t>
          </a:r>
          <a:r>
            <a:rPr lang="en-GB" b="1" dirty="0"/>
            <a:t>lead topic-level discourse </a:t>
          </a:r>
          <a:r>
            <a:rPr lang="en-GB" dirty="0"/>
            <a:t>and act in </a:t>
          </a:r>
          <a:r>
            <a:rPr lang="en-GB" b="1" dirty="0"/>
            <a:t>coordination</a:t>
          </a:r>
          <a:r>
            <a:rPr lang="en-GB" dirty="0"/>
            <a:t> with other drivers. </a:t>
          </a:r>
          <a:endParaRPr lang="en-US" dirty="0"/>
        </a:p>
      </dgm:t>
    </dgm:pt>
    <dgm:pt modelId="{1B3DA8FE-615C-4CAD-AD1A-83C4D5C3B18E}" type="parTrans" cxnId="{C0F4BB65-B1A1-46FC-8E88-C5B7A3B5290C}">
      <dgm:prSet/>
      <dgm:spPr/>
      <dgm:t>
        <a:bodyPr/>
        <a:lstStyle/>
        <a:p>
          <a:endParaRPr lang="en-US"/>
        </a:p>
      </dgm:t>
    </dgm:pt>
    <dgm:pt modelId="{F3538FF5-C72C-4C84-89BC-6ECE192FF4F4}" type="sibTrans" cxnId="{C0F4BB65-B1A1-46FC-8E88-C5B7A3B5290C}">
      <dgm:prSet/>
      <dgm:spPr/>
      <dgm:t>
        <a:bodyPr/>
        <a:lstStyle/>
        <a:p>
          <a:endParaRPr lang="en-US"/>
        </a:p>
      </dgm:t>
    </dgm:pt>
    <dgm:pt modelId="{E39D2ACD-8A0D-4B01-833E-8042ACD0DB54}">
      <dgm:prSet/>
      <dgm:spPr/>
      <dgm:t>
        <a:bodyPr/>
        <a:lstStyle/>
        <a:p>
          <a:pPr rtl="0"/>
          <a:r>
            <a:rPr lang="en-GB" dirty="0"/>
            <a:t>Objectives:</a:t>
          </a:r>
        </a:p>
        <a:p>
          <a:pPr rtl="0"/>
          <a:r>
            <a:rPr lang="en-GB" dirty="0"/>
            <a:t>Author’s </a:t>
          </a:r>
          <a:r>
            <a:rPr lang="en-GB" b="1" dirty="0"/>
            <a:t>key score </a:t>
          </a:r>
          <a:r>
            <a:rPr lang="en-GB" b="0" dirty="0"/>
            <a:t>to </a:t>
          </a:r>
          <a:r>
            <a:rPr lang="en-GB" dirty="0"/>
            <a:t>quantify topic leadership. </a:t>
          </a:r>
        </a:p>
        <a:p>
          <a:pPr rtl="0"/>
          <a:r>
            <a:rPr lang="en-GB" b="1" dirty="0"/>
            <a:t>Backbone graph </a:t>
          </a:r>
          <a:r>
            <a:rPr lang="en-GB" b="0" dirty="0"/>
            <a:t>to </a:t>
          </a:r>
          <a:r>
            <a:rPr lang="en-GB" dirty="0"/>
            <a:t>capture coordination among key authors. </a:t>
          </a:r>
          <a:endParaRPr lang="en-US" dirty="0"/>
        </a:p>
      </dgm:t>
    </dgm:pt>
    <dgm:pt modelId="{50BCA0A0-F847-40B6-A29A-9E80CAFF435E}" type="parTrans" cxnId="{BCC7FBA5-3595-4076-A26A-50B09B66D361}">
      <dgm:prSet/>
      <dgm:spPr/>
      <dgm:t>
        <a:bodyPr/>
        <a:lstStyle/>
        <a:p>
          <a:endParaRPr lang="en-US"/>
        </a:p>
      </dgm:t>
    </dgm:pt>
    <dgm:pt modelId="{06BACE1A-323F-4E92-90EF-7FB1DEFFCD2C}" type="sibTrans" cxnId="{BCC7FBA5-3595-4076-A26A-50B09B66D361}">
      <dgm:prSet/>
      <dgm:spPr/>
      <dgm:t>
        <a:bodyPr/>
        <a:lstStyle/>
        <a:p>
          <a:endParaRPr lang="en-US"/>
        </a:p>
      </dgm:t>
    </dgm:pt>
    <dgm:pt modelId="{2A8A38E9-53CA-44D5-8DFC-907932863099}">
      <dgm:prSet custT="1"/>
      <dgm:spPr/>
      <dgm:t>
        <a:bodyPr/>
        <a:lstStyle/>
        <a:p>
          <a:pPr rtl="0"/>
          <a:r>
            <a:rPr lang="en-GB" sz="1800" kern="1200" dirty="0"/>
            <a:t>Goal:</a:t>
          </a:r>
        </a:p>
        <a:p>
          <a:pPr rtl="0"/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gm:t>
    </dgm:pt>
    <dgm:pt modelId="{1C19421E-9F25-4C69-A119-786E9C23DCF0}" type="parTrans" cxnId="{3ACB8547-BA01-42D1-807F-761232340476}">
      <dgm:prSet/>
      <dgm:spPr/>
      <dgm:t>
        <a:bodyPr/>
        <a:lstStyle/>
        <a:p>
          <a:endParaRPr lang="en-US"/>
        </a:p>
      </dgm:t>
    </dgm:pt>
    <dgm:pt modelId="{DAD72EB5-E415-4649-A88F-D2A6BD457E78}" type="sibTrans" cxnId="{3ACB8547-BA01-42D1-807F-761232340476}">
      <dgm:prSet/>
      <dgm:spPr/>
      <dgm:t>
        <a:bodyPr/>
        <a:lstStyle/>
        <a:p>
          <a:endParaRPr lang="en-US"/>
        </a:p>
      </dgm:t>
    </dgm:pt>
    <dgm:pt modelId="{B49D8D80-4BEC-43F9-8332-FDD107B3F2C9}" type="pres">
      <dgm:prSet presAssocID="{551ADD07-83FC-412A-AFCA-54ED7AB8BDE9}" presName="root" presStyleCnt="0">
        <dgm:presLayoutVars>
          <dgm:dir/>
          <dgm:resizeHandles val="exact"/>
        </dgm:presLayoutVars>
      </dgm:prSet>
      <dgm:spPr/>
    </dgm:pt>
    <dgm:pt modelId="{234596F3-45E6-4A0B-84CB-CD7F1CEC7BB6}" type="pres">
      <dgm:prSet presAssocID="{920BF6AF-D097-451B-B004-3E4F0E0AEEB9}" presName="compNode" presStyleCnt="0"/>
      <dgm:spPr/>
    </dgm:pt>
    <dgm:pt modelId="{2C6B269B-04EF-4B77-8D34-4ED88A9CC619}" type="pres">
      <dgm:prSet presAssocID="{920BF6AF-D097-451B-B004-3E4F0E0AEEB9}" presName="bgRect" presStyleLbl="bgShp" presStyleIdx="0" presStyleCnt="3"/>
      <dgm:spPr/>
    </dgm:pt>
    <dgm:pt modelId="{AB766CAB-60EC-49F0-89A5-002DEB1DC9EC}" type="pres">
      <dgm:prSet presAssocID="{920BF6AF-D097-451B-B004-3E4F0E0AEE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fic Thought with solid fill"/>
        </a:ext>
      </dgm:extLst>
    </dgm:pt>
    <dgm:pt modelId="{0B721B38-D226-410F-BAC9-2D888665195E}" type="pres">
      <dgm:prSet presAssocID="{920BF6AF-D097-451B-B004-3E4F0E0AEEB9}" presName="spaceRect" presStyleCnt="0"/>
      <dgm:spPr/>
    </dgm:pt>
    <dgm:pt modelId="{3E637D1C-C465-4876-A83C-04C72BB5E998}" type="pres">
      <dgm:prSet presAssocID="{920BF6AF-D097-451B-B004-3E4F0E0AEEB9}" presName="parTx" presStyleLbl="revTx" presStyleIdx="0" presStyleCnt="3">
        <dgm:presLayoutVars>
          <dgm:chMax val="0"/>
          <dgm:chPref val="0"/>
        </dgm:presLayoutVars>
      </dgm:prSet>
      <dgm:spPr/>
    </dgm:pt>
    <dgm:pt modelId="{A0B18739-A66C-4214-A36E-80ABCD3F56E6}" type="pres">
      <dgm:prSet presAssocID="{F3538FF5-C72C-4C84-89BC-6ECE192FF4F4}" presName="sibTrans" presStyleCnt="0"/>
      <dgm:spPr/>
    </dgm:pt>
    <dgm:pt modelId="{E94B648F-B109-44D3-A362-5A7CD8456848}" type="pres">
      <dgm:prSet presAssocID="{E39D2ACD-8A0D-4B01-833E-8042ACD0DB54}" presName="compNode" presStyleCnt="0"/>
      <dgm:spPr/>
    </dgm:pt>
    <dgm:pt modelId="{02F5843F-E1CD-4550-87C4-36EB26BEC779}" type="pres">
      <dgm:prSet presAssocID="{E39D2ACD-8A0D-4B01-833E-8042ACD0DB54}" presName="bgRect" presStyleLbl="bgShp" presStyleIdx="1" presStyleCnt="3"/>
      <dgm:spPr/>
    </dgm:pt>
    <dgm:pt modelId="{9E158E14-3B86-4CC1-9750-95325F6E3EB0}" type="pres">
      <dgm:prSet presAssocID="{E39D2ACD-8A0D-4B01-833E-8042ACD0DB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F60FB6F8-463F-492D-AC38-859ADB965D33}" type="pres">
      <dgm:prSet presAssocID="{E39D2ACD-8A0D-4B01-833E-8042ACD0DB54}" presName="spaceRect" presStyleCnt="0"/>
      <dgm:spPr/>
    </dgm:pt>
    <dgm:pt modelId="{F428F88E-A70C-48F6-A66B-5274C025ABDE}" type="pres">
      <dgm:prSet presAssocID="{E39D2ACD-8A0D-4B01-833E-8042ACD0DB54}" presName="parTx" presStyleLbl="revTx" presStyleIdx="1" presStyleCnt="3">
        <dgm:presLayoutVars>
          <dgm:chMax val="0"/>
          <dgm:chPref val="0"/>
        </dgm:presLayoutVars>
      </dgm:prSet>
      <dgm:spPr/>
    </dgm:pt>
    <dgm:pt modelId="{F5E726E4-A878-457E-933C-BCEA315CA0C3}" type="pres">
      <dgm:prSet presAssocID="{06BACE1A-323F-4E92-90EF-7FB1DEFFCD2C}" presName="sibTrans" presStyleCnt="0"/>
      <dgm:spPr/>
    </dgm:pt>
    <dgm:pt modelId="{BD3B9828-9F25-45F0-995B-881D686D90DF}" type="pres">
      <dgm:prSet presAssocID="{2A8A38E9-53CA-44D5-8DFC-907932863099}" presName="compNode" presStyleCnt="0"/>
      <dgm:spPr/>
    </dgm:pt>
    <dgm:pt modelId="{85833E2F-A6EA-4B2D-BD32-529530AB4589}" type="pres">
      <dgm:prSet presAssocID="{2A8A38E9-53CA-44D5-8DFC-907932863099}" presName="bgRect" presStyleLbl="bgShp" presStyleIdx="2" presStyleCnt="3"/>
      <dgm:spPr/>
    </dgm:pt>
    <dgm:pt modelId="{847822B6-69AC-4972-8322-EB9ABE8D34B9}" type="pres">
      <dgm:prSet presAssocID="{2A8A38E9-53CA-44D5-8DFC-9079328630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 with solid fill"/>
        </a:ext>
      </dgm:extLst>
    </dgm:pt>
    <dgm:pt modelId="{DDA98E99-0ADD-4B53-8FFE-DE6E80B72A59}" type="pres">
      <dgm:prSet presAssocID="{2A8A38E9-53CA-44D5-8DFC-907932863099}" presName="spaceRect" presStyleCnt="0"/>
      <dgm:spPr/>
    </dgm:pt>
    <dgm:pt modelId="{7E1E5A94-5C6C-43EF-91F4-61637B702812}" type="pres">
      <dgm:prSet presAssocID="{2A8A38E9-53CA-44D5-8DFC-907932863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F4BB65-B1A1-46FC-8E88-C5B7A3B5290C}" srcId="{551ADD07-83FC-412A-AFCA-54ED7AB8BDE9}" destId="{920BF6AF-D097-451B-B004-3E4F0E0AEEB9}" srcOrd="0" destOrd="0" parTransId="{1B3DA8FE-615C-4CAD-AD1A-83C4D5C3B18E}" sibTransId="{F3538FF5-C72C-4C84-89BC-6ECE192FF4F4}"/>
    <dgm:cxn modelId="{3ACB8547-BA01-42D1-807F-761232340476}" srcId="{551ADD07-83FC-412A-AFCA-54ED7AB8BDE9}" destId="{2A8A38E9-53CA-44D5-8DFC-907932863099}" srcOrd="2" destOrd="0" parTransId="{1C19421E-9F25-4C69-A119-786E9C23DCF0}" sibTransId="{DAD72EB5-E415-4649-A88F-D2A6BD457E78}"/>
    <dgm:cxn modelId="{476DC380-D90B-4963-BA1D-EF004B8DFF9C}" type="presOf" srcId="{2A8A38E9-53CA-44D5-8DFC-907932863099}" destId="{7E1E5A94-5C6C-43EF-91F4-61637B702812}" srcOrd="0" destOrd="0" presId="urn:microsoft.com/office/officeart/2018/2/layout/IconVerticalSolidList"/>
    <dgm:cxn modelId="{BE2D088D-B685-4251-B03A-05C57EA6D1CA}" type="presOf" srcId="{E39D2ACD-8A0D-4B01-833E-8042ACD0DB54}" destId="{F428F88E-A70C-48F6-A66B-5274C025ABDE}" srcOrd="0" destOrd="0" presId="urn:microsoft.com/office/officeart/2018/2/layout/IconVerticalSolidList"/>
    <dgm:cxn modelId="{F98D408E-0BAD-4B33-9130-865164C21D5B}" type="presOf" srcId="{920BF6AF-D097-451B-B004-3E4F0E0AEEB9}" destId="{3E637D1C-C465-4876-A83C-04C72BB5E998}" srcOrd="0" destOrd="0" presId="urn:microsoft.com/office/officeart/2018/2/layout/IconVerticalSolidList"/>
    <dgm:cxn modelId="{BCC7FBA5-3595-4076-A26A-50B09B66D361}" srcId="{551ADD07-83FC-412A-AFCA-54ED7AB8BDE9}" destId="{E39D2ACD-8A0D-4B01-833E-8042ACD0DB54}" srcOrd="1" destOrd="0" parTransId="{50BCA0A0-F847-40B6-A29A-9E80CAFF435E}" sibTransId="{06BACE1A-323F-4E92-90EF-7FB1DEFFCD2C}"/>
    <dgm:cxn modelId="{AAF066BC-CAAA-4763-ADA3-D4F009CCE9A2}" type="presOf" srcId="{551ADD07-83FC-412A-AFCA-54ED7AB8BDE9}" destId="{B49D8D80-4BEC-43F9-8332-FDD107B3F2C9}" srcOrd="0" destOrd="0" presId="urn:microsoft.com/office/officeart/2018/2/layout/IconVerticalSolidList"/>
    <dgm:cxn modelId="{BCE67295-3472-4649-8578-5A2AF0877308}" type="presParOf" srcId="{B49D8D80-4BEC-43F9-8332-FDD107B3F2C9}" destId="{234596F3-45E6-4A0B-84CB-CD7F1CEC7BB6}" srcOrd="0" destOrd="0" presId="urn:microsoft.com/office/officeart/2018/2/layout/IconVerticalSolidList"/>
    <dgm:cxn modelId="{37B27883-AE4D-4F43-AAA9-364B1799A38D}" type="presParOf" srcId="{234596F3-45E6-4A0B-84CB-CD7F1CEC7BB6}" destId="{2C6B269B-04EF-4B77-8D34-4ED88A9CC619}" srcOrd="0" destOrd="0" presId="urn:microsoft.com/office/officeart/2018/2/layout/IconVerticalSolidList"/>
    <dgm:cxn modelId="{1FE31726-CE1A-4FF2-8F3A-3F6A8C1ECB72}" type="presParOf" srcId="{234596F3-45E6-4A0B-84CB-CD7F1CEC7BB6}" destId="{AB766CAB-60EC-49F0-89A5-002DEB1DC9EC}" srcOrd="1" destOrd="0" presId="urn:microsoft.com/office/officeart/2018/2/layout/IconVerticalSolidList"/>
    <dgm:cxn modelId="{D43CBF48-864E-42B2-B4C7-FEFD0C4EA1C1}" type="presParOf" srcId="{234596F3-45E6-4A0B-84CB-CD7F1CEC7BB6}" destId="{0B721B38-D226-410F-BAC9-2D888665195E}" srcOrd="2" destOrd="0" presId="urn:microsoft.com/office/officeart/2018/2/layout/IconVerticalSolidList"/>
    <dgm:cxn modelId="{F2616297-CF9C-4A9F-B438-8A02AF8EA604}" type="presParOf" srcId="{234596F3-45E6-4A0B-84CB-CD7F1CEC7BB6}" destId="{3E637D1C-C465-4876-A83C-04C72BB5E998}" srcOrd="3" destOrd="0" presId="urn:microsoft.com/office/officeart/2018/2/layout/IconVerticalSolidList"/>
    <dgm:cxn modelId="{021E74C0-B682-4A7C-9B3C-80BC6A1A451E}" type="presParOf" srcId="{B49D8D80-4BEC-43F9-8332-FDD107B3F2C9}" destId="{A0B18739-A66C-4214-A36E-80ABCD3F56E6}" srcOrd="1" destOrd="0" presId="urn:microsoft.com/office/officeart/2018/2/layout/IconVerticalSolidList"/>
    <dgm:cxn modelId="{5DD145BE-095B-4298-ADFC-8002C6AAD15E}" type="presParOf" srcId="{B49D8D80-4BEC-43F9-8332-FDD107B3F2C9}" destId="{E94B648F-B109-44D3-A362-5A7CD8456848}" srcOrd="2" destOrd="0" presId="urn:microsoft.com/office/officeart/2018/2/layout/IconVerticalSolidList"/>
    <dgm:cxn modelId="{96C74A1F-B98D-4223-A5E9-7277AE40F887}" type="presParOf" srcId="{E94B648F-B109-44D3-A362-5A7CD8456848}" destId="{02F5843F-E1CD-4550-87C4-36EB26BEC779}" srcOrd="0" destOrd="0" presId="urn:microsoft.com/office/officeart/2018/2/layout/IconVerticalSolidList"/>
    <dgm:cxn modelId="{37551C3B-A61E-40CD-95E6-06EC81BA6221}" type="presParOf" srcId="{E94B648F-B109-44D3-A362-5A7CD8456848}" destId="{9E158E14-3B86-4CC1-9750-95325F6E3EB0}" srcOrd="1" destOrd="0" presId="urn:microsoft.com/office/officeart/2018/2/layout/IconVerticalSolidList"/>
    <dgm:cxn modelId="{5B8E7111-26D5-45A9-A2C9-F67EC4DD4DD7}" type="presParOf" srcId="{E94B648F-B109-44D3-A362-5A7CD8456848}" destId="{F60FB6F8-463F-492D-AC38-859ADB965D33}" srcOrd="2" destOrd="0" presId="urn:microsoft.com/office/officeart/2018/2/layout/IconVerticalSolidList"/>
    <dgm:cxn modelId="{CAAC9538-3BDC-4D91-AC63-E046372345FF}" type="presParOf" srcId="{E94B648F-B109-44D3-A362-5A7CD8456848}" destId="{F428F88E-A70C-48F6-A66B-5274C025ABDE}" srcOrd="3" destOrd="0" presId="urn:microsoft.com/office/officeart/2018/2/layout/IconVerticalSolidList"/>
    <dgm:cxn modelId="{BB8A6ED7-F291-4709-814C-3DFCF74B0B5C}" type="presParOf" srcId="{B49D8D80-4BEC-43F9-8332-FDD107B3F2C9}" destId="{F5E726E4-A878-457E-933C-BCEA315CA0C3}" srcOrd="3" destOrd="0" presId="urn:microsoft.com/office/officeart/2018/2/layout/IconVerticalSolidList"/>
    <dgm:cxn modelId="{193E6BFC-A4A5-4A3B-BE91-424D6674F48E}" type="presParOf" srcId="{B49D8D80-4BEC-43F9-8332-FDD107B3F2C9}" destId="{BD3B9828-9F25-45F0-995B-881D686D90DF}" srcOrd="4" destOrd="0" presId="urn:microsoft.com/office/officeart/2018/2/layout/IconVerticalSolidList"/>
    <dgm:cxn modelId="{605738E7-7BB8-4D55-B283-D6BDF1D1C1C7}" type="presParOf" srcId="{BD3B9828-9F25-45F0-995B-881D686D90DF}" destId="{85833E2F-A6EA-4B2D-BD32-529530AB4589}" srcOrd="0" destOrd="0" presId="urn:microsoft.com/office/officeart/2018/2/layout/IconVerticalSolidList"/>
    <dgm:cxn modelId="{AD77C2DA-7E28-4367-8BE2-3300AC8794C3}" type="presParOf" srcId="{BD3B9828-9F25-45F0-995B-881D686D90DF}" destId="{847822B6-69AC-4972-8322-EB9ABE8D34B9}" srcOrd="1" destOrd="0" presId="urn:microsoft.com/office/officeart/2018/2/layout/IconVerticalSolidList"/>
    <dgm:cxn modelId="{833343CF-0F77-4BD0-9825-DC8C6C39F459}" type="presParOf" srcId="{BD3B9828-9F25-45F0-995B-881D686D90DF}" destId="{DDA98E99-0ADD-4B53-8FFE-DE6E80B72A59}" srcOrd="2" destOrd="0" presId="urn:microsoft.com/office/officeart/2018/2/layout/IconVerticalSolidList"/>
    <dgm:cxn modelId="{C9F44501-FBA1-4F35-B8A0-6554C28CFF8F}" type="presParOf" srcId="{BD3B9828-9F25-45F0-995B-881D686D90DF}" destId="{7E1E5A94-5C6C-43EF-91F4-61637B7028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69B-04EF-4B77-8D34-4ED88A9CC619}">
      <dsp:nvSpPr>
        <dsp:cNvPr id="0" name=""/>
        <dsp:cNvSpPr/>
      </dsp:nvSpPr>
      <dsp:spPr>
        <a:xfrm>
          <a:off x="0" y="53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66CAB-60EC-49F0-89A5-002DEB1DC9E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7D1C-C465-4876-A83C-04C72BB5E998}">
      <dsp:nvSpPr>
        <dsp:cNvPr id="0" name=""/>
        <dsp:cNvSpPr/>
      </dsp:nvSpPr>
      <dsp:spPr>
        <a:xfrm>
          <a:off x="1435590" y="53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Hypothesis: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Successful information operation </a:t>
          </a:r>
          <a:r>
            <a:rPr lang="en-GB" sz="1800" b="0" kern="1200" dirty="0"/>
            <a:t>drivers</a:t>
          </a:r>
          <a:r>
            <a:rPr lang="en-GB" sz="1800" kern="1200" dirty="0"/>
            <a:t> </a:t>
          </a:r>
          <a:r>
            <a:rPr lang="en-GB" sz="1800" b="1" kern="1200" dirty="0"/>
            <a:t>lead topic-level discourse </a:t>
          </a:r>
          <a:r>
            <a:rPr lang="en-GB" sz="1800" kern="1200" dirty="0"/>
            <a:t>and act in </a:t>
          </a:r>
          <a:r>
            <a:rPr lang="en-GB" sz="1800" b="1" kern="1200" dirty="0"/>
            <a:t>coordination</a:t>
          </a:r>
          <a:r>
            <a:rPr lang="en-GB" sz="1800" kern="1200" dirty="0"/>
            <a:t> with other drivers. </a:t>
          </a:r>
          <a:endParaRPr lang="en-US" sz="1800" kern="1200" dirty="0"/>
        </a:p>
      </dsp:txBody>
      <dsp:txXfrm>
        <a:off x="1435590" y="531"/>
        <a:ext cx="9147065" cy="1242935"/>
      </dsp:txXfrm>
    </dsp:sp>
    <dsp:sp modelId="{02F5843F-E1CD-4550-87C4-36EB26BEC779}">
      <dsp:nvSpPr>
        <dsp:cNvPr id="0" name=""/>
        <dsp:cNvSpPr/>
      </dsp:nvSpPr>
      <dsp:spPr>
        <a:xfrm>
          <a:off x="0" y="155420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58E14-3B86-4CC1-9750-95325F6E3E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F88E-A70C-48F6-A66B-5274C025ABDE}">
      <dsp:nvSpPr>
        <dsp:cNvPr id="0" name=""/>
        <dsp:cNvSpPr/>
      </dsp:nvSpPr>
      <dsp:spPr>
        <a:xfrm>
          <a:off x="1435590" y="155420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Objectives: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Author’s </a:t>
          </a:r>
          <a:r>
            <a:rPr lang="en-GB" sz="1800" b="1" kern="1200" dirty="0"/>
            <a:t>key score </a:t>
          </a:r>
          <a:r>
            <a:rPr lang="en-GB" sz="1800" b="0" kern="1200" dirty="0"/>
            <a:t>to </a:t>
          </a:r>
          <a:r>
            <a:rPr lang="en-GB" sz="1800" kern="1200" dirty="0"/>
            <a:t>quantify topic leadership.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Backbone graph </a:t>
          </a:r>
          <a:r>
            <a:rPr lang="en-GB" sz="1800" b="0" kern="1200" dirty="0"/>
            <a:t>to </a:t>
          </a:r>
          <a:r>
            <a:rPr lang="en-GB" sz="1800" kern="1200" dirty="0"/>
            <a:t>capture coordination among key authors. </a:t>
          </a:r>
          <a:endParaRPr lang="en-US" sz="1800" kern="1200" dirty="0"/>
        </a:p>
      </dsp:txBody>
      <dsp:txXfrm>
        <a:off x="1435590" y="1554201"/>
        <a:ext cx="9147065" cy="1242935"/>
      </dsp:txXfrm>
    </dsp:sp>
    <dsp:sp modelId="{85833E2F-A6EA-4B2D-BD32-529530AB4589}">
      <dsp:nvSpPr>
        <dsp:cNvPr id="0" name=""/>
        <dsp:cNvSpPr/>
      </dsp:nvSpPr>
      <dsp:spPr>
        <a:xfrm>
          <a:off x="0" y="3107870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22B6-69AC-4972-8322-EB9ABE8D34B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5A94-5C6C-43EF-91F4-61637B702812}">
      <dsp:nvSpPr>
        <dsp:cNvPr id="0" name=""/>
        <dsp:cNvSpPr/>
      </dsp:nvSpPr>
      <dsp:spPr>
        <a:xfrm>
          <a:off x="1435590" y="3107870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Goal: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sp:txBody>
      <dsp:txXfrm>
        <a:off x="1435590" y="3107870"/>
        <a:ext cx="9147065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י"ט/אדר/תשפ"ו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[1]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Seckin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 C., Pote, M.,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 C., Yin, L.,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Flammini, A., &amp; Menczer, F. (2025, June). Labeled datasets for research on information operations.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International AAAI Conference on Web and Social Media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(Vol. 19, pp. 2567-2574).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Balasubramanian, A., Zou, V., Narayana, H., You, C.,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&amp; Ferrara, E. (2024). A public dataset tracking social media discourse about the 2024 us presidential election on twitter/x.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preprint arXiv:2411.00376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209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73ED-A99E-1255-DF0A-F46C0A3F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8042E-74BF-F12B-EB05-B5A12A791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9362C-8306-7A0F-CDF5-AFC8289AE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DC18-E9C8-4ECA-7039-35E23F9D9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723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08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08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08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08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08 מרץ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08 מרץ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08 מרץ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08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08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08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08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08 מרץ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08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418919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08.03.2026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4D25-02A9-78EB-690B-D93ACC2A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47FB-3B8E-1F68-D6EB-C3B6C0E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Core 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8C5A-EA8F-5CB7-FF7C-6442F88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6D549A-CC57-1C2C-A976-5DA7CC5B8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926029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28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A5E6-67A6-5CC2-AA8C-8AEBAB88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28567-A0B2-4EE2-B776-601A30421946}"/>
              </a:ext>
            </a:extLst>
          </p:cNvPr>
          <p:cNvSpPr/>
          <p:nvPr/>
        </p:nvSpPr>
        <p:spPr>
          <a:xfrm>
            <a:off x="3932608" y="5410867"/>
            <a:ext cx="2149642" cy="6425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Boost Author Selection</a:t>
            </a:r>
            <a:endParaRPr lang="en-IL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202656-0FAA-3E0A-1841-9E488B105D7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082250" y="4455122"/>
            <a:ext cx="834189" cy="12770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F861B9-33A2-CCAC-A0E0-6075D8434240}"/>
              </a:ext>
            </a:extLst>
          </p:cNvPr>
          <p:cNvSpPr txBox="1"/>
          <p:nvPr/>
        </p:nvSpPr>
        <p:spPr>
          <a:xfrm>
            <a:off x="6625161" y="5030238"/>
            <a:ext cx="1334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Boost workflow to be decided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85258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1D72-4134-AB7E-1B0A-64CFD080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590" y="398183"/>
            <a:ext cx="8753475" cy="1325563"/>
          </a:xfrm>
        </p:spPr>
        <p:txBody>
          <a:bodyPr>
            <a:norm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4F5D-1213-B7D4-11B6-681FD5C8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B54C2-7A31-3765-2BD6-58614883B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53291"/>
              </p:ext>
            </p:extLst>
          </p:nvPr>
        </p:nvGraphicFramePr>
        <p:xfrm>
          <a:off x="1296561" y="1594306"/>
          <a:ext cx="10601378" cy="522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0689">
                  <a:extLst>
                    <a:ext uri="{9D8B030D-6E8A-4147-A177-3AD203B41FA5}">
                      <a16:colId xmlns:a16="http://schemas.microsoft.com/office/drawing/2014/main" val="2664862571"/>
                    </a:ext>
                  </a:extLst>
                </a:gridCol>
                <a:gridCol w="5300689">
                  <a:extLst>
                    <a:ext uri="{9D8B030D-6E8A-4147-A177-3AD203B41FA5}">
                      <a16:colId xmlns:a16="http://schemas.microsoft.com/office/drawing/2014/main" val="2429324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Labeled </a:t>
                      </a: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 Corpus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Collection of 26 information operation (IO).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Campaigns from multiple countries.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Fully labeled (IO vs. Control accounts).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hlinkClick r:id="rId3"/>
                        </a:rPr>
                        <a:t>https://zenodo.org/records/14189193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Ecuador Campaign Subset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787 IO accounts | 21,138 Control accounts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700K IO tweets | 770K Control tweets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 2024 Election Dataset</a:t>
                      </a:r>
                    </a:p>
                    <a:p>
                      <a:pPr marL="0" indent="0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Clean dataset.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42,211,159 tweets.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January 1 – December 31, 2024.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 Timeline Events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Jul 13 – Attempted assassination of Donald Trump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Jul 21 – Joe Biden withdrew from presidential race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Aug 5 – Kamala Harris formally nominated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Nov 5 – Election Day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Nov 6 – Election results announced</a:t>
                      </a: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98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15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1453-5316-D9B7-938F-2E71B0F5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D6C-06E1-D2FD-D6D7-A5B2B115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</a:t>
            </a:r>
            <a:r>
              <a:rPr lang="en-GB" dirty="0"/>
              <a:t>Boost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13BB-A790-CA2A-55AD-2E034BEFF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Boost author: </a:t>
            </a:r>
            <a:r>
              <a:rPr lang="en-GB" dirty="0"/>
              <a:t>An author whose activity is followed by a significant increase in discussion activity.</a:t>
            </a:r>
          </a:p>
          <a:p>
            <a:r>
              <a:rPr lang="en-GB" b="1" dirty="0"/>
              <a:t>Author`s Boost Score: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0B6C7-B0F5-46CB-5DE4-36B539A7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68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Key authors.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Represent behavioural similarity, based on co-actions (e.g. same hashtag usage, repos)</a:t>
            </a:r>
          </a:p>
          <a:p>
            <a:r>
              <a:rPr lang="en-GB" sz="2800" b="1" dirty="0"/>
              <a:t>Edges’ Weights:</a:t>
            </a:r>
            <a:r>
              <a:rPr lang="en-GB" sz="2800" dirty="0"/>
              <a:t> The number of the occurrences of co-actions 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Represent the discussion structure and expose signals of coordinated behaviour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  <a:p>
            <a:r>
              <a:rPr lang="en-GB" b="1" dirty="0"/>
              <a:t>Key score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>
                <a:highlight>
                  <a:srgbClr val="FFFF00"/>
                </a:highlight>
              </a:rPr>
              <a:t>Key score dominance: </a:t>
            </a:r>
            <a:r>
              <a:rPr lang="en-GB" dirty="0">
                <a:highlight>
                  <a:srgbClr val="FFFF00"/>
                </a:highlight>
              </a:rPr>
              <a:t>Max score divided by total score. Higher values indicate the author mostly write in specific(s) topic(s).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EF17-A85B-69A7-4947-96097D1A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2D88-5AB1-052E-FB13-E091040F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5DFBC-E283-482F-07BA-A333B910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pic>
        <p:nvPicPr>
          <p:cNvPr id="8" name="Content Placeholder 7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66A4053E-AB18-5F2F-D1F0-F2B2E5298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2" t="3063" r="4355"/>
          <a:stretch>
            <a:fillRect/>
          </a:stretch>
        </p:blipFill>
        <p:spPr>
          <a:xfrm>
            <a:off x="1616927" y="1630362"/>
            <a:ext cx="6362773" cy="5176361"/>
          </a:xfr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4C0EF37-C21E-64B9-190B-12A5FFAC380E}"/>
              </a:ext>
            </a:extLst>
          </p:cNvPr>
          <p:cNvSpPr/>
          <p:nvPr/>
        </p:nvSpPr>
        <p:spPr>
          <a:xfrm>
            <a:off x="6840109" y="4305300"/>
            <a:ext cx="558911" cy="559646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78D894D-6702-3125-2BFF-3DB2ECBA4904}"/>
              </a:ext>
            </a:extLst>
          </p:cNvPr>
          <p:cNvSpPr/>
          <p:nvPr/>
        </p:nvSpPr>
        <p:spPr>
          <a:xfrm>
            <a:off x="8256994" y="2008500"/>
            <a:ext cx="360000" cy="360000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9B6F5-B9F8-08F7-1704-81E9386024CC}"/>
              </a:ext>
            </a:extLst>
          </p:cNvPr>
          <p:cNvSpPr txBox="1"/>
          <p:nvPr/>
        </p:nvSpPr>
        <p:spPr>
          <a:xfrm>
            <a:off x="8824162" y="1983610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degree centrality </a:t>
            </a:r>
            <a:endParaRPr lang="en-IL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55C2BB5-5CCD-8048-0623-B56A7107E499}"/>
              </a:ext>
            </a:extLst>
          </p:cNvPr>
          <p:cNvSpPr/>
          <p:nvPr/>
        </p:nvSpPr>
        <p:spPr>
          <a:xfrm>
            <a:off x="1738768" y="3086616"/>
            <a:ext cx="1057772" cy="891024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8978A85-2029-EA91-65C8-D4836607FD42}"/>
              </a:ext>
            </a:extLst>
          </p:cNvPr>
          <p:cNvSpPr/>
          <p:nvPr/>
        </p:nvSpPr>
        <p:spPr>
          <a:xfrm>
            <a:off x="8256994" y="3116584"/>
            <a:ext cx="360000" cy="360000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25336-454F-FE31-1422-436892C703EC}"/>
              </a:ext>
            </a:extLst>
          </p:cNvPr>
          <p:cNvSpPr txBox="1"/>
          <p:nvPr/>
        </p:nvSpPr>
        <p:spPr>
          <a:xfrm>
            <a:off x="8824162" y="309542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k-core</a:t>
            </a:r>
            <a:endParaRPr lang="en-IL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71B8A36-FB76-083A-5FA0-EA7EA872E11A}"/>
              </a:ext>
            </a:extLst>
          </p:cNvPr>
          <p:cNvSpPr/>
          <p:nvPr/>
        </p:nvSpPr>
        <p:spPr>
          <a:xfrm>
            <a:off x="8256994" y="3670626"/>
            <a:ext cx="360000" cy="36000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CE1F5E2-96CB-66E7-B575-B51DA37B4E37}"/>
              </a:ext>
            </a:extLst>
          </p:cNvPr>
          <p:cNvSpPr/>
          <p:nvPr/>
        </p:nvSpPr>
        <p:spPr>
          <a:xfrm>
            <a:off x="3481782" y="3449324"/>
            <a:ext cx="2251102" cy="153924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54FF2-3B58-D836-F1A2-897465C04679}"/>
              </a:ext>
            </a:extLst>
          </p:cNvPr>
          <p:cNvSpPr txBox="1"/>
          <p:nvPr/>
        </p:nvSpPr>
        <p:spPr>
          <a:xfrm>
            <a:off x="8824162" y="369867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high</a:t>
            </a:r>
            <a:endParaRPr lang="en-IL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CFD6D60-027A-1FE4-805D-AC0BDD584F9A}"/>
              </a:ext>
            </a:extLst>
          </p:cNvPr>
          <p:cNvSpPr/>
          <p:nvPr/>
        </p:nvSpPr>
        <p:spPr>
          <a:xfrm>
            <a:off x="8256994" y="2562542"/>
            <a:ext cx="360000" cy="360000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BBC2B-DFD1-CC39-847A-385C36AC7347}"/>
              </a:ext>
            </a:extLst>
          </p:cNvPr>
          <p:cNvSpPr txBox="1"/>
          <p:nvPr/>
        </p:nvSpPr>
        <p:spPr>
          <a:xfrm>
            <a:off x="8824162" y="2553210"/>
            <a:ext cx="283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eigenvector centrality </a:t>
            </a:r>
            <a:endParaRPr lang="en-IL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7C4792C-A2E7-5B20-B256-55095FB999CA}"/>
              </a:ext>
            </a:extLst>
          </p:cNvPr>
          <p:cNvSpPr/>
          <p:nvPr/>
        </p:nvSpPr>
        <p:spPr>
          <a:xfrm>
            <a:off x="4708538" y="2184404"/>
            <a:ext cx="966331" cy="825496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059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E0B1-1510-BD51-12C5-AAE4378E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2FB8-3586-DCB1-9835-9AF102E7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62FE-4391-91F2-0258-7ED788DD2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06" y="1874263"/>
            <a:ext cx="10582656" cy="4879976"/>
          </a:xfrm>
        </p:spPr>
        <p:txBody>
          <a:bodyPr>
            <a:normAutofit/>
          </a:bodyPr>
          <a:lstStyle/>
          <a:p>
            <a:r>
              <a:rPr lang="en-GB" b="1" dirty="0"/>
              <a:t>Reuse entities</a:t>
            </a:r>
            <a:r>
              <a:rPr lang="en-GB" dirty="0"/>
              <a:t> are entities (e.g., hashtags, URLs, mentions, keywords) that appear in a post and were previously used by other posts within a defined time window.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Collums in </a:t>
            </a:r>
            <a:r>
              <a:rPr lang="en-GB" dirty="0" err="1"/>
              <a:t>df</a:t>
            </a:r>
            <a:r>
              <a:rPr lang="en-GB" dirty="0"/>
              <a:t>:</a:t>
            </a:r>
          </a:p>
          <a:p>
            <a:r>
              <a:rPr lang="en-GB" dirty="0"/>
              <a:t>&lt;</a:t>
            </a:r>
            <a:r>
              <a:rPr lang="en-GB" dirty="0" err="1"/>
              <a:t>entity_type</a:t>
            </a:r>
            <a:r>
              <a:rPr lang="en-GB" dirty="0"/>
              <a:t>&gt;_reuse_&lt;</a:t>
            </a:r>
            <a:r>
              <a:rPr lang="en-GB" dirty="0" err="1"/>
              <a:t>time_window</a:t>
            </a:r>
            <a:r>
              <a:rPr lang="en-GB" dirty="0"/>
              <a:t>&gt;_</a:t>
            </a:r>
            <a:r>
              <a:rPr lang="en-GB" dirty="0" err="1"/>
              <a:t>postids</a:t>
            </a:r>
            <a:r>
              <a:rPr lang="en-GB" dirty="0"/>
              <a:t> | list | Earlier posts within a &lt;</a:t>
            </a:r>
            <a:r>
              <a:rPr lang="en-GB" dirty="0" err="1"/>
              <a:t>time_window</a:t>
            </a:r>
            <a:r>
              <a:rPr lang="en-GB" dirty="0"/>
              <a:t>&gt; that share at least one entity. </a:t>
            </a:r>
          </a:p>
          <a:p>
            <a:r>
              <a:rPr lang="en-GB" dirty="0"/>
              <a:t>&lt;entity_ type &gt;_reuse_&lt;</a:t>
            </a:r>
            <a:r>
              <a:rPr lang="en-GB" dirty="0" err="1"/>
              <a:t>time_window</a:t>
            </a:r>
            <a:r>
              <a:rPr lang="en-GB" dirty="0"/>
              <a:t>&gt;_</a:t>
            </a:r>
            <a:r>
              <a:rPr lang="en-GB" dirty="0" err="1"/>
              <a:t>accountids</a:t>
            </a:r>
            <a:r>
              <a:rPr lang="en-GB" dirty="0"/>
              <a:t> | list | Account ids of the authors of the relevant posts.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2AAE-1A5F-FA44-F631-4F509D67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634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1C6A-7DFD-48BC-950E-F39CE739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EE-9CFE-6810-D3AA-9F86967F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39B9-D9B9-B577-0165-5767DA9D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06" y="1874263"/>
            <a:ext cx="10582656" cy="4879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first post is the sampled post with reused hashtags, followed by the posts that the post use their hashtags within the 4D.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C0E68-27B8-2FB7-435D-D7234384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pic>
        <p:nvPicPr>
          <p:cNvPr id="5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D521D8-4CDC-9A72-1D81-50A63298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46519"/>
            <a:ext cx="10582656" cy="352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78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AD0D-5223-1A6C-744E-F975FF44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3278-5F28-F2FB-B618-59E89BF2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Backbone Graph - Account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F1E87-72BB-7F46-4017-395CB2A0E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Account Relations is the edges in the graph.</a:t>
            </a:r>
          </a:p>
          <a:p>
            <a:r>
              <a:rPr lang="en-GB" b="1" dirty="0"/>
              <a:t>Direct interactions: </a:t>
            </a:r>
            <a:r>
              <a:rPr lang="en-GB" dirty="0"/>
              <a:t>Edges are created when an account directly interacts with another account:</a:t>
            </a:r>
          </a:p>
          <a:p>
            <a:pPr lvl="1"/>
            <a:r>
              <a:rPr lang="en-GB" b="1" dirty="0"/>
              <a:t>Reply:</a:t>
            </a:r>
            <a:r>
              <a:rPr lang="en-GB" dirty="0"/>
              <a:t> </a:t>
            </a:r>
            <a:r>
              <a:rPr lang="en-GB" dirty="0" err="1"/>
              <a:t>in_reply_to_accountid</a:t>
            </a:r>
            <a:r>
              <a:rPr lang="en-GB" dirty="0"/>
              <a:t>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b="1" dirty="0"/>
              <a:t>Mention:</a:t>
            </a:r>
            <a:r>
              <a:rPr lang="en-GB" dirty="0"/>
              <a:t> </a:t>
            </a:r>
            <a:r>
              <a:rPr lang="en-GB" dirty="0" err="1"/>
              <a:t>account_mentions</a:t>
            </a:r>
            <a:r>
              <a:rPr lang="en-GB" dirty="0"/>
              <a:t>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b="1" dirty="0"/>
              <a:t>Repost:</a:t>
            </a:r>
            <a:r>
              <a:rPr lang="en-GB" dirty="0"/>
              <a:t> </a:t>
            </a:r>
            <a:r>
              <a:rPr lang="en-GB" dirty="0" err="1"/>
              <a:t>reposted_accountid</a:t>
            </a:r>
            <a:r>
              <a:rPr lang="en-GB" dirty="0"/>
              <a:t> → accounted</a:t>
            </a:r>
          </a:p>
          <a:p>
            <a:pPr lvl="1"/>
            <a:endParaRPr lang="en-GB" dirty="0"/>
          </a:p>
          <a:p>
            <a:r>
              <a:rPr lang="en-GB" b="1" dirty="0"/>
              <a:t>Entity Reuse interactions: </a:t>
            </a:r>
            <a:r>
              <a:rPr lang="en-GB" dirty="0"/>
              <a:t>Edges are created when accounts reuse the same entity within </a:t>
            </a:r>
            <a:r>
              <a:rPr lang="en-GB" dirty="0" err="1"/>
              <a:t>time_window</a:t>
            </a:r>
            <a:r>
              <a:rPr lang="en-IL" dirty="0"/>
              <a:t>∈</a:t>
            </a:r>
            <a:r>
              <a:rPr lang="en-GB" dirty="0"/>
              <a:t>[12H, 3D]:</a:t>
            </a:r>
          </a:p>
          <a:p>
            <a:pPr lvl="1"/>
            <a:r>
              <a:rPr lang="en-GB" dirty="0" err="1"/>
              <a:t>hashtags_reuse</a:t>
            </a:r>
            <a:r>
              <a:rPr lang="en-GB" dirty="0"/>
              <a:t>_&lt;</a:t>
            </a:r>
            <a:r>
              <a:rPr lang="en-GB" dirty="0" err="1"/>
              <a:t>time_window</a:t>
            </a:r>
            <a:r>
              <a:rPr lang="en-GB" dirty="0"/>
              <a:t>&gt;_accountids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dirty="0" err="1"/>
              <a:t>urls_reuse</a:t>
            </a:r>
            <a:r>
              <a:rPr lang="en-GB" dirty="0"/>
              <a:t> _&lt;</a:t>
            </a:r>
            <a:r>
              <a:rPr lang="en-GB" dirty="0" err="1"/>
              <a:t>time_window</a:t>
            </a:r>
            <a:r>
              <a:rPr lang="en-GB" dirty="0"/>
              <a:t>&gt;_accountids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dirty="0" err="1"/>
              <a:t>account_mentions_reuse</a:t>
            </a:r>
            <a:r>
              <a:rPr lang="en-GB" dirty="0"/>
              <a:t> _&lt;</a:t>
            </a:r>
            <a:r>
              <a:rPr lang="en-GB" dirty="0" err="1"/>
              <a:t>time_window</a:t>
            </a:r>
            <a:r>
              <a:rPr lang="en-GB" dirty="0"/>
              <a:t>&gt;_accountids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dirty="0" err="1"/>
              <a:t>ner_entities_reuse</a:t>
            </a:r>
            <a:r>
              <a:rPr lang="en-GB" dirty="0"/>
              <a:t> _&lt;</a:t>
            </a:r>
            <a:r>
              <a:rPr lang="en-GB" dirty="0" err="1"/>
              <a:t>time_window</a:t>
            </a:r>
            <a:r>
              <a:rPr lang="en-GB" dirty="0"/>
              <a:t>&gt;_accountids → accounted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73D4D-26AB-7AC3-89D6-0AB97C0F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9578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B3B4-46D5-B204-92DE-A10FB3F1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Authors Mode</a:t>
            </a:r>
            <a:br>
              <a:rPr lang="en-GB" dirty="0"/>
            </a:b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BC35C-E4DC-7FDA-796A-52E1BF7AC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b="1" i="1" dirty="0"/>
                  <a:t>per_topic </a:t>
                </a:r>
                <a:r>
                  <a:rPr lang="en-GB" b="1" dirty="0"/>
                  <a:t>mode: </a:t>
                </a:r>
              </a:p>
              <a:p>
                <a:pPr lvl="1"/>
                <a:r>
                  <a:rPr lang="en-GB" dirty="0"/>
                  <a:t>Select important authors separately for each topic.</a:t>
                </a:r>
              </a:p>
              <a:p>
                <a:pPr lvl="1"/>
                <a:r>
                  <a:rPr lang="en-GB" dirty="0"/>
                  <a:t>Note: authors can be key authors in multiple topics. Since key authors is a set, no meaning for duplications.</a:t>
                </a:r>
              </a:p>
              <a:p>
                <a:pPr lvl="1"/>
                <a:r>
                  <a:rPr lang="en-GB" dirty="0"/>
                  <a:t>For every topic, authors are ranked by their topic-specific score. </a:t>
                </a:r>
              </a:p>
              <a:p>
                <a:pPr lvl="1"/>
                <a:r>
                  <a:rPr lang="en-GB" dirty="0"/>
                  <a:t>The function then keeps the top authors in that topic according to a dynamic threshold: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i="1" dirty="0"/>
                        <m:t>threshold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2000" i="1"/>
                        <m:t>base</m:t>
                      </m:r>
                      <m:r>
                        <m:rPr>
                          <m:lit/>
                          <m:nor/>
                        </m:rPr>
                        <a:rPr lang="en-GB" sz="2000" i="1"/>
                        <m:t>_</m:t>
                      </m:r>
                      <m:r>
                        <m:rPr>
                          <m:nor/>
                        </m:rPr>
                        <a:rPr lang="en-GB" sz="2000" i="1"/>
                        <m:t>number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000" i="1"/>
                            <m:t>top</m:t>
                          </m:r>
                          <m:r>
                            <m:rPr>
                              <m:lit/>
                              <m:nor/>
                            </m:rPr>
                            <a:rPr lang="en-GB" sz="2000" i="1"/>
                            <m:t>_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percentage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authors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in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topic</m:t>
                          </m:r>
                        </m:e>
                      </m:d>
                    </m:oMath>
                  </m:oMathPara>
                </a14:m>
                <a:endParaRPr lang="en-US" sz="2000" i="1" dirty="0"/>
              </a:p>
              <a:p>
                <a:r>
                  <a:rPr lang="en-GB" b="1" i="1" dirty="0"/>
                  <a:t>global </a:t>
                </a:r>
                <a:r>
                  <a:rPr lang="en-GB" b="1" dirty="0"/>
                  <a:t>mode: </a:t>
                </a:r>
              </a:p>
              <a:p>
                <a:pPr lvl="1"/>
                <a:r>
                  <a:rPr lang="en-GB" dirty="0"/>
                  <a:t>Select authors who are important across the entire dataset. </a:t>
                </a:r>
              </a:p>
              <a:p>
                <a:pPr lvl="1"/>
                <a:r>
                  <a:rPr lang="en-GB" dirty="0"/>
                  <a:t>The function first </a:t>
                </a:r>
                <a:r>
                  <a:rPr lang="en-GB" b="1" dirty="0"/>
                  <a:t>aggregates scores across all topics</a:t>
                </a:r>
                <a:r>
                  <a:rPr lang="en-GB" dirty="0"/>
                  <a:t>. score(author)=∑​ score(author, topic).</a:t>
                </a:r>
              </a:p>
              <a:p>
                <a:pPr lvl="1"/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1" dirty="0"/>
                        <m:t>threshold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𝑝𝑒𝑟𝑐𝑒𝑛𝑡𝑎𝑔𝑒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i="1"/>
                        <m:t>number</m:t>
                      </m:r>
                      <m:r>
                        <m:rPr>
                          <m:nor/>
                        </m:rPr>
                        <a:rPr lang="en-GB" i="1"/>
                        <m:t> </m:t>
                      </m:r>
                      <m:r>
                        <m:rPr>
                          <m:nor/>
                        </m:rPr>
                        <a:rPr lang="en-GB" i="1"/>
                        <m:t>of</m:t>
                      </m:r>
                      <m:r>
                        <m:rPr>
                          <m:nor/>
                        </m:rPr>
                        <a:rPr lang="en-GB" i="1"/>
                        <m:t> </m:t>
                      </m:r>
                      <m:r>
                        <m:rPr>
                          <m:nor/>
                        </m:rPr>
                        <a:rPr lang="en-GB" i="1"/>
                        <m:t>authors</m:t>
                      </m:r>
                    </m:oMath>
                  </m:oMathPara>
                </a14:m>
                <a:endParaRPr lang="en-GB" i="1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BC35C-E4DC-7FDA-796A-52E1BF7AC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6" t="-2661" r="-34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A645D-70BA-C1FD-2CFE-071A4213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294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11642</TotalTime>
  <Words>1145</Words>
  <Application>Microsoft Office PowerPoint</Application>
  <PresentationFormat>Widescreen</PresentationFormat>
  <Paragraphs>120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Backbone Graph</vt:lpstr>
      <vt:lpstr>Core Concepts</vt:lpstr>
      <vt:lpstr>PowerPoint Presentation</vt:lpstr>
      <vt:lpstr>Datasets</vt:lpstr>
      <vt:lpstr>Terms &amp; Definitions - IO</vt:lpstr>
      <vt:lpstr>Terms &amp; Definitions - Key</vt:lpstr>
      <vt:lpstr>Terms &amp; Definitions - Boost</vt:lpstr>
      <vt:lpstr>Backbone Graph</vt:lpstr>
      <vt:lpstr>Indicators</vt:lpstr>
      <vt:lpstr>Backbone Graph &amp; IO Indicators</vt:lpstr>
      <vt:lpstr>Entities Reuse</vt:lpstr>
      <vt:lpstr>Entities Reuse</vt:lpstr>
      <vt:lpstr>Backbone Graph - Account Relations</vt:lpstr>
      <vt:lpstr>Key Authors Mode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345</cp:revision>
  <dcterms:created xsi:type="dcterms:W3CDTF">2021-05-04T15:24:24Z</dcterms:created>
  <dcterms:modified xsi:type="dcterms:W3CDTF">2026-03-08T11:54:15Z</dcterms:modified>
</cp:coreProperties>
</file>