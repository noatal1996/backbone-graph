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1574" r:id="rId2"/>
    <p:sldId id="1581" r:id="rId3"/>
    <p:sldId id="1580" r:id="rId4"/>
    <p:sldId id="1596" r:id="rId5"/>
    <p:sldId id="1577" r:id="rId6"/>
    <p:sldId id="1582" r:id="rId7"/>
    <p:sldId id="1583" r:id="rId8"/>
    <p:sldId id="1591" r:id="rId9"/>
    <p:sldId id="1642" r:id="rId10"/>
    <p:sldId id="1628" r:id="rId11"/>
    <p:sldId id="1645" r:id="rId12"/>
    <p:sldId id="1613" r:id="rId13"/>
    <p:sldId id="1631" r:id="rId14"/>
    <p:sldId id="1632" r:id="rId15"/>
    <p:sldId id="1634" r:id="rId16"/>
    <p:sldId id="1641" r:id="rId17"/>
    <p:sldId id="1643" r:id="rId18"/>
    <p:sldId id="1644" r:id="rId19"/>
    <p:sldId id="1633" r:id="rId20"/>
    <p:sldId id="1638" r:id="rId21"/>
    <p:sldId id="1639" r:id="rId22"/>
    <p:sldId id="1635" r:id="rId23"/>
    <p:sldId id="1640" r:id="rId24"/>
    <p:sldId id="1636" r:id="rId25"/>
    <p:sldId id="1637" r:id="rId26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81"/>
            <p14:sldId id="1580"/>
            <p14:sldId id="1596"/>
            <p14:sldId id="1577"/>
            <p14:sldId id="1582"/>
            <p14:sldId id="1583"/>
            <p14:sldId id="1591"/>
            <p14:sldId id="1642"/>
            <p14:sldId id="1628"/>
            <p14:sldId id="1645"/>
            <p14:sldId id="1613"/>
            <p14:sldId id="1631"/>
            <p14:sldId id="1632"/>
            <p14:sldId id="1634"/>
            <p14:sldId id="1641"/>
            <p14:sldId id="1643"/>
            <p14:sldId id="1644"/>
            <p14:sldId id="1633"/>
            <p14:sldId id="1638"/>
            <p14:sldId id="1639"/>
            <p14:sldId id="1635"/>
            <p14:sldId id="1640"/>
            <p14:sldId id="1636"/>
            <p14:sldId id="16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377"/>
    <a:srgbClr val="F59120"/>
    <a:srgbClr val="FF4343"/>
    <a:srgbClr val="548235"/>
    <a:srgbClr val="009DBB"/>
    <a:srgbClr val="0688BA"/>
    <a:srgbClr val="005488"/>
    <a:srgbClr val="006189"/>
    <a:srgbClr val="5D5D5F"/>
    <a:srgbClr val="FE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72004-61F2-4D6D-B395-3F69B2DB77B9}" v="6" dt="2026-02-22T11:40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93" d="100"/>
          <a:sy n="93" d="100"/>
        </p:scale>
        <p:origin x="64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604D058-1A9B-4964-A759-971FC0161111}"/>
    <pc:docChg chg="custSel modSld">
      <pc:chgData name="Rami Puzis (BGU)" userId="15455a32-cfa8-4f75-8502-2ebc95aecdb5" providerId="ADAL" clId="{4604D058-1A9B-4964-A759-971FC0161111}" dt="2026-02-22T11:42:08.251" v="89" actId="20577"/>
      <pc:docMkLst>
        <pc:docMk/>
      </pc:docMkLst>
      <pc:sldChg chg="modSp mod">
        <pc:chgData name="Rami Puzis (BGU)" userId="15455a32-cfa8-4f75-8502-2ebc95aecdb5" providerId="ADAL" clId="{4604D058-1A9B-4964-A759-971FC0161111}" dt="2026-02-22T11:42:08.251" v="89" actId="20577"/>
        <pc:sldMkLst>
          <pc:docMk/>
          <pc:sldMk cId="2564283967" sldId="1581"/>
        </pc:sldMkLst>
        <pc:graphicFrameChg chg="mod modGraphic">
          <ac:chgData name="Rami Puzis (BGU)" userId="15455a32-cfa8-4f75-8502-2ebc95aecdb5" providerId="ADAL" clId="{4604D058-1A9B-4964-A759-971FC0161111}" dt="2026-02-22T11:42:08.251" v="89" actId="20577"/>
          <ac:graphicFrameMkLst>
            <pc:docMk/>
            <pc:sldMk cId="2564283967" sldId="1581"/>
            <ac:graphicFrameMk id="6" creationId="{B16D549A-CC57-1C2C-A976-5DA7CC5B8247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1ADD07-83FC-412A-AFCA-54ED7AB8BD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20BF6AF-D097-451B-B004-3E4F0E0AEEB9}">
      <dgm:prSet/>
      <dgm:spPr/>
      <dgm:t>
        <a:bodyPr/>
        <a:lstStyle/>
        <a:p>
          <a:pPr rtl="0"/>
          <a:r>
            <a:rPr lang="en-GB" dirty="0"/>
            <a:t>Hypothesis: </a:t>
          </a:r>
        </a:p>
        <a:p>
          <a:pPr rtl="0"/>
          <a:r>
            <a:rPr lang="en-GB" dirty="0"/>
            <a:t>Successful information operation </a:t>
          </a:r>
          <a:r>
            <a:rPr lang="en-GB" b="0" dirty="0"/>
            <a:t>drivers</a:t>
          </a:r>
          <a:r>
            <a:rPr lang="en-GB" dirty="0"/>
            <a:t> </a:t>
          </a:r>
          <a:r>
            <a:rPr lang="en-GB" b="1" dirty="0"/>
            <a:t>lead topic-level discourse </a:t>
          </a:r>
          <a:r>
            <a:rPr lang="en-GB" dirty="0"/>
            <a:t>and act in </a:t>
          </a:r>
          <a:r>
            <a:rPr lang="en-GB" b="1" dirty="0"/>
            <a:t>coordination</a:t>
          </a:r>
          <a:r>
            <a:rPr lang="en-GB" dirty="0"/>
            <a:t> with other drivers. </a:t>
          </a:r>
          <a:endParaRPr lang="en-US" dirty="0"/>
        </a:p>
      </dgm:t>
    </dgm:pt>
    <dgm:pt modelId="{1B3DA8FE-615C-4CAD-AD1A-83C4D5C3B18E}" type="parTrans" cxnId="{C0F4BB65-B1A1-46FC-8E88-C5B7A3B5290C}">
      <dgm:prSet/>
      <dgm:spPr/>
      <dgm:t>
        <a:bodyPr/>
        <a:lstStyle/>
        <a:p>
          <a:endParaRPr lang="en-US"/>
        </a:p>
      </dgm:t>
    </dgm:pt>
    <dgm:pt modelId="{F3538FF5-C72C-4C84-89BC-6ECE192FF4F4}" type="sibTrans" cxnId="{C0F4BB65-B1A1-46FC-8E88-C5B7A3B5290C}">
      <dgm:prSet/>
      <dgm:spPr/>
      <dgm:t>
        <a:bodyPr/>
        <a:lstStyle/>
        <a:p>
          <a:endParaRPr lang="en-US"/>
        </a:p>
      </dgm:t>
    </dgm:pt>
    <dgm:pt modelId="{E39D2ACD-8A0D-4B01-833E-8042ACD0DB54}">
      <dgm:prSet/>
      <dgm:spPr/>
      <dgm:t>
        <a:bodyPr/>
        <a:lstStyle/>
        <a:p>
          <a:pPr rtl="0"/>
          <a:r>
            <a:rPr lang="en-GB" dirty="0"/>
            <a:t>Objectives:</a:t>
          </a:r>
        </a:p>
        <a:p>
          <a:pPr rtl="0"/>
          <a:r>
            <a:rPr lang="en-GB" dirty="0"/>
            <a:t>Author’s </a:t>
          </a:r>
          <a:r>
            <a:rPr lang="en-GB" b="1" dirty="0"/>
            <a:t>key score </a:t>
          </a:r>
          <a:r>
            <a:rPr lang="en-GB" b="0" dirty="0"/>
            <a:t>to </a:t>
          </a:r>
          <a:r>
            <a:rPr lang="en-GB" dirty="0"/>
            <a:t>quantify topic leadership. </a:t>
          </a:r>
        </a:p>
        <a:p>
          <a:pPr rtl="0"/>
          <a:r>
            <a:rPr lang="en-GB" b="1" dirty="0"/>
            <a:t>Backbone graph </a:t>
          </a:r>
          <a:r>
            <a:rPr lang="en-GB" b="0" dirty="0"/>
            <a:t>to </a:t>
          </a:r>
          <a:r>
            <a:rPr lang="en-GB" dirty="0"/>
            <a:t>capture coordination among key authors. </a:t>
          </a:r>
          <a:endParaRPr lang="en-US" dirty="0"/>
        </a:p>
      </dgm:t>
    </dgm:pt>
    <dgm:pt modelId="{50BCA0A0-F847-40B6-A29A-9E80CAFF435E}" type="parTrans" cxnId="{BCC7FBA5-3595-4076-A26A-50B09B66D361}">
      <dgm:prSet/>
      <dgm:spPr/>
      <dgm:t>
        <a:bodyPr/>
        <a:lstStyle/>
        <a:p>
          <a:endParaRPr lang="en-US"/>
        </a:p>
      </dgm:t>
    </dgm:pt>
    <dgm:pt modelId="{06BACE1A-323F-4E92-90EF-7FB1DEFFCD2C}" type="sibTrans" cxnId="{BCC7FBA5-3595-4076-A26A-50B09B66D361}">
      <dgm:prSet/>
      <dgm:spPr/>
      <dgm:t>
        <a:bodyPr/>
        <a:lstStyle/>
        <a:p>
          <a:endParaRPr lang="en-US"/>
        </a:p>
      </dgm:t>
    </dgm:pt>
    <dgm:pt modelId="{2A8A38E9-53CA-44D5-8DFC-907932863099}">
      <dgm:prSet custT="1"/>
      <dgm:spPr/>
      <dgm:t>
        <a:bodyPr/>
        <a:lstStyle/>
        <a:p>
          <a:pPr rtl="0"/>
          <a:r>
            <a:rPr lang="en-GB" sz="1800" kern="1200" dirty="0"/>
            <a:t>Goal:</a:t>
          </a:r>
        </a:p>
        <a:p>
          <a:pPr rtl="0"/>
          <a:r>
            <a:rPr lang="en-GB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Calculation</a:t>
          </a:r>
          <a:r>
            <a:rPr lang="en-GB" sz="1800" kern="1200" dirty="0"/>
            <a:t> of </a:t>
          </a:r>
          <a:r>
            <a:rPr lang="en-GB" sz="1800" b="1" kern="1200" dirty="0"/>
            <a:t>graph-based indicators </a:t>
          </a:r>
          <a:r>
            <a:rPr lang="en-GB" sz="1800" kern="1200" dirty="0"/>
            <a:t>(e.g., centralities) to identify information operation (IO) drivers.</a:t>
          </a:r>
          <a:endParaRPr lang="en-US" sz="1800" kern="1200" dirty="0"/>
        </a:p>
      </dgm:t>
    </dgm:pt>
    <dgm:pt modelId="{1C19421E-9F25-4C69-A119-786E9C23DCF0}" type="parTrans" cxnId="{3ACB8547-BA01-42D1-807F-761232340476}">
      <dgm:prSet/>
      <dgm:spPr/>
      <dgm:t>
        <a:bodyPr/>
        <a:lstStyle/>
        <a:p>
          <a:endParaRPr lang="en-US"/>
        </a:p>
      </dgm:t>
    </dgm:pt>
    <dgm:pt modelId="{DAD72EB5-E415-4649-A88F-D2A6BD457E78}" type="sibTrans" cxnId="{3ACB8547-BA01-42D1-807F-761232340476}">
      <dgm:prSet/>
      <dgm:spPr/>
      <dgm:t>
        <a:bodyPr/>
        <a:lstStyle/>
        <a:p>
          <a:endParaRPr lang="en-US"/>
        </a:p>
      </dgm:t>
    </dgm:pt>
    <dgm:pt modelId="{B49D8D80-4BEC-43F9-8332-FDD107B3F2C9}" type="pres">
      <dgm:prSet presAssocID="{551ADD07-83FC-412A-AFCA-54ED7AB8BDE9}" presName="root" presStyleCnt="0">
        <dgm:presLayoutVars>
          <dgm:dir/>
          <dgm:resizeHandles val="exact"/>
        </dgm:presLayoutVars>
      </dgm:prSet>
      <dgm:spPr/>
    </dgm:pt>
    <dgm:pt modelId="{234596F3-45E6-4A0B-84CB-CD7F1CEC7BB6}" type="pres">
      <dgm:prSet presAssocID="{920BF6AF-D097-451B-B004-3E4F0E0AEEB9}" presName="compNode" presStyleCnt="0"/>
      <dgm:spPr/>
    </dgm:pt>
    <dgm:pt modelId="{2C6B269B-04EF-4B77-8D34-4ED88A9CC619}" type="pres">
      <dgm:prSet presAssocID="{920BF6AF-D097-451B-B004-3E4F0E0AEEB9}" presName="bgRect" presStyleLbl="bgShp" presStyleIdx="0" presStyleCnt="3"/>
      <dgm:spPr/>
    </dgm:pt>
    <dgm:pt modelId="{AB766CAB-60EC-49F0-89A5-002DEB1DC9EC}" type="pres">
      <dgm:prSet presAssocID="{920BF6AF-D097-451B-B004-3E4F0E0AEE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fic Thought with solid fill"/>
        </a:ext>
      </dgm:extLst>
    </dgm:pt>
    <dgm:pt modelId="{0B721B38-D226-410F-BAC9-2D888665195E}" type="pres">
      <dgm:prSet presAssocID="{920BF6AF-D097-451B-B004-3E4F0E0AEEB9}" presName="spaceRect" presStyleCnt="0"/>
      <dgm:spPr/>
    </dgm:pt>
    <dgm:pt modelId="{3E637D1C-C465-4876-A83C-04C72BB5E998}" type="pres">
      <dgm:prSet presAssocID="{920BF6AF-D097-451B-B004-3E4F0E0AEEB9}" presName="parTx" presStyleLbl="revTx" presStyleIdx="0" presStyleCnt="3">
        <dgm:presLayoutVars>
          <dgm:chMax val="0"/>
          <dgm:chPref val="0"/>
        </dgm:presLayoutVars>
      </dgm:prSet>
      <dgm:spPr/>
    </dgm:pt>
    <dgm:pt modelId="{A0B18739-A66C-4214-A36E-80ABCD3F56E6}" type="pres">
      <dgm:prSet presAssocID="{F3538FF5-C72C-4C84-89BC-6ECE192FF4F4}" presName="sibTrans" presStyleCnt="0"/>
      <dgm:spPr/>
    </dgm:pt>
    <dgm:pt modelId="{E94B648F-B109-44D3-A362-5A7CD8456848}" type="pres">
      <dgm:prSet presAssocID="{E39D2ACD-8A0D-4B01-833E-8042ACD0DB54}" presName="compNode" presStyleCnt="0"/>
      <dgm:spPr/>
    </dgm:pt>
    <dgm:pt modelId="{02F5843F-E1CD-4550-87C4-36EB26BEC779}" type="pres">
      <dgm:prSet presAssocID="{E39D2ACD-8A0D-4B01-833E-8042ACD0DB54}" presName="bgRect" presStyleLbl="bgShp" presStyleIdx="1" presStyleCnt="3"/>
      <dgm:spPr/>
    </dgm:pt>
    <dgm:pt modelId="{9E158E14-3B86-4CC1-9750-95325F6E3EB0}" type="pres">
      <dgm:prSet presAssocID="{E39D2ACD-8A0D-4B01-833E-8042ACD0DB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F60FB6F8-463F-492D-AC38-859ADB965D33}" type="pres">
      <dgm:prSet presAssocID="{E39D2ACD-8A0D-4B01-833E-8042ACD0DB54}" presName="spaceRect" presStyleCnt="0"/>
      <dgm:spPr/>
    </dgm:pt>
    <dgm:pt modelId="{F428F88E-A70C-48F6-A66B-5274C025ABDE}" type="pres">
      <dgm:prSet presAssocID="{E39D2ACD-8A0D-4B01-833E-8042ACD0DB54}" presName="parTx" presStyleLbl="revTx" presStyleIdx="1" presStyleCnt="3">
        <dgm:presLayoutVars>
          <dgm:chMax val="0"/>
          <dgm:chPref val="0"/>
        </dgm:presLayoutVars>
      </dgm:prSet>
      <dgm:spPr/>
    </dgm:pt>
    <dgm:pt modelId="{F5E726E4-A878-457E-933C-BCEA315CA0C3}" type="pres">
      <dgm:prSet presAssocID="{06BACE1A-323F-4E92-90EF-7FB1DEFFCD2C}" presName="sibTrans" presStyleCnt="0"/>
      <dgm:spPr/>
    </dgm:pt>
    <dgm:pt modelId="{BD3B9828-9F25-45F0-995B-881D686D90DF}" type="pres">
      <dgm:prSet presAssocID="{2A8A38E9-53CA-44D5-8DFC-907932863099}" presName="compNode" presStyleCnt="0"/>
      <dgm:spPr/>
    </dgm:pt>
    <dgm:pt modelId="{85833E2F-A6EA-4B2D-BD32-529530AB4589}" type="pres">
      <dgm:prSet presAssocID="{2A8A38E9-53CA-44D5-8DFC-907932863099}" presName="bgRect" presStyleLbl="bgShp" presStyleIdx="2" presStyleCnt="3"/>
      <dgm:spPr/>
    </dgm:pt>
    <dgm:pt modelId="{847822B6-69AC-4972-8322-EB9ABE8D34B9}" type="pres">
      <dgm:prSet presAssocID="{2A8A38E9-53CA-44D5-8DFC-9079328630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 with solid fill"/>
        </a:ext>
      </dgm:extLst>
    </dgm:pt>
    <dgm:pt modelId="{DDA98E99-0ADD-4B53-8FFE-DE6E80B72A59}" type="pres">
      <dgm:prSet presAssocID="{2A8A38E9-53CA-44D5-8DFC-907932863099}" presName="spaceRect" presStyleCnt="0"/>
      <dgm:spPr/>
    </dgm:pt>
    <dgm:pt modelId="{7E1E5A94-5C6C-43EF-91F4-61637B702812}" type="pres">
      <dgm:prSet presAssocID="{2A8A38E9-53CA-44D5-8DFC-9079328630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0F4BB65-B1A1-46FC-8E88-C5B7A3B5290C}" srcId="{551ADD07-83FC-412A-AFCA-54ED7AB8BDE9}" destId="{920BF6AF-D097-451B-B004-3E4F0E0AEEB9}" srcOrd="0" destOrd="0" parTransId="{1B3DA8FE-615C-4CAD-AD1A-83C4D5C3B18E}" sibTransId="{F3538FF5-C72C-4C84-89BC-6ECE192FF4F4}"/>
    <dgm:cxn modelId="{3ACB8547-BA01-42D1-807F-761232340476}" srcId="{551ADD07-83FC-412A-AFCA-54ED7AB8BDE9}" destId="{2A8A38E9-53CA-44D5-8DFC-907932863099}" srcOrd="2" destOrd="0" parTransId="{1C19421E-9F25-4C69-A119-786E9C23DCF0}" sibTransId="{DAD72EB5-E415-4649-A88F-D2A6BD457E78}"/>
    <dgm:cxn modelId="{476DC380-D90B-4963-BA1D-EF004B8DFF9C}" type="presOf" srcId="{2A8A38E9-53CA-44D5-8DFC-907932863099}" destId="{7E1E5A94-5C6C-43EF-91F4-61637B702812}" srcOrd="0" destOrd="0" presId="urn:microsoft.com/office/officeart/2018/2/layout/IconVerticalSolidList"/>
    <dgm:cxn modelId="{BE2D088D-B685-4251-B03A-05C57EA6D1CA}" type="presOf" srcId="{E39D2ACD-8A0D-4B01-833E-8042ACD0DB54}" destId="{F428F88E-A70C-48F6-A66B-5274C025ABDE}" srcOrd="0" destOrd="0" presId="urn:microsoft.com/office/officeart/2018/2/layout/IconVerticalSolidList"/>
    <dgm:cxn modelId="{F98D408E-0BAD-4B33-9130-865164C21D5B}" type="presOf" srcId="{920BF6AF-D097-451B-B004-3E4F0E0AEEB9}" destId="{3E637D1C-C465-4876-A83C-04C72BB5E998}" srcOrd="0" destOrd="0" presId="urn:microsoft.com/office/officeart/2018/2/layout/IconVerticalSolidList"/>
    <dgm:cxn modelId="{BCC7FBA5-3595-4076-A26A-50B09B66D361}" srcId="{551ADD07-83FC-412A-AFCA-54ED7AB8BDE9}" destId="{E39D2ACD-8A0D-4B01-833E-8042ACD0DB54}" srcOrd="1" destOrd="0" parTransId="{50BCA0A0-F847-40B6-A29A-9E80CAFF435E}" sibTransId="{06BACE1A-323F-4E92-90EF-7FB1DEFFCD2C}"/>
    <dgm:cxn modelId="{AAF066BC-CAAA-4763-ADA3-D4F009CCE9A2}" type="presOf" srcId="{551ADD07-83FC-412A-AFCA-54ED7AB8BDE9}" destId="{B49D8D80-4BEC-43F9-8332-FDD107B3F2C9}" srcOrd="0" destOrd="0" presId="urn:microsoft.com/office/officeart/2018/2/layout/IconVerticalSolidList"/>
    <dgm:cxn modelId="{BCE67295-3472-4649-8578-5A2AF0877308}" type="presParOf" srcId="{B49D8D80-4BEC-43F9-8332-FDD107B3F2C9}" destId="{234596F3-45E6-4A0B-84CB-CD7F1CEC7BB6}" srcOrd="0" destOrd="0" presId="urn:microsoft.com/office/officeart/2018/2/layout/IconVerticalSolidList"/>
    <dgm:cxn modelId="{37B27883-AE4D-4F43-AAA9-364B1799A38D}" type="presParOf" srcId="{234596F3-45E6-4A0B-84CB-CD7F1CEC7BB6}" destId="{2C6B269B-04EF-4B77-8D34-4ED88A9CC619}" srcOrd="0" destOrd="0" presId="urn:microsoft.com/office/officeart/2018/2/layout/IconVerticalSolidList"/>
    <dgm:cxn modelId="{1FE31726-CE1A-4FF2-8F3A-3F6A8C1ECB72}" type="presParOf" srcId="{234596F3-45E6-4A0B-84CB-CD7F1CEC7BB6}" destId="{AB766CAB-60EC-49F0-89A5-002DEB1DC9EC}" srcOrd="1" destOrd="0" presId="urn:microsoft.com/office/officeart/2018/2/layout/IconVerticalSolidList"/>
    <dgm:cxn modelId="{D43CBF48-864E-42B2-B4C7-FEFD0C4EA1C1}" type="presParOf" srcId="{234596F3-45E6-4A0B-84CB-CD7F1CEC7BB6}" destId="{0B721B38-D226-410F-BAC9-2D888665195E}" srcOrd="2" destOrd="0" presId="urn:microsoft.com/office/officeart/2018/2/layout/IconVerticalSolidList"/>
    <dgm:cxn modelId="{F2616297-CF9C-4A9F-B438-8A02AF8EA604}" type="presParOf" srcId="{234596F3-45E6-4A0B-84CB-CD7F1CEC7BB6}" destId="{3E637D1C-C465-4876-A83C-04C72BB5E998}" srcOrd="3" destOrd="0" presId="urn:microsoft.com/office/officeart/2018/2/layout/IconVerticalSolidList"/>
    <dgm:cxn modelId="{021E74C0-B682-4A7C-9B3C-80BC6A1A451E}" type="presParOf" srcId="{B49D8D80-4BEC-43F9-8332-FDD107B3F2C9}" destId="{A0B18739-A66C-4214-A36E-80ABCD3F56E6}" srcOrd="1" destOrd="0" presId="urn:microsoft.com/office/officeart/2018/2/layout/IconVerticalSolidList"/>
    <dgm:cxn modelId="{5DD145BE-095B-4298-ADFC-8002C6AAD15E}" type="presParOf" srcId="{B49D8D80-4BEC-43F9-8332-FDD107B3F2C9}" destId="{E94B648F-B109-44D3-A362-5A7CD8456848}" srcOrd="2" destOrd="0" presId="urn:microsoft.com/office/officeart/2018/2/layout/IconVerticalSolidList"/>
    <dgm:cxn modelId="{96C74A1F-B98D-4223-A5E9-7277AE40F887}" type="presParOf" srcId="{E94B648F-B109-44D3-A362-5A7CD8456848}" destId="{02F5843F-E1CD-4550-87C4-36EB26BEC779}" srcOrd="0" destOrd="0" presId="urn:microsoft.com/office/officeart/2018/2/layout/IconVerticalSolidList"/>
    <dgm:cxn modelId="{37551C3B-A61E-40CD-95E6-06EC81BA6221}" type="presParOf" srcId="{E94B648F-B109-44D3-A362-5A7CD8456848}" destId="{9E158E14-3B86-4CC1-9750-95325F6E3EB0}" srcOrd="1" destOrd="0" presId="urn:microsoft.com/office/officeart/2018/2/layout/IconVerticalSolidList"/>
    <dgm:cxn modelId="{5B8E7111-26D5-45A9-A2C9-F67EC4DD4DD7}" type="presParOf" srcId="{E94B648F-B109-44D3-A362-5A7CD8456848}" destId="{F60FB6F8-463F-492D-AC38-859ADB965D33}" srcOrd="2" destOrd="0" presId="urn:microsoft.com/office/officeart/2018/2/layout/IconVerticalSolidList"/>
    <dgm:cxn modelId="{CAAC9538-3BDC-4D91-AC63-E046372345FF}" type="presParOf" srcId="{E94B648F-B109-44D3-A362-5A7CD8456848}" destId="{F428F88E-A70C-48F6-A66B-5274C025ABDE}" srcOrd="3" destOrd="0" presId="urn:microsoft.com/office/officeart/2018/2/layout/IconVerticalSolidList"/>
    <dgm:cxn modelId="{BB8A6ED7-F291-4709-814C-3DFCF74B0B5C}" type="presParOf" srcId="{B49D8D80-4BEC-43F9-8332-FDD107B3F2C9}" destId="{F5E726E4-A878-457E-933C-BCEA315CA0C3}" srcOrd="3" destOrd="0" presId="urn:microsoft.com/office/officeart/2018/2/layout/IconVerticalSolidList"/>
    <dgm:cxn modelId="{193E6BFC-A4A5-4A3B-BE91-424D6674F48E}" type="presParOf" srcId="{B49D8D80-4BEC-43F9-8332-FDD107B3F2C9}" destId="{BD3B9828-9F25-45F0-995B-881D686D90DF}" srcOrd="4" destOrd="0" presId="urn:microsoft.com/office/officeart/2018/2/layout/IconVerticalSolidList"/>
    <dgm:cxn modelId="{605738E7-7BB8-4D55-B283-D6BDF1D1C1C7}" type="presParOf" srcId="{BD3B9828-9F25-45F0-995B-881D686D90DF}" destId="{85833E2F-A6EA-4B2D-BD32-529530AB4589}" srcOrd="0" destOrd="0" presId="urn:microsoft.com/office/officeart/2018/2/layout/IconVerticalSolidList"/>
    <dgm:cxn modelId="{AD77C2DA-7E28-4367-8BE2-3300AC8794C3}" type="presParOf" srcId="{BD3B9828-9F25-45F0-995B-881D686D90DF}" destId="{847822B6-69AC-4972-8322-EB9ABE8D34B9}" srcOrd="1" destOrd="0" presId="urn:microsoft.com/office/officeart/2018/2/layout/IconVerticalSolidList"/>
    <dgm:cxn modelId="{833343CF-0F77-4BD0-9825-DC8C6C39F459}" type="presParOf" srcId="{BD3B9828-9F25-45F0-995B-881D686D90DF}" destId="{DDA98E99-0ADD-4B53-8FFE-DE6E80B72A59}" srcOrd="2" destOrd="0" presId="urn:microsoft.com/office/officeart/2018/2/layout/IconVerticalSolidList"/>
    <dgm:cxn modelId="{C9F44501-FBA1-4F35-B8A0-6554C28CFF8F}" type="presParOf" srcId="{BD3B9828-9F25-45F0-995B-881D686D90DF}" destId="{7E1E5A94-5C6C-43EF-91F4-61637B7028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B269B-04EF-4B77-8D34-4ED88A9CC619}">
      <dsp:nvSpPr>
        <dsp:cNvPr id="0" name=""/>
        <dsp:cNvSpPr/>
      </dsp:nvSpPr>
      <dsp:spPr>
        <a:xfrm>
          <a:off x="0" y="53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66CAB-60EC-49F0-89A5-002DEB1DC9E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37D1C-C465-4876-A83C-04C72BB5E998}">
      <dsp:nvSpPr>
        <dsp:cNvPr id="0" name=""/>
        <dsp:cNvSpPr/>
      </dsp:nvSpPr>
      <dsp:spPr>
        <a:xfrm>
          <a:off x="1435590" y="53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Hypothesis: 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Successful information operation </a:t>
          </a:r>
          <a:r>
            <a:rPr lang="en-GB" sz="1800" b="0" kern="1200" dirty="0"/>
            <a:t>drivers</a:t>
          </a:r>
          <a:r>
            <a:rPr lang="en-GB" sz="1800" kern="1200" dirty="0"/>
            <a:t> </a:t>
          </a:r>
          <a:r>
            <a:rPr lang="en-GB" sz="1800" b="1" kern="1200" dirty="0"/>
            <a:t>lead topic-level discourse </a:t>
          </a:r>
          <a:r>
            <a:rPr lang="en-GB" sz="1800" kern="1200" dirty="0"/>
            <a:t>and act in </a:t>
          </a:r>
          <a:r>
            <a:rPr lang="en-GB" sz="1800" b="1" kern="1200" dirty="0"/>
            <a:t>coordination</a:t>
          </a:r>
          <a:r>
            <a:rPr lang="en-GB" sz="1800" kern="1200" dirty="0"/>
            <a:t> with other drivers. </a:t>
          </a:r>
          <a:endParaRPr lang="en-US" sz="1800" kern="1200" dirty="0"/>
        </a:p>
      </dsp:txBody>
      <dsp:txXfrm>
        <a:off x="1435590" y="531"/>
        <a:ext cx="9147065" cy="1242935"/>
      </dsp:txXfrm>
    </dsp:sp>
    <dsp:sp modelId="{02F5843F-E1CD-4550-87C4-36EB26BEC779}">
      <dsp:nvSpPr>
        <dsp:cNvPr id="0" name=""/>
        <dsp:cNvSpPr/>
      </dsp:nvSpPr>
      <dsp:spPr>
        <a:xfrm>
          <a:off x="0" y="155420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58E14-3B86-4CC1-9750-95325F6E3EB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8F88E-A70C-48F6-A66B-5274C025ABDE}">
      <dsp:nvSpPr>
        <dsp:cNvPr id="0" name=""/>
        <dsp:cNvSpPr/>
      </dsp:nvSpPr>
      <dsp:spPr>
        <a:xfrm>
          <a:off x="1435590" y="155420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Objectives: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Author’s </a:t>
          </a:r>
          <a:r>
            <a:rPr lang="en-GB" sz="1800" b="1" kern="1200" dirty="0"/>
            <a:t>key score </a:t>
          </a:r>
          <a:r>
            <a:rPr lang="en-GB" sz="1800" b="0" kern="1200" dirty="0"/>
            <a:t>to </a:t>
          </a:r>
          <a:r>
            <a:rPr lang="en-GB" sz="1800" kern="1200" dirty="0"/>
            <a:t>quantify topic leadership. 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Backbone graph </a:t>
          </a:r>
          <a:r>
            <a:rPr lang="en-GB" sz="1800" b="0" kern="1200" dirty="0"/>
            <a:t>to </a:t>
          </a:r>
          <a:r>
            <a:rPr lang="en-GB" sz="1800" kern="1200" dirty="0"/>
            <a:t>capture coordination among key authors. </a:t>
          </a:r>
          <a:endParaRPr lang="en-US" sz="1800" kern="1200" dirty="0"/>
        </a:p>
      </dsp:txBody>
      <dsp:txXfrm>
        <a:off x="1435590" y="1554201"/>
        <a:ext cx="9147065" cy="1242935"/>
      </dsp:txXfrm>
    </dsp:sp>
    <dsp:sp modelId="{85833E2F-A6EA-4B2D-BD32-529530AB4589}">
      <dsp:nvSpPr>
        <dsp:cNvPr id="0" name=""/>
        <dsp:cNvSpPr/>
      </dsp:nvSpPr>
      <dsp:spPr>
        <a:xfrm>
          <a:off x="0" y="3107870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22B6-69AC-4972-8322-EB9ABE8D34B9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E5A94-5C6C-43EF-91F4-61637B702812}">
      <dsp:nvSpPr>
        <dsp:cNvPr id="0" name=""/>
        <dsp:cNvSpPr/>
      </dsp:nvSpPr>
      <dsp:spPr>
        <a:xfrm>
          <a:off x="1435590" y="3107870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Goal: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Calculation</a:t>
          </a:r>
          <a:r>
            <a:rPr lang="en-GB" sz="1800" kern="1200" dirty="0"/>
            <a:t> of </a:t>
          </a:r>
          <a:r>
            <a:rPr lang="en-GB" sz="1800" b="1" kern="1200" dirty="0"/>
            <a:t>graph-based indicators </a:t>
          </a:r>
          <a:r>
            <a:rPr lang="en-GB" sz="1800" kern="1200" dirty="0"/>
            <a:t>(e.g., centralities) to identify information operation (IO) drivers.</a:t>
          </a:r>
          <a:endParaRPr lang="en-US" sz="1800" kern="1200" dirty="0"/>
        </a:p>
      </dsp:txBody>
      <dsp:txXfrm>
        <a:off x="1435590" y="3107870"/>
        <a:ext cx="9147065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[1]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Seckin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O. C., Pote, M.,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Nwala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A. C., Yin, L.,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Flammini, A., &amp; Menczer, F. (2025, June). Labeled datasets for research on information operations. In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International AAAI Conference on Web and Social Media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(Vol. 19, pp. 2567-2574).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Balasubramanian, A., Zou, V., Narayana, H., You, C.,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&amp; Ferrara, E. (2024). A public dataset tracking social media discourse about the 2024 us presidential election on twitter/x.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arXiv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preprint arXiv:2411.00376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2091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73ED-A99E-1255-DF0A-F46C0A3F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8042E-74BF-F12B-EB05-B5A12A791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9362C-8306-7A0F-CDF5-AFC8289AE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EDC18-E9C8-4ECA-7039-35E23F9D9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723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11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11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11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11 מרץ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11 מרץ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11 מרץ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11 מרץ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11 מרץ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11 מרץ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11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11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11 מרץ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11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1418919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what-is-the-difference-between-an-undirected-and-a-directed-graph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08939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11.03.2026</a:t>
            </a:r>
          </a:p>
          <a:p>
            <a:r>
              <a:rPr lang="en-US" dirty="0"/>
              <a:t>Amit Ner Gaon, Noa Tal</a:t>
            </a:r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4D25-02A9-78EB-690B-D93ACC2A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47FB-3B8E-1F68-D6EB-C3B6C0E7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Core Concepts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8C5A-EA8F-5CB7-FF7C-6442F88D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16D549A-CC57-1C2C-A976-5DA7CC5B8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926029"/>
              </p:ext>
            </p:extLst>
          </p:nvPr>
        </p:nvGraphicFramePr>
        <p:xfrm>
          <a:off x="1243087" y="1825625"/>
          <a:ext cx="1058265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428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FA5E6-67A6-5CC2-AA8C-8AEBAB88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828567-A0B2-4EE2-B776-601A30421946}"/>
              </a:ext>
            </a:extLst>
          </p:cNvPr>
          <p:cNvSpPr/>
          <p:nvPr/>
        </p:nvSpPr>
        <p:spPr>
          <a:xfrm>
            <a:off x="3932608" y="5410867"/>
            <a:ext cx="2149642" cy="6425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Boost Author Selection</a:t>
            </a:r>
            <a:endParaRPr lang="en-IL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202656-0FAA-3E0A-1841-9E488B105D7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082250" y="4455122"/>
            <a:ext cx="834189" cy="12770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F861B9-33A2-CCAC-A0E0-6075D8434240}"/>
              </a:ext>
            </a:extLst>
          </p:cNvPr>
          <p:cNvSpPr txBox="1"/>
          <p:nvPr/>
        </p:nvSpPr>
        <p:spPr>
          <a:xfrm>
            <a:off x="6625161" y="5030238"/>
            <a:ext cx="1334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Boost workflow to be decided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85258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1D72-4134-AB7E-1B0A-64CFD080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590" y="398183"/>
            <a:ext cx="8753475" cy="1325563"/>
          </a:xfrm>
        </p:spPr>
        <p:txBody>
          <a:bodyPr>
            <a:normAutofit/>
          </a:bodyPr>
          <a:lstStyle/>
          <a:p>
            <a:r>
              <a:rPr lang="en-US" dirty="0"/>
              <a:t>Datasets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44F5D-1213-B7D4-11B6-681FD5C8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CB54C2-7A31-3765-2BD6-58614883B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053291"/>
              </p:ext>
            </p:extLst>
          </p:nvPr>
        </p:nvGraphicFramePr>
        <p:xfrm>
          <a:off x="1296561" y="1594306"/>
          <a:ext cx="10601378" cy="522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0689">
                  <a:extLst>
                    <a:ext uri="{9D8B030D-6E8A-4147-A177-3AD203B41FA5}">
                      <a16:colId xmlns:a16="http://schemas.microsoft.com/office/drawing/2014/main" val="2664862571"/>
                    </a:ext>
                  </a:extLst>
                </a:gridCol>
                <a:gridCol w="5300689">
                  <a:extLst>
                    <a:ext uri="{9D8B030D-6E8A-4147-A177-3AD203B41FA5}">
                      <a16:colId xmlns:a16="http://schemas.microsoft.com/office/drawing/2014/main" val="2429324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2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Labeled </a:t>
                      </a: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 Corpus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Collection of 26 information operation (IO).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Campaigns from multiple countries.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Fully labeled (IO vs. Control accounts).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hlinkClick r:id="rId3"/>
                        </a:rPr>
                        <a:t>https://zenodo.org/records/14189193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Ecuador Campaign Subset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787 IO accounts | 21,138 Control accounts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700K IO tweets | 770K Control tweets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 2024 Election Dataset</a:t>
                      </a:r>
                    </a:p>
                    <a:p>
                      <a:pPr marL="0" indent="0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Clean dataset.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42,211,159 tweets.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January 1 – December 31, 2024.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 Timeline Events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Jul 13 – Attempted assassination of Donald Trump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Jul 21 – Joe Biden withdrew from presidential race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Aug 5 – Kamala Harris formally nominated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Nov 5 – Election Day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Nov 6 – Election results announced</a:t>
                      </a: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987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15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6C1-AB65-35BD-8133-F3F29DB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IO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1FA6F-2F61-214E-F20E-E15E3A7E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Information Operation (IO):</a:t>
            </a:r>
            <a:r>
              <a:rPr lang="en-GB" dirty="0"/>
              <a:t> A collection of publications by coordinated actors pursuing a shared intent while misleading others.</a:t>
            </a:r>
          </a:p>
          <a:p>
            <a:pPr fontAlgn="base"/>
            <a:r>
              <a:rPr lang="en-GB" b="1" dirty="0"/>
              <a:t>IO Driver:</a:t>
            </a:r>
            <a:r>
              <a:rPr lang="en-GB" dirty="0"/>
              <a:t> An account that promotes one or more IO.</a:t>
            </a:r>
          </a:p>
          <a:p>
            <a:pPr fontAlgn="base"/>
            <a:r>
              <a:rPr lang="en-GB" b="1" dirty="0"/>
              <a:t>Author ‘s IO Label:</a:t>
            </a:r>
            <a:r>
              <a:rPr lang="en-GB" dirty="0"/>
              <a:t> label =  1 if the author is a IO Driver and label = 0 if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2458-50C9-BF06-3967-CE25C3C3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289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5D21-FEAA-6801-6A47-D72173FC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C365-C8A0-2A99-D1C2-5872EAA4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Key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F7DE5-3E08-EDD2-0E70-2E2FD9E3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Author:</a:t>
            </a:r>
            <a:r>
              <a:rPr lang="en-GB" dirty="0"/>
              <a:t> An author who is a leading participant in one or more topic(s).</a:t>
            </a:r>
          </a:p>
          <a:p>
            <a:r>
              <a:rPr lang="en-GB" b="1" dirty="0"/>
              <a:t>Author-Topic Key Score: </a:t>
            </a:r>
            <a:r>
              <a:rPr lang="en-GB" dirty="0"/>
              <a:t>A measure of how strongly an author is associated with a topic, emphasizing topic-specific content. It is calculated based on the use of topic-related entities (e.g., hashtags, mentions, URLs) in the author’s posts.</a:t>
            </a:r>
            <a:endParaRPr lang="en-GB" b="1" dirty="0"/>
          </a:p>
          <a:p>
            <a:r>
              <a:rPr lang="en-GB" b="1" dirty="0"/>
              <a:t>Author Key Score: </a:t>
            </a:r>
            <a:r>
              <a:rPr lang="en-GB" dirty="0"/>
              <a:t>sum of the </a:t>
            </a:r>
            <a:r>
              <a:rPr lang="en-GB" i="1" dirty="0"/>
              <a:t>Author-Topic Key Score </a:t>
            </a:r>
            <a:r>
              <a:rPr lang="en-GB" dirty="0"/>
              <a:t>across all topics</a:t>
            </a:r>
            <a:r>
              <a:rPr lang="en-GB" i="1" dirty="0"/>
              <a:t>.</a:t>
            </a:r>
          </a:p>
          <a:p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3EF8-3FAF-E450-9AAA-2FA80E8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037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1453-5316-D9B7-938F-2E71B0F5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D6C-06E1-D2FD-D6D7-A5B2B115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</a:t>
            </a:r>
            <a:r>
              <a:rPr lang="en-GB" dirty="0"/>
              <a:t>Boost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613BB-A790-CA2A-55AD-2E034BEFF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Boost author: </a:t>
            </a:r>
            <a:r>
              <a:rPr lang="en-GB" dirty="0"/>
              <a:t>An author whose activity is followed by a significant increase in discussion activity.</a:t>
            </a:r>
          </a:p>
          <a:p>
            <a:r>
              <a:rPr lang="en-GB" b="1" dirty="0"/>
              <a:t>Author`s Boost Score: </a:t>
            </a:r>
            <a:r>
              <a:rPr lang="en-GB" dirty="0"/>
              <a:t>A quantitative measure calculated as the cumulative burst weights associated with a user's activity, based on discussion volume increases occurring shortly after the user posts or contributes.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0B6C7-B0F5-46CB-5DE4-36B539A7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5685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Backbone Graph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Key authors.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Represent behavioural similarity, based on co-actions (e.g. same hashtag usage, repos)</a:t>
            </a:r>
          </a:p>
          <a:p>
            <a:r>
              <a:rPr lang="en-GB" sz="2800" b="1" dirty="0"/>
              <a:t>Edges’ Weights:</a:t>
            </a:r>
            <a:r>
              <a:rPr lang="en-GB" sz="2800" dirty="0"/>
              <a:t> The number of the occurrences of co-actions between the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Represent the discussion structure and expose signals of coordinated behaviour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0E01-4300-3DE5-CB26-B50E4D0B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747D-9283-B209-7194-59E0EF395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Indicators: Graph Theory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DF79D-7189-E660-2269-D00740213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Degree Centrality: </a:t>
            </a:r>
            <a:r>
              <a:rPr lang="en-GB" dirty="0"/>
              <a:t>Counts how many direct connections a user has.</a:t>
            </a:r>
          </a:p>
          <a:p>
            <a:r>
              <a:rPr lang="en-GB" b="1" dirty="0"/>
              <a:t>Betweenness Centrality: </a:t>
            </a:r>
            <a:r>
              <a:rPr lang="en-GB" dirty="0"/>
              <a:t>measures how frequently a node appears on the shortest path between other.</a:t>
            </a:r>
          </a:p>
          <a:p>
            <a:r>
              <a:rPr lang="en-GB" b="1" dirty="0"/>
              <a:t>Harmonic Centrality: </a:t>
            </a:r>
            <a:r>
              <a:rPr lang="en-GB" dirty="0"/>
              <a:t>Reflects how easily a user can reach many others in the network.</a:t>
            </a:r>
          </a:p>
          <a:p>
            <a:r>
              <a:rPr lang="en-GB" b="1" dirty="0"/>
              <a:t>Eigenvector Centrality: </a:t>
            </a:r>
            <a:r>
              <a:rPr lang="en-GB" dirty="0"/>
              <a:t>Shows whether a user is connected to other high-scoring users.</a:t>
            </a:r>
          </a:p>
          <a:p>
            <a:r>
              <a:rPr lang="en-GB" b="1" dirty="0" err="1"/>
              <a:t>Pagerank</a:t>
            </a:r>
            <a:r>
              <a:rPr lang="en-GB" b="1" dirty="0"/>
              <a:t>: </a:t>
            </a:r>
            <a:r>
              <a:rPr lang="en-GB" dirty="0"/>
              <a:t>Estimates a user’s overall importance based on how many important users connect to them.</a:t>
            </a:r>
          </a:p>
          <a:p>
            <a:r>
              <a:rPr lang="en-GB" b="1" dirty="0"/>
              <a:t>K-core: </a:t>
            </a:r>
            <a:r>
              <a:rPr lang="en-GB" dirty="0"/>
              <a:t>Indicates how deeply embedded a user is within the dense group.</a:t>
            </a:r>
          </a:p>
          <a:p>
            <a:r>
              <a:rPr lang="en-GB" b="1" dirty="0"/>
              <a:t>Clustering: </a:t>
            </a:r>
            <a:r>
              <a:rPr lang="en-GB" dirty="0"/>
              <a:t>Measures how tightly connected a user’s </a:t>
            </a:r>
            <a:r>
              <a:rPr lang="en-GB" dirty="0" err="1"/>
              <a:t>neighbors</a:t>
            </a:r>
            <a:r>
              <a:rPr lang="en-GB" dirty="0"/>
              <a:t> are to each other.</a:t>
            </a:r>
          </a:p>
          <a:p>
            <a:r>
              <a:rPr lang="en-GB" b="1" dirty="0"/>
              <a:t>Square Clustering: </a:t>
            </a:r>
            <a:r>
              <a:rPr lang="en-GB" dirty="0"/>
              <a:t>Measures how often a user participates in tightly connected small group structures.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14CE5-5261-51D2-0ED2-383584D5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11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CF04-DED3-2E08-8761-891A60FE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Indicators: Key Score and Boost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8744-AA3F-0C94-68C3-B98E69E97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/>
          </a:bodyPr>
          <a:lstStyle/>
          <a:p>
            <a:r>
              <a:rPr lang="en-GB" b="1" dirty="0"/>
              <a:t>Key Score Sum: </a:t>
            </a:r>
            <a:r>
              <a:rPr lang="en-GB" dirty="0"/>
              <a:t>The sum of the all the per-topic </a:t>
            </a:r>
            <a:r>
              <a:rPr lang="en-GB" dirty="0" err="1"/>
              <a:t>tdidf</a:t>
            </a:r>
            <a:r>
              <a:rPr lang="en-GB" dirty="0"/>
              <a:t> score. How much the author is a leading participant in the topics.</a:t>
            </a:r>
          </a:p>
          <a:p>
            <a:r>
              <a:rPr lang="en-GB" b="1" dirty="0">
                <a:highlight>
                  <a:srgbClr val="FFFF00"/>
                </a:highlight>
              </a:rPr>
              <a:t>Key Score Dominance: </a:t>
            </a:r>
            <a:r>
              <a:rPr lang="en-GB" dirty="0">
                <a:highlight>
                  <a:srgbClr val="FFFF00"/>
                </a:highlight>
              </a:rPr>
              <a:t>Author’s</a:t>
            </a:r>
            <a:r>
              <a:rPr lang="en-GB" b="1" dirty="0">
                <a:highlight>
                  <a:srgbClr val="FFFF00"/>
                </a:highlight>
              </a:rPr>
              <a:t> </a:t>
            </a:r>
            <a:r>
              <a:rPr lang="en-GB" dirty="0">
                <a:highlight>
                  <a:srgbClr val="FFFF00"/>
                </a:highlight>
              </a:rPr>
              <a:t>max score in a topic, divided by total score across all topics. Higher values indicate the author is mostly a leading participate in specific(s) topic(s). (in process)</a:t>
            </a:r>
          </a:p>
          <a:p>
            <a:r>
              <a:rPr lang="en-GB" b="1" dirty="0">
                <a:highlight>
                  <a:srgbClr val="FFFF00"/>
                </a:highlight>
              </a:rPr>
              <a:t>Posting Dominance: </a:t>
            </a:r>
            <a:r>
              <a:rPr lang="en-GB" dirty="0">
                <a:highlight>
                  <a:srgbClr val="FFFF00"/>
                </a:highlight>
              </a:rPr>
              <a:t>Author’s max number of posts in a topic, divided by total number of posts across all topics. Higher values indicate the author is mostly a leading participate in specific(s) topic(s). (in process)</a:t>
            </a:r>
          </a:p>
          <a:p>
            <a:r>
              <a:rPr lang="en-GB" b="1" dirty="0">
                <a:highlight>
                  <a:srgbClr val="FFFF00"/>
                </a:highlight>
              </a:rPr>
              <a:t>Boost Score : </a:t>
            </a:r>
            <a:r>
              <a:rPr lang="en-GB" dirty="0">
                <a:highlight>
                  <a:srgbClr val="FFFF00"/>
                </a:highlight>
              </a:rPr>
              <a:t>A quantitative measure calculated as the cumulative burst weights associated with a user's activity, based on discussion volume increases occurring shortly after the user posts or contributes. (in process)</a:t>
            </a:r>
          </a:p>
          <a:p>
            <a:endParaRPr lang="en-GB" dirty="0">
              <a:highlight>
                <a:srgbClr val="FFFF00"/>
              </a:highlight>
            </a:endParaRPr>
          </a:p>
          <a:p>
            <a:endParaRPr lang="en-GB" dirty="0">
              <a:highlight>
                <a:srgbClr val="FFFF00"/>
              </a:highlight>
            </a:endParaRPr>
          </a:p>
          <a:p>
            <a:endParaRPr lang="en-GB" b="1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9E058-D5C2-C2B9-04B1-D7B34149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7267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1D98-6E94-E899-1C0B-FDA97B87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4865-CBA5-0D08-16D7-D3F84C92B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Indicators: Information Gain</a:t>
            </a:r>
            <a:endParaRPr lang="en-IL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DF960CE-3B99-FAA1-068C-9440CAB63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3" b="10937"/>
          <a:stretch>
            <a:fillRect/>
          </a:stretch>
        </p:blipFill>
        <p:spPr>
          <a:xfrm>
            <a:off x="1243087" y="1605618"/>
            <a:ext cx="10582656" cy="471267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3A626-1E2D-FD03-BD04-F81EFB01F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575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BEF17-A85B-69A7-4947-96097D1A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2D88-5AB1-052E-FB13-E091040F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Backbone Graph &amp; IO Indicators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5DFBC-E283-482F-07BA-A333B910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  <p:pic>
        <p:nvPicPr>
          <p:cNvPr id="8" name="Content Placeholder 7" descr="A network of dots and lines&#10;&#10;AI-generated content may be incorrect.">
            <a:extLst>
              <a:ext uri="{FF2B5EF4-FFF2-40B4-BE49-F238E27FC236}">
                <a16:creationId xmlns:a16="http://schemas.microsoft.com/office/drawing/2014/main" id="{66A4053E-AB18-5F2F-D1F0-F2B2E5298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2" t="3063" r="4355"/>
          <a:stretch>
            <a:fillRect/>
          </a:stretch>
        </p:blipFill>
        <p:spPr>
          <a:xfrm>
            <a:off x="1616927" y="1630362"/>
            <a:ext cx="6362773" cy="5176361"/>
          </a:xfr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94C0EF37-C21E-64B9-190B-12A5FFAC380E}"/>
              </a:ext>
            </a:extLst>
          </p:cNvPr>
          <p:cNvSpPr/>
          <p:nvPr/>
        </p:nvSpPr>
        <p:spPr>
          <a:xfrm>
            <a:off x="6840109" y="4305300"/>
            <a:ext cx="558911" cy="559646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78D894D-6702-3125-2BFF-3DB2ECBA4904}"/>
              </a:ext>
            </a:extLst>
          </p:cNvPr>
          <p:cNvSpPr/>
          <p:nvPr/>
        </p:nvSpPr>
        <p:spPr>
          <a:xfrm>
            <a:off x="8256994" y="2008500"/>
            <a:ext cx="360000" cy="360000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9B6F5-B9F8-08F7-1704-81E9386024CC}"/>
              </a:ext>
            </a:extLst>
          </p:cNvPr>
          <p:cNvSpPr txBox="1"/>
          <p:nvPr/>
        </p:nvSpPr>
        <p:spPr>
          <a:xfrm>
            <a:off x="8824162" y="1983610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degree centrality </a:t>
            </a:r>
            <a:endParaRPr lang="en-IL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55C2BB5-5CCD-8048-0623-B56A7107E499}"/>
              </a:ext>
            </a:extLst>
          </p:cNvPr>
          <p:cNvSpPr/>
          <p:nvPr/>
        </p:nvSpPr>
        <p:spPr>
          <a:xfrm>
            <a:off x="1738768" y="3086616"/>
            <a:ext cx="1057772" cy="891024"/>
          </a:xfrm>
          <a:prstGeom prst="flowChartConnector">
            <a:avLst/>
          </a:prstGeom>
          <a:noFill/>
          <a:ln w="57150">
            <a:solidFill>
              <a:srgbClr val="F59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8978A85-2029-EA91-65C8-D4836607FD42}"/>
              </a:ext>
            </a:extLst>
          </p:cNvPr>
          <p:cNvSpPr/>
          <p:nvPr/>
        </p:nvSpPr>
        <p:spPr>
          <a:xfrm>
            <a:off x="8256994" y="3116584"/>
            <a:ext cx="360000" cy="360000"/>
          </a:xfrm>
          <a:prstGeom prst="flowChartConnector">
            <a:avLst/>
          </a:prstGeom>
          <a:noFill/>
          <a:ln w="57150">
            <a:solidFill>
              <a:srgbClr val="F59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425336-454F-FE31-1422-436892C703EC}"/>
              </a:ext>
            </a:extLst>
          </p:cNvPr>
          <p:cNvSpPr txBox="1"/>
          <p:nvPr/>
        </p:nvSpPr>
        <p:spPr>
          <a:xfrm>
            <a:off x="8824162" y="3095422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k-core</a:t>
            </a:r>
            <a:endParaRPr lang="en-IL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71B8A36-FB76-083A-5FA0-EA7EA872E11A}"/>
              </a:ext>
            </a:extLst>
          </p:cNvPr>
          <p:cNvSpPr/>
          <p:nvPr/>
        </p:nvSpPr>
        <p:spPr>
          <a:xfrm>
            <a:off x="8256994" y="3670626"/>
            <a:ext cx="360000" cy="360000"/>
          </a:xfrm>
          <a:prstGeom prst="flowChartConnector">
            <a:avLst/>
          </a:prstGeom>
          <a:noFill/>
          <a:ln w="57150">
            <a:solidFill>
              <a:srgbClr val="F583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CE1F5E2-96CB-66E7-B575-B51DA37B4E37}"/>
              </a:ext>
            </a:extLst>
          </p:cNvPr>
          <p:cNvSpPr/>
          <p:nvPr/>
        </p:nvSpPr>
        <p:spPr>
          <a:xfrm>
            <a:off x="3481782" y="3449324"/>
            <a:ext cx="2251102" cy="1539240"/>
          </a:xfrm>
          <a:prstGeom prst="flowChartConnector">
            <a:avLst/>
          </a:prstGeom>
          <a:noFill/>
          <a:ln w="57150">
            <a:solidFill>
              <a:srgbClr val="F583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54FF2-3B58-D836-F1A2-897465C04679}"/>
              </a:ext>
            </a:extLst>
          </p:cNvPr>
          <p:cNvSpPr txBox="1"/>
          <p:nvPr/>
        </p:nvSpPr>
        <p:spPr>
          <a:xfrm>
            <a:off x="8824162" y="3698672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high</a:t>
            </a:r>
            <a:endParaRPr lang="en-IL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CFD6D60-027A-1FE4-805D-AC0BDD584F9A}"/>
              </a:ext>
            </a:extLst>
          </p:cNvPr>
          <p:cNvSpPr/>
          <p:nvPr/>
        </p:nvSpPr>
        <p:spPr>
          <a:xfrm>
            <a:off x="8256994" y="2562542"/>
            <a:ext cx="360000" cy="360000"/>
          </a:xfrm>
          <a:prstGeom prst="flowChartConnector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BBC2B-DFD1-CC39-847A-385C36AC7347}"/>
              </a:ext>
            </a:extLst>
          </p:cNvPr>
          <p:cNvSpPr txBox="1"/>
          <p:nvPr/>
        </p:nvSpPr>
        <p:spPr>
          <a:xfrm>
            <a:off x="8824162" y="2553210"/>
            <a:ext cx="283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eigenvector centrality </a:t>
            </a:r>
            <a:endParaRPr lang="en-IL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87C4792C-A2E7-5B20-B256-55095FB999CA}"/>
              </a:ext>
            </a:extLst>
          </p:cNvPr>
          <p:cNvSpPr/>
          <p:nvPr/>
        </p:nvSpPr>
        <p:spPr>
          <a:xfrm>
            <a:off x="4708538" y="2184404"/>
            <a:ext cx="966331" cy="825496"/>
          </a:xfrm>
          <a:prstGeom prst="flowChartConnector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0593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E0B1-1510-BD51-12C5-AAE4378E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2FB8-3586-DCB1-9835-9AF102E7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Reuse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462FE-4391-91F2-0258-7ED788DD2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806" y="1874263"/>
            <a:ext cx="10582656" cy="4879976"/>
          </a:xfrm>
        </p:spPr>
        <p:txBody>
          <a:bodyPr>
            <a:normAutofit/>
          </a:bodyPr>
          <a:lstStyle/>
          <a:p>
            <a:r>
              <a:rPr lang="en-GB" b="1" dirty="0"/>
              <a:t>Reuse entities</a:t>
            </a:r>
            <a:r>
              <a:rPr lang="en-GB" dirty="0"/>
              <a:t> are entities (e.g., hashtags, URLs, mentions, keywords) that appear in a post and were previously used by other posts within a defined time window.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Collums in </a:t>
            </a:r>
            <a:r>
              <a:rPr lang="en-GB" dirty="0" err="1"/>
              <a:t>df</a:t>
            </a:r>
            <a:r>
              <a:rPr lang="en-GB" dirty="0"/>
              <a:t>:</a:t>
            </a:r>
          </a:p>
          <a:p>
            <a:r>
              <a:rPr lang="en-GB" dirty="0"/>
              <a:t>&lt;</a:t>
            </a:r>
            <a:r>
              <a:rPr lang="en-GB" dirty="0" err="1"/>
              <a:t>entity_type</a:t>
            </a:r>
            <a:r>
              <a:rPr lang="en-GB" dirty="0"/>
              <a:t>&gt;_reuse_&lt;</a:t>
            </a:r>
            <a:r>
              <a:rPr lang="en-GB" dirty="0" err="1"/>
              <a:t>time_window</a:t>
            </a:r>
            <a:r>
              <a:rPr lang="en-GB" dirty="0"/>
              <a:t>&gt;_</a:t>
            </a:r>
            <a:r>
              <a:rPr lang="en-GB" dirty="0" err="1"/>
              <a:t>postids</a:t>
            </a:r>
            <a:r>
              <a:rPr lang="en-GB" dirty="0"/>
              <a:t> | list | Earlier posts within a &lt;</a:t>
            </a:r>
            <a:r>
              <a:rPr lang="en-GB" dirty="0" err="1"/>
              <a:t>time_window</a:t>
            </a:r>
            <a:r>
              <a:rPr lang="en-GB" dirty="0"/>
              <a:t>&gt; that share at least one entity. </a:t>
            </a:r>
          </a:p>
          <a:p>
            <a:r>
              <a:rPr lang="en-GB" dirty="0"/>
              <a:t>&lt;entity_ type &gt;_reuse_&lt;</a:t>
            </a:r>
            <a:r>
              <a:rPr lang="en-GB" dirty="0" err="1"/>
              <a:t>time_window</a:t>
            </a:r>
            <a:r>
              <a:rPr lang="en-GB" dirty="0"/>
              <a:t>&gt;_</a:t>
            </a:r>
            <a:r>
              <a:rPr lang="en-GB" dirty="0" err="1"/>
              <a:t>accountids</a:t>
            </a:r>
            <a:r>
              <a:rPr lang="en-GB" dirty="0"/>
              <a:t> | list | Account ids of the authors of the relevant posts.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62AAE-1A5F-FA44-F631-4F509D67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6348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1C6A-7DFD-48BC-950E-F39CE739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EE-9CFE-6810-D3AA-9F86967F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Reuse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A39B9-D9B9-B577-0165-5767DA9D1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806" y="1874263"/>
            <a:ext cx="10582656" cy="4879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first post is the sampled post with reused hashtags, followed by the posts that the post use their hashtags within the 4D.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C0E68-27B8-2FB7-435D-D7234384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  <p:pic>
        <p:nvPicPr>
          <p:cNvPr id="5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D521D8-4CDC-9A72-1D81-50A632987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46519"/>
            <a:ext cx="10582656" cy="352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78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AD0D-5223-1A6C-744E-F975FF44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3278-5F28-F2FB-B618-59E89BF2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Reuse </a:t>
            </a:r>
            <a:r>
              <a:rPr lang="en-GB" dirty="0"/>
              <a:t>- Account 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F1E87-72BB-7F46-4017-395CB2A0E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Account Relations is the edges in the graph.</a:t>
            </a:r>
          </a:p>
          <a:p>
            <a:r>
              <a:rPr lang="en-GB" b="1" dirty="0"/>
              <a:t>Direct interactions: </a:t>
            </a:r>
            <a:r>
              <a:rPr lang="en-GB" dirty="0"/>
              <a:t>Edges are created when an account directly interacts with another account:</a:t>
            </a:r>
          </a:p>
          <a:p>
            <a:pPr lvl="1"/>
            <a:r>
              <a:rPr lang="en-GB" b="1" dirty="0"/>
              <a:t>Reply:</a:t>
            </a:r>
            <a:r>
              <a:rPr lang="en-GB" dirty="0"/>
              <a:t> </a:t>
            </a:r>
            <a:r>
              <a:rPr lang="en-GB" dirty="0" err="1"/>
              <a:t>in_reply_to_accountid</a:t>
            </a:r>
            <a:r>
              <a:rPr lang="en-GB" dirty="0"/>
              <a:t>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b="1" dirty="0"/>
              <a:t>Mention:</a:t>
            </a:r>
            <a:r>
              <a:rPr lang="en-GB" dirty="0"/>
              <a:t> </a:t>
            </a:r>
            <a:r>
              <a:rPr lang="en-GB" dirty="0" err="1"/>
              <a:t>account_mentions</a:t>
            </a:r>
            <a:r>
              <a:rPr lang="en-GB" dirty="0"/>
              <a:t>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b="1" dirty="0"/>
              <a:t>Repost:</a:t>
            </a:r>
            <a:r>
              <a:rPr lang="en-GB" dirty="0"/>
              <a:t> </a:t>
            </a:r>
            <a:r>
              <a:rPr lang="en-GB" dirty="0" err="1"/>
              <a:t>reposted_accountid</a:t>
            </a:r>
            <a:r>
              <a:rPr lang="en-GB" dirty="0"/>
              <a:t> → accounted</a:t>
            </a:r>
          </a:p>
          <a:p>
            <a:pPr lvl="1"/>
            <a:endParaRPr lang="en-GB" dirty="0"/>
          </a:p>
          <a:p>
            <a:r>
              <a:rPr lang="en-GB" b="1" dirty="0"/>
              <a:t>Entity Reuse interactions: </a:t>
            </a:r>
            <a:r>
              <a:rPr lang="en-GB" dirty="0"/>
              <a:t>Edges are created when accounts reuse the same entity within </a:t>
            </a:r>
            <a:r>
              <a:rPr lang="en-GB" dirty="0" err="1"/>
              <a:t>time_window</a:t>
            </a:r>
            <a:r>
              <a:rPr lang="en-IL" dirty="0"/>
              <a:t>∈</a:t>
            </a:r>
            <a:r>
              <a:rPr lang="en-GB" dirty="0"/>
              <a:t>[12H, 3D]:</a:t>
            </a:r>
          </a:p>
          <a:p>
            <a:pPr lvl="1"/>
            <a:r>
              <a:rPr lang="en-GB" dirty="0" err="1"/>
              <a:t>hashtags_reuse</a:t>
            </a:r>
            <a:r>
              <a:rPr lang="en-GB" dirty="0"/>
              <a:t>_&lt;</a:t>
            </a:r>
            <a:r>
              <a:rPr lang="en-GB" dirty="0" err="1"/>
              <a:t>time_window</a:t>
            </a:r>
            <a:r>
              <a:rPr lang="en-GB" dirty="0"/>
              <a:t>&gt;_accountids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dirty="0" err="1"/>
              <a:t>urls_reuse</a:t>
            </a:r>
            <a:r>
              <a:rPr lang="en-GB" dirty="0"/>
              <a:t> _&lt;</a:t>
            </a:r>
            <a:r>
              <a:rPr lang="en-GB" dirty="0" err="1"/>
              <a:t>time_window</a:t>
            </a:r>
            <a:r>
              <a:rPr lang="en-GB" dirty="0"/>
              <a:t>&gt;_accountids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dirty="0" err="1"/>
              <a:t>account_mentions_reuse</a:t>
            </a:r>
            <a:r>
              <a:rPr lang="en-GB" dirty="0"/>
              <a:t> _&lt;</a:t>
            </a:r>
            <a:r>
              <a:rPr lang="en-GB" dirty="0" err="1"/>
              <a:t>time_window</a:t>
            </a:r>
            <a:r>
              <a:rPr lang="en-GB" dirty="0"/>
              <a:t>&gt;_accountids → </a:t>
            </a:r>
            <a:r>
              <a:rPr lang="en-GB" dirty="0" err="1"/>
              <a:t>accountid</a:t>
            </a:r>
            <a:endParaRPr lang="en-GB" dirty="0"/>
          </a:p>
          <a:p>
            <a:pPr lvl="1"/>
            <a:r>
              <a:rPr lang="en-GB" dirty="0" err="1"/>
              <a:t>ner_entities_reuse</a:t>
            </a:r>
            <a:r>
              <a:rPr lang="en-GB" dirty="0"/>
              <a:t> _&lt;</a:t>
            </a:r>
            <a:r>
              <a:rPr lang="en-GB" dirty="0" err="1"/>
              <a:t>time_window</a:t>
            </a:r>
            <a:r>
              <a:rPr lang="en-GB" dirty="0"/>
              <a:t>&gt;_accountids → accounted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73D4D-26AB-7AC3-89D6-0AB97C0F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957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654A-9337-7B09-93CE-E2AEA754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04B0-0FDD-B577-4322-2AD71598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Parameters: Topic Modelling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3454-C2E2-198E-A93E-0B8AE9710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630738"/>
          </a:xfrm>
        </p:spPr>
        <p:txBody>
          <a:bodyPr>
            <a:normAutofit/>
          </a:bodyPr>
          <a:lstStyle/>
          <a:p>
            <a:r>
              <a:rPr lang="en-GB" dirty="0"/>
              <a:t>Topic modelling identifies </a:t>
            </a:r>
            <a:r>
              <a:rPr lang="en-GB" b="1" dirty="0"/>
              <a:t>main discussion themes</a:t>
            </a:r>
            <a:r>
              <a:rPr lang="en-GB" dirty="0"/>
              <a:t> in a collection of texts by grouping similar posts.</a:t>
            </a:r>
          </a:p>
          <a:p>
            <a:r>
              <a:rPr lang="en-GB" dirty="0"/>
              <a:t>In this project we use </a:t>
            </a:r>
            <a:r>
              <a:rPr lang="en-GB" b="1" dirty="0" err="1"/>
              <a:t>BERTopic</a:t>
            </a:r>
            <a:r>
              <a:rPr lang="en-GB" dirty="0"/>
              <a:t>, which groups posts using semantic text embeddings.</a:t>
            </a:r>
          </a:p>
          <a:p>
            <a:r>
              <a:rPr lang="en-GB" dirty="0"/>
              <a:t>The </a:t>
            </a:r>
            <a:r>
              <a:rPr lang="en-GB" b="1" dirty="0"/>
              <a:t>minimum topic size</a:t>
            </a:r>
            <a:r>
              <a:rPr lang="en-GB" dirty="0"/>
              <a:t> parameter defines the </a:t>
            </a:r>
            <a:r>
              <a:rPr lang="en-GB" b="1" dirty="0"/>
              <a:t>minimum number of posts required to create a topic</a:t>
            </a:r>
            <a:r>
              <a:rPr lang="en-GB" dirty="0"/>
              <a:t>. Small clusters\topics below this size are treated as outliers or merged with other topics.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1A468-D817-D4C5-469A-83831FE0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7160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2A77B-562C-65D8-B819-958402E0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BF74-160F-DAB5-F463-10210F07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Parameters: Topic Modelling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44BE9-C0AD-B6B0-040C-325308674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678"/>
          <a:stretch>
            <a:fillRect/>
          </a:stretch>
        </p:blipFill>
        <p:spPr>
          <a:xfrm>
            <a:off x="1806135" y="1727200"/>
            <a:ext cx="6987084" cy="463073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E79C9-0EF6-3B44-4AA2-0BAFFE95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7134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71F7-6FBD-9CFA-88D9-4C702218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AB6B-A5A4-337A-1C5F-CDB82653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Parameters: Topic Modelling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E3827-EBB8-7438-636B-2503A7DA58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739" b="78"/>
          <a:stretch>
            <a:fillRect/>
          </a:stretch>
        </p:blipFill>
        <p:spPr>
          <a:xfrm>
            <a:off x="1854032" y="2213811"/>
            <a:ext cx="8483935" cy="281329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0E3BD-7020-DD16-6FE1-06593620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2839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B3B4-46D5-B204-92DE-A10FB3F1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Parameters: </a:t>
            </a:r>
            <a:r>
              <a:rPr lang="en-GB" sz="4900" dirty="0"/>
              <a:t>Key Authors Mode</a:t>
            </a:r>
            <a:br>
              <a:rPr lang="en-GB" dirty="0"/>
            </a:b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BC35C-E4DC-7FDA-796A-52E1BF7ACB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b="1" i="1" dirty="0"/>
                  <a:t>per_topic </a:t>
                </a:r>
                <a:r>
                  <a:rPr lang="en-GB" b="1" dirty="0"/>
                  <a:t>mode: </a:t>
                </a:r>
              </a:p>
              <a:p>
                <a:pPr lvl="1"/>
                <a:r>
                  <a:rPr lang="en-GB" dirty="0"/>
                  <a:t>Select important authors separately for each topic.</a:t>
                </a:r>
              </a:p>
              <a:p>
                <a:pPr lvl="1"/>
                <a:r>
                  <a:rPr lang="en-GB" dirty="0"/>
                  <a:t>Note: authors can be key authors in multiple topics. Since key authors is a set, no meaning for duplications.</a:t>
                </a:r>
              </a:p>
              <a:p>
                <a:pPr lvl="1"/>
                <a:r>
                  <a:rPr lang="en-GB" dirty="0"/>
                  <a:t>For every topic, authors are ranked by their topic-specific score. </a:t>
                </a:r>
              </a:p>
              <a:p>
                <a:pPr lvl="1"/>
                <a:r>
                  <a:rPr lang="en-GB" dirty="0"/>
                  <a:t>The function then keeps the top authors in that topic according to a dynamic threshold: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000" i="1" dirty="0"/>
                        <m:t>threshold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sz="2000" i="1"/>
                        <m:t>base</m:t>
                      </m:r>
                      <m:r>
                        <m:rPr>
                          <m:lit/>
                          <m:nor/>
                        </m:rPr>
                        <a:rPr lang="en-GB" sz="2000" i="1"/>
                        <m:t>_</m:t>
                      </m:r>
                      <m:r>
                        <m:rPr>
                          <m:nor/>
                        </m:rPr>
                        <a:rPr lang="en-GB" sz="2000" i="1"/>
                        <m:t>number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2000" i="1"/>
                            <m:t>top</m:t>
                          </m:r>
                          <m:r>
                            <m:rPr>
                              <m:lit/>
                              <m:nor/>
                            </m:rPr>
                            <a:rPr lang="en-GB" sz="2000" i="1"/>
                            <m:t>_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percentage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authors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in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GB" sz="2000" i="1"/>
                            <m:t>topic</m:t>
                          </m:r>
                        </m:e>
                      </m:d>
                    </m:oMath>
                  </m:oMathPara>
                </a14:m>
                <a:endParaRPr lang="en-US" sz="2000" i="1" dirty="0"/>
              </a:p>
              <a:p>
                <a:r>
                  <a:rPr lang="en-GB" b="1" i="1" dirty="0"/>
                  <a:t>global </a:t>
                </a:r>
                <a:r>
                  <a:rPr lang="en-GB" b="1" dirty="0"/>
                  <a:t>mode: </a:t>
                </a:r>
              </a:p>
              <a:p>
                <a:pPr lvl="1"/>
                <a:r>
                  <a:rPr lang="en-GB" dirty="0"/>
                  <a:t>Select authors who are important across the entire dataset. </a:t>
                </a:r>
              </a:p>
              <a:p>
                <a:pPr lvl="1"/>
                <a:r>
                  <a:rPr lang="en-GB" dirty="0"/>
                  <a:t>The function first </a:t>
                </a:r>
                <a:r>
                  <a:rPr lang="en-GB" b="1" dirty="0"/>
                  <a:t>aggregates scores across all topics</a:t>
                </a:r>
                <a:r>
                  <a:rPr lang="en-GB" dirty="0"/>
                  <a:t>. score(author)=∑​ score(author, topic).</a:t>
                </a:r>
              </a:p>
              <a:p>
                <a:pPr lvl="1"/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1" dirty="0"/>
                        <m:t>threshold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𝑡𝑜𝑝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𝑝𝑒𝑟𝑐𝑒𝑛𝑡𝑎𝑔𝑒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i="1"/>
                        <m:t>number</m:t>
                      </m:r>
                      <m:r>
                        <m:rPr>
                          <m:nor/>
                        </m:rPr>
                        <a:rPr lang="en-GB" i="1"/>
                        <m:t> </m:t>
                      </m:r>
                      <m:r>
                        <m:rPr>
                          <m:nor/>
                        </m:rPr>
                        <a:rPr lang="en-GB" i="1"/>
                        <m:t>of</m:t>
                      </m:r>
                      <m:r>
                        <m:rPr>
                          <m:nor/>
                        </m:rPr>
                        <a:rPr lang="en-GB" i="1"/>
                        <m:t> </m:t>
                      </m:r>
                      <m:r>
                        <m:rPr>
                          <m:nor/>
                        </m:rPr>
                        <a:rPr lang="en-GB" i="1"/>
                        <m:t>authors</m:t>
                      </m:r>
                    </m:oMath>
                  </m:oMathPara>
                </a14:m>
                <a:endParaRPr lang="en-GB" i="1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BC35C-E4DC-7FDA-796A-52E1BF7ACB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6" t="-2661" r="-34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A645D-70BA-C1FD-2CFE-071A42134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2942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45DF-0427-8596-3589-6E6F87AE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B29E-3C29-2BA6-0A31-8AB0C384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Parameters: Directed and Undirected Graphs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65231-0FF9-BBBA-8EBF-94408B79D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630738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/>
              <a:t>graph</a:t>
            </a:r>
            <a:r>
              <a:rPr lang="en-GB" dirty="0"/>
              <a:t> is a structure used to represent relationships between entities. It consists of </a:t>
            </a:r>
            <a:r>
              <a:rPr lang="en-GB" b="1" dirty="0"/>
              <a:t>nodes</a:t>
            </a:r>
            <a:r>
              <a:rPr lang="en-GB" dirty="0"/>
              <a:t> (e.g., social media accounts) and </a:t>
            </a:r>
            <a:r>
              <a:rPr lang="en-GB" b="1" dirty="0"/>
              <a:t>edges</a:t>
            </a:r>
            <a:r>
              <a:rPr lang="en-GB" dirty="0"/>
              <a:t> that represent connections between them.</a:t>
            </a:r>
            <a:endParaRPr lang="en-US" sz="2000" i="1" dirty="0"/>
          </a:p>
          <a:p>
            <a:r>
              <a:rPr lang="en-GB" b="1" dirty="0"/>
              <a:t>Directed Graph. </a:t>
            </a:r>
            <a:r>
              <a:rPr lang="en-GB" dirty="0"/>
              <a:t>In a directed graph, edges have a </a:t>
            </a:r>
            <a:r>
              <a:rPr lang="en-GB" b="1" dirty="0"/>
              <a:t>direction</a:t>
            </a:r>
            <a:r>
              <a:rPr lang="en-GB" dirty="0"/>
              <a:t> (A → B). This means the relationship goes from one node to another.</a:t>
            </a:r>
            <a:br>
              <a:rPr lang="en-GB" dirty="0"/>
            </a:br>
            <a:r>
              <a:rPr lang="en-GB" i="1" dirty="0"/>
              <a:t>In this project</a:t>
            </a:r>
            <a:r>
              <a:rPr lang="en-GB" dirty="0"/>
              <a:t>, directed graphs represent </a:t>
            </a:r>
            <a:r>
              <a:rPr lang="en-GB" b="1" dirty="0"/>
              <a:t>information flow</a:t>
            </a:r>
            <a:r>
              <a:rPr lang="en-GB" dirty="0"/>
              <a:t>, such as when one account shares content from another account or use entity that was used by the other account.</a:t>
            </a:r>
          </a:p>
          <a:p>
            <a:r>
              <a:rPr lang="en-GB" b="1" dirty="0"/>
              <a:t>Undirected Graph. </a:t>
            </a:r>
            <a:r>
              <a:rPr lang="en-GB" dirty="0"/>
              <a:t>In an undirected graph, edges </a:t>
            </a:r>
            <a:r>
              <a:rPr lang="en-GB" b="1" dirty="0"/>
              <a:t>have no direction</a:t>
            </a:r>
            <a:r>
              <a:rPr lang="en-GB" dirty="0"/>
              <a:t> (A — B). The connection simply shows that two nodes are related.</a:t>
            </a:r>
            <a:br>
              <a:rPr lang="en-GB" dirty="0"/>
            </a:br>
            <a:r>
              <a:rPr lang="en-GB" dirty="0"/>
              <a:t>In this project, undirected graphs represent </a:t>
            </a:r>
            <a:r>
              <a:rPr lang="en-GB" b="1" dirty="0"/>
              <a:t>coordination</a:t>
            </a:r>
            <a:r>
              <a:rPr lang="en-GB" dirty="0"/>
              <a:t>, for example when two accounts use the same entity (e.g., hashtags), without considering the timing of their actions.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73A4E-18AA-8189-C2E9-1F20BF7F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4665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C93FC-57F5-5AA3-2276-E4F871CC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5BC04-45F5-332F-E569-CBBA8A33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Parameters: Directed and Undirected Graphs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DEFF-6819-FE57-57E3-0337F055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21</a:t>
            </a:fld>
            <a:endParaRPr lang="he-IL"/>
          </a:p>
        </p:txBody>
      </p:sp>
      <p:sp>
        <p:nvSpPr>
          <p:cNvPr id="5" name="AutoShape 2" descr="directed_graph">
            <a:extLst>
              <a:ext uri="{FF2B5EF4-FFF2-40B4-BE49-F238E27FC236}">
                <a16:creationId xmlns:a16="http://schemas.microsoft.com/office/drawing/2014/main" id="{7FCF6CC6-D2CB-E2A3-D82C-7F0E456B4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720AA1-12B7-38F3-0F66-BD7E66B0A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53284" y="1635475"/>
            <a:ext cx="9485431" cy="418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B530D7-704D-72DC-ED6A-0E9601FA672F}"/>
              </a:ext>
            </a:extLst>
          </p:cNvPr>
          <p:cNvSpPr txBox="1"/>
          <p:nvPr/>
        </p:nvSpPr>
        <p:spPr>
          <a:xfrm>
            <a:off x="1353284" y="5820922"/>
            <a:ext cx="9485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"/>
              </a:rPr>
              <a:t>Geeks For Geeks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142748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2D43-8A96-E641-793D-643083309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Information Gain Analysis</a:t>
            </a:r>
            <a:br>
              <a:rPr lang="en-GB" dirty="0"/>
            </a:b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3A020-4037-9572-701B-68E38E4F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22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4A153-E232-FAA2-DC96-F91B9E514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471" y="1432795"/>
            <a:ext cx="9881191" cy="49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07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901D6-A326-98B8-5EC2-919A0AAC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804BE-D730-1611-EB41-47F77E88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– </a:t>
            </a:r>
            <a:r>
              <a:rPr lang="en-GB" dirty="0"/>
              <a:t>Boost </a:t>
            </a:r>
            <a:br>
              <a:rPr lang="en-GB" dirty="0"/>
            </a:br>
            <a:r>
              <a:rPr lang="en-GB" sz="3600" dirty="0"/>
              <a:t>(once more)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56EC4-2D10-E491-16CD-11CAE1ECE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Boost author: </a:t>
            </a:r>
            <a:r>
              <a:rPr lang="en-GB" dirty="0"/>
              <a:t>An author whose activity is followed by a significant increase in discussion activity.</a:t>
            </a:r>
          </a:p>
          <a:p>
            <a:r>
              <a:rPr lang="en-GB" b="1" dirty="0"/>
              <a:t>Author`s Boost Score: </a:t>
            </a:r>
            <a:r>
              <a:rPr lang="en-GB" dirty="0"/>
              <a:t>A quantitative measure calculated as the cumulative burst weights associated with a user's activity, based on discussion volume increases occurring shortly after the user posts or contributes.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84F02-C69B-3746-AB0E-5F4CB62F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9868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903E-E174-C7E1-24CB-FA04759F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 Authors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EA240-983E-2D26-E5AF-E24E046AB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/>
            <a:r>
              <a:rPr lang="en-US" b="1" dirty="0"/>
              <a:t>Signal Detection</a:t>
            </a:r>
            <a:r>
              <a:rPr lang="en-US" dirty="0"/>
              <a:t> Aggregate posts into 5-min bins and </a:t>
            </a:r>
            <a:r>
              <a:rPr lang="en-US" b="1" dirty="0"/>
              <a:t>compute</a:t>
            </a:r>
            <a:r>
              <a:rPr lang="en-US" dirty="0"/>
              <a:t> the growth (delta) between consecutive windows.</a:t>
            </a:r>
          </a:p>
          <a:p>
            <a:pPr marL="457200"/>
            <a:r>
              <a:rPr lang="en-US" b="1" dirty="0"/>
              <a:t>Statistical Filtering</a:t>
            </a:r>
            <a:r>
              <a:rPr lang="en-US" dirty="0"/>
              <a:t> Apply a Z-score threshold (Z &gt; 3) to isolate statistically significant activity bursts.</a:t>
            </a:r>
          </a:p>
          <a:p>
            <a:pPr marL="457200"/>
            <a:r>
              <a:rPr lang="en-US" b="1" dirty="0"/>
              <a:t>Temporal Lookback</a:t>
            </a:r>
            <a:r>
              <a:rPr lang="en-US" dirty="0"/>
              <a:t> For each burst, examine the 5-min window immediately preceding the spike.</a:t>
            </a:r>
          </a:p>
          <a:p>
            <a:pPr marL="457200"/>
            <a:r>
              <a:rPr lang="en-US" b="1" dirty="0"/>
              <a:t>Boost Attribution</a:t>
            </a:r>
            <a:r>
              <a:rPr lang="en-US" dirty="0"/>
              <a:t> Distribute burst intensity evenly among lookback users to form each account's Boost Score.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18226-0C65-5496-46E8-596E9DE5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9901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A2A6-6032-44EC-5E2F-731A0B52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8AB6-A063-421C-CF64-A4A5D3662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92253"/>
            <a:ext cx="8753475" cy="1325563"/>
          </a:xfrm>
        </p:spPr>
        <p:txBody>
          <a:bodyPr/>
          <a:lstStyle/>
          <a:p>
            <a:r>
              <a:rPr lang="en-US" dirty="0"/>
              <a:t>Boost Authors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C3C71-49AD-862B-483A-6EED5D92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25</a:t>
            </a:fld>
            <a:endParaRPr lang="he-IL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3A70528-D865-4107-BD86-D7E3D63FD1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 bwMode="auto">
          <a:xfrm>
            <a:off x="1576746" y="1068301"/>
            <a:ext cx="9918568" cy="2806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ADC69D9E-40C2-0407-6347-E0AAD8330E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2076CA-313A-8F65-D1F7-9E9D6616B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180" y="3941232"/>
            <a:ext cx="6772049" cy="27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73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11965</TotalTime>
  <Words>1654</Words>
  <Application>Microsoft Office PowerPoint</Application>
  <PresentationFormat>Widescreen</PresentationFormat>
  <Paragraphs>158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Backbone Graph</vt:lpstr>
      <vt:lpstr>Core Concepts</vt:lpstr>
      <vt:lpstr>PowerPoint Presentation</vt:lpstr>
      <vt:lpstr>Datasets</vt:lpstr>
      <vt:lpstr>Terms &amp; Definitions - IO</vt:lpstr>
      <vt:lpstr>Terms &amp; Definitions - Key</vt:lpstr>
      <vt:lpstr>Terms &amp; Definitions - Boost</vt:lpstr>
      <vt:lpstr>Backbone Graph</vt:lpstr>
      <vt:lpstr>Indicators: Graph Theory </vt:lpstr>
      <vt:lpstr>Indicators: Key Score and Boost </vt:lpstr>
      <vt:lpstr>Indicators: Information Gain</vt:lpstr>
      <vt:lpstr>Backbone Graph &amp; IO Indicators</vt:lpstr>
      <vt:lpstr>Entities Reuse</vt:lpstr>
      <vt:lpstr>Entities Reuse</vt:lpstr>
      <vt:lpstr>Entities Reuse - Account Relations</vt:lpstr>
      <vt:lpstr>Parameters: Topic Modelling</vt:lpstr>
      <vt:lpstr>Parameters: Topic Modelling</vt:lpstr>
      <vt:lpstr>Parameters: Topic Modelling</vt:lpstr>
      <vt:lpstr> Parameters: Key Authors Mode </vt:lpstr>
      <vt:lpstr>Parameters: Directed and Undirected Graphs</vt:lpstr>
      <vt:lpstr>Parameters: Directed and Undirected Graphs</vt:lpstr>
      <vt:lpstr> Information Gain Analysis </vt:lpstr>
      <vt:lpstr>Terms &amp; Definitions – Boost  (once more)</vt:lpstr>
      <vt:lpstr>Boost Authors</vt:lpstr>
      <vt:lpstr>Boost Authors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357</cp:revision>
  <dcterms:created xsi:type="dcterms:W3CDTF">2021-05-04T15:24:24Z</dcterms:created>
  <dcterms:modified xsi:type="dcterms:W3CDTF">2026-03-11T14:19:01Z</dcterms:modified>
</cp:coreProperties>
</file>