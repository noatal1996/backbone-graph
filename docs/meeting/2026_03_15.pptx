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1574" r:id="rId2"/>
    <p:sldId id="1582" r:id="rId3"/>
    <p:sldId id="1576" r:id="rId4"/>
    <p:sldId id="1578" r:id="rId5"/>
    <p:sldId id="1577" r:id="rId6"/>
    <p:sldId id="1579" r:id="rId7"/>
    <p:sldId id="1581" r:id="rId8"/>
    <p:sldId id="1580" r:id="rId9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84E6CC-2EA2-4553-A6A4-DAF877036261}">
          <p14:sldIdLst>
            <p14:sldId id="1574"/>
            <p14:sldId id="1582"/>
            <p14:sldId id="1576"/>
            <p14:sldId id="1578"/>
            <p14:sldId id="1577"/>
            <p14:sldId id="1579"/>
            <p14:sldId id="1581"/>
            <p14:sldId id="15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377"/>
    <a:srgbClr val="F59120"/>
    <a:srgbClr val="FF4343"/>
    <a:srgbClr val="548235"/>
    <a:srgbClr val="009DBB"/>
    <a:srgbClr val="0688BA"/>
    <a:srgbClr val="005488"/>
    <a:srgbClr val="006189"/>
    <a:srgbClr val="5D5D5F"/>
    <a:srgbClr val="FE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E72004-61F2-4D6D-B395-3F69B2DB77B9}" v="6" dt="2026-02-22T11:40:56.8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93" d="100"/>
          <a:sy n="93" d="100"/>
        </p:scale>
        <p:origin x="644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i Puzis (BGU)" userId="15455a32-cfa8-4f75-8502-2ebc95aecdb5" providerId="ADAL" clId="{4604D058-1A9B-4964-A759-971FC0161111}"/>
    <pc:docChg chg="custSel modSld">
      <pc:chgData name="Rami Puzis (BGU)" userId="15455a32-cfa8-4f75-8502-2ebc95aecdb5" providerId="ADAL" clId="{4604D058-1A9B-4964-A759-971FC0161111}" dt="2026-02-22T11:42:08.251" v="89" actId="20577"/>
      <pc:docMkLst>
        <pc:docMk/>
      </pc:docMkLst>
      <pc:sldChg chg="modSp mod">
        <pc:chgData name="Rami Puzis (BGU)" userId="15455a32-cfa8-4f75-8502-2ebc95aecdb5" providerId="ADAL" clId="{4604D058-1A9B-4964-A759-971FC0161111}" dt="2026-02-22T11:42:08.251" v="89" actId="20577"/>
        <pc:sldMkLst>
          <pc:docMk/>
          <pc:sldMk cId="2564283967" sldId="1581"/>
        </pc:sldMkLst>
        <pc:graphicFrameChg chg="mod modGraphic">
          <ac:chgData name="Rami Puzis (BGU)" userId="15455a32-cfa8-4f75-8502-2ebc95aecdb5" providerId="ADAL" clId="{4604D058-1A9B-4964-A759-971FC0161111}" dt="2026-02-22T11:42:08.251" v="89" actId="20577"/>
          <ac:graphicFrameMkLst>
            <pc:docMk/>
            <pc:sldMk cId="2564283967" sldId="1581"/>
            <ac:graphicFrameMk id="6" creationId="{B16D549A-CC57-1C2C-A976-5DA7CC5B824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2915196C-CDBC-4DEE-A220-849C85FC22AC}" type="datetimeFigureOut">
              <a:rPr lang="he-IL" smtClean="0"/>
              <a:t>כ"ו/אדר/תשפ"ו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7F6CD5E7-A5BE-4430-AD67-E129D63AAC5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382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83E6-A85C-4E94-BAD4-349975C5C1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5376" y="1354011"/>
            <a:ext cx="9144000" cy="238760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A3D7B5-5BE4-46C1-BA83-AEDFF303D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5376" y="4218431"/>
            <a:ext cx="9144000" cy="1374013"/>
          </a:xfrm>
        </p:spPr>
        <p:txBody>
          <a:bodyPr>
            <a:normAutofit/>
          </a:bodyPr>
          <a:lstStyle>
            <a:lvl1pPr marL="0" indent="0" algn="l">
              <a:buNone/>
              <a:defRPr lang="he-IL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subtitle style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03C65-1526-4474-93EA-92201F973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3A86-AB79-4388-8CA5-9FC4B834779B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4A285-90E9-4F27-9CCA-0A2DBEB47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19B0E-8F10-4832-ADC3-EA2B0C45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617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65C3A-1C12-429A-B672-CB062EE35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2D984-D254-42A5-88FD-71A5B8FF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3087" y="1825625"/>
            <a:ext cx="10582656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C169-3299-4F42-91D0-7AF77E39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4CBFB-2532-48BA-BAE2-ADD925390740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2A088-F9A8-4123-A1D2-FE112503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A253D-F657-44F9-AA3F-37F3CF175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454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E174-92FD-46FC-9A31-EF3515102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550" y="1709738"/>
            <a:ext cx="7852146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61C8F-4A58-4042-B898-A57C837DF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95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B49A7-5C76-42AD-8811-4CADE0447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1FDD-37C4-4A6B-BF31-779943CE32CF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F3F55-C2A3-4A87-96C0-A01E9BCA6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76F6-B98E-4B7D-839A-27BF9494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90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5C3C-CE9E-4F7A-B728-9A335B51FB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48EB9-480D-4A31-8BC3-B899B4AA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6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AF003-9AC3-4B4C-A1AA-89972395A0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0991" y="1821101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9E07C-7B13-4A7C-AEAC-814BACF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C226C-A76A-4927-8F1D-1BD4AC033ABB}" type="datetime8">
              <a:rPr lang="he-IL" smtClean="0"/>
              <a:t>15 מרץ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6D24B-DA20-4CC6-87E7-866505B0C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E9C41-8689-47B3-A905-634220202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3729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DD0EE-D523-4780-A9CF-B6EE518CD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117" y="355600"/>
            <a:ext cx="8743124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447D-A16E-4B99-8F74-2BA51BF54C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3148" y="1717419"/>
            <a:ext cx="5157787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9B268A-D31A-4C35-948F-BF312EE59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3148" y="2511171"/>
            <a:ext cx="5157787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0F3C6-09D4-4383-99DD-32F9053ACE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41752" y="1717419"/>
            <a:ext cx="5183188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24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1A8D3-C002-4BA1-96FF-375F70D218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41752" y="2517267"/>
            <a:ext cx="5183188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5CAC5E-E4EB-4131-AAEF-73C34796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F2BF-D428-43E9-B36B-6DD16CF93579}" type="datetime8">
              <a:rPr lang="he-IL" smtClean="0"/>
              <a:t>15 מרץ 26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EC57A3-285F-4D36-851E-593C5F28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6F8AB8-B698-4176-96F8-B833FE013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256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BF78-4DF0-407A-8E5A-BEF1E0D8B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9A3A88-6914-48FB-BE6F-948C3C66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9136-4922-4C74-B05C-12CD0951E601}" type="datetime8">
              <a:rPr lang="he-IL" smtClean="0"/>
              <a:t>15 מרץ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0A1D4-4FBF-400A-B2CE-30A42EF7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B1F93-B2D0-4E42-B3CE-E85D6FC9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52457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8500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213734-3C5F-473D-9DD6-0C484ADFB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F3CA8-2E63-412C-AA06-0D760EBE5965}" type="datetime8">
              <a:rPr lang="he-IL" smtClean="0"/>
              <a:t>15 מרץ 26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48D2E8-A18C-4B06-AF11-07B4F9C53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CBE2-2F2D-43B9-8BC3-25BA1DDA4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7865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80516-8B4A-495E-BFE5-33BF2DA5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684" y="98132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3460-117E-457C-9F0F-1AA7B34F2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0804" y="987425"/>
            <a:ext cx="617220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E485A-1FF8-4FDD-A659-6ACC7998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912684" y="2581529"/>
            <a:ext cx="3932237" cy="329514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A78A4-064B-49BB-9360-FC686D8B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7B867-AA4A-4FF3-AD8B-0AD0F18EE595}" type="datetime8">
              <a:rPr lang="he-IL" smtClean="0"/>
              <a:t>15 מרץ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D0114A-6704-44C0-BCAE-EAB756E6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98D20-B7C4-4CE0-812C-9B6976E0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4658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81F6-3528-4A38-B435-490FC2AFC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173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A6AE1-0DCE-4A5A-AC24-95C331B15D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987425"/>
            <a:ext cx="5259387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D3E13-E71C-4EE3-BA14-54D61F729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7173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A2D14-BF1B-420A-B0DF-91CD6E77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EBD3-88E8-46DB-BD3B-F935B7013014}" type="datetime8">
              <a:rPr lang="he-IL" smtClean="0"/>
              <a:t>15 מרץ 26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27BD5-73FD-47B4-BCDF-92BB6EA1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5EAC3-6043-41F9-B8D4-7F41DABB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2402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A57A-6715-4A64-AF19-74F322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D19522-954F-44AB-A8B2-881237A98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7FD09-CBF4-4ADA-B2BB-979C1F74B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56BC8-8E7D-4896-9980-77BC87FB8E3E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DEA1C-6A3E-4E8A-94C4-85129424B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97DB-9E67-41A9-B2B3-D6E6133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51003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7D7B8-0F66-43EC-B9A2-C261F37BC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B89D3-E69A-49EE-8D8C-EAC8400E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10142" y="365125"/>
            <a:ext cx="7262357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9B41-D269-4701-B27C-CDDBCF20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27C8-CB36-417E-834B-544633ADCE63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14E7-5E00-4D30-9BDD-9B32BEA0F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1914F-9592-4EB2-998B-B922F8A28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/>
          <a:lstStyle/>
          <a:p>
            <a:fld id="{E6AB8EDD-9EF2-4633-A1C2-4D908C1019B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5556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f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2684E-6693-F58C-BC24-150353E8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5D1C-C98B-44F5-AB2A-FEE3E85D0A94}" type="datetime8">
              <a:rPr lang="he-IL" smtClean="0"/>
              <a:t>15 מרץ 26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C0620-C9BE-4C99-2D6C-A02A9A67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8F728-5692-0756-E6BD-FFB67E1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221434F7-1295-8CB3-5E53-891A52C3D7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t="8664" r="8034" b="78094"/>
          <a:stretch>
            <a:fillRect/>
          </a:stretch>
        </p:blipFill>
        <p:spPr>
          <a:xfrm>
            <a:off x="1038256" y="2478278"/>
            <a:ext cx="10821413" cy="22942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FF33BC-21D6-16B0-C505-3CEE5CDF6D13}"/>
              </a:ext>
            </a:extLst>
          </p:cNvPr>
          <p:cNvSpPr txBox="1"/>
          <p:nvPr userDrawn="1"/>
        </p:nvSpPr>
        <p:spPr>
          <a:xfrm>
            <a:off x="3072268" y="679697"/>
            <a:ext cx="87534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0" kern="1200" dirty="0">
                <a:solidFill>
                  <a:srgbClr val="009DBB"/>
                </a:solidFill>
                <a:latin typeface="+mj-lt"/>
                <a:ea typeface="+mj-ea"/>
                <a:cs typeface="+mj-cs"/>
              </a:rPr>
              <a:t>Workflow</a:t>
            </a:r>
            <a:endParaRPr lang="en-IL" sz="4400" b="0" kern="1200" dirty="0">
              <a:solidFill>
                <a:srgbClr val="009DBB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238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EDABD8-1012-46AD-89C2-C8E4E06DB9B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5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9C71F-AAAB-425C-B1EA-7A7182DF4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FA75E-5AAA-412B-BAE0-CF5F86B37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1014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198C1-7EB5-4CA4-98A0-2833A18F3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101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65D1C-C98B-44F5-AB2A-FEE3E85D0A94}" type="datetime8">
              <a:rPr lang="he-IL" smtClean="0"/>
              <a:t>15 מרץ 26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97CC5-2317-4D8E-8C89-E7B89F4BE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1054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048FF-C291-43F3-A9DD-3B48AE56F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704" y="6476841"/>
            <a:ext cx="4522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8EDD-9EF2-4633-A1C2-4D908C1019B4}" type="slidenum">
              <a:rPr lang="he-IL" smtClean="0"/>
              <a:pPr/>
              <a:t>‹#›</a:t>
            </a:fld>
            <a:endParaRPr lang="he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1D43D3-8C77-B77A-1D9D-8CDC43D8429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957" y="6139952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5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9DB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 descr="A green object on a black surface&#10;&#10;Description automatically generated with low confidence">
            <a:extLst>
              <a:ext uri="{FF2B5EF4-FFF2-40B4-BE49-F238E27FC236}">
                <a16:creationId xmlns:a16="http://schemas.microsoft.com/office/drawing/2014/main" id="{3CB67A20-DF50-FA5C-9F89-051979AEC24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6" r="11818" b="26261"/>
          <a:stretch/>
        </p:blipFill>
        <p:spPr>
          <a:xfrm>
            <a:off x="4547937" y="0"/>
            <a:ext cx="7644062" cy="36567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F2EE9F-F796-A6BB-3045-695978EABE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8830" r="-1" b="729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220BDD-53D9-474C-9782-2415C685D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56582"/>
            <a:ext cx="5395912" cy="1724819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Backbone Graph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553B468-8035-4F27-9A10-D7A4E7C75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824627"/>
            <a:ext cx="4089399" cy="1917801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prstClr val="white"/>
                </a:solidFill>
              </a:rPr>
              <a:t>15.03.2026</a:t>
            </a:r>
          </a:p>
          <a:p>
            <a:r>
              <a:rPr lang="en-US" dirty="0"/>
              <a:t>Amit Ner Gaon, Noa Tal</a:t>
            </a:r>
          </a:p>
          <a:p>
            <a:r>
              <a:rPr lang="en-US" dirty="0"/>
              <a:t>Prof. Rami </a:t>
            </a:r>
            <a:r>
              <a:rPr lang="en-US" dirty="0" err="1"/>
              <a:t>Puzis</a:t>
            </a:r>
            <a:endParaRPr lang="en-IL" dirty="0"/>
          </a:p>
          <a:p>
            <a:endParaRPr lang="en-US" b="1" dirty="0">
              <a:solidFill>
                <a:prstClr val="white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E9033-B890-41F0-A499-F7F83D1F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E6AB8EDD-9EF2-4633-A1C2-4D908C1019B4}" type="slidenum">
              <a:rPr kumimoji="0" lang="he-IL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itle 4">
            <a:extLst>
              <a:ext uri="{FF2B5EF4-FFF2-40B4-BE49-F238E27FC236}">
                <a16:creationId xmlns:a16="http://schemas.microsoft.com/office/drawing/2014/main" id="{6D84A53B-A147-EEC0-9D81-D931915B4D17}"/>
              </a:ext>
            </a:extLst>
          </p:cNvPr>
          <p:cNvSpPr txBox="1">
            <a:spLocks/>
          </p:cNvSpPr>
          <p:nvPr/>
        </p:nvSpPr>
        <p:spPr>
          <a:xfrm>
            <a:off x="838200" y="3706020"/>
            <a:ext cx="3138714" cy="625462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he-IL" sz="4800" kern="1200" dirty="0">
                <a:solidFill>
                  <a:srgbClr val="009DBB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DE9F95-0435-3A81-61D6-23ED74B595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3" y="0"/>
            <a:ext cx="2642865" cy="79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67BF-CB50-2CA8-C332-5884E859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 Overlap</a:t>
            </a:r>
            <a:endParaRPr lang="en-IL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DDFD0E-C24B-B08A-838E-360AF3931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137" y="2107418"/>
            <a:ext cx="4639847" cy="397701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A34FB-E871-FA5A-1A1A-1561683BE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2</a:t>
            </a:fld>
            <a:endParaRPr lang="he-IL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4AD99A-E991-0A8D-493D-0AC559467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7398" y="2107418"/>
            <a:ext cx="4525040" cy="38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69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A0EE-8D43-A1A5-7800-E7FE947A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Indicators Correlation</a:t>
            </a:r>
            <a:endParaRPr lang="en-IL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2B1DB7-B90B-989C-5EAD-A0977E557C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591" y="1308167"/>
            <a:ext cx="5343495" cy="542951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A4578-9282-AB68-448B-B284A01D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81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5985A-DBAB-AB49-DC8E-E7BC14361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07D3B25A-3FCF-FEB7-A157-AB57952D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268" y="401637"/>
            <a:ext cx="8753475" cy="1325563"/>
          </a:xfrm>
        </p:spPr>
        <p:txBody>
          <a:bodyPr/>
          <a:lstStyle/>
          <a:p>
            <a:r>
              <a:rPr lang="en-US" dirty="0"/>
              <a:t>Indicators Distributions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AD17FD1-EAC3-81F9-65A3-510C8C16A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87" y="2268383"/>
            <a:ext cx="10582656" cy="3465822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7C47F-0B63-28BC-81F8-F49568CC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8704" y="6464649"/>
            <a:ext cx="4522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6AB8EDD-9EF2-4633-A1C2-4D908C1019B4}" type="slidenum">
              <a:rPr lang="he-IL" smtClean="0"/>
              <a:pPr>
                <a:spcAft>
                  <a:spcPts val="600"/>
                </a:spcAft>
              </a:pPr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9168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5ADB-A922-DDB4-517B-4239B551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8E7D4-0BDE-7AB5-05A0-78EC1A9C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Indicators Io Linear Coefficients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76A65-4905-F544-0991-EC777F13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5</a:t>
            </a:fld>
            <a:endParaRPr lang="he-IL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585E38C-F332-8CB3-D882-124467957A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387" y="2155397"/>
            <a:ext cx="7689226" cy="392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14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5B7E-FAB2-C3E5-ACB7-3E0BB5084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17F82-2900-903C-6F17-3AA5A9D4F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Indicators Information Gain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FFAE2-DD69-A578-ED49-C308E48A0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6</a:t>
            </a:fld>
            <a:endParaRPr lang="he-IL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53B2E46-E6B6-7A64-93C1-31194A75F0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280" y="1727200"/>
            <a:ext cx="8447439" cy="422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9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7E3B1-CBEE-CC54-C26E-D67ECFD8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8AAC-FC3F-53AC-1B6B-39A65FFC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Classification: Pipeline Parameters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23305-C736-3B2F-40C8-82D836B5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7</a:t>
            </a:fld>
            <a:endParaRPr lang="he-I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F4DF5F-8D3F-DA64-0660-C9D95FB96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b="1" dirty="0"/>
              <a:t>IO and Key Authors Overview (BERTopic_topic_256)</a:t>
            </a:r>
            <a:endParaRPr lang="en-GB" dirty="0"/>
          </a:p>
          <a:p>
            <a:r>
              <a:rPr lang="en-GB" b="1" dirty="0"/>
              <a:t>Total authors:</a:t>
            </a:r>
            <a:r>
              <a:rPr lang="en-GB" dirty="0"/>
              <a:t> 21,923</a:t>
            </a:r>
          </a:p>
          <a:p>
            <a:r>
              <a:rPr lang="en-GB" b="1" dirty="0"/>
              <a:t>IO authors:</a:t>
            </a:r>
            <a:r>
              <a:rPr lang="en-GB" dirty="0"/>
              <a:t> 787 (</a:t>
            </a:r>
            <a:r>
              <a:rPr lang="en-GB" b="1" dirty="0"/>
              <a:t>3.6%</a:t>
            </a:r>
            <a:r>
              <a:rPr lang="en-GB" dirty="0"/>
              <a:t> of all authors)</a:t>
            </a:r>
          </a:p>
          <a:p>
            <a:r>
              <a:rPr lang="en-GB" b="1" dirty="0"/>
              <a:t>Key authors:</a:t>
            </a:r>
            <a:r>
              <a:rPr lang="en-GB" dirty="0"/>
              <a:t> 4,485 (</a:t>
            </a:r>
            <a:r>
              <a:rPr lang="en-GB" b="1" dirty="0"/>
              <a:t>20.5%</a:t>
            </a:r>
            <a:r>
              <a:rPr lang="en-GB" dirty="0"/>
              <a:t> of all authors)</a:t>
            </a:r>
          </a:p>
          <a:p>
            <a:r>
              <a:rPr lang="en-GB" b="1" dirty="0"/>
              <a:t>Boost authors:</a:t>
            </a:r>
            <a:r>
              <a:rPr lang="en-GB" dirty="0"/>
              <a:t> 318 (</a:t>
            </a:r>
            <a:r>
              <a:rPr lang="en-GB" b="1" dirty="0"/>
              <a:t>1.5%</a:t>
            </a:r>
            <a:r>
              <a:rPr lang="en-GB" dirty="0"/>
              <a:t> of all authors)</a:t>
            </a:r>
          </a:p>
          <a:p>
            <a:r>
              <a:rPr lang="en-GB" b="1" dirty="0"/>
              <a:t>Overlap between IO and key authors:</a:t>
            </a:r>
            <a:endParaRPr lang="en-GB" dirty="0"/>
          </a:p>
          <a:p>
            <a:pPr marL="742950" lvl="1" indent="-285750"/>
            <a:r>
              <a:rPr lang="en-GB" dirty="0"/>
              <a:t>473 authors are both </a:t>
            </a:r>
            <a:r>
              <a:rPr lang="en-GB" b="1" dirty="0"/>
              <a:t>IO and key authors</a:t>
            </a:r>
            <a:endParaRPr lang="en-GB" dirty="0"/>
          </a:p>
          <a:p>
            <a:pPr marL="742950" lvl="1" indent="-285750"/>
            <a:r>
              <a:rPr lang="en-GB" b="1" dirty="0"/>
              <a:t>60.1% of IO authors are also key authors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30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BD32D-B93C-144F-B4A7-747A7BE6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B3EFA-D40D-462B-CCC8-BC84B84C8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Classification: Random Forest</a:t>
            </a:r>
            <a:br>
              <a:rPr lang="en-GB" dirty="0"/>
            </a:br>
            <a:r>
              <a:rPr lang="en-GB" dirty="0"/>
              <a:t> (key authors only)</a:t>
            </a:r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12938-BA7A-E716-9827-9D6F9FD6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AB8EDD-9EF2-4633-A1C2-4D908C1019B4}" type="slidenum">
              <a:rPr lang="he-IL" smtClean="0"/>
              <a:t>8</a:t>
            </a:fld>
            <a:endParaRPr lang="he-IL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6E7A43-0AE3-9217-A715-70078FB72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214" y="2435953"/>
            <a:ext cx="7839572" cy="391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37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12104</TotalTime>
  <Words>122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Backbone Graph</vt:lpstr>
      <vt:lpstr>Author Overlap</vt:lpstr>
      <vt:lpstr>Indicators Correlation</vt:lpstr>
      <vt:lpstr>Indicators Distributions</vt:lpstr>
      <vt:lpstr>Indicators Io Linear Coefficients</vt:lpstr>
      <vt:lpstr>Indicators Information Gain</vt:lpstr>
      <vt:lpstr>Classification: Pipeline Parameters</vt:lpstr>
      <vt:lpstr>Classification: Random Forest  (key authors only)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Edita Grolman</dc:creator>
  <cp:lastModifiedBy>Amit Ner Gaon</cp:lastModifiedBy>
  <cp:revision>362</cp:revision>
  <dcterms:created xsi:type="dcterms:W3CDTF">2021-05-04T15:24:24Z</dcterms:created>
  <dcterms:modified xsi:type="dcterms:W3CDTF">2026-03-15T16:02:21Z</dcterms:modified>
</cp:coreProperties>
</file>