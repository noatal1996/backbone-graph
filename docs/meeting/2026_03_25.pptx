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1574" r:id="rId2"/>
    <p:sldId id="1581" r:id="rId3"/>
    <p:sldId id="1650" r:id="rId4"/>
    <p:sldId id="1646" r:id="rId5"/>
    <p:sldId id="1577" r:id="rId6"/>
    <p:sldId id="1582" r:id="rId7"/>
    <p:sldId id="1591" r:id="rId8"/>
    <p:sldId id="1613" r:id="rId9"/>
    <p:sldId id="1647" r:id="rId10"/>
    <p:sldId id="1648" r:id="rId11"/>
    <p:sldId id="1649" r:id="rId12"/>
    <p:sldId id="1642" r:id="rId13"/>
    <p:sldId id="1652" r:id="rId14"/>
    <p:sldId id="1651" r:id="rId15"/>
    <p:sldId id="1628" r:id="rId16"/>
    <p:sldId id="1653" r:id="rId17"/>
    <p:sldId id="1645" r:id="rId18"/>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84E6CC-2EA2-4553-A6A4-DAF877036261}">
          <p14:sldIdLst>
            <p14:sldId id="1574"/>
            <p14:sldId id="1581"/>
            <p14:sldId id="1650"/>
            <p14:sldId id="1646"/>
            <p14:sldId id="1577"/>
            <p14:sldId id="1582"/>
            <p14:sldId id="1591"/>
            <p14:sldId id="1613"/>
            <p14:sldId id="1647"/>
            <p14:sldId id="1648"/>
            <p14:sldId id="1649"/>
            <p14:sldId id="1642"/>
            <p14:sldId id="1652"/>
            <p14:sldId id="1651"/>
            <p14:sldId id="1628"/>
            <p14:sldId id="1653"/>
            <p14:sldId id="16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377"/>
    <a:srgbClr val="F59120"/>
    <a:srgbClr val="FF4343"/>
    <a:srgbClr val="548235"/>
    <a:srgbClr val="009DBB"/>
    <a:srgbClr val="0688BA"/>
    <a:srgbClr val="005488"/>
    <a:srgbClr val="006189"/>
    <a:srgbClr val="5D5D5F"/>
    <a:srgbClr val="FE01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E72004-61F2-4D6D-B395-3F69B2DB77B9}" v="6" dt="2026-02-22T11:40:56.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79" d="100"/>
          <a:sy n="79" d="100"/>
        </p:scale>
        <p:origin x="744"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i Puzis (BGU)" userId="15455a32-cfa8-4f75-8502-2ebc95aecdb5" providerId="ADAL" clId="{4604D058-1A9B-4964-A759-971FC0161111}"/>
    <pc:docChg chg="custSel modSld">
      <pc:chgData name="Rami Puzis (BGU)" userId="15455a32-cfa8-4f75-8502-2ebc95aecdb5" providerId="ADAL" clId="{4604D058-1A9B-4964-A759-971FC0161111}" dt="2026-02-22T11:42:08.251" v="89" actId="20577"/>
      <pc:docMkLst>
        <pc:docMk/>
      </pc:docMkLst>
      <pc:sldChg chg="modSp mod">
        <pc:chgData name="Rami Puzis (BGU)" userId="15455a32-cfa8-4f75-8502-2ebc95aecdb5" providerId="ADAL" clId="{4604D058-1A9B-4964-A759-971FC0161111}" dt="2026-02-22T11:42:08.251" v="89" actId="20577"/>
        <pc:sldMkLst>
          <pc:docMk/>
          <pc:sldMk cId="2564283967" sldId="1581"/>
        </pc:sldMkLst>
        <pc:graphicFrameChg chg="mod modGraphic">
          <ac:chgData name="Rami Puzis (BGU)" userId="15455a32-cfa8-4f75-8502-2ebc95aecdb5" providerId="ADAL" clId="{4604D058-1A9B-4964-A759-971FC0161111}" dt="2026-02-22T11:42:08.251" v="89" actId="20577"/>
          <ac:graphicFrameMkLst>
            <pc:docMk/>
            <pc:sldMk cId="2564283967" sldId="1581"/>
            <ac:graphicFrameMk id="6" creationId="{B16D549A-CC57-1C2C-A976-5DA7CC5B8247}"/>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1ADD07-83FC-412A-AFCA-54ED7AB8BDE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20BF6AF-D097-451B-B004-3E4F0E0AEEB9}">
      <dgm:prSet/>
      <dgm:spPr/>
      <dgm:t>
        <a:bodyPr/>
        <a:lstStyle/>
        <a:p>
          <a:pPr rtl="0"/>
          <a:r>
            <a:rPr lang="en-GB" dirty="0"/>
            <a:t>Hypothesis: </a:t>
          </a:r>
        </a:p>
        <a:p>
          <a:pPr rtl="0"/>
          <a:r>
            <a:rPr lang="en-GB" dirty="0"/>
            <a:t>Successful information operation </a:t>
          </a:r>
          <a:r>
            <a:rPr lang="en-GB" b="0" dirty="0"/>
            <a:t>drivers</a:t>
          </a:r>
          <a:r>
            <a:rPr lang="en-GB" dirty="0"/>
            <a:t> </a:t>
          </a:r>
          <a:r>
            <a:rPr lang="en-GB" b="1" dirty="0"/>
            <a:t>lead topic-level discourse </a:t>
          </a:r>
          <a:r>
            <a:rPr lang="en-GB" dirty="0"/>
            <a:t>and act in </a:t>
          </a:r>
          <a:r>
            <a:rPr lang="en-GB" b="1" dirty="0"/>
            <a:t>coordination</a:t>
          </a:r>
          <a:r>
            <a:rPr lang="en-GB" dirty="0"/>
            <a:t> with other drivers. </a:t>
          </a:r>
          <a:endParaRPr lang="en-US" dirty="0"/>
        </a:p>
      </dgm:t>
    </dgm:pt>
    <dgm:pt modelId="{1B3DA8FE-615C-4CAD-AD1A-83C4D5C3B18E}" type="parTrans" cxnId="{C0F4BB65-B1A1-46FC-8E88-C5B7A3B5290C}">
      <dgm:prSet/>
      <dgm:spPr/>
      <dgm:t>
        <a:bodyPr/>
        <a:lstStyle/>
        <a:p>
          <a:endParaRPr lang="en-US"/>
        </a:p>
      </dgm:t>
    </dgm:pt>
    <dgm:pt modelId="{F3538FF5-C72C-4C84-89BC-6ECE192FF4F4}" type="sibTrans" cxnId="{C0F4BB65-B1A1-46FC-8E88-C5B7A3B5290C}">
      <dgm:prSet/>
      <dgm:spPr/>
      <dgm:t>
        <a:bodyPr/>
        <a:lstStyle/>
        <a:p>
          <a:endParaRPr lang="en-US"/>
        </a:p>
      </dgm:t>
    </dgm:pt>
    <dgm:pt modelId="{E39D2ACD-8A0D-4B01-833E-8042ACD0DB54}">
      <dgm:prSet/>
      <dgm:spPr/>
      <dgm:t>
        <a:bodyPr/>
        <a:lstStyle/>
        <a:p>
          <a:pPr rtl="0"/>
          <a:r>
            <a:rPr lang="en-GB" dirty="0"/>
            <a:t>Objectives:</a:t>
          </a:r>
        </a:p>
        <a:p>
          <a:pPr rtl="0"/>
          <a:r>
            <a:rPr lang="en-GB" dirty="0"/>
            <a:t>Author’s </a:t>
          </a:r>
          <a:r>
            <a:rPr lang="en-GB" b="1" dirty="0"/>
            <a:t>key score </a:t>
          </a:r>
          <a:r>
            <a:rPr lang="en-GB" b="0" dirty="0"/>
            <a:t>to </a:t>
          </a:r>
          <a:r>
            <a:rPr lang="en-GB" dirty="0"/>
            <a:t>quantify topic leadership. </a:t>
          </a:r>
        </a:p>
        <a:p>
          <a:pPr rtl="0"/>
          <a:r>
            <a:rPr lang="en-GB" b="1" dirty="0"/>
            <a:t>Backbone graph </a:t>
          </a:r>
          <a:r>
            <a:rPr lang="en-GB" b="0" dirty="0"/>
            <a:t>to </a:t>
          </a:r>
          <a:r>
            <a:rPr lang="en-GB" dirty="0"/>
            <a:t>capture coordination among key authors. </a:t>
          </a:r>
          <a:endParaRPr lang="en-US" dirty="0"/>
        </a:p>
      </dgm:t>
    </dgm:pt>
    <dgm:pt modelId="{50BCA0A0-F847-40B6-A29A-9E80CAFF435E}" type="parTrans" cxnId="{BCC7FBA5-3595-4076-A26A-50B09B66D361}">
      <dgm:prSet/>
      <dgm:spPr/>
      <dgm:t>
        <a:bodyPr/>
        <a:lstStyle/>
        <a:p>
          <a:endParaRPr lang="en-US"/>
        </a:p>
      </dgm:t>
    </dgm:pt>
    <dgm:pt modelId="{06BACE1A-323F-4E92-90EF-7FB1DEFFCD2C}" type="sibTrans" cxnId="{BCC7FBA5-3595-4076-A26A-50B09B66D361}">
      <dgm:prSet/>
      <dgm:spPr/>
      <dgm:t>
        <a:bodyPr/>
        <a:lstStyle/>
        <a:p>
          <a:endParaRPr lang="en-US"/>
        </a:p>
      </dgm:t>
    </dgm:pt>
    <dgm:pt modelId="{2A8A38E9-53CA-44D5-8DFC-907932863099}">
      <dgm:prSet custT="1"/>
      <dgm:spPr/>
      <dgm:t>
        <a:bodyPr/>
        <a:lstStyle/>
        <a:p>
          <a:pPr rtl="0"/>
          <a:r>
            <a:rPr lang="en-GB" sz="1800" kern="1200" dirty="0"/>
            <a:t>Goal:</a:t>
          </a:r>
        </a:p>
        <a:p>
          <a:pPr rtl="0"/>
          <a:r>
            <a:rPr lang="en-GB" sz="1800" kern="1200" dirty="0">
              <a:solidFill>
                <a:prstClr val="black">
                  <a:hueOff val="0"/>
                  <a:satOff val="0"/>
                  <a:lumOff val="0"/>
                  <a:alphaOff val="0"/>
                </a:prstClr>
              </a:solidFill>
              <a:latin typeface="Calibri" panose="020F0502020204030204"/>
              <a:ea typeface="+mn-ea"/>
              <a:cs typeface="+mn-cs"/>
            </a:rPr>
            <a:t>Calculation</a:t>
          </a:r>
          <a:r>
            <a:rPr lang="en-GB" sz="1800" kern="1200" dirty="0"/>
            <a:t> of </a:t>
          </a:r>
          <a:r>
            <a:rPr lang="en-GB" sz="1800" b="1" kern="1200" dirty="0"/>
            <a:t>graph-based indicators </a:t>
          </a:r>
          <a:r>
            <a:rPr lang="en-GB" sz="1800" kern="1200" dirty="0"/>
            <a:t>(e.g., centralities) to identify information operation (IO) drivers.</a:t>
          </a:r>
          <a:endParaRPr lang="en-US" sz="1800" kern="1200" dirty="0"/>
        </a:p>
      </dgm:t>
    </dgm:pt>
    <dgm:pt modelId="{1C19421E-9F25-4C69-A119-786E9C23DCF0}" type="parTrans" cxnId="{3ACB8547-BA01-42D1-807F-761232340476}">
      <dgm:prSet/>
      <dgm:spPr/>
      <dgm:t>
        <a:bodyPr/>
        <a:lstStyle/>
        <a:p>
          <a:endParaRPr lang="en-US"/>
        </a:p>
      </dgm:t>
    </dgm:pt>
    <dgm:pt modelId="{DAD72EB5-E415-4649-A88F-D2A6BD457E78}" type="sibTrans" cxnId="{3ACB8547-BA01-42D1-807F-761232340476}">
      <dgm:prSet/>
      <dgm:spPr/>
      <dgm:t>
        <a:bodyPr/>
        <a:lstStyle/>
        <a:p>
          <a:endParaRPr lang="en-US"/>
        </a:p>
      </dgm:t>
    </dgm:pt>
    <dgm:pt modelId="{B49D8D80-4BEC-43F9-8332-FDD107B3F2C9}" type="pres">
      <dgm:prSet presAssocID="{551ADD07-83FC-412A-AFCA-54ED7AB8BDE9}" presName="root" presStyleCnt="0">
        <dgm:presLayoutVars>
          <dgm:dir/>
          <dgm:resizeHandles val="exact"/>
        </dgm:presLayoutVars>
      </dgm:prSet>
      <dgm:spPr/>
    </dgm:pt>
    <dgm:pt modelId="{234596F3-45E6-4A0B-84CB-CD7F1CEC7BB6}" type="pres">
      <dgm:prSet presAssocID="{920BF6AF-D097-451B-B004-3E4F0E0AEEB9}" presName="compNode" presStyleCnt="0"/>
      <dgm:spPr/>
    </dgm:pt>
    <dgm:pt modelId="{2C6B269B-04EF-4B77-8D34-4ED88A9CC619}" type="pres">
      <dgm:prSet presAssocID="{920BF6AF-D097-451B-B004-3E4F0E0AEEB9}" presName="bgRect" presStyleLbl="bgShp" presStyleIdx="0" presStyleCnt="3"/>
      <dgm:spPr/>
    </dgm:pt>
    <dgm:pt modelId="{AB766CAB-60EC-49F0-89A5-002DEB1DC9EC}" type="pres">
      <dgm:prSet presAssocID="{920BF6AF-D097-451B-B004-3E4F0E0AEEB9}"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cientific Thought with solid fill"/>
        </a:ext>
      </dgm:extLst>
    </dgm:pt>
    <dgm:pt modelId="{0B721B38-D226-410F-BAC9-2D888665195E}" type="pres">
      <dgm:prSet presAssocID="{920BF6AF-D097-451B-B004-3E4F0E0AEEB9}" presName="spaceRect" presStyleCnt="0"/>
      <dgm:spPr/>
    </dgm:pt>
    <dgm:pt modelId="{3E637D1C-C465-4876-A83C-04C72BB5E998}" type="pres">
      <dgm:prSet presAssocID="{920BF6AF-D097-451B-B004-3E4F0E0AEEB9}" presName="parTx" presStyleLbl="revTx" presStyleIdx="0" presStyleCnt="3">
        <dgm:presLayoutVars>
          <dgm:chMax val="0"/>
          <dgm:chPref val="0"/>
        </dgm:presLayoutVars>
      </dgm:prSet>
      <dgm:spPr/>
    </dgm:pt>
    <dgm:pt modelId="{A0B18739-A66C-4214-A36E-80ABCD3F56E6}" type="pres">
      <dgm:prSet presAssocID="{F3538FF5-C72C-4C84-89BC-6ECE192FF4F4}" presName="sibTrans" presStyleCnt="0"/>
      <dgm:spPr/>
    </dgm:pt>
    <dgm:pt modelId="{E94B648F-B109-44D3-A362-5A7CD8456848}" type="pres">
      <dgm:prSet presAssocID="{E39D2ACD-8A0D-4B01-833E-8042ACD0DB54}" presName="compNode" presStyleCnt="0"/>
      <dgm:spPr/>
    </dgm:pt>
    <dgm:pt modelId="{02F5843F-E1CD-4550-87C4-36EB26BEC779}" type="pres">
      <dgm:prSet presAssocID="{E39D2ACD-8A0D-4B01-833E-8042ACD0DB54}" presName="bgRect" presStyleLbl="bgShp" presStyleIdx="1" presStyleCnt="3"/>
      <dgm:spPr/>
    </dgm:pt>
    <dgm:pt modelId="{9E158E14-3B86-4CC1-9750-95325F6E3EB0}" type="pres">
      <dgm:prSet presAssocID="{E39D2ACD-8A0D-4B01-833E-8042ACD0DB54}"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User network with solid fill"/>
        </a:ext>
      </dgm:extLst>
    </dgm:pt>
    <dgm:pt modelId="{F60FB6F8-463F-492D-AC38-859ADB965D33}" type="pres">
      <dgm:prSet presAssocID="{E39D2ACD-8A0D-4B01-833E-8042ACD0DB54}" presName="spaceRect" presStyleCnt="0"/>
      <dgm:spPr/>
    </dgm:pt>
    <dgm:pt modelId="{F428F88E-A70C-48F6-A66B-5274C025ABDE}" type="pres">
      <dgm:prSet presAssocID="{E39D2ACD-8A0D-4B01-833E-8042ACD0DB54}" presName="parTx" presStyleLbl="revTx" presStyleIdx="1" presStyleCnt="3">
        <dgm:presLayoutVars>
          <dgm:chMax val="0"/>
          <dgm:chPref val="0"/>
        </dgm:presLayoutVars>
      </dgm:prSet>
      <dgm:spPr/>
    </dgm:pt>
    <dgm:pt modelId="{F5E726E4-A878-457E-933C-BCEA315CA0C3}" type="pres">
      <dgm:prSet presAssocID="{06BACE1A-323F-4E92-90EF-7FB1DEFFCD2C}" presName="sibTrans" presStyleCnt="0"/>
      <dgm:spPr/>
    </dgm:pt>
    <dgm:pt modelId="{BD3B9828-9F25-45F0-995B-881D686D90DF}" type="pres">
      <dgm:prSet presAssocID="{2A8A38E9-53CA-44D5-8DFC-907932863099}" presName="compNode" presStyleCnt="0"/>
      <dgm:spPr/>
    </dgm:pt>
    <dgm:pt modelId="{85833E2F-A6EA-4B2D-BD32-529530AB4589}" type="pres">
      <dgm:prSet presAssocID="{2A8A38E9-53CA-44D5-8DFC-907932863099}" presName="bgRect" presStyleLbl="bgShp" presStyleIdx="2" presStyleCnt="3"/>
      <dgm:spPr/>
    </dgm:pt>
    <dgm:pt modelId="{847822B6-69AC-4972-8322-EB9ABE8D34B9}" type="pres">
      <dgm:prSet presAssocID="{2A8A38E9-53CA-44D5-8DFC-907932863099}"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lculator with solid fill"/>
        </a:ext>
      </dgm:extLst>
    </dgm:pt>
    <dgm:pt modelId="{DDA98E99-0ADD-4B53-8FFE-DE6E80B72A59}" type="pres">
      <dgm:prSet presAssocID="{2A8A38E9-53CA-44D5-8DFC-907932863099}" presName="spaceRect" presStyleCnt="0"/>
      <dgm:spPr/>
    </dgm:pt>
    <dgm:pt modelId="{7E1E5A94-5C6C-43EF-91F4-61637B702812}" type="pres">
      <dgm:prSet presAssocID="{2A8A38E9-53CA-44D5-8DFC-907932863099}" presName="parTx" presStyleLbl="revTx" presStyleIdx="2" presStyleCnt="3">
        <dgm:presLayoutVars>
          <dgm:chMax val="0"/>
          <dgm:chPref val="0"/>
        </dgm:presLayoutVars>
      </dgm:prSet>
      <dgm:spPr/>
    </dgm:pt>
  </dgm:ptLst>
  <dgm:cxnLst>
    <dgm:cxn modelId="{C0F4BB65-B1A1-46FC-8E88-C5B7A3B5290C}" srcId="{551ADD07-83FC-412A-AFCA-54ED7AB8BDE9}" destId="{920BF6AF-D097-451B-B004-3E4F0E0AEEB9}" srcOrd="0" destOrd="0" parTransId="{1B3DA8FE-615C-4CAD-AD1A-83C4D5C3B18E}" sibTransId="{F3538FF5-C72C-4C84-89BC-6ECE192FF4F4}"/>
    <dgm:cxn modelId="{3ACB8547-BA01-42D1-807F-761232340476}" srcId="{551ADD07-83FC-412A-AFCA-54ED7AB8BDE9}" destId="{2A8A38E9-53CA-44D5-8DFC-907932863099}" srcOrd="2" destOrd="0" parTransId="{1C19421E-9F25-4C69-A119-786E9C23DCF0}" sibTransId="{DAD72EB5-E415-4649-A88F-D2A6BD457E78}"/>
    <dgm:cxn modelId="{476DC380-D90B-4963-BA1D-EF004B8DFF9C}" type="presOf" srcId="{2A8A38E9-53CA-44D5-8DFC-907932863099}" destId="{7E1E5A94-5C6C-43EF-91F4-61637B702812}" srcOrd="0" destOrd="0" presId="urn:microsoft.com/office/officeart/2018/2/layout/IconVerticalSolidList"/>
    <dgm:cxn modelId="{BE2D088D-B685-4251-B03A-05C57EA6D1CA}" type="presOf" srcId="{E39D2ACD-8A0D-4B01-833E-8042ACD0DB54}" destId="{F428F88E-A70C-48F6-A66B-5274C025ABDE}" srcOrd="0" destOrd="0" presId="urn:microsoft.com/office/officeart/2018/2/layout/IconVerticalSolidList"/>
    <dgm:cxn modelId="{F98D408E-0BAD-4B33-9130-865164C21D5B}" type="presOf" srcId="{920BF6AF-D097-451B-B004-3E4F0E0AEEB9}" destId="{3E637D1C-C465-4876-A83C-04C72BB5E998}" srcOrd="0" destOrd="0" presId="urn:microsoft.com/office/officeart/2018/2/layout/IconVerticalSolidList"/>
    <dgm:cxn modelId="{BCC7FBA5-3595-4076-A26A-50B09B66D361}" srcId="{551ADD07-83FC-412A-AFCA-54ED7AB8BDE9}" destId="{E39D2ACD-8A0D-4B01-833E-8042ACD0DB54}" srcOrd="1" destOrd="0" parTransId="{50BCA0A0-F847-40B6-A29A-9E80CAFF435E}" sibTransId="{06BACE1A-323F-4E92-90EF-7FB1DEFFCD2C}"/>
    <dgm:cxn modelId="{AAF066BC-CAAA-4763-ADA3-D4F009CCE9A2}" type="presOf" srcId="{551ADD07-83FC-412A-AFCA-54ED7AB8BDE9}" destId="{B49D8D80-4BEC-43F9-8332-FDD107B3F2C9}" srcOrd="0" destOrd="0" presId="urn:microsoft.com/office/officeart/2018/2/layout/IconVerticalSolidList"/>
    <dgm:cxn modelId="{BCE67295-3472-4649-8578-5A2AF0877308}" type="presParOf" srcId="{B49D8D80-4BEC-43F9-8332-FDD107B3F2C9}" destId="{234596F3-45E6-4A0B-84CB-CD7F1CEC7BB6}" srcOrd="0" destOrd="0" presId="urn:microsoft.com/office/officeart/2018/2/layout/IconVerticalSolidList"/>
    <dgm:cxn modelId="{37B27883-AE4D-4F43-AAA9-364B1799A38D}" type="presParOf" srcId="{234596F3-45E6-4A0B-84CB-CD7F1CEC7BB6}" destId="{2C6B269B-04EF-4B77-8D34-4ED88A9CC619}" srcOrd="0" destOrd="0" presId="urn:microsoft.com/office/officeart/2018/2/layout/IconVerticalSolidList"/>
    <dgm:cxn modelId="{1FE31726-CE1A-4FF2-8F3A-3F6A8C1ECB72}" type="presParOf" srcId="{234596F3-45E6-4A0B-84CB-CD7F1CEC7BB6}" destId="{AB766CAB-60EC-49F0-89A5-002DEB1DC9EC}" srcOrd="1" destOrd="0" presId="urn:microsoft.com/office/officeart/2018/2/layout/IconVerticalSolidList"/>
    <dgm:cxn modelId="{D43CBF48-864E-42B2-B4C7-FEFD0C4EA1C1}" type="presParOf" srcId="{234596F3-45E6-4A0B-84CB-CD7F1CEC7BB6}" destId="{0B721B38-D226-410F-BAC9-2D888665195E}" srcOrd="2" destOrd="0" presId="urn:microsoft.com/office/officeart/2018/2/layout/IconVerticalSolidList"/>
    <dgm:cxn modelId="{F2616297-CF9C-4A9F-B438-8A02AF8EA604}" type="presParOf" srcId="{234596F3-45E6-4A0B-84CB-CD7F1CEC7BB6}" destId="{3E637D1C-C465-4876-A83C-04C72BB5E998}" srcOrd="3" destOrd="0" presId="urn:microsoft.com/office/officeart/2018/2/layout/IconVerticalSolidList"/>
    <dgm:cxn modelId="{021E74C0-B682-4A7C-9B3C-80BC6A1A451E}" type="presParOf" srcId="{B49D8D80-4BEC-43F9-8332-FDD107B3F2C9}" destId="{A0B18739-A66C-4214-A36E-80ABCD3F56E6}" srcOrd="1" destOrd="0" presId="urn:microsoft.com/office/officeart/2018/2/layout/IconVerticalSolidList"/>
    <dgm:cxn modelId="{5DD145BE-095B-4298-ADFC-8002C6AAD15E}" type="presParOf" srcId="{B49D8D80-4BEC-43F9-8332-FDD107B3F2C9}" destId="{E94B648F-B109-44D3-A362-5A7CD8456848}" srcOrd="2" destOrd="0" presId="urn:microsoft.com/office/officeart/2018/2/layout/IconVerticalSolidList"/>
    <dgm:cxn modelId="{96C74A1F-B98D-4223-A5E9-7277AE40F887}" type="presParOf" srcId="{E94B648F-B109-44D3-A362-5A7CD8456848}" destId="{02F5843F-E1CD-4550-87C4-36EB26BEC779}" srcOrd="0" destOrd="0" presId="urn:microsoft.com/office/officeart/2018/2/layout/IconVerticalSolidList"/>
    <dgm:cxn modelId="{37551C3B-A61E-40CD-95E6-06EC81BA6221}" type="presParOf" srcId="{E94B648F-B109-44D3-A362-5A7CD8456848}" destId="{9E158E14-3B86-4CC1-9750-95325F6E3EB0}" srcOrd="1" destOrd="0" presId="urn:microsoft.com/office/officeart/2018/2/layout/IconVerticalSolidList"/>
    <dgm:cxn modelId="{5B8E7111-26D5-45A9-A2C9-F67EC4DD4DD7}" type="presParOf" srcId="{E94B648F-B109-44D3-A362-5A7CD8456848}" destId="{F60FB6F8-463F-492D-AC38-859ADB965D33}" srcOrd="2" destOrd="0" presId="urn:microsoft.com/office/officeart/2018/2/layout/IconVerticalSolidList"/>
    <dgm:cxn modelId="{CAAC9538-3BDC-4D91-AC63-E046372345FF}" type="presParOf" srcId="{E94B648F-B109-44D3-A362-5A7CD8456848}" destId="{F428F88E-A70C-48F6-A66B-5274C025ABDE}" srcOrd="3" destOrd="0" presId="urn:microsoft.com/office/officeart/2018/2/layout/IconVerticalSolidList"/>
    <dgm:cxn modelId="{BB8A6ED7-F291-4709-814C-3DFCF74B0B5C}" type="presParOf" srcId="{B49D8D80-4BEC-43F9-8332-FDD107B3F2C9}" destId="{F5E726E4-A878-457E-933C-BCEA315CA0C3}" srcOrd="3" destOrd="0" presId="urn:microsoft.com/office/officeart/2018/2/layout/IconVerticalSolidList"/>
    <dgm:cxn modelId="{193E6BFC-A4A5-4A3B-BE91-424D6674F48E}" type="presParOf" srcId="{B49D8D80-4BEC-43F9-8332-FDD107B3F2C9}" destId="{BD3B9828-9F25-45F0-995B-881D686D90DF}" srcOrd="4" destOrd="0" presId="urn:microsoft.com/office/officeart/2018/2/layout/IconVerticalSolidList"/>
    <dgm:cxn modelId="{605738E7-7BB8-4D55-B283-D6BDF1D1C1C7}" type="presParOf" srcId="{BD3B9828-9F25-45F0-995B-881D686D90DF}" destId="{85833E2F-A6EA-4B2D-BD32-529530AB4589}" srcOrd="0" destOrd="0" presId="urn:microsoft.com/office/officeart/2018/2/layout/IconVerticalSolidList"/>
    <dgm:cxn modelId="{AD77C2DA-7E28-4367-8BE2-3300AC8794C3}" type="presParOf" srcId="{BD3B9828-9F25-45F0-995B-881D686D90DF}" destId="{847822B6-69AC-4972-8322-EB9ABE8D34B9}" srcOrd="1" destOrd="0" presId="urn:microsoft.com/office/officeart/2018/2/layout/IconVerticalSolidList"/>
    <dgm:cxn modelId="{833343CF-0F77-4BD0-9825-DC8C6C39F459}" type="presParOf" srcId="{BD3B9828-9F25-45F0-995B-881D686D90DF}" destId="{DDA98E99-0ADD-4B53-8FFE-DE6E80B72A59}" srcOrd="2" destOrd="0" presId="urn:microsoft.com/office/officeart/2018/2/layout/IconVerticalSolidList"/>
    <dgm:cxn modelId="{C9F44501-FBA1-4F35-B8A0-6554C28CFF8F}" type="presParOf" srcId="{BD3B9828-9F25-45F0-995B-881D686D90DF}" destId="{7E1E5A94-5C6C-43EF-91F4-61637B70281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B269B-04EF-4B77-8D34-4ED88A9CC619}">
      <dsp:nvSpPr>
        <dsp:cNvPr id="0" name=""/>
        <dsp:cNvSpPr/>
      </dsp:nvSpPr>
      <dsp:spPr>
        <a:xfrm>
          <a:off x="0" y="531"/>
          <a:ext cx="10582656"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766CAB-60EC-49F0-89A5-002DEB1DC9EC}">
      <dsp:nvSpPr>
        <dsp:cNvPr id="0" name=""/>
        <dsp:cNvSpPr/>
      </dsp:nvSpPr>
      <dsp:spPr>
        <a:xfrm>
          <a:off x="375988" y="280191"/>
          <a:ext cx="683614" cy="68361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637D1C-C465-4876-A83C-04C72BB5E998}">
      <dsp:nvSpPr>
        <dsp:cNvPr id="0" name=""/>
        <dsp:cNvSpPr/>
      </dsp:nvSpPr>
      <dsp:spPr>
        <a:xfrm>
          <a:off x="1435590" y="531"/>
          <a:ext cx="914706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rtl="0">
            <a:lnSpc>
              <a:spcPct val="90000"/>
            </a:lnSpc>
            <a:spcBef>
              <a:spcPct val="0"/>
            </a:spcBef>
            <a:spcAft>
              <a:spcPct val="35000"/>
            </a:spcAft>
            <a:buNone/>
          </a:pPr>
          <a:r>
            <a:rPr lang="en-GB" sz="1800" kern="1200" dirty="0"/>
            <a:t>Hypothesis: </a:t>
          </a:r>
        </a:p>
        <a:p>
          <a:pPr marL="0" lvl="0" indent="0" algn="l" defTabSz="800100" rtl="0">
            <a:lnSpc>
              <a:spcPct val="90000"/>
            </a:lnSpc>
            <a:spcBef>
              <a:spcPct val="0"/>
            </a:spcBef>
            <a:spcAft>
              <a:spcPct val="35000"/>
            </a:spcAft>
            <a:buNone/>
          </a:pPr>
          <a:r>
            <a:rPr lang="en-GB" sz="1800" kern="1200" dirty="0"/>
            <a:t>Successful information operation </a:t>
          </a:r>
          <a:r>
            <a:rPr lang="en-GB" sz="1800" b="0" kern="1200" dirty="0"/>
            <a:t>drivers</a:t>
          </a:r>
          <a:r>
            <a:rPr lang="en-GB" sz="1800" kern="1200" dirty="0"/>
            <a:t> </a:t>
          </a:r>
          <a:r>
            <a:rPr lang="en-GB" sz="1800" b="1" kern="1200" dirty="0"/>
            <a:t>lead topic-level discourse </a:t>
          </a:r>
          <a:r>
            <a:rPr lang="en-GB" sz="1800" kern="1200" dirty="0"/>
            <a:t>and act in </a:t>
          </a:r>
          <a:r>
            <a:rPr lang="en-GB" sz="1800" b="1" kern="1200" dirty="0"/>
            <a:t>coordination</a:t>
          </a:r>
          <a:r>
            <a:rPr lang="en-GB" sz="1800" kern="1200" dirty="0"/>
            <a:t> with other drivers. </a:t>
          </a:r>
          <a:endParaRPr lang="en-US" sz="1800" kern="1200" dirty="0"/>
        </a:p>
      </dsp:txBody>
      <dsp:txXfrm>
        <a:off x="1435590" y="531"/>
        <a:ext cx="9147065" cy="1242935"/>
      </dsp:txXfrm>
    </dsp:sp>
    <dsp:sp modelId="{02F5843F-E1CD-4550-87C4-36EB26BEC779}">
      <dsp:nvSpPr>
        <dsp:cNvPr id="0" name=""/>
        <dsp:cNvSpPr/>
      </dsp:nvSpPr>
      <dsp:spPr>
        <a:xfrm>
          <a:off x="0" y="1554201"/>
          <a:ext cx="10582656"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158E14-3B86-4CC1-9750-95325F6E3EB0}">
      <dsp:nvSpPr>
        <dsp:cNvPr id="0" name=""/>
        <dsp:cNvSpPr/>
      </dsp:nvSpPr>
      <dsp:spPr>
        <a:xfrm>
          <a:off x="375988" y="1833861"/>
          <a:ext cx="683614" cy="68361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28F88E-A70C-48F6-A66B-5274C025ABDE}">
      <dsp:nvSpPr>
        <dsp:cNvPr id="0" name=""/>
        <dsp:cNvSpPr/>
      </dsp:nvSpPr>
      <dsp:spPr>
        <a:xfrm>
          <a:off x="1435590" y="1554201"/>
          <a:ext cx="914706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rtl="0">
            <a:lnSpc>
              <a:spcPct val="90000"/>
            </a:lnSpc>
            <a:spcBef>
              <a:spcPct val="0"/>
            </a:spcBef>
            <a:spcAft>
              <a:spcPct val="35000"/>
            </a:spcAft>
            <a:buNone/>
          </a:pPr>
          <a:r>
            <a:rPr lang="en-GB" sz="1800" kern="1200" dirty="0"/>
            <a:t>Objectives:</a:t>
          </a:r>
        </a:p>
        <a:p>
          <a:pPr marL="0" lvl="0" indent="0" algn="l" defTabSz="800100" rtl="0">
            <a:lnSpc>
              <a:spcPct val="90000"/>
            </a:lnSpc>
            <a:spcBef>
              <a:spcPct val="0"/>
            </a:spcBef>
            <a:spcAft>
              <a:spcPct val="35000"/>
            </a:spcAft>
            <a:buNone/>
          </a:pPr>
          <a:r>
            <a:rPr lang="en-GB" sz="1800" kern="1200" dirty="0"/>
            <a:t>Author’s </a:t>
          </a:r>
          <a:r>
            <a:rPr lang="en-GB" sz="1800" b="1" kern="1200" dirty="0"/>
            <a:t>key score </a:t>
          </a:r>
          <a:r>
            <a:rPr lang="en-GB" sz="1800" b="0" kern="1200" dirty="0"/>
            <a:t>to </a:t>
          </a:r>
          <a:r>
            <a:rPr lang="en-GB" sz="1800" kern="1200" dirty="0"/>
            <a:t>quantify topic leadership. </a:t>
          </a:r>
        </a:p>
        <a:p>
          <a:pPr marL="0" lvl="0" indent="0" algn="l" defTabSz="800100" rtl="0">
            <a:lnSpc>
              <a:spcPct val="90000"/>
            </a:lnSpc>
            <a:spcBef>
              <a:spcPct val="0"/>
            </a:spcBef>
            <a:spcAft>
              <a:spcPct val="35000"/>
            </a:spcAft>
            <a:buNone/>
          </a:pPr>
          <a:r>
            <a:rPr lang="en-GB" sz="1800" b="1" kern="1200" dirty="0"/>
            <a:t>Backbone graph </a:t>
          </a:r>
          <a:r>
            <a:rPr lang="en-GB" sz="1800" b="0" kern="1200" dirty="0"/>
            <a:t>to </a:t>
          </a:r>
          <a:r>
            <a:rPr lang="en-GB" sz="1800" kern="1200" dirty="0"/>
            <a:t>capture coordination among key authors. </a:t>
          </a:r>
          <a:endParaRPr lang="en-US" sz="1800" kern="1200" dirty="0"/>
        </a:p>
      </dsp:txBody>
      <dsp:txXfrm>
        <a:off x="1435590" y="1554201"/>
        <a:ext cx="9147065" cy="1242935"/>
      </dsp:txXfrm>
    </dsp:sp>
    <dsp:sp modelId="{85833E2F-A6EA-4B2D-BD32-529530AB4589}">
      <dsp:nvSpPr>
        <dsp:cNvPr id="0" name=""/>
        <dsp:cNvSpPr/>
      </dsp:nvSpPr>
      <dsp:spPr>
        <a:xfrm>
          <a:off x="0" y="3107870"/>
          <a:ext cx="10582656"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7822B6-69AC-4972-8322-EB9ABE8D34B9}">
      <dsp:nvSpPr>
        <dsp:cNvPr id="0" name=""/>
        <dsp:cNvSpPr/>
      </dsp:nvSpPr>
      <dsp:spPr>
        <a:xfrm>
          <a:off x="375988" y="3387531"/>
          <a:ext cx="683614" cy="6836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1E5A94-5C6C-43EF-91F4-61637B702812}">
      <dsp:nvSpPr>
        <dsp:cNvPr id="0" name=""/>
        <dsp:cNvSpPr/>
      </dsp:nvSpPr>
      <dsp:spPr>
        <a:xfrm>
          <a:off x="1435590" y="3107870"/>
          <a:ext cx="914706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rtl="0">
            <a:lnSpc>
              <a:spcPct val="90000"/>
            </a:lnSpc>
            <a:spcBef>
              <a:spcPct val="0"/>
            </a:spcBef>
            <a:spcAft>
              <a:spcPct val="35000"/>
            </a:spcAft>
            <a:buNone/>
          </a:pPr>
          <a:r>
            <a:rPr lang="en-GB" sz="1800" kern="1200" dirty="0"/>
            <a:t>Goal:</a:t>
          </a:r>
        </a:p>
        <a:p>
          <a:pPr marL="0" lvl="0" indent="0" algn="l" defTabSz="800100" rtl="0">
            <a:lnSpc>
              <a:spcPct val="90000"/>
            </a:lnSpc>
            <a:spcBef>
              <a:spcPct val="0"/>
            </a:spcBef>
            <a:spcAft>
              <a:spcPct val="35000"/>
            </a:spcAft>
            <a:buNone/>
          </a:pPr>
          <a:r>
            <a:rPr lang="en-GB" sz="1800" kern="1200" dirty="0">
              <a:solidFill>
                <a:prstClr val="black">
                  <a:hueOff val="0"/>
                  <a:satOff val="0"/>
                  <a:lumOff val="0"/>
                  <a:alphaOff val="0"/>
                </a:prstClr>
              </a:solidFill>
              <a:latin typeface="Calibri" panose="020F0502020204030204"/>
              <a:ea typeface="+mn-ea"/>
              <a:cs typeface="+mn-cs"/>
            </a:rPr>
            <a:t>Calculation</a:t>
          </a:r>
          <a:r>
            <a:rPr lang="en-GB" sz="1800" kern="1200" dirty="0"/>
            <a:t> of </a:t>
          </a:r>
          <a:r>
            <a:rPr lang="en-GB" sz="1800" b="1" kern="1200" dirty="0"/>
            <a:t>graph-based indicators </a:t>
          </a:r>
          <a:r>
            <a:rPr lang="en-GB" sz="1800" kern="1200" dirty="0"/>
            <a:t>(e.g., centralities) to identify information operation (IO) drivers.</a:t>
          </a:r>
          <a:endParaRPr lang="en-US" sz="1800" kern="1200" dirty="0"/>
        </a:p>
      </dsp:txBody>
      <dsp:txXfrm>
        <a:off x="1435590" y="3107870"/>
        <a:ext cx="9147065"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2915196C-CDBC-4DEE-A220-849C85FC22AC}" type="datetimeFigureOut">
              <a:rPr lang="he-IL" smtClean="0"/>
              <a:t>ז'/ניסן/תשפ"ו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7F6CD5E7-A5BE-4430-AD67-E129D63AAC5C}" type="slidenum">
              <a:rPr lang="he-IL" smtClean="0"/>
              <a:t>‹#›</a:t>
            </a:fld>
            <a:endParaRPr lang="he-IL"/>
          </a:p>
        </p:txBody>
      </p:sp>
    </p:spTree>
    <p:extLst>
      <p:ext uri="{BB962C8B-B14F-4D97-AF65-F5344CB8AC3E}">
        <p14:creationId xmlns:p14="http://schemas.microsoft.com/office/powerpoint/2010/main" val="4193829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D1760-78DB-D18D-FBB8-239E0A7E7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EC71B-5AA6-886B-0231-A74B41DE5028}"/>
              </a:ext>
            </a:extLst>
          </p:cNvPr>
          <p:cNvSpPr>
            <a:spLocks noGrp="1" noRot="1" noChangeAspect="1"/>
          </p:cNvSpPr>
          <p:nvPr>
            <p:ph type="sldImg"/>
          </p:nvPr>
        </p:nvSpPr>
        <p:spPr/>
        <p:txBody>
          <a:bodyPr/>
          <a:lstStyle/>
          <a:p>
            <a:endParaRPr lang="en-IL"/>
          </a:p>
        </p:txBody>
      </p:sp>
      <p:sp>
        <p:nvSpPr>
          <p:cNvPr id="3" name="Notes Placeholder 2">
            <a:extLst>
              <a:ext uri="{FF2B5EF4-FFF2-40B4-BE49-F238E27FC236}">
                <a16:creationId xmlns:a16="http://schemas.microsoft.com/office/drawing/2014/main" id="{0FD997CC-4715-39C7-93DD-C967C30807B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D1C57815-7BE0-C4B1-B3D0-083C2D02FC95}"/>
              </a:ext>
            </a:extLst>
          </p:cNvPr>
          <p:cNvSpPr>
            <a:spLocks noGrp="1"/>
          </p:cNvSpPr>
          <p:nvPr>
            <p:ph type="sldNum" sz="quarter" idx="5"/>
          </p:nvPr>
        </p:nvSpPr>
        <p:spPr/>
        <p:txBody>
          <a:bodyPr/>
          <a:lstStyle/>
          <a:p>
            <a:fld id="{7F6CD5E7-A5BE-4430-AD67-E129D63AAC5C}" type="slidenum">
              <a:rPr lang="he-IL" smtClean="0"/>
              <a:t>7</a:t>
            </a:fld>
            <a:endParaRPr lang="he-IL"/>
          </a:p>
        </p:txBody>
      </p:sp>
    </p:spTree>
    <p:extLst>
      <p:ext uri="{BB962C8B-B14F-4D97-AF65-F5344CB8AC3E}">
        <p14:creationId xmlns:p14="http://schemas.microsoft.com/office/powerpoint/2010/main" val="1668725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73ED-A99E-1255-DF0A-F46C0A3F8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8042E-74BF-F12B-EB05-B5A12A791608}"/>
              </a:ext>
            </a:extLst>
          </p:cNvPr>
          <p:cNvSpPr>
            <a:spLocks noGrp="1" noRot="1" noChangeAspect="1"/>
          </p:cNvSpPr>
          <p:nvPr>
            <p:ph type="sldImg"/>
          </p:nvPr>
        </p:nvSpPr>
        <p:spPr/>
        <p:txBody>
          <a:bodyPr/>
          <a:lstStyle/>
          <a:p>
            <a:endParaRPr lang="en-IL"/>
          </a:p>
        </p:txBody>
      </p:sp>
      <p:sp>
        <p:nvSpPr>
          <p:cNvPr id="3" name="Notes Placeholder 2">
            <a:extLst>
              <a:ext uri="{FF2B5EF4-FFF2-40B4-BE49-F238E27FC236}">
                <a16:creationId xmlns:a16="http://schemas.microsoft.com/office/drawing/2014/main" id="{9FF9362C-8306-7A0F-CDF5-AFC8289AE917}"/>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7C4EDC18-E9C8-4ECA-7039-35E23F9D9DA3}"/>
              </a:ext>
            </a:extLst>
          </p:cNvPr>
          <p:cNvSpPr>
            <a:spLocks noGrp="1"/>
          </p:cNvSpPr>
          <p:nvPr>
            <p:ph type="sldNum" sz="quarter" idx="5"/>
          </p:nvPr>
        </p:nvSpPr>
        <p:spPr/>
        <p:txBody>
          <a:bodyPr/>
          <a:lstStyle/>
          <a:p>
            <a:fld id="{7F6CD5E7-A5BE-4430-AD67-E129D63AAC5C}" type="slidenum">
              <a:rPr lang="he-IL" smtClean="0"/>
              <a:t>8</a:t>
            </a:fld>
            <a:endParaRPr lang="he-IL"/>
          </a:p>
        </p:txBody>
      </p:sp>
    </p:spTree>
    <p:extLst>
      <p:ext uri="{BB962C8B-B14F-4D97-AF65-F5344CB8AC3E}">
        <p14:creationId xmlns:p14="http://schemas.microsoft.com/office/powerpoint/2010/main" val="205723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83E6-A85C-4E94-BAD4-349975C5C1DC}"/>
              </a:ext>
            </a:extLst>
          </p:cNvPr>
          <p:cNvSpPr>
            <a:spLocks noGrp="1"/>
          </p:cNvSpPr>
          <p:nvPr>
            <p:ph type="ctrTitle"/>
          </p:nvPr>
        </p:nvSpPr>
        <p:spPr>
          <a:xfrm>
            <a:off x="1865376" y="1354011"/>
            <a:ext cx="9144000" cy="2387600"/>
          </a:xfrm>
        </p:spPr>
        <p:txBody>
          <a:bodyPr anchor="b">
            <a:normAutofit/>
          </a:bodyPr>
          <a:lstStyle>
            <a:lvl1pPr algn="l" defTabSz="914400" rtl="0" eaLnBrk="1" latinLnBrk="0" hangingPunct="1">
              <a:lnSpc>
                <a:spcPct val="90000"/>
              </a:lnSpc>
              <a:spcBef>
                <a:spcPct val="0"/>
              </a:spcBef>
              <a:buNone/>
              <a:defRPr lang="he-IL" sz="4800" kern="1200" dirty="0">
                <a:solidFill>
                  <a:srgbClr val="009DBB"/>
                </a:solidFill>
                <a:latin typeface="+mj-lt"/>
                <a:ea typeface="+mj-ea"/>
                <a:cs typeface="+mj-cs"/>
              </a:defRPr>
            </a:lvl1pPr>
          </a:lstStyle>
          <a:p>
            <a:r>
              <a:rPr lang="en-US" dirty="0"/>
              <a:t>Click to edit Master title style</a:t>
            </a:r>
            <a:endParaRPr lang="he-IL" dirty="0"/>
          </a:p>
        </p:txBody>
      </p:sp>
      <p:sp>
        <p:nvSpPr>
          <p:cNvPr id="3" name="Subtitle 2">
            <a:extLst>
              <a:ext uri="{FF2B5EF4-FFF2-40B4-BE49-F238E27FC236}">
                <a16:creationId xmlns:a16="http://schemas.microsoft.com/office/drawing/2014/main" id="{4DA3D7B5-5BE4-46C1-BA83-AEDFF303DE62}"/>
              </a:ext>
            </a:extLst>
          </p:cNvPr>
          <p:cNvSpPr>
            <a:spLocks noGrp="1"/>
          </p:cNvSpPr>
          <p:nvPr>
            <p:ph type="subTitle" idx="1"/>
          </p:nvPr>
        </p:nvSpPr>
        <p:spPr>
          <a:xfrm>
            <a:off x="1865376" y="4218431"/>
            <a:ext cx="9144000" cy="1374013"/>
          </a:xfrm>
        </p:spPr>
        <p:txBody>
          <a:bodyPr>
            <a:normAutofit/>
          </a:bodyPr>
          <a:lstStyle>
            <a:lvl1pPr marL="0" indent="0" algn="l">
              <a:buNone/>
              <a:defRPr lang="he-IL" sz="2000" kern="1200" dirty="0">
                <a:solidFill>
                  <a:schemeClr val="tx1">
                    <a:tint val="75000"/>
                  </a:schemeClr>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subtitle style</a:t>
            </a:r>
            <a:endParaRPr lang="he-IL" dirty="0"/>
          </a:p>
        </p:txBody>
      </p:sp>
      <p:sp>
        <p:nvSpPr>
          <p:cNvPr id="4" name="Date Placeholder 3">
            <a:extLst>
              <a:ext uri="{FF2B5EF4-FFF2-40B4-BE49-F238E27FC236}">
                <a16:creationId xmlns:a16="http://schemas.microsoft.com/office/drawing/2014/main" id="{DE103C65-1526-4474-93EA-92201F973ADE}"/>
              </a:ext>
            </a:extLst>
          </p:cNvPr>
          <p:cNvSpPr>
            <a:spLocks noGrp="1"/>
          </p:cNvSpPr>
          <p:nvPr>
            <p:ph type="dt" sz="half" idx="10"/>
          </p:nvPr>
        </p:nvSpPr>
        <p:spPr/>
        <p:txBody>
          <a:bodyPr/>
          <a:lstStyle/>
          <a:p>
            <a:fld id="{FC6B3A86-AB79-4388-8CA5-9FC4B834779B}" type="datetime8">
              <a:rPr lang="he-IL" smtClean="0"/>
              <a:t>25 מרץ 26</a:t>
            </a:fld>
            <a:endParaRPr lang="he-IL"/>
          </a:p>
        </p:txBody>
      </p:sp>
      <p:sp>
        <p:nvSpPr>
          <p:cNvPr id="5" name="Footer Placeholder 4">
            <a:extLst>
              <a:ext uri="{FF2B5EF4-FFF2-40B4-BE49-F238E27FC236}">
                <a16:creationId xmlns:a16="http://schemas.microsoft.com/office/drawing/2014/main" id="{8984A285-90E9-4F27-9CCA-0A2DBEB472C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B119B0E-8F10-4832-ADC3-EA2B0C4574BE}"/>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1206172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65C3A-1C12-429A-B672-CB062EE35E83}"/>
              </a:ext>
            </a:extLst>
          </p:cNvPr>
          <p:cNvSpPr>
            <a:spLocks noGrp="1"/>
          </p:cNvSpPr>
          <p:nvPr>
            <p:ph type="title"/>
          </p:nvPr>
        </p:nvSpPr>
        <p:spPr/>
        <p:txBody>
          <a:bodyPr/>
          <a:lstStyle/>
          <a:p>
            <a:r>
              <a:rPr lang="en-US" dirty="0"/>
              <a:t>Click to edit Master title style</a:t>
            </a:r>
            <a:endParaRPr lang="he-IL" dirty="0"/>
          </a:p>
        </p:txBody>
      </p:sp>
      <p:sp>
        <p:nvSpPr>
          <p:cNvPr id="3" name="Content Placeholder 2">
            <a:extLst>
              <a:ext uri="{FF2B5EF4-FFF2-40B4-BE49-F238E27FC236}">
                <a16:creationId xmlns:a16="http://schemas.microsoft.com/office/drawing/2014/main" id="{F002D984-D254-42A5-88FD-71A5B8FF61E1}"/>
              </a:ext>
            </a:extLst>
          </p:cNvPr>
          <p:cNvSpPr>
            <a:spLocks noGrp="1"/>
          </p:cNvSpPr>
          <p:nvPr>
            <p:ph idx="1"/>
          </p:nvPr>
        </p:nvSpPr>
        <p:spPr>
          <a:xfrm>
            <a:off x="1243087" y="1825625"/>
            <a:ext cx="10582656" cy="435133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1678C169-3299-4F42-91D0-7AF77E3982BA}"/>
              </a:ext>
            </a:extLst>
          </p:cNvPr>
          <p:cNvSpPr>
            <a:spLocks noGrp="1"/>
          </p:cNvSpPr>
          <p:nvPr>
            <p:ph type="dt" sz="half" idx="10"/>
          </p:nvPr>
        </p:nvSpPr>
        <p:spPr/>
        <p:txBody>
          <a:bodyPr/>
          <a:lstStyle/>
          <a:p>
            <a:fld id="{7634CBFB-2532-48BA-BAE2-ADD925390740}" type="datetime8">
              <a:rPr lang="he-IL" smtClean="0"/>
              <a:t>25 מרץ 26</a:t>
            </a:fld>
            <a:endParaRPr lang="he-IL"/>
          </a:p>
        </p:txBody>
      </p:sp>
      <p:sp>
        <p:nvSpPr>
          <p:cNvPr id="5" name="Footer Placeholder 4">
            <a:extLst>
              <a:ext uri="{FF2B5EF4-FFF2-40B4-BE49-F238E27FC236}">
                <a16:creationId xmlns:a16="http://schemas.microsoft.com/office/drawing/2014/main" id="{A602A088-F9A8-4123-A1D2-FE11250361A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8AA253D-F657-44F9-AA3F-37F3CF175CEB}"/>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614547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E174-92FD-46FC-9A31-EF351510250B}"/>
              </a:ext>
            </a:extLst>
          </p:cNvPr>
          <p:cNvSpPr>
            <a:spLocks noGrp="1"/>
          </p:cNvSpPr>
          <p:nvPr>
            <p:ph type="title"/>
          </p:nvPr>
        </p:nvSpPr>
        <p:spPr>
          <a:xfrm>
            <a:off x="1479550" y="1709738"/>
            <a:ext cx="7852146" cy="2852737"/>
          </a:xfrm>
        </p:spPr>
        <p:txBody>
          <a:bodyPr anchor="b">
            <a:normAutofit/>
          </a:bodyPr>
          <a:lstStyle>
            <a:lvl1pPr>
              <a:defRPr sz="5400"/>
            </a:lvl1pPr>
          </a:lstStyle>
          <a:p>
            <a:r>
              <a:rPr lang="en-US" dirty="0"/>
              <a:t>Click to edit Master title style</a:t>
            </a:r>
            <a:endParaRPr lang="he-IL" dirty="0"/>
          </a:p>
        </p:txBody>
      </p:sp>
      <p:sp>
        <p:nvSpPr>
          <p:cNvPr id="3" name="Text Placeholder 2">
            <a:extLst>
              <a:ext uri="{FF2B5EF4-FFF2-40B4-BE49-F238E27FC236}">
                <a16:creationId xmlns:a16="http://schemas.microsoft.com/office/drawing/2014/main" id="{BA261C8F-4A58-4042-B898-A57C837DF59F}"/>
              </a:ext>
            </a:extLst>
          </p:cNvPr>
          <p:cNvSpPr>
            <a:spLocks noGrp="1"/>
          </p:cNvSpPr>
          <p:nvPr>
            <p:ph type="body" idx="1"/>
          </p:nvPr>
        </p:nvSpPr>
        <p:spPr>
          <a:xfrm>
            <a:off x="14795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A46B49A7-5C76-42AD-8811-4CADE0447CB6}"/>
              </a:ext>
            </a:extLst>
          </p:cNvPr>
          <p:cNvSpPr>
            <a:spLocks noGrp="1"/>
          </p:cNvSpPr>
          <p:nvPr>
            <p:ph type="dt" sz="half" idx="10"/>
          </p:nvPr>
        </p:nvSpPr>
        <p:spPr/>
        <p:txBody>
          <a:bodyPr/>
          <a:lstStyle/>
          <a:p>
            <a:fld id="{8EAC1FDD-37C4-4A6B-BF31-779943CE32CF}" type="datetime8">
              <a:rPr lang="he-IL" smtClean="0"/>
              <a:t>25 מרץ 26</a:t>
            </a:fld>
            <a:endParaRPr lang="he-IL"/>
          </a:p>
        </p:txBody>
      </p:sp>
      <p:sp>
        <p:nvSpPr>
          <p:cNvPr id="5" name="Footer Placeholder 4">
            <a:extLst>
              <a:ext uri="{FF2B5EF4-FFF2-40B4-BE49-F238E27FC236}">
                <a16:creationId xmlns:a16="http://schemas.microsoft.com/office/drawing/2014/main" id="{0BBF3F55-C2A3-4A87-96C0-A01E9BCA666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77976F6-B98E-4B7D-839A-27BF9494420D}"/>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499088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5C3C-CE9E-4F7A-B728-9A335B51FB27}"/>
              </a:ext>
            </a:extLst>
          </p:cNvPr>
          <p:cNvSpPr>
            <a:spLocks noGrp="1"/>
          </p:cNvSpPr>
          <p:nvPr>
            <p:ph type="title" hasCustomPrompt="1"/>
          </p:nvPr>
        </p:nvSpPr>
        <p:spPr/>
        <p:txBody>
          <a:bodyPr/>
          <a:lstStyle>
            <a:lvl1pPr>
              <a:defRPr/>
            </a:lvl1pPr>
          </a:lstStyle>
          <a:p>
            <a:r>
              <a:rPr lang="en-US" dirty="0"/>
              <a:t>Click to edit Master title style </a:t>
            </a:r>
            <a:endParaRPr lang="he-IL" dirty="0"/>
          </a:p>
        </p:txBody>
      </p:sp>
      <p:sp>
        <p:nvSpPr>
          <p:cNvPr id="3" name="Content Placeholder 2">
            <a:extLst>
              <a:ext uri="{FF2B5EF4-FFF2-40B4-BE49-F238E27FC236}">
                <a16:creationId xmlns:a16="http://schemas.microsoft.com/office/drawing/2014/main" id="{62B48EB9-480D-4A31-8BC3-B899B4AABD3A}"/>
              </a:ext>
            </a:extLst>
          </p:cNvPr>
          <p:cNvSpPr>
            <a:spLocks noGrp="1"/>
          </p:cNvSpPr>
          <p:nvPr>
            <p:ph sz="half" idx="1"/>
          </p:nvPr>
        </p:nvSpPr>
        <p:spPr>
          <a:xfrm>
            <a:off x="1236991" y="1821101"/>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Content Placeholder 3">
            <a:extLst>
              <a:ext uri="{FF2B5EF4-FFF2-40B4-BE49-F238E27FC236}">
                <a16:creationId xmlns:a16="http://schemas.microsoft.com/office/drawing/2014/main" id="{D2CAF003-9AC3-4B4C-A1AA-89972395A094}"/>
              </a:ext>
            </a:extLst>
          </p:cNvPr>
          <p:cNvSpPr>
            <a:spLocks noGrp="1"/>
          </p:cNvSpPr>
          <p:nvPr>
            <p:ph sz="half" idx="2"/>
          </p:nvPr>
        </p:nvSpPr>
        <p:spPr>
          <a:xfrm>
            <a:off x="6570991" y="1821101"/>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FB39E07C-7B13-4A7C-AEAC-814BACFD917D}"/>
              </a:ext>
            </a:extLst>
          </p:cNvPr>
          <p:cNvSpPr>
            <a:spLocks noGrp="1"/>
          </p:cNvSpPr>
          <p:nvPr>
            <p:ph type="dt" sz="half" idx="10"/>
          </p:nvPr>
        </p:nvSpPr>
        <p:spPr/>
        <p:txBody>
          <a:bodyPr/>
          <a:lstStyle/>
          <a:p>
            <a:fld id="{C73C226C-A76A-4927-8F1D-1BD4AC033ABB}" type="datetime8">
              <a:rPr lang="he-IL" smtClean="0"/>
              <a:t>25 מרץ 26</a:t>
            </a:fld>
            <a:endParaRPr lang="he-IL"/>
          </a:p>
        </p:txBody>
      </p:sp>
      <p:sp>
        <p:nvSpPr>
          <p:cNvPr id="6" name="Footer Placeholder 5">
            <a:extLst>
              <a:ext uri="{FF2B5EF4-FFF2-40B4-BE49-F238E27FC236}">
                <a16:creationId xmlns:a16="http://schemas.microsoft.com/office/drawing/2014/main" id="{4936D24B-DA20-4CC6-87E7-866505B0C57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BBE9C41-8689-47B3-A905-634220202EE1}"/>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237299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D0EE-D523-4780-A9CF-B6EE518CD287}"/>
              </a:ext>
            </a:extLst>
          </p:cNvPr>
          <p:cNvSpPr>
            <a:spLocks noGrp="1"/>
          </p:cNvSpPr>
          <p:nvPr>
            <p:ph type="title"/>
          </p:nvPr>
        </p:nvSpPr>
        <p:spPr>
          <a:xfrm>
            <a:off x="3083117" y="355600"/>
            <a:ext cx="8743124" cy="1325563"/>
          </a:xfrm>
        </p:spPr>
        <p:txBody>
          <a:bodyPr>
            <a:normAutofit/>
          </a:bodyPr>
          <a:lstStyle>
            <a:lvl1pPr algn="l" defTabSz="914400" rtl="0" eaLnBrk="1" latinLnBrk="0" hangingPunct="1">
              <a:lnSpc>
                <a:spcPct val="90000"/>
              </a:lnSpc>
              <a:spcBef>
                <a:spcPct val="0"/>
              </a:spcBef>
              <a:buNone/>
              <a:defRPr lang="he-IL" sz="4400" kern="1200" dirty="0">
                <a:solidFill>
                  <a:srgbClr val="009DBB"/>
                </a:solidFill>
                <a:latin typeface="+mj-lt"/>
                <a:ea typeface="+mj-ea"/>
                <a:cs typeface="+mj-cs"/>
              </a:defRPr>
            </a:lvl1pPr>
          </a:lstStyle>
          <a:p>
            <a:r>
              <a:rPr lang="en-US" dirty="0"/>
              <a:t>Click to edit Master title style</a:t>
            </a:r>
            <a:endParaRPr lang="he-IL" dirty="0"/>
          </a:p>
        </p:txBody>
      </p:sp>
      <p:sp>
        <p:nvSpPr>
          <p:cNvPr id="3" name="Text Placeholder 2">
            <a:extLst>
              <a:ext uri="{FF2B5EF4-FFF2-40B4-BE49-F238E27FC236}">
                <a16:creationId xmlns:a16="http://schemas.microsoft.com/office/drawing/2014/main" id="{09B6447D-A16E-4B99-8F74-2BA51BF54CAD}"/>
              </a:ext>
            </a:extLst>
          </p:cNvPr>
          <p:cNvSpPr>
            <a:spLocks noGrp="1"/>
          </p:cNvSpPr>
          <p:nvPr>
            <p:ph type="body" idx="1"/>
          </p:nvPr>
        </p:nvSpPr>
        <p:spPr>
          <a:xfrm>
            <a:off x="1053148" y="1717419"/>
            <a:ext cx="5157787" cy="823912"/>
          </a:xfrm>
        </p:spPr>
        <p:txBody>
          <a:bodyPr anchor="ctr">
            <a:noAutofit/>
          </a:bodyPr>
          <a:lstStyle>
            <a:lvl1pPr marL="0" indent="0" algn="ctr">
              <a:buNone/>
              <a:defRPr lang="en-US" sz="2400" kern="1200" dirty="0">
                <a:solidFill>
                  <a:srgbClr val="009DBB"/>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89B268A-D31A-4C35-948F-BF312EE597E7}"/>
              </a:ext>
            </a:extLst>
          </p:cNvPr>
          <p:cNvSpPr>
            <a:spLocks noGrp="1"/>
          </p:cNvSpPr>
          <p:nvPr>
            <p:ph sz="half" idx="2"/>
          </p:nvPr>
        </p:nvSpPr>
        <p:spPr>
          <a:xfrm>
            <a:off x="1053148" y="2511171"/>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5" name="Text Placeholder 4">
            <a:extLst>
              <a:ext uri="{FF2B5EF4-FFF2-40B4-BE49-F238E27FC236}">
                <a16:creationId xmlns:a16="http://schemas.microsoft.com/office/drawing/2014/main" id="{17D0F3C6-09D4-4383-99DD-32F9053ACE28}"/>
              </a:ext>
            </a:extLst>
          </p:cNvPr>
          <p:cNvSpPr>
            <a:spLocks noGrp="1"/>
          </p:cNvSpPr>
          <p:nvPr>
            <p:ph type="body" sz="quarter" idx="3"/>
          </p:nvPr>
        </p:nvSpPr>
        <p:spPr>
          <a:xfrm>
            <a:off x="6641752" y="1717419"/>
            <a:ext cx="5183188" cy="823912"/>
          </a:xfrm>
        </p:spPr>
        <p:txBody>
          <a:bodyPr anchor="ctr">
            <a:noAutofit/>
          </a:bodyPr>
          <a:lstStyle>
            <a:lvl1pPr marL="0" indent="0" algn="ctr">
              <a:buNone/>
              <a:defRPr lang="en-US" sz="2400" kern="1200" dirty="0">
                <a:solidFill>
                  <a:srgbClr val="009DBB"/>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5">
            <a:extLst>
              <a:ext uri="{FF2B5EF4-FFF2-40B4-BE49-F238E27FC236}">
                <a16:creationId xmlns:a16="http://schemas.microsoft.com/office/drawing/2014/main" id="{EA91A8D3-C002-4BA1-96FF-375F70D21879}"/>
              </a:ext>
            </a:extLst>
          </p:cNvPr>
          <p:cNvSpPr>
            <a:spLocks noGrp="1"/>
          </p:cNvSpPr>
          <p:nvPr>
            <p:ph sz="quarter" idx="4"/>
          </p:nvPr>
        </p:nvSpPr>
        <p:spPr>
          <a:xfrm>
            <a:off x="6641752" y="2517267"/>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1A5CAC5E-E4EB-4131-AAEF-73C3479688F4}"/>
              </a:ext>
            </a:extLst>
          </p:cNvPr>
          <p:cNvSpPr>
            <a:spLocks noGrp="1"/>
          </p:cNvSpPr>
          <p:nvPr>
            <p:ph type="dt" sz="half" idx="10"/>
          </p:nvPr>
        </p:nvSpPr>
        <p:spPr/>
        <p:txBody>
          <a:bodyPr/>
          <a:lstStyle/>
          <a:p>
            <a:fld id="{430DF2BF-D428-43E9-B36B-6DD16CF93579}" type="datetime8">
              <a:rPr lang="he-IL" smtClean="0"/>
              <a:t>25 מרץ 26</a:t>
            </a:fld>
            <a:endParaRPr lang="he-IL"/>
          </a:p>
        </p:txBody>
      </p:sp>
      <p:sp>
        <p:nvSpPr>
          <p:cNvPr id="8" name="Footer Placeholder 7">
            <a:extLst>
              <a:ext uri="{FF2B5EF4-FFF2-40B4-BE49-F238E27FC236}">
                <a16:creationId xmlns:a16="http://schemas.microsoft.com/office/drawing/2014/main" id="{5FEC57A3-285F-4D36-851E-593C5F2874FF}"/>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126F8AB8-B698-4176-96F8-B833FE013984}"/>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342569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FBF78-4DF0-407A-8E5A-BEF1E0D8B0F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6C9A3A88-6914-48FB-BE6F-948C3C66FBB0}"/>
              </a:ext>
            </a:extLst>
          </p:cNvPr>
          <p:cNvSpPr>
            <a:spLocks noGrp="1"/>
          </p:cNvSpPr>
          <p:nvPr>
            <p:ph type="dt" sz="half" idx="10"/>
          </p:nvPr>
        </p:nvSpPr>
        <p:spPr/>
        <p:txBody>
          <a:bodyPr/>
          <a:lstStyle/>
          <a:p>
            <a:fld id="{390A9136-4922-4C74-B05C-12CD0951E601}" type="datetime8">
              <a:rPr lang="he-IL" smtClean="0"/>
              <a:t>25 מרץ 26</a:t>
            </a:fld>
            <a:endParaRPr lang="he-IL"/>
          </a:p>
        </p:txBody>
      </p:sp>
      <p:sp>
        <p:nvSpPr>
          <p:cNvPr id="4" name="Footer Placeholder 3">
            <a:extLst>
              <a:ext uri="{FF2B5EF4-FFF2-40B4-BE49-F238E27FC236}">
                <a16:creationId xmlns:a16="http://schemas.microsoft.com/office/drawing/2014/main" id="{D350A1D4-4FBF-400A-B2CE-30A42EF7FB3C}"/>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DD8B1F93-B2D0-4E42-B3CE-E85D6FC90C39}"/>
              </a:ext>
            </a:extLst>
          </p:cNvPr>
          <p:cNvSpPr>
            <a:spLocks noGrp="1"/>
          </p:cNvSpPr>
          <p:nvPr>
            <p:ph type="sldNum" sz="quarter" idx="12"/>
          </p:nvPr>
        </p:nvSpPr>
        <p:spPr>
          <a:xfrm>
            <a:off x="11728704" y="6452457"/>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7885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213734-3C5F-473D-9DD6-0C484ADFB555}"/>
              </a:ext>
            </a:extLst>
          </p:cNvPr>
          <p:cNvSpPr>
            <a:spLocks noGrp="1"/>
          </p:cNvSpPr>
          <p:nvPr>
            <p:ph type="dt" sz="half" idx="10"/>
          </p:nvPr>
        </p:nvSpPr>
        <p:spPr/>
        <p:txBody>
          <a:bodyPr/>
          <a:lstStyle/>
          <a:p>
            <a:fld id="{C29F3CA8-2E63-412C-AA06-0D760EBE5965}" type="datetime8">
              <a:rPr lang="he-IL" smtClean="0"/>
              <a:t>25 מרץ 26</a:t>
            </a:fld>
            <a:endParaRPr lang="he-IL"/>
          </a:p>
        </p:txBody>
      </p:sp>
      <p:sp>
        <p:nvSpPr>
          <p:cNvPr id="3" name="Footer Placeholder 2">
            <a:extLst>
              <a:ext uri="{FF2B5EF4-FFF2-40B4-BE49-F238E27FC236}">
                <a16:creationId xmlns:a16="http://schemas.microsoft.com/office/drawing/2014/main" id="{8F48D2E8-A18C-4B06-AF11-07B4F9C53F0A}"/>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C5A7CBE2-2F2D-43B9-8BC3-25BA1DDA4021}"/>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4078659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0516-8B4A-495E-BFE5-33BF2DA504BD}"/>
              </a:ext>
            </a:extLst>
          </p:cNvPr>
          <p:cNvSpPr>
            <a:spLocks noGrp="1"/>
          </p:cNvSpPr>
          <p:nvPr>
            <p:ph type="title"/>
          </p:nvPr>
        </p:nvSpPr>
        <p:spPr>
          <a:xfrm>
            <a:off x="1912684" y="981329"/>
            <a:ext cx="3932237" cy="1600200"/>
          </a:xfrm>
        </p:spPr>
        <p:txBody>
          <a:bodyPr anchor="b"/>
          <a:lstStyle>
            <a:lvl1pPr>
              <a:defRPr sz="3200"/>
            </a:lvl1pPr>
          </a:lstStyle>
          <a:p>
            <a:r>
              <a:rPr lang="en-US" dirty="0"/>
              <a:t>Click to edit Master title style</a:t>
            </a:r>
            <a:endParaRPr lang="he-IL" dirty="0"/>
          </a:p>
        </p:txBody>
      </p:sp>
      <p:sp>
        <p:nvSpPr>
          <p:cNvPr id="3" name="Content Placeholder 2">
            <a:extLst>
              <a:ext uri="{FF2B5EF4-FFF2-40B4-BE49-F238E27FC236}">
                <a16:creationId xmlns:a16="http://schemas.microsoft.com/office/drawing/2014/main" id="{36353460-117E-457C-9F0F-1AA7B34F212D}"/>
              </a:ext>
            </a:extLst>
          </p:cNvPr>
          <p:cNvSpPr>
            <a:spLocks noGrp="1"/>
          </p:cNvSpPr>
          <p:nvPr>
            <p:ph idx="1"/>
          </p:nvPr>
        </p:nvSpPr>
        <p:spPr>
          <a:xfrm>
            <a:off x="5920804" y="987425"/>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Text Placeholder 3">
            <a:extLst>
              <a:ext uri="{FF2B5EF4-FFF2-40B4-BE49-F238E27FC236}">
                <a16:creationId xmlns:a16="http://schemas.microsoft.com/office/drawing/2014/main" id="{283E485A-1FF8-4FDD-A659-6ACC79989968}"/>
              </a:ext>
            </a:extLst>
          </p:cNvPr>
          <p:cNvSpPr>
            <a:spLocks noGrp="1"/>
          </p:cNvSpPr>
          <p:nvPr>
            <p:ph type="body" sz="half" idx="2"/>
          </p:nvPr>
        </p:nvSpPr>
        <p:spPr>
          <a:xfrm>
            <a:off x="1912684" y="2581529"/>
            <a:ext cx="3932237" cy="329514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31A78A4-064B-49BB-9360-FC686D8B5A2C}"/>
              </a:ext>
            </a:extLst>
          </p:cNvPr>
          <p:cNvSpPr>
            <a:spLocks noGrp="1"/>
          </p:cNvSpPr>
          <p:nvPr>
            <p:ph type="dt" sz="half" idx="10"/>
          </p:nvPr>
        </p:nvSpPr>
        <p:spPr/>
        <p:txBody>
          <a:bodyPr/>
          <a:lstStyle/>
          <a:p>
            <a:fld id="{7AC7B867-AA4A-4FF3-AD8B-0AD0F18EE595}" type="datetime8">
              <a:rPr lang="he-IL" smtClean="0"/>
              <a:t>25 מרץ 26</a:t>
            </a:fld>
            <a:endParaRPr lang="he-IL"/>
          </a:p>
        </p:txBody>
      </p:sp>
      <p:sp>
        <p:nvSpPr>
          <p:cNvPr id="6" name="Footer Placeholder 5">
            <a:extLst>
              <a:ext uri="{FF2B5EF4-FFF2-40B4-BE49-F238E27FC236}">
                <a16:creationId xmlns:a16="http://schemas.microsoft.com/office/drawing/2014/main" id="{3CD0114A-6704-44C0-BCAE-EAB756E6477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A3E98D20-B7C4-4CE0-812C-9B6976E08A8C}"/>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3124658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181F6-3528-4A38-B435-490FC2AFC360}"/>
              </a:ext>
            </a:extLst>
          </p:cNvPr>
          <p:cNvSpPr>
            <a:spLocks noGrp="1"/>
          </p:cNvSpPr>
          <p:nvPr>
            <p:ph type="title"/>
          </p:nvPr>
        </p:nvSpPr>
        <p:spPr>
          <a:xfrm>
            <a:off x="2127173" y="987424"/>
            <a:ext cx="3932237" cy="1069975"/>
          </a:xfrm>
        </p:spPr>
        <p:txBody>
          <a:bodyPr anchor="b"/>
          <a:lstStyle>
            <a:lvl1pPr>
              <a:defRPr sz="3200"/>
            </a:lvl1pPr>
          </a:lstStyle>
          <a:p>
            <a:r>
              <a:rPr lang="en-US" dirty="0"/>
              <a:t>Click to edit Master title style</a:t>
            </a:r>
            <a:endParaRPr lang="he-IL" dirty="0"/>
          </a:p>
        </p:txBody>
      </p:sp>
      <p:sp>
        <p:nvSpPr>
          <p:cNvPr id="3" name="Picture Placeholder 2">
            <a:extLst>
              <a:ext uri="{FF2B5EF4-FFF2-40B4-BE49-F238E27FC236}">
                <a16:creationId xmlns:a16="http://schemas.microsoft.com/office/drawing/2014/main" id="{AE7A6AE1-0DCE-4A5A-AC24-95C331B15D57}"/>
              </a:ext>
            </a:extLst>
          </p:cNvPr>
          <p:cNvSpPr>
            <a:spLocks noGrp="1"/>
          </p:cNvSpPr>
          <p:nvPr>
            <p:ph type="pic" idx="1"/>
          </p:nvPr>
        </p:nvSpPr>
        <p:spPr>
          <a:xfrm>
            <a:off x="6096000" y="987425"/>
            <a:ext cx="5259387"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sp>
        <p:nvSpPr>
          <p:cNvPr id="4" name="Text Placeholder 3">
            <a:extLst>
              <a:ext uri="{FF2B5EF4-FFF2-40B4-BE49-F238E27FC236}">
                <a16:creationId xmlns:a16="http://schemas.microsoft.com/office/drawing/2014/main" id="{24CD3E13-E71C-4EE3-BA14-54D61F7290F0}"/>
              </a:ext>
            </a:extLst>
          </p:cNvPr>
          <p:cNvSpPr>
            <a:spLocks noGrp="1"/>
          </p:cNvSpPr>
          <p:nvPr>
            <p:ph type="body" sz="half" idx="2"/>
          </p:nvPr>
        </p:nvSpPr>
        <p:spPr>
          <a:xfrm>
            <a:off x="2127173" y="2057400"/>
            <a:ext cx="3932237"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A2D14-BF1B-420A-B0DF-91CD6E771237}"/>
              </a:ext>
            </a:extLst>
          </p:cNvPr>
          <p:cNvSpPr>
            <a:spLocks noGrp="1"/>
          </p:cNvSpPr>
          <p:nvPr>
            <p:ph type="dt" sz="half" idx="10"/>
          </p:nvPr>
        </p:nvSpPr>
        <p:spPr/>
        <p:txBody>
          <a:bodyPr/>
          <a:lstStyle/>
          <a:p>
            <a:fld id="{F5E9EBD3-88E8-46DB-BD3B-F935B7013014}" type="datetime8">
              <a:rPr lang="he-IL" smtClean="0"/>
              <a:t>25 מרץ 26</a:t>
            </a:fld>
            <a:endParaRPr lang="he-IL"/>
          </a:p>
        </p:txBody>
      </p:sp>
      <p:sp>
        <p:nvSpPr>
          <p:cNvPr id="6" name="Footer Placeholder 5">
            <a:extLst>
              <a:ext uri="{FF2B5EF4-FFF2-40B4-BE49-F238E27FC236}">
                <a16:creationId xmlns:a16="http://schemas.microsoft.com/office/drawing/2014/main" id="{C0227BD5-73FD-47B4-BCDF-92BB6EA156CF}"/>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A4E5EAC3-6043-41F9-B8D4-7F41DABB26A7}"/>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1372402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CA57A-6715-4A64-AF19-74F32284171F}"/>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A7D19522-954F-44AB-A8B2-881237A98ACD}"/>
              </a:ext>
            </a:extLst>
          </p:cNvPr>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3CC7FD09-CBF4-4ADA-B2BB-979C1F74B252}"/>
              </a:ext>
            </a:extLst>
          </p:cNvPr>
          <p:cNvSpPr>
            <a:spLocks noGrp="1"/>
          </p:cNvSpPr>
          <p:nvPr>
            <p:ph type="dt" sz="half" idx="10"/>
          </p:nvPr>
        </p:nvSpPr>
        <p:spPr/>
        <p:txBody>
          <a:bodyPr/>
          <a:lstStyle/>
          <a:p>
            <a:fld id="{18F56BC8-8E7D-4896-9980-77BC87FB8E3E}" type="datetime8">
              <a:rPr lang="he-IL" smtClean="0"/>
              <a:t>25 מרץ 26</a:t>
            </a:fld>
            <a:endParaRPr lang="he-IL"/>
          </a:p>
        </p:txBody>
      </p:sp>
      <p:sp>
        <p:nvSpPr>
          <p:cNvPr id="5" name="Footer Placeholder 4">
            <a:extLst>
              <a:ext uri="{FF2B5EF4-FFF2-40B4-BE49-F238E27FC236}">
                <a16:creationId xmlns:a16="http://schemas.microsoft.com/office/drawing/2014/main" id="{7A3DEA1C-6A3E-4E8A-94C4-85129424B90B}"/>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81897DB-9E67-41A9-B2B3-D6E613340B7A}"/>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165100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7D7B8-0F66-43EC-B9A2-C261F37BC432}"/>
              </a:ext>
            </a:extLst>
          </p:cNvPr>
          <p:cNvSpPr>
            <a:spLocks noGrp="1"/>
          </p:cNvSpPr>
          <p:nvPr>
            <p:ph type="title" orient="vert"/>
          </p:nvPr>
        </p:nvSpPr>
        <p:spPr>
          <a:xfrm>
            <a:off x="8724900" y="365125"/>
            <a:ext cx="2628900" cy="5811838"/>
          </a:xfrm>
        </p:spPr>
        <p:txBody>
          <a:bodyPr vert="eaVert"/>
          <a:lstStyle/>
          <a:p>
            <a:r>
              <a:rPr lang="en-US" dirty="0"/>
              <a:t>Click to edit Master title style</a:t>
            </a:r>
            <a:endParaRPr lang="he-IL" dirty="0"/>
          </a:p>
        </p:txBody>
      </p:sp>
      <p:sp>
        <p:nvSpPr>
          <p:cNvPr id="3" name="Vertical Text Placeholder 2">
            <a:extLst>
              <a:ext uri="{FF2B5EF4-FFF2-40B4-BE49-F238E27FC236}">
                <a16:creationId xmlns:a16="http://schemas.microsoft.com/office/drawing/2014/main" id="{360B89D3-E69A-49EE-8D8C-EAC8400E34B6}"/>
              </a:ext>
            </a:extLst>
          </p:cNvPr>
          <p:cNvSpPr>
            <a:spLocks noGrp="1"/>
          </p:cNvSpPr>
          <p:nvPr>
            <p:ph type="body" orient="vert" idx="1"/>
          </p:nvPr>
        </p:nvSpPr>
        <p:spPr>
          <a:xfrm>
            <a:off x="1310142" y="365125"/>
            <a:ext cx="7262357" cy="5811838"/>
          </a:xfrm>
        </p:spPr>
        <p:txBody>
          <a:bodyPr vert="eaVert">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1B0A9B41-D269-4701-B27C-CDDBCF201A07}"/>
              </a:ext>
            </a:extLst>
          </p:cNvPr>
          <p:cNvSpPr>
            <a:spLocks noGrp="1"/>
          </p:cNvSpPr>
          <p:nvPr>
            <p:ph type="dt" sz="half" idx="10"/>
          </p:nvPr>
        </p:nvSpPr>
        <p:spPr/>
        <p:txBody>
          <a:bodyPr/>
          <a:lstStyle/>
          <a:p>
            <a:fld id="{0FE327C8-CB36-417E-834B-544633ADCE63}" type="datetime8">
              <a:rPr lang="he-IL" smtClean="0"/>
              <a:t>25 מרץ 26</a:t>
            </a:fld>
            <a:endParaRPr lang="he-IL"/>
          </a:p>
        </p:txBody>
      </p:sp>
      <p:sp>
        <p:nvSpPr>
          <p:cNvPr id="5" name="Footer Placeholder 4">
            <a:extLst>
              <a:ext uri="{FF2B5EF4-FFF2-40B4-BE49-F238E27FC236}">
                <a16:creationId xmlns:a16="http://schemas.microsoft.com/office/drawing/2014/main" id="{6CBD14E7-5E00-4D30-9BDD-9B32BEA0F91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8C81914F-9592-4EB2-998B-B922F8A28199}"/>
              </a:ext>
            </a:extLst>
          </p:cNvPr>
          <p:cNvSpPr>
            <a:spLocks noGrp="1"/>
          </p:cNvSpPr>
          <p:nvPr>
            <p:ph type="sldNum" sz="quarter" idx="12"/>
          </p:nvPr>
        </p:nvSpPr>
        <p:spPr>
          <a:xfrm>
            <a:off x="11728704" y="6464649"/>
            <a:ext cx="452233" cy="365125"/>
          </a:xfrm>
        </p:spPr>
        <p:txBody>
          <a:bodyPr/>
          <a:lstStyle/>
          <a:p>
            <a:fld id="{E6AB8EDD-9EF2-4633-A1C2-4D908C1019B4}" type="slidenum">
              <a:rPr lang="he-IL" smtClean="0"/>
              <a:t>‹#›</a:t>
            </a:fld>
            <a:endParaRPr lang="he-IL"/>
          </a:p>
        </p:txBody>
      </p:sp>
    </p:spTree>
    <p:extLst>
      <p:ext uri="{BB962C8B-B14F-4D97-AF65-F5344CB8AC3E}">
        <p14:creationId xmlns:p14="http://schemas.microsoft.com/office/powerpoint/2010/main" val="261555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orkf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072684E-6693-F58C-BC24-150353E83C70}"/>
              </a:ext>
            </a:extLst>
          </p:cNvPr>
          <p:cNvSpPr>
            <a:spLocks noGrp="1"/>
          </p:cNvSpPr>
          <p:nvPr>
            <p:ph type="dt" sz="half" idx="10"/>
          </p:nvPr>
        </p:nvSpPr>
        <p:spPr/>
        <p:txBody>
          <a:bodyPr/>
          <a:lstStyle/>
          <a:p>
            <a:fld id="{8E065D1C-C98B-44F5-AB2A-FEE3E85D0A94}" type="datetime8">
              <a:rPr lang="he-IL" smtClean="0"/>
              <a:t>25 מרץ 26</a:t>
            </a:fld>
            <a:endParaRPr lang="he-IL"/>
          </a:p>
        </p:txBody>
      </p:sp>
      <p:sp>
        <p:nvSpPr>
          <p:cNvPr id="4" name="Footer Placeholder 3">
            <a:extLst>
              <a:ext uri="{FF2B5EF4-FFF2-40B4-BE49-F238E27FC236}">
                <a16:creationId xmlns:a16="http://schemas.microsoft.com/office/drawing/2014/main" id="{212C0620-C9BE-4C99-2D6C-A02A9A6778BE}"/>
              </a:ext>
            </a:extLst>
          </p:cNvPr>
          <p:cNvSpPr>
            <a:spLocks noGrp="1"/>
          </p:cNvSpPr>
          <p:nvPr>
            <p:ph type="ftr" sz="quarter" idx="11"/>
          </p:nvPr>
        </p:nvSpPr>
        <p:spPr/>
        <p:txBody>
          <a:bodyPr/>
          <a:lstStyle/>
          <a:p>
            <a:endParaRPr lang="he-IL" dirty="0"/>
          </a:p>
        </p:txBody>
      </p:sp>
      <p:sp>
        <p:nvSpPr>
          <p:cNvPr id="5" name="Slide Number Placeholder 4">
            <a:extLst>
              <a:ext uri="{FF2B5EF4-FFF2-40B4-BE49-F238E27FC236}">
                <a16:creationId xmlns:a16="http://schemas.microsoft.com/office/drawing/2014/main" id="{8748F728-5692-0756-E6BD-FFB67E1A33CD}"/>
              </a:ext>
            </a:extLst>
          </p:cNvPr>
          <p:cNvSpPr>
            <a:spLocks noGrp="1"/>
          </p:cNvSpPr>
          <p:nvPr>
            <p:ph type="sldNum" sz="quarter" idx="12"/>
          </p:nvPr>
        </p:nvSpPr>
        <p:spPr/>
        <p:txBody>
          <a:bodyPr/>
          <a:lstStyle/>
          <a:p>
            <a:fld id="{E6AB8EDD-9EF2-4633-A1C2-4D908C1019B4}" type="slidenum">
              <a:rPr lang="he-IL" smtClean="0"/>
              <a:pPr/>
              <a:t>‹#›</a:t>
            </a:fld>
            <a:endParaRPr lang="he-IL" dirty="0"/>
          </a:p>
        </p:txBody>
      </p:sp>
      <p:pic>
        <p:nvPicPr>
          <p:cNvPr id="7" name="Picture 6" descr="A document with text on it&#10;&#10;AI-generated content may be incorrect.">
            <a:extLst>
              <a:ext uri="{FF2B5EF4-FFF2-40B4-BE49-F238E27FC236}">
                <a16:creationId xmlns:a16="http://schemas.microsoft.com/office/drawing/2014/main" id="{221434F7-1295-8CB3-5E53-891A52C3D78D}"/>
              </a:ext>
            </a:extLst>
          </p:cNvPr>
          <p:cNvPicPr>
            <a:picLocks noChangeAspect="1"/>
          </p:cNvPicPr>
          <p:nvPr userDrawn="1"/>
        </p:nvPicPr>
        <p:blipFill>
          <a:blip r:embed="rId2">
            <a:extLst>
              <a:ext uri="{28A0092B-C50C-407E-A947-70E740481C1C}">
                <a14:useLocalDpi xmlns:a14="http://schemas.microsoft.com/office/drawing/2010/main" val="0"/>
              </a:ext>
            </a:extLst>
          </a:blip>
          <a:srcRect l="11606" t="8664" r="8034" b="78094"/>
          <a:stretch>
            <a:fillRect/>
          </a:stretch>
        </p:blipFill>
        <p:spPr>
          <a:xfrm>
            <a:off x="1038256" y="2478278"/>
            <a:ext cx="10821413" cy="2294289"/>
          </a:xfrm>
          <a:prstGeom prst="rect">
            <a:avLst/>
          </a:prstGeom>
        </p:spPr>
      </p:pic>
      <p:sp>
        <p:nvSpPr>
          <p:cNvPr id="11" name="TextBox 10">
            <a:extLst>
              <a:ext uri="{FF2B5EF4-FFF2-40B4-BE49-F238E27FC236}">
                <a16:creationId xmlns:a16="http://schemas.microsoft.com/office/drawing/2014/main" id="{3DFF33BC-21D6-16B0-C505-3CEE5CDF6D13}"/>
              </a:ext>
            </a:extLst>
          </p:cNvPr>
          <p:cNvSpPr txBox="1"/>
          <p:nvPr userDrawn="1"/>
        </p:nvSpPr>
        <p:spPr>
          <a:xfrm>
            <a:off x="3072268" y="679697"/>
            <a:ext cx="8753475" cy="769441"/>
          </a:xfrm>
          <a:prstGeom prst="rect">
            <a:avLst/>
          </a:prstGeom>
          <a:noFill/>
        </p:spPr>
        <p:txBody>
          <a:bodyPr wrap="square" rtlCol="0">
            <a:spAutoFit/>
          </a:bodyPr>
          <a:lstStyle/>
          <a:p>
            <a:r>
              <a:rPr lang="en-GB" sz="4400" b="0" kern="1200" dirty="0">
                <a:solidFill>
                  <a:srgbClr val="009DBB"/>
                </a:solidFill>
                <a:latin typeface="+mj-lt"/>
                <a:ea typeface="+mj-ea"/>
                <a:cs typeface="+mj-cs"/>
              </a:rPr>
              <a:t>Workflow</a:t>
            </a:r>
            <a:endParaRPr lang="en-IL" sz="4400" b="0" kern="1200" dirty="0">
              <a:solidFill>
                <a:srgbClr val="009DBB"/>
              </a:solidFill>
              <a:latin typeface="+mj-lt"/>
              <a:ea typeface="+mj-ea"/>
              <a:cs typeface="+mj-cs"/>
            </a:endParaRPr>
          </a:p>
        </p:txBody>
      </p:sp>
    </p:spTree>
    <p:extLst>
      <p:ext uri="{BB962C8B-B14F-4D97-AF65-F5344CB8AC3E}">
        <p14:creationId xmlns:p14="http://schemas.microsoft.com/office/powerpoint/2010/main" val="1912383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EEDABD8-1012-46AD-89C2-C8E4E06DB9B5}"/>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33375" y="0"/>
            <a:ext cx="12192000" cy="6858000"/>
          </a:xfrm>
          <a:prstGeom prst="rect">
            <a:avLst/>
          </a:prstGeom>
        </p:spPr>
      </p:pic>
      <p:sp>
        <p:nvSpPr>
          <p:cNvPr id="2" name="Title Placeholder 1">
            <a:extLst>
              <a:ext uri="{FF2B5EF4-FFF2-40B4-BE49-F238E27FC236}">
                <a16:creationId xmlns:a16="http://schemas.microsoft.com/office/drawing/2014/main" id="{47C9C71F-AAAB-425C-B1EA-7A7182DF4078}"/>
              </a:ext>
            </a:extLst>
          </p:cNvPr>
          <p:cNvSpPr>
            <a:spLocks noGrp="1"/>
          </p:cNvSpPr>
          <p:nvPr>
            <p:ph type="title"/>
          </p:nvPr>
        </p:nvSpPr>
        <p:spPr>
          <a:xfrm>
            <a:off x="3072268" y="401637"/>
            <a:ext cx="8753475" cy="1325563"/>
          </a:xfrm>
          <a:prstGeom prst="rect">
            <a:avLst/>
          </a:prstGeom>
        </p:spPr>
        <p:txBody>
          <a:bodyPr vert="horz" lIns="91440" tIns="45720" rIns="91440" bIns="45720" rtlCol="0" anchor="ctr">
            <a:normAutofit/>
          </a:bodyPr>
          <a:lstStyle/>
          <a:p>
            <a:r>
              <a:rPr lang="en-US" dirty="0"/>
              <a:t>Click to edit Master title style</a:t>
            </a:r>
            <a:endParaRPr lang="he-IL" dirty="0"/>
          </a:p>
        </p:txBody>
      </p:sp>
      <p:sp>
        <p:nvSpPr>
          <p:cNvPr id="3" name="Text Placeholder 2">
            <a:extLst>
              <a:ext uri="{FF2B5EF4-FFF2-40B4-BE49-F238E27FC236}">
                <a16:creationId xmlns:a16="http://schemas.microsoft.com/office/drawing/2014/main" id="{32EFA75E-5AAA-412B-BAE0-CF5F86B37FAD}"/>
              </a:ext>
            </a:extLst>
          </p:cNvPr>
          <p:cNvSpPr>
            <a:spLocks noGrp="1"/>
          </p:cNvSpPr>
          <p:nvPr>
            <p:ph type="body" idx="1"/>
          </p:nvPr>
        </p:nvSpPr>
        <p:spPr>
          <a:xfrm>
            <a:off x="1310143"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1D5198C1-7EB5-4CA4-98A0-2833A18F30E8}"/>
              </a:ext>
            </a:extLst>
          </p:cNvPr>
          <p:cNvSpPr>
            <a:spLocks noGrp="1"/>
          </p:cNvSpPr>
          <p:nvPr>
            <p:ph type="dt" sz="half" idx="2"/>
          </p:nvPr>
        </p:nvSpPr>
        <p:spPr>
          <a:xfrm>
            <a:off x="131014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65D1C-C98B-44F5-AB2A-FEE3E85D0A94}" type="datetime8">
              <a:rPr lang="he-IL" smtClean="0"/>
              <a:t>25 מרץ 26</a:t>
            </a:fld>
            <a:endParaRPr lang="he-IL"/>
          </a:p>
        </p:txBody>
      </p:sp>
      <p:sp>
        <p:nvSpPr>
          <p:cNvPr id="5" name="Footer Placeholder 4">
            <a:extLst>
              <a:ext uri="{FF2B5EF4-FFF2-40B4-BE49-F238E27FC236}">
                <a16:creationId xmlns:a16="http://schemas.microsoft.com/office/drawing/2014/main" id="{E8897CC5-2317-4D8E-8C89-E7B89F4BE955}"/>
              </a:ext>
            </a:extLst>
          </p:cNvPr>
          <p:cNvSpPr>
            <a:spLocks noGrp="1"/>
          </p:cNvSpPr>
          <p:nvPr>
            <p:ph type="ftr" sz="quarter" idx="3"/>
          </p:nvPr>
        </p:nvSpPr>
        <p:spPr>
          <a:xfrm>
            <a:off x="4510543"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25F048FF-C291-43F3-A9DD-3B48AE56F5BB}"/>
              </a:ext>
            </a:extLst>
          </p:cNvPr>
          <p:cNvSpPr>
            <a:spLocks noGrp="1"/>
          </p:cNvSpPr>
          <p:nvPr>
            <p:ph type="sldNum" sz="quarter" idx="4"/>
          </p:nvPr>
        </p:nvSpPr>
        <p:spPr>
          <a:xfrm>
            <a:off x="11728704" y="6476841"/>
            <a:ext cx="45223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6AB8EDD-9EF2-4633-A1C2-4D908C1019B4}" type="slidenum">
              <a:rPr lang="he-IL" smtClean="0"/>
              <a:pPr/>
              <a:t>‹#›</a:t>
            </a:fld>
            <a:endParaRPr lang="he-IL" dirty="0"/>
          </a:p>
        </p:txBody>
      </p:sp>
      <p:pic>
        <p:nvPicPr>
          <p:cNvPr id="8" name="Picture 7">
            <a:extLst>
              <a:ext uri="{FF2B5EF4-FFF2-40B4-BE49-F238E27FC236}">
                <a16:creationId xmlns:a16="http://schemas.microsoft.com/office/drawing/2014/main" id="{B61D43D3-8C77-B77A-1D9D-8CDC43D8429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052957" y="6139952"/>
            <a:ext cx="2642865" cy="797919"/>
          </a:xfrm>
          <a:prstGeom prst="rect">
            <a:avLst/>
          </a:prstGeom>
        </p:spPr>
      </p:pic>
    </p:spTree>
    <p:extLst>
      <p:ext uri="{BB962C8B-B14F-4D97-AF65-F5344CB8AC3E}">
        <p14:creationId xmlns:p14="http://schemas.microsoft.com/office/powerpoint/2010/main" val="1953357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rgbClr val="009DB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 name="Picture 1" descr="A green object on a black surface&#10;&#10;Description automatically generated with low confidence">
            <a:extLst>
              <a:ext uri="{FF2B5EF4-FFF2-40B4-BE49-F238E27FC236}">
                <a16:creationId xmlns:a16="http://schemas.microsoft.com/office/drawing/2014/main" id="{3CB67A20-DF50-FA5C-9F89-051979AEC244}"/>
              </a:ext>
            </a:extLst>
          </p:cNvPr>
          <p:cNvPicPr>
            <a:picLocks noChangeAspect="1"/>
          </p:cNvPicPr>
          <p:nvPr/>
        </p:nvPicPr>
        <p:blipFill rotWithShape="1">
          <a:blip r:embed="rId2">
            <a:extLst>
              <a:ext uri="{28A0092B-C50C-407E-A947-70E740481C1C}">
                <a14:useLocalDpi xmlns:a14="http://schemas.microsoft.com/office/drawing/2010/main" val="0"/>
              </a:ext>
            </a:extLst>
          </a:blip>
          <a:srcRect t="20416" r="11818" b="26261"/>
          <a:stretch/>
        </p:blipFill>
        <p:spPr>
          <a:xfrm>
            <a:off x="4547937" y="0"/>
            <a:ext cx="7644062" cy="3656797"/>
          </a:xfrm>
          <a:prstGeom prst="rect">
            <a:avLst/>
          </a:prstGeom>
        </p:spPr>
      </p:pic>
      <p:pic>
        <p:nvPicPr>
          <p:cNvPr id="10" name="Picture 9">
            <a:extLst>
              <a:ext uri="{FF2B5EF4-FFF2-40B4-BE49-F238E27FC236}">
                <a16:creationId xmlns:a16="http://schemas.microsoft.com/office/drawing/2014/main" id="{A6F2EE9F-F796-A6BB-3045-695978EABEE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18830" r="-1" b="7292"/>
          <a:stretch/>
        </p:blipFill>
        <p:spPr>
          <a:xfrm>
            <a:off x="4547938" y="3681409"/>
            <a:ext cx="7644062" cy="3176595"/>
          </a:xfrm>
          <a:prstGeom prst="rect">
            <a:avLst/>
          </a:prstGeom>
        </p:spPr>
      </p:pic>
      <p:sp>
        <p:nvSpPr>
          <p:cNvPr id="19" name="Rectangle 1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F8220BDD-53D9-474C-9782-2415C685DF93}"/>
              </a:ext>
            </a:extLst>
          </p:cNvPr>
          <p:cNvSpPr>
            <a:spLocks noGrp="1"/>
          </p:cNvSpPr>
          <p:nvPr>
            <p:ph type="ctrTitle"/>
          </p:nvPr>
        </p:nvSpPr>
        <p:spPr>
          <a:xfrm>
            <a:off x="838200" y="1956582"/>
            <a:ext cx="5395912" cy="1724819"/>
          </a:xfrm>
        </p:spPr>
        <p:txBody>
          <a:bodyPr>
            <a:noAutofit/>
          </a:bodyPr>
          <a:lstStyle/>
          <a:p>
            <a:r>
              <a:rPr lang="en-US" sz="4000" dirty="0">
                <a:solidFill>
                  <a:schemeClr val="bg1"/>
                </a:solidFill>
              </a:rPr>
              <a:t>Backbone Graph</a:t>
            </a:r>
          </a:p>
        </p:txBody>
      </p:sp>
      <p:sp>
        <p:nvSpPr>
          <p:cNvPr id="6" name="Subtitle 5">
            <a:extLst>
              <a:ext uri="{FF2B5EF4-FFF2-40B4-BE49-F238E27FC236}">
                <a16:creationId xmlns:a16="http://schemas.microsoft.com/office/drawing/2014/main" id="{B553B468-8035-4F27-9A10-D7A4E7C759F1}"/>
              </a:ext>
            </a:extLst>
          </p:cNvPr>
          <p:cNvSpPr>
            <a:spLocks noGrp="1"/>
          </p:cNvSpPr>
          <p:nvPr>
            <p:ph type="subTitle" idx="1"/>
          </p:nvPr>
        </p:nvSpPr>
        <p:spPr>
          <a:xfrm>
            <a:off x="838200" y="3824627"/>
            <a:ext cx="4089399" cy="1917801"/>
          </a:xfrm>
        </p:spPr>
        <p:txBody>
          <a:bodyPr>
            <a:noAutofit/>
          </a:bodyPr>
          <a:lstStyle/>
          <a:p>
            <a:r>
              <a:rPr lang="en-US" b="1" dirty="0">
                <a:solidFill>
                  <a:prstClr val="white"/>
                </a:solidFill>
              </a:rPr>
              <a:t>25.03.2026</a:t>
            </a:r>
          </a:p>
          <a:p>
            <a:r>
              <a:rPr lang="en-US" dirty="0"/>
              <a:t>Amit Ner Gaon, Noa Tal</a:t>
            </a:r>
          </a:p>
          <a:p>
            <a:r>
              <a:rPr lang="en-US" dirty="0"/>
              <a:t>Prof. Rami </a:t>
            </a:r>
            <a:r>
              <a:rPr lang="en-US" dirty="0" err="1"/>
              <a:t>Puzis</a:t>
            </a:r>
            <a:endParaRPr lang="en-IL" dirty="0"/>
          </a:p>
          <a:p>
            <a:endParaRPr lang="en-US" b="1" dirty="0">
              <a:solidFill>
                <a:prstClr val="white"/>
              </a:solidFill>
            </a:endParaRPr>
          </a:p>
        </p:txBody>
      </p:sp>
      <p:cxnSp>
        <p:nvCxnSpPr>
          <p:cNvPr id="21" name="Straight Connector 2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1D9E9033-B890-41F0-A499-F7F83D1F0E70}"/>
              </a:ext>
            </a:extLst>
          </p:cNvPr>
          <p:cNvSpPr>
            <a:spLocks noGrp="1"/>
          </p:cNvSpPr>
          <p:nvPr>
            <p:ph type="sldNum" sz="quarter" idx="12"/>
          </p:nvPr>
        </p:nvSpPr>
        <p:spPr>
          <a:xfrm>
            <a:off x="8610600" y="6356350"/>
            <a:ext cx="27432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E6AB8EDD-9EF2-4633-A1C2-4D908C1019B4}" type="slidenum">
              <a:rPr kumimoji="0" lang="he-IL" sz="12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600"/>
                </a:spcAft>
                <a:buClrTx/>
                <a:buSzTx/>
                <a:buFontTx/>
                <a:buNone/>
                <a:tabLst/>
                <a:defRPr/>
              </a:pPr>
              <a:t>1</a:t>
            </a:fld>
            <a:endParaRPr kumimoji="0" lang="he-IL" sz="12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28" name="Title 4">
            <a:extLst>
              <a:ext uri="{FF2B5EF4-FFF2-40B4-BE49-F238E27FC236}">
                <a16:creationId xmlns:a16="http://schemas.microsoft.com/office/drawing/2014/main" id="{6D84A53B-A147-EEC0-9D81-D931915B4D17}"/>
              </a:ext>
            </a:extLst>
          </p:cNvPr>
          <p:cNvSpPr txBox="1">
            <a:spLocks/>
          </p:cNvSpPr>
          <p:nvPr/>
        </p:nvSpPr>
        <p:spPr>
          <a:xfrm>
            <a:off x="838200" y="3706020"/>
            <a:ext cx="3138714" cy="625462"/>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lang="he-IL" sz="4800" kern="1200" dirty="0">
                <a:solidFill>
                  <a:srgbClr val="009DBB"/>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0" i="0" u="none" strike="noStrike" kern="1200" cap="none" spc="0" normalizeH="0" baseline="0" noProof="0" dirty="0">
              <a:ln>
                <a:noFill/>
              </a:ln>
              <a:solidFill>
                <a:prstClr val="white"/>
              </a:solidFill>
              <a:effectLst/>
              <a:uLnTx/>
              <a:uFillTx/>
              <a:latin typeface="Calibri Light" panose="020F0302020204030204"/>
              <a:ea typeface="+mj-ea"/>
              <a:cs typeface="+mj-cs"/>
            </a:endParaRPr>
          </a:p>
        </p:txBody>
      </p:sp>
      <p:pic>
        <p:nvPicPr>
          <p:cNvPr id="3" name="Picture 2">
            <a:extLst>
              <a:ext uri="{FF2B5EF4-FFF2-40B4-BE49-F238E27FC236}">
                <a16:creationId xmlns:a16="http://schemas.microsoft.com/office/drawing/2014/main" id="{B9DE9F95-0435-3A81-61D6-23ED74B595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03" y="0"/>
            <a:ext cx="2642865" cy="797919"/>
          </a:xfrm>
          <a:prstGeom prst="rect">
            <a:avLst/>
          </a:prstGeom>
        </p:spPr>
      </p:pic>
    </p:spTree>
    <p:extLst>
      <p:ext uri="{BB962C8B-B14F-4D97-AF65-F5344CB8AC3E}">
        <p14:creationId xmlns:p14="http://schemas.microsoft.com/office/powerpoint/2010/main" val="132160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4D25-02A9-78EB-690B-D93ACC2A9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C47FB-3B8E-1F68-D6EB-C3B6C0E7B81A}"/>
              </a:ext>
            </a:extLst>
          </p:cNvPr>
          <p:cNvSpPr>
            <a:spLocks noGrp="1"/>
          </p:cNvSpPr>
          <p:nvPr>
            <p:ph type="title"/>
          </p:nvPr>
        </p:nvSpPr>
        <p:spPr>
          <a:xfrm>
            <a:off x="3072268" y="401637"/>
            <a:ext cx="8753475" cy="1325563"/>
          </a:xfrm>
        </p:spPr>
        <p:txBody>
          <a:bodyPr anchor="ctr">
            <a:normAutofit/>
          </a:bodyPr>
          <a:lstStyle/>
          <a:p>
            <a:r>
              <a:rPr lang="en-GB" dirty="0"/>
              <a:t>Core Concepts</a:t>
            </a:r>
            <a:endParaRPr lang="en-IL" dirty="0"/>
          </a:p>
        </p:txBody>
      </p:sp>
      <p:sp>
        <p:nvSpPr>
          <p:cNvPr id="4" name="Slide Number Placeholder 3">
            <a:extLst>
              <a:ext uri="{FF2B5EF4-FFF2-40B4-BE49-F238E27FC236}">
                <a16:creationId xmlns:a16="http://schemas.microsoft.com/office/drawing/2014/main" id="{76668C5A-EA8F-5CB7-FF7C-6442F88DB17A}"/>
              </a:ext>
            </a:extLst>
          </p:cNvPr>
          <p:cNvSpPr>
            <a:spLocks noGrp="1"/>
          </p:cNvSpPr>
          <p:nvPr>
            <p:ph type="sldNum" sz="quarter" idx="12"/>
          </p:nvPr>
        </p:nvSpPr>
        <p:spPr>
          <a:xfrm>
            <a:off x="11728704" y="6464649"/>
            <a:ext cx="452233" cy="365125"/>
          </a:xfrm>
        </p:spPr>
        <p:txBody>
          <a:bodyPr anchor="ctr">
            <a:normAutofit/>
          </a:bodyPr>
          <a:lstStyle/>
          <a:p>
            <a:pPr>
              <a:spcAft>
                <a:spcPts val="600"/>
              </a:spcAft>
            </a:pPr>
            <a:fld id="{E6AB8EDD-9EF2-4633-A1C2-4D908C1019B4}" type="slidenum">
              <a:rPr lang="he-IL" smtClean="0"/>
              <a:pPr>
                <a:spcAft>
                  <a:spcPts val="600"/>
                </a:spcAft>
              </a:pPr>
              <a:t>2</a:t>
            </a:fld>
            <a:endParaRPr lang="he-IL"/>
          </a:p>
        </p:txBody>
      </p:sp>
      <p:graphicFrame>
        <p:nvGraphicFramePr>
          <p:cNvPr id="6" name="Content Placeholder 2">
            <a:extLst>
              <a:ext uri="{FF2B5EF4-FFF2-40B4-BE49-F238E27FC236}">
                <a16:creationId xmlns:a16="http://schemas.microsoft.com/office/drawing/2014/main" id="{B16D549A-CC57-1C2C-A976-5DA7CC5B8247}"/>
              </a:ext>
            </a:extLst>
          </p:cNvPr>
          <p:cNvGraphicFramePr>
            <a:graphicFrameLocks noGrp="1"/>
          </p:cNvGraphicFramePr>
          <p:nvPr>
            <p:ph idx="1"/>
          </p:nvPr>
        </p:nvGraphicFramePr>
        <p:xfrm>
          <a:off x="1243087" y="1825625"/>
          <a:ext cx="1058265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4283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3D42-B04C-176E-1618-0DE7F764D062}"/>
              </a:ext>
            </a:extLst>
          </p:cNvPr>
          <p:cNvSpPr>
            <a:spLocks noGrp="1"/>
          </p:cNvSpPr>
          <p:nvPr>
            <p:ph type="title"/>
          </p:nvPr>
        </p:nvSpPr>
        <p:spPr/>
        <p:txBody>
          <a:bodyPr/>
          <a:lstStyle/>
          <a:p>
            <a:r>
              <a:rPr lang="en-GB" dirty="0"/>
              <a:t>Hypothesis</a:t>
            </a:r>
            <a:endParaRPr lang="en-IL" dirty="0"/>
          </a:p>
        </p:txBody>
      </p:sp>
      <p:sp>
        <p:nvSpPr>
          <p:cNvPr id="3" name="Content Placeholder 2">
            <a:extLst>
              <a:ext uri="{FF2B5EF4-FFF2-40B4-BE49-F238E27FC236}">
                <a16:creationId xmlns:a16="http://schemas.microsoft.com/office/drawing/2014/main" id="{076BA54A-8BB7-1D67-805E-7B436BEFE40E}"/>
              </a:ext>
            </a:extLst>
          </p:cNvPr>
          <p:cNvSpPr>
            <a:spLocks noGrp="1"/>
          </p:cNvSpPr>
          <p:nvPr>
            <p:ph idx="1"/>
          </p:nvPr>
        </p:nvSpPr>
        <p:spPr>
          <a:xfrm>
            <a:off x="1243087" y="1825625"/>
            <a:ext cx="4852913" cy="4351338"/>
          </a:xfrm>
        </p:spPr>
        <p:txBody>
          <a:bodyPr>
            <a:normAutofit lnSpcReduction="10000"/>
          </a:bodyPr>
          <a:lstStyle/>
          <a:p>
            <a:pPr marL="0" indent="0">
              <a:buNone/>
            </a:pPr>
            <a:r>
              <a:rPr lang="en-GB" dirty="0"/>
              <a:t>Successful IO drivers shape the online discourse by promoting and amplifying specific narratives. However, they cannot run an effective campaign alone. Their impact depends on coordination with other drivers, sharing messages, reinforcing each other’s content, and acting as a connected group. </a:t>
            </a:r>
          </a:p>
          <a:p>
            <a:pPr marL="0" indent="0">
              <a:buNone/>
            </a:pPr>
            <a:r>
              <a:rPr lang="en-GB" dirty="0"/>
              <a:t>This combination of </a:t>
            </a:r>
            <a:r>
              <a:rPr lang="en-GB" b="1" dirty="0"/>
              <a:t>leading the narrative</a:t>
            </a:r>
            <a:r>
              <a:rPr lang="en-GB" dirty="0"/>
              <a:t> and </a:t>
            </a:r>
            <a:r>
              <a:rPr lang="en-GB" b="1" dirty="0"/>
              <a:t>coordinated behaviour</a:t>
            </a:r>
            <a:r>
              <a:rPr lang="en-GB" dirty="0"/>
              <a:t> is what enables a successful information operation.</a:t>
            </a:r>
            <a:endParaRPr lang="en-IL" dirty="0"/>
          </a:p>
        </p:txBody>
      </p:sp>
      <p:sp>
        <p:nvSpPr>
          <p:cNvPr id="4" name="Slide Number Placeholder 3">
            <a:extLst>
              <a:ext uri="{FF2B5EF4-FFF2-40B4-BE49-F238E27FC236}">
                <a16:creationId xmlns:a16="http://schemas.microsoft.com/office/drawing/2014/main" id="{5F085085-3D08-6475-7C6B-F6DA39378A7F}"/>
              </a:ext>
            </a:extLst>
          </p:cNvPr>
          <p:cNvSpPr>
            <a:spLocks noGrp="1"/>
          </p:cNvSpPr>
          <p:nvPr>
            <p:ph type="sldNum" sz="quarter" idx="12"/>
          </p:nvPr>
        </p:nvSpPr>
        <p:spPr/>
        <p:txBody>
          <a:bodyPr/>
          <a:lstStyle/>
          <a:p>
            <a:fld id="{E6AB8EDD-9EF2-4633-A1C2-4D908C1019B4}" type="slidenum">
              <a:rPr lang="he-IL" smtClean="0"/>
              <a:t>3</a:t>
            </a:fld>
            <a:endParaRPr lang="he-IL"/>
          </a:p>
        </p:txBody>
      </p:sp>
      <p:pic>
        <p:nvPicPr>
          <p:cNvPr id="7" name="Picture 6">
            <a:extLst>
              <a:ext uri="{FF2B5EF4-FFF2-40B4-BE49-F238E27FC236}">
                <a16:creationId xmlns:a16="http://schemas.microsoft.com/office/drawing/2014/main" id="{4B5C2929-75F8-3253-6430-1E4DD5BF5830}"/>
              </a:ext>
            </a:extLst>
          </p:cNvPr>
          <p:cNvPicPr>
            <a:picLocks noChangeAspect="1"/>
          </p:cNvPicPr>
          <p:nvPr/>
        </p:nvPicPr>
        <p:blipFill>
          <a:blip r:embed="rId2">
            <a:extLst>
              <a:ext uri="{28A0092B-C50C-407E-A947-70E740481C1C}">
                <a14:useLocalDpi xmlns:a14="http://schemas.microsoft.com/office/drawing/2010/main" val="0"/>
              </a:ext>
            </a:extLst>
          </a:blip>
          <a:srcRect l="3322" r="1704"/>
          <a:stretch>
            <a:fillRect/>
          </a:stretch>
        </p:blipFill>
        <p:spPr>
          <a:xfrm>
            <a:off x="6320117" y="1727200"/>
            <a:ext cx="5505626" cy="3864669"/>
          </a:xfrm>
          <a:prstGeom prst="rect">
            <a:avLst/>
          </a:prstGeom>
        </p:spPr>
      </p:pic>
      <p:sp>
        <p:nvSpPr>
          <p:cNvPr id="8" name="Content Placeholder 2">
            <a:extLst>
              <a:ext uri="{FF2B5EF4-FFF2-40B4-BE49-F238E27FC236}">
                <a16:creationId xmlns:a16="http://schemas.microsoft.com/office/drawing/2014/main" id="{1C685EAC-9890-E2DE-983C-BE5E410F7F29}"/>
              </a:ext>
            </a:extLst>
          </p:cNvPr>
          <p:cNvSpPr txBox="1">
            <a:spLocks/>
          </p:cNvSpPr>
          <p:nvPr/>
        </p:nvSpPr>
        <p:spPr>
          <a:xfrm>
            <a:off x="1355145" y="6176963"/>
            <a:ext cx="7914361" cy="547128"/>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Academic Papers: </a:t>
            </a:r>
          </a:p>
          <a:p>
            <a:pPr marL="0" indent="0">
              <a:buNone/>
            </a:pPr>
            <a:r>
              <a:rPr lang="en-GB" dirty="0"/>
              <a:t>“Identifying Coordinated Activities on Online Social Networks Using Contrast Pattern Mining”</a:t>
            </a:r>
            <a:br>
              <a:rPr lang="en-GB" dirty="0"/>
            </a:br>
            <a:r>
              <a:rPr lang="en-GB" dirty="0"/>
              <a:t>“IOHunter: Graph foundation model to uncover online information operations‏”</a:t>
            </a:r>
          </a:p>
          <a:p>
            <a:pPr marL="0" indent="0">
              <a:buNone/>
            </a:pPr>
            <a:endParaRPr lang="en-GB" dirty="0"/>
          </a:p>
          <a:p>
            <a:pPr marL="0" indent="0">
              <a:buFont typeface="Arial" panose="020B0604020202020204" pitchFamily="34" charset="0"/>
              <a:buNone/>
            </a:pPr>
            <a:endParaRPr lang="en-IL" dirty="0"/>
          </a:p>
        </p:txBody>
      </p:sp>
    </p:spTree>
    <p:extLst>
      <p:ext uri="{BB962C8B-B14F-4D97-AF65-F5344CB8AC3E}">
        <p14:creationId xmlns:p14="http://schemas.microsoft.com/office/powerpoint/2010/main" val="2616538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4B82E-CF39-A918-2E65-A58B251CDD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B17ACD-E36E-4F6D-D4F9-4FCA7DACF914}"/>
              </a:ext>
            </a:extLst>
          </p:cNvPr>
          <p:cNvSpPr>
            <a:spLocks noGrp="1"/>
          </p:cNvSpPr>
          <p:nvPr>
            <p:ph type="sldNum" sz="quarter" idx="12"/>
          </p:nvPr>
        </p:nvSpPr>
        <p:spPr/>
        <p:txBody>
          <a:bodyPr/>
          <a:lstStyle/>
          <a:p>
            <a:fld id="{E6AB8EDD-9EF2-4633-A1C2-4D908C1019B4}" type="slidenum">
              <a:rPr lang="he-IL" smtClean="0"/>
              <a:t>4</a:t>
            </a:fld>
            <a:endParaRPr lang="he-IL"/>
          </a:p>
        </p:txBody>
      </p:sp>
      <p:sp>
        <p:nvSpPr>
          <p:cNvPr id="5" name="Rectangle: Rounded Corners 4">
            <a:extLst>
              <a:ext uri="{FF2B5EF4-FFF2-40B4-BE49-F238E27FC236}">
                <a16:creationId xmlns:a16="http://schemas.microsoft.com/office/drawing/2014/main" id="{96367415-7152-A62B-A4D2-E80713B83AF5}"/>
              </a:ext>
            </a:extLst>
          </p:cNvPr>
          <p:cNvSpPr/>
          <p:nvPr/>
        </p:nvSpPr>
        <p:spPr>
          <a:xfrm>
            <a:off x="3932608" y="5410867"/>
            <a:ext cx="2149642" cy="6425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Boost Author Selection</a:t>
            </a:r>
            <a:endParaRPr lang="en-IL" sz="1400" dirty="0"/>
          </a:p>
        </p:txBody>
      </p:sp>
      <p:cxnSp>
        <p:nvCxnSpPr>
          <p:cNvPr id="7" name="Straight Arrow Connector 6">
            <a:extLst>
              <a:ext uri="{FF2B5EF4-FFF2-40B4-BE49-F238E27FC236}">
                <a16:creationId xmlns:a16="http://schemas.microsoft.com/office/drawing/2014/main" id="{B2438A5F-9CA0-0E2A-AAFB-C52A38278DB2}"/>
              </a:ext>
            </a:extLst>
          </p:cNvPr>
          <p:cNvCxnSpPr>
            <a:cxnSpLocks/>
            <a:stCxn id="5" idx="3"/>
          </p:cNvCxnSpPr>
          <p:nvPr/>
        </p:nvCxnSpPr>
        <p:spPr>
          <a:xfrm flipV="1">
            <a:off x="6082250" y="4455122"/>
            <a:ext cx="834189" cy="12770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162E5CE5-FD4A-8773-B399-BCE32C57883E}"/>
              </a:ext>
            </a:extLst>
          </p:cNvPr>
          <p:cNvSpPr/>
          <p:nvPr/>
        </p:nvSpPr>
        <p:spPr>
          <a:xfrm>
            <a:off x="6669741" y="3905987"/>
            <a:ext cx="5289686" cy="959005"/>
          </a:xfrm>
          <a:prstGeom prst="roundRect">
            <a:avLst/>
          </a:prstGeom>
          <a:noFill/>
          <a:ln w="38100">
            <a:solidFill>
              <a:srgbClr val="FF43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spTree>
    <p:extLst>
      <p:ext uri="{BB962C8B-B14F-4D97-AF65-F5344CB8AC3E}">
        <p14:creationId xmlns:p14="http://schemas.microsoft.com/office/powerpoint/2010/main" val="2248034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F6C1-AB65-35BD-8133-F3F29DB90DD0}"/>
              </a:ext>
            </a:extLst>
          </p:cNvPr>
          <p:cNvSpPr>
            <a:spLocks noGrp="1"/>
          </p:cNvSpPr>
          <p:nvPr>
            <p:ph type="title"/>
          </p:nvPr>
        </p:nvSpPr>
        <p:spPr/>
        <p:txBody>
          <a:bodyPr/>
          <a:lstStyle/>
          <a:p>
            <a:r>
              <a:rPr lang="en-US" dirty="0"/>
              <a:t>Terms &amp; Definitions - IO</a:t>
            </a:r>
            <a:endParaRPr lang="en-IL" dirty="0"/>
          </a:p>
        </p:txBody>
      </p:sp>
      <p:sp>
        <p:nvSpPr>
          <p:cNvPr id="3" name="Content Placeholder 2">
            <a:extLst>
              <a:ext uri="{FF2B5EF4-FFF2-40B4-BE49-F238E27FC236}">
                <a16:creationId xmlns:a16="http://schemas.microsoft.com/office/drawing/2014/main" id="{2591FA6F-2F61-214E-F20E-E15E3A7E9E5E}"/>
              </a:ext>
            </a:extLst>
          </p:cNvPr>
          <p:cNvSpPr>
            <a:spLocks noGrp="1"/>
          </p:cNvSpPr>
          <p:nvPr>
            <p:ph idx="1"/>
          </p:nvPr>
        </p:nvSpPr>
        <p:spPr/>
        <p:txBody>
          <a:bodyPr/>
          <a:lstStyle/>
          <a:p>
            <a:r>
              <a:rPr lang="en-GB" b="1" dirty="0"/>
              <a:t>Information Operation (IO):</a:t>
            </a:r>
            <a:r>
              <a:rPr lang="en-GB" dirty="0"/>
              <a:t> A collection of publications by coordinated actors pursuing a shared intent while misleading others.</a:t>
            </a:r>
          </a:p>
          <a:p>
            <a:pPr fontAlgn="base"/>
            <a:r>
              <a:rPr lang="en-GB" b="1" dirty="0"/>
              <a:t>IO Driver:</a:t>
            </a:r>
            <a:r>
              <a:rPr lang="en-GB" dirty="0"/>
              <a:t> An account that promotes one or more IO.</a:t>
            </a:r>
          </a:p>
          <a:p>
            <a:pPr fontAlgn="base"/>
            <a:r>
              <a:rPr lang="en-GB" b="1" dirty="0"/>
              <a:t>Author ‘s IO Label:</a:t>
            </a:r>
            <a:r>
              <a:rPr lang="en-GB" dirty="0"/>
              <a:t> label =  1 if the author is a IO Driver and label = 0 if not.</a:t>
            </a:r>
          </a:p>
        </p:txBody>
      </p:sp>
      <p:sp>
        <p:nvSpPr>
          <p:cNvPr id="4" name="Slide Number Placeholder 3">
            <a:extLst>
              <a:ext uri="{FF2B5EF4-FFF2-40B4-BE49-F238E27FC236}">
                <a16:creationId xmlns:a16="http://schemas.microsoft.com/office/drawing/2014/main" id="{30442458-50C9-BF06-3967-CE25C3C30F5D}"/>
              </a:ext>
            </a:extLst>
          </p:cNvPr>
          <p:cNvSpPr>
            <a:spLocks noGrp="1"/>
          </p:cNvSpPr>
          <p:nvPr>
            <p:ph type="sldNum" sz="quarter" idx="12"/>
          </p:nvPr>
        </p:nvSpPr>
        <p:spPr/>
        <p:txBody>
          <a:bodyPr/>
          <a:lstStyle/>
          <a:p>
            <a:fld id="{E6AB8EDD-9EF2-4633-A1C2-4D908C1019B4}" type="slidenum">
              <a:rPr lang="he-IL" smtClean="0"/>
              <a:t>5</a:t>
            </a:fld>
            <a:endParaRPr lang="he-IL"/>
          </a:p>
        </p:txBody>
      </p:sp>
    </p:spTree>
    <p:extLst>
      <p:ext uri="{BB962C8B-B14F-4D97-AF65-F5344CB8AC3E}">
        <p14:creationId xmlns:p14="http://schemas.microsoft.com/office/powerpoint/2010/main" val="1192892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9F5D21-FEAA-6801-6A47-D72173FC7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8C365-C8A0-2A99-D1C2-5872EAA4DF81}"/>
              </a:ext>
            </a:extLst>
          </p:cNvPr>
          <p:cNvSpPr>
            <a:spLocks noGrp="1"/>
          </p:cNvSpPr>
          <p:nvPr>
            <p:ph type="title"/>
          </p:nvPr>
        </p:nvSpPr>
        <p:spPr/>
        <p:txBody>
          <a:bodyPr/>
          <a:lstStyle/>
          <a:p>
            <a:r>
              <a:rPr lang="en-US" dirty="0"/>
              <a:t>Terms &amp; Definitions - Key</a:t>
            </a:r>
            <a:endParaRPr lang="en-IL" dirty="0"/>
          </a:p>
        </p:txBody>
      </p:sp>
      <p:sp>
        <p:nvSpPr>
          <p:cNvPr id="3" name="Content Placeholder 2">
            <a:extLst>
              <a:ext uri="{FF2B5EF4-FFF2-40B4-BE49-F238E27FC236}">
                <a16:creationId xmlns:a16="http://schemas.microsoft.com/office/drawing/2014/main" id="{91BF7DE5-3E08-EDD2-0E70-2E2FD9E3B8B8}"/>
              </a:ext>
            </a:extLst>
          </p:cNvPr>
          <p:cNvSpPr>
            <a:spLocks noGrp="1"/>
          </p:cNvSpPr>
          <p:nvPr>
            <p:ph idx="1"/>
          </p:nvPr>
        </p:nvSpPr>
        <p:spPr/>
        <p:txBody>
          <a:bodyPr/>
          <a:lstStyle/>
          <a:p>
            <a:r>
              <a:rPr lang="en-GB" b="1" dirty="0"/>
              <a:t>Key Author:</a:t>
            </a:r>
            <a:r>
              <a:rPr lang="en-GB" dirty="0"/>
              <a:t> An author who is a leading participant in one or more topic(s).</a:t>
            </a:r>
          </a:p>
          <a:p>
            <a:r>
              <a:rPr lang="en-GB" b="1" dirty="0"/>
              <a:t>Author-Topic Key Score: </a:t>
            </a:r>
            <a:r>
              <a:rPr lang="en-GB" dirty="0"/>
              <a:t>A measure of how strongly an author is associated with a topic, emphasizing topic-specific content. It is calculated based on the use of topic-related entities (e.g., hashtags, mentions, URLs) in the author’s posts.</a:t>
            </a:r>
            <a:endParaRPr lang="en-GB" b="1" dirty="0"/>
          </a:p>
          <a:p>
            <a:r>
              <a:rPr lang="en-GB" b="1" dirty="0"/>
              <a:t>Author Key Score: </a:t>
            </a:r>
            <a:r>
              <a:rPr lang="en-GB" dirty="0"/>
              <a:t>sum of the </a:t>
            </a:r>
            <a:r>
              <a:rPr lang="en-GB" i="1" dirty="0"/>
              <a:t>Author-Topic Key Score </a:t>
            </a:r>
            <a:r>
              <a:rPr lang="en-GB" dirty="0"/>
              <a:t>across all topics</a:t>
            </a:r>
            <a:r>
              <a:rPr lang="en-GB" i="1" dirty="0"/>
              <a:t>.</a:t>
            </a:r>
          </a:p>
          <a:p>
            <a:endParaRPr lang="en-GB" b="1" dirty="0"/>
          </a:p>
        </p:txBody>
      </p:sp>
      <p:sp>
        <p:nvSpPr>
          <p:cNvPr id="4" name="Slide Number Placeholder 3">
            <a:extLst>
              <a:ext uri="{FF2B5EF4-FFF2-40B4-BE49-F238E27FC236}">
                <a16:creationId xmlns:a16="http://schemas.microsoft.com/office/drawing/2014/main" id="{6A443EF8-3FAF-E450-9AAA-2FA80E88EF36}"/>
              </a:ext>
            </a:extLst>
          </p:cNvPr>
          <p:cNvSpPr>
            <a:spLocks noGrp="1"/>
          </p:cNvSpPr>
          <p:nvPr>
            <p:ph type="sldNum" sz="quarter" idx="12"/>
          </p:nvPr>
        </p:nvSpPr>
        <p:spPr/>
        <p:txBody>
          <a:bodyPr/>
          <a:lstStyle/>
          <a:p>
            <a:fld id="{E6AB8EDD-9EF2-4633-A1C2-4D908C1019B4}" type="slidenum">
              <a:rPr lang="he-IL" smtClean="0"/>
              <a:t>6</a:t>
            </a:fld>
            <a:endParaRPr lang="he-IL"/>
          </a:p>
        </p:txBody>
      </p:sp>
    </p:spTree>
    <p:extLst>
      <p:ext uri="{BB962C8B-B14F-4D97-AF65-F5344CB8AC3E}">
        <p14:creationId xmlns:p14="http://schemas.microsoft.com/office/powerpoint/2010/main" val="790370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E27CD-C8FF-B185-45D8-666A78A68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98079-07AB-1011-721B-DDEB468739BA}"/>
              </a:ext>
            </a:extLst>
          </p:cNvPr>
          <p:cNvSpPr>
            <a:spLocks noGrp="1"/>
          </p:cNvSpPr>
          <p:nvPr>
            <p:ph type="title"/>
          </p:nvPr>
        </p:nvSpPr>
        <p:spPr>
          <a:xfrm>
            <a:off x="3072268" y="401637"/>
            <a:ext cx="8949044" cy="1325563"/>
          </a:xfrm>
        </p:spPr>
        <p:txBody>
          <a:bodyPr>
            <a:normAutofit/>
          </a:bodyPr>
          <a:lstStyle/>
          <a:p>
            <a:r>
              <a:rPr lang="en-GB" dirty="0"/>
              <a:t>Backbone Graph Building</a:t>
            </a:r>
            <a:endParaRPr lang="en-IL" dirty="0"/>
          </a:p>
        </p:txBody>
      </p:sp>
      <p:sp>
        <p:nvSpPr>
          <p:cNvPr id="3" name="Content Placeholder 2">
            <a:extLst>
              <a:ext uri="{FF2B5EF4-FFF2-40B4-BE49-F238E27FC236}">
                <a16:creationId xmlns:a16="http://schemas.microsoft.com/office/drawing/2014/main" id="{5FBFF6C3-80E1-C75C-69F0-3A7FFA1D100D}"/>
              </a:ext>
            </a:extLst>
          </p:cNvPr>
          <p:cNvSpPr>
            <a:spLocks noGrp="1"/>
          </p:cNvSpPr>
          <p:nvPr>
            <p:ph idx="1"/>
          </p:nvPr>
        </p:nvSpPr>
        <p:spPr>
          <a:xfrm>
            <a:off x="1243087" y="1825624"/>
            <a:ext cx="10582656" cy="4441825"/>
          </a:xfrm>
        </p:spPr>
        <p:txBody>
          <a:bodyPr>
            <a:normAutofit/>
          </a:bodyPr>
          <a:lstStyle/>
          <a:p>
            <a:r>
              <a:rPr lang="en-GB" sz="2800" b="1" dirty="0"/>
              <a:t>Nodes:</a:t>
            </a:r>
            <a:r>
              <a:rPr lang="en-GB" sz="2800" dirty="0"/>
              <a:t> authors in the discourse.</a:t>
            </a:r>
          </a:p>
          <a:p>
            <a:r>
              <a:rPr lang="en-GB" sz="2800" b="1" dirty="0"/>
              <a:t>Edges: </a:t>
            </a:r>
            <a:r>
              <a:rPr lang="en-GB" sz="2800" dirty="0"/>
              <a:t>co-action relations between author pairs (e.g., co-mention, co-entity, co-topic). Represents </a:t>
            </a:r>
            <a:r>
              <a:rPr lang="en-US" sz="2800" b="1" dirty="0"/>
              <a:t>behavioral similar</a:t>
            </a:r>
            <a:r>
              <a:rPr lang="en-GB" sz="2800" b="1" dirty="0"/>
              <a:t>arty </a:t>
            </a:r>
            <a:r>
              <a:rPr lang="en-GB" sz="2800" dirty="0"/>
              <a:t>between the authors.</a:t>
            </a:r>
          </a:p>
          <a:p>
            <a:r>
              <a:rPr lang="en-GB" sz="2800" b="1" dirty="0"/>
              <a:t>Edges` Weights:</a:t>
            </a:r>
            <a:r>
              <a:rPr lang="en-GB" sz="2800" dirty="0"/>
              <a:t> number of co-occurrences.</a:t>
            </a:r>
          </a:p>
          <a:p>
            <a:r>
              <a:rPr lang="en-GB" sz="2800" b="1" dirty="0"/>
              <a:t>Filtering:</a:t>
            </a:r>
            <a:r>
              <a:rPr lang="en-GB" sz="2800" dirty="0"/>
              <a:t> only key and boost authors.</a:t>
            </a:r>
          </a:p>
          <a:p>
            <a:r>
              <a:rPr lang="en-GB" sz="2800" b="1" dirty="0"/>
              <a:t>Purpose</a:t>
            </a:r>
            <a:r>
              <a:rPr lang="en-GB" sz="2800" dirty="0"/>
              <a:t>: expose coordinated behaviour and structural signals for IO detection.</a:t>
            </a:r>
          </a:p>
          <a:p>
            <a:endParaRPr lang="en-GB" dirty="0"/>
          </a:p>
          <a:p>
            <a:endParaRPr lang="en-GB" dirty="0"/>
          </a:p>
          <a:p>
            <a:pPr marL="457200" lvl="1" indent="0">
              <a:buNone/>
            </a:pPr>
            <a:endParaRPr lang="en-GB" sz="3300" dirty="0"/>
          </a:p>
        </p:txBody>
      </p:sp>
      <p:sp>
        <p:nvSpPr>
          <p:cNvPr id="4" name="Slide Number Placeholder 3">
            <a:extLst>
              <a:ext uri="{FF2B5EF4-FFF2-40B4-BE49-F238E27FC236}">
                <a16:creationId xmlns:a16="http://schemas.microsoft.com/office/drawing/2014/main" id="{705E3158-F388-D9C9-D303-42FD2F68D2FC}"/>
              </a:ext>
            </a:extLst>
          </p:cNvPr>
          <p:cNvSpPr>
            <a:spLocks noGrp="1"/>
          </p:cNvSpPr>
          <p:nvPr>
            <p:ph type="sldNum" sz="quarter" idx="12"/>
          </p:nvPr>
        </p:nvSpPr>
        <p:spPr/>
        <p:txBody>
          <a:bodyPr/>
          <a:lstStyle/>
          <a:p>
            <a:fld id="{E6AB8EDD-9EF2-4633-A1C2-4D908C1019B4}" type="slidenum">
              <a:rPr lang="he-IL" smtClean="0"/>
              <a:t>7</a:t>
            </a:fld>
            <a:endParaRPr lang="he-IL"/>
          </a:p>
        </p:txBody>
      </p:sp>
    </p:spTree>
    <p:extLst>
      <p:ext uri="{BB962C8B-B14F-4D97-AF65-F5344CB8AC3E}">
        <p14:creationId xmlns:p14="http://schemas.microsoft.com/office/powerpoint/2010/main" val="3011122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BEF17-A85B-69A7-4947-96097D1A5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E2D88-5AB1-052E-FB13-E091040FA2F1}"/>
              </a:ext>
            </a:extLst>
          </p:cNvPr>
          <p:cNvSpPr>
            <a:spLocks noGrp="1"/>
          </p:cNvSpPr>
          <p:nvPr>
            <p:ph type="title"/>
          </p:nvPr>
        </p:nvSpPr>
        <p:spPr>
          <a:xfrm>
            <a:off x="3072268" y="401637"/>
            <a:ext cx="8949044" cy="1325563"/>
          </a:xfrm>
        </p:spPr>
        <p:txBody>
          <a:bodyPr>
            <a:normAutofit/>
          </a:bodyPr>
          <a:lstStyle/>
          <a:p>
            <a:r>
              <a:rPr lang="en-GB" dirty="0"/>
              <a:t>Backbone Graph &amp; IO Indicators</a:t>
            </a:r>
            <a:endParaRPr lang="en-IL" dirty="0"/>
          </a:p>
        </p:txBody>
      </p:sp>
      <p:sp>
        <p:nvSpPr>
          <p:cNvPr id="4" name="Slide Number Placeholder 3">
            <a:extLst>
              <a:ext uri="{FF2B5EF4-FFF2-40B4-BE49-F238E27FC236}">
                <a16:creationId xmlns:a16="http://schemas.microsoft.com/office/drawing/2014/main" id="{9A45DFBC-E283-482F-07BA-A333B9108357}"/>
              </a:ext>
            </a:extLst>
          </p:cNvPr>
          <p:cNvSpPr>
            <a:spLocks noGrp="1"/>
          </p:cNvSpPr>
          <p:nvPr>
            <p:ph type="sldNum" sz="quarter" idx="12"/>
          </p:nvPr>
        </p:nvSpPr>
        <p:spPr/>
        <p:txBody>
          <a:bodyPr/>
          <a:lstStyle/>
          <a:p>
            <a:fld id="{E6AB8EDD-9EF2-4633-A1C2-4D908C1019B4}" type="slidenum">
              <a:rPr lang="he-IL" smtClean="0"/>
              <a:t>8</a:t>
            </a:fld>
            <a:endParaRPr lang="he-IL"/>
          </a:p>
        </p:txBody>
      </p:sp>
      <p:pic>
        <p:nvPicPr>
          <p:cNvPr id="8" name="Content Placeholder 7" descr="A network of dots and lines&#10;&#10;AI-generated content may be incorrect.">
            <a:extLst>
              <a:ext uri="{FF2B5EF4-FFF2-40B4-BE49-F238E27FC236}">
                <a16:creationId xmlns:a16="http://schemas.microsoft.com/office/drawing/2014/main" id="{66A4053E-AB18-5F2F-D1F0-F2B2E529847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852" t="3063" r="4355"/>
          <a:stretch>
            <a:fillRect/>
          </a:stretch>
        </p:blipFill>
        <p:spPr>
          <a:xfrm>
            <a:off x="1616927" y="1630362"/>
            <a:ext cx="6362773" cy="5176361"/>
          </a:xfrm>
        </p:spPr>
      </p:pic>
      <p:sp>
        <p:nvSpPr>
          <p:cNvPr id="5" name="Flowchart: Connector 4">
            <a:extLst>
              <a:ext uri="{FF2B5EF4-FFF2-40B4-BE49-F238E27FC236}">
                <a16:creationId xmlns:a16="http://schemas.microsoft.com/office/drawing/2014/main" id="{94C0EF37-C21E-64B9-190B-12A5FFAC380E}"/>
              </a:ext>
            </a:extLst>
          </p:cNvPr>
          <p:cNvSpPr/>
          <p:nvPr/>
        </p:nvSpPr>
        <p:spPr>
          <a:xfrm>
            <a:off x="6840109" y="4305300"/>
            <a:ext cx="558911" cy="559646"/>
          </a:xfrm>
          <a:prstGeom prst="flowChartConnector">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Flowchart: Connector 5">
            <a:extLst>
              <a:ext uri="{FF2B5EF4-FFF2-40B4-BE49-F238E27FC236}">
                <a16:creationId xmlns:a16="http://schemas.microsoft.com/office/drawing/2014/main" id="{D78D894D-6702-3125-2BFF-3DB2ECBA4904}"/>
              </a:ext>
            </a:extLst>
          </p:cNvPr>
          <p:cNvSpPr/>
          <p:nvPr/>
        </p:nvSpPr>
        <p:spPr>
          <a:xfrm>
            <a:off x="8256994" y="2008500"/>
            <a:ext cx="360000" cy="360000"/>
          </a:xfrm>
          <a:prstGeom prst="flowChartConnector">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TextBox 6">
            <a:extLst>
              <a:ext uri="{FF2B5EF4-FFF2-40B4-BE49-F238E27FC236}">
                <a16:creationId xmlns:a16="http://schemas.microsoft.com/office/drawing/2014/main" id="{0199B6F5-B9F8-08F7-1704-81E9386024CC}"/>
              </a:ext>
            </a:extLst>
          </p:cNvPr>
          <p:cNvSpPr txBox="1"/>
          <p:nvPr/>
        </p:nvSpPr>
        <p:spPr>
          <a:xfrm>
            <a:off x="8824162" y="1983610"/>
            <a:ext cx="2630126" cy="369332"/>
          </a:xfrm>
          <a:prstGeom prst="rect">
            <a:avLst/>
          </a:prstGeom>
          <a:noFill/>
        </p:spPr>
        <p:txBody>
          <a:bodyPr wrap="square" rtlCol="0">
            <a:spAutoFit/>
          </a:bodyPr>
          <a:lstStyle/>
          <a:p>
            <a:r>
              <a:rPr lang="en-US" dirty="0"/>
              <a:t>high </a:t>
            </a:r>
            <a:r>
              <a:rPr lang="en-GB" dirty="0"/>
              <a:t>degree centrality </a:t>
            </a:r>
            <a:endParaRPr lang="en-IL" dirty="0"/>
          </a:p>
        </p:txBody>
      </p:sp>
      <p:sp>
        <p:nvSpPr>
          <p:cNvPr id="9" name="Flowchart: Connector 8">
            <a:extLst>
              <a:ext uri="{FF2B5EF4-FFF2-40B4-BE49-F238E27FC236}">
                <a16:creationId xmlns:a16="http://schemas.microsoft.com/office/drawing/2014/main" id="{755C2BB5-5CCD-8048-0623-B56A7107E499}"/>
              </a:ext>
            </a:extLst>
          </p:cNvPr>
          <p:cNvSpPr/>
          <p:nvPr/>
        </p:nvSpPr>
        <p:spPr>
          <a:xfrm>
            <a:off x="1738768" y="3086616"/>
            <a:ext cx="1057772" cy="891024"/>
          </a:xfrm>
          <a:prstGeom prst="flowChartConnector">
            <a:avLst/>
          </a:prstGeom>
          <a:noFill/>
          <a:ln w="57150">
            <a:solidFill>
              <a:srgbClr val="F591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Flowchart: Connector 9">
            <a:extLst>
              <a:ext uri="{FF2B5EF4-FFF2-40B4-BE49-F238E27FC236}">
                <a16:creationId xmlns:a16="http://schemas.microsoft.com/office/drawing/2014/main" id="{28978A85-2029-EA91-65C8-D4836607FD42}"/>
              </a:ext>
            </a:extLst>
          </p:cNvPr>
          <p:cNvSpPr/>
          <p:nvPr/>
        </p:nvSpPr>
        <p:spPr>
          <a:xfrm>
            <a:off x="8256994" y="3116584"/>
            <a:ext cx="360000" cy="360000"/>
          </a:xfrm>
          <a:prstGeom prst="flowChartConnector">
            <a:avLst/>
          </a:prstGeom>
          <a:noFill/>
          <a:ln w="57150">
            <a:solidFill>
              <a:srgbClr val="F591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F3425336-454F-FE31-1422-436892C703EC}"/>
              </a:ext>
            </a:extLst>
          </p:cNvPr>
          <p:cNvSpPr txBox="1"/>
          <p:nvPr/>
        </p:nvSpPr>
        <p:spPr>
          <a:xfrm>
            <a:off x="8824162" y="3095422"/>
            <a:ext cx="2630126" cy="369332"/>
          </a:xfrm>
          <a:prstGeom prst="rect">
            <a:avLst/>
          </a:prstGeom>
          <a:noFill/>
        </p:spPr>
        <p:txBody>
          <a:bodyPr wrap="square" rtlCol="0">
            <a:spAutoFit/>
          </a:bodyPr>
          <a:lstStyle/>
          <a:p>
            <a:r>
              <a:rPr lang="en-US" dirty="0"/>
              <a:t>high </a:t>
            </a:r>
            <a:r>
              <a:rPr lang="en-GB" dirty="0"/>
              <a:t>k-core</a:t>
            </a:r>
            <a:endParaRPr lang="en-IL" dirty="0"/>
          </a:p>
        </p:txBody>
      </p:sp>
      <p:sp>
        <p:nvSpPr>
          <p:cNvPr id="12" name="Flowchart: Connector 11">
            <a:extLst>
              <a:ext uri="{FF2B5EF4-FFF2-40B4-BE49-F238E27FC236}">
                <a16:creationId xmlns:a16="http://schemas.microsoft.com/office/drawing/2014/main" id="{871B8A36-FB76-083A-5FA0-EA7EA872E11A}"/>
              </a:ext>
            </a:extLst>
          </p:cNvPr>
          <p:cNvSpPr/>
          <p:nvPr/>
        </p:nvSpPr>
        <p:spPr>
          <a:xfrm>
            <a:off x="8256994" y="3670626"/>
            <a:ext cx="360000" cy="360000"/>
          </a:xfrm>
          <a:prstGeom prst="flowChartConnector">
            <a:avLst/>
          </a:prstGeom>
          <a:noFill/>
          <a:ln w="57150">
            <a:solidFill>
              <a:srgbClr val="F583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Flowchart: Connector 12">
            <a:extLst>
              <a:ext uri="{FF2B5EF4-FFF2-40B4-BE49-F238E27FC236}">
                <a16:creationId xmlns:a16="http://schemas.microsoft.com/office/drawing/2014/main" id="{BCE1F5E2-96CB-66E7-B575-B51DA37B4E37}"/>
              </a:ext>
            </a:extLst>
          </p:cNvPr>
          <p:cNvSpPr/>
          <p:nvPr/>
        </p:nvSpPr>
        <p:spPr>
          <a:xfrm>
            <a:off x="3481782" y="3449324"/>
            <a:ext cx="2251102" cy="1539240"/>
          </a:xfrm>
          <a:prstGeom prst="flowChartConnector">
            <a:avLst/>
          </a:prstGeom>
          <a:noFill/>
          <a:ln w="57150">
            <a:solidFill>
              <a:srgbClr val="F583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78B54FF2-3B58-D836-F1A2-897465C04679}"/>
              </a:ext>
            </a:extLst>
          </p:cNvPr>
          <p:cNvSpPr txBox="1"/>
          <p:nvPr/>
        </p:nvSpPr>
        <p:spPr>
          <a:xfrm>
            <a:off x="8824162" y="3698672"/>
            <a:ext cx="2630126" cy="369332"/>
          </a:xfrm>
          <a:prstGeom prst="rect">
            <a:avLst/>
          </a:prstGeom>
          <a:noFill/>
        </p:spPr>
        <p:txBody>
          <a:bodyPr wrap="square" rtlCol="0">
            <a:spAutoFit/>
          </a:bodyPr>
          <a:lstStyle/>
          <a:p>
            <a:r>
              <a:rPr lang="en-US" dirty="0"/>
              <a:t>all high</a:t>
            </a:r>
            <a:endParaRPr lang="en-IL" dirty="0"/>
          </a:p>
        </p:txBody>
      </p:sp>
      <p:sp>
        <p:nvSpPr>
          <p:cNvPr id="15" name="Flowchart: Connector 14">
            <a:extLst>
              <a:ext uri="{FF2B5EF4-FFF2-40B4-BE49-F238E27FC236}">
                <a16:creationId xmlns:a16="http://schemas.microsoft.com/office/drawing/2014/main" id="{BCFD6D60-027A-1FE4-805D-AC0BDD584F9A}"/>
              </a:ext>
            </a:extLst>
          </p:cNvPr>
          <p:cNvSpPr/>
          <p:nvPr/>
        </p:nvSpPr>
        <p:spPr>
          <a:xfrm>
            <a:off x="8256994" y="2562542"/>
            <a:ext cx="360000" cy="360000"/>
          </a:xfrm>
          <a:prstGeom prst="flowChartConnector">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99FBBC2B-DFD1-CC39-847A-385C36AC7347}"/>
              </a:ext>
            </a:extLst>
          </p:cNvPr>
          <p:cNvSpPr txBox="1"/>
          <p:nvPr/>
        </p:nvSpPr>
        <p:spPr>
          <a:xfrm>
            <a:off x="8824162" y="2553210"/>
            <a:ext cx="2837294" cy="369332"/>
          </a:xfrm>
          <a:prstGeom prst="rect">
            <a:avLst/>
          </a:prstGeom>
          <a:noFill/>
        </p:spPr>
        <p:txBody>
          <a:bodyPr wrap="square" rtlCol="0">
            <a:spAutoFit/>
          </a:bodyPr>
          <a:lstStyle/>
          <a:p>
            <a:r>
              <a:rPr lang="en-US" dirty="0"/>
              <a:t>high </a:t>
            </a:r>
            <a:r>
              <a:rPr lang="en-GB" dirty="0"/>
              <a:t>eigenvector centrality </a:t>
            </a:r>
            <a:endParaRPr lang="en-IL" dirty="0"/>
          </a:p>
        </p:txBody>
      </p:sp>
      <p:sp>
        <p:nvSpPr>
          <p:cNvPr id="17" name="Flowchart: Connector 16">
            <a:extLst>
              <a:ext uri="{FF2B5EF4-FFF2-40B4-BE49-F238E27FC236}">
                <a16:creationId xmlns:a16="http://schemas.microsoft.com/office/drawing/2014/main" id="{87C4792C-A2E7-5B20-B256-55095FB999CA}"/>
              </a:ext>
            </a:extLst>
          </p:cNvPr>
          <p:cNvSpPr/>
          <p:nvPr/>
        </p:nvSpPr>
        <p:spPr>
          <a:xfrm>
            <a:off x="4708538" y="2184404"/>
            <a:ext cx="966331" cy="825496"/>
          </a:xfrm>
          <a:prstGeom prst="flowChartConnector">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680593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EC27BC-EA1D-9EE6-6ECE-8A101A0A719A}"/>
              </a:ext>
            </a:extLst>
          </p:cNvPr>
          <p:cNvSpPr>
            <a:spLocks noGrp="1"/>
          </p:cNvSpPr>
          <p:nvPr>
            <p:ph type="title"/>
          </p:nvPr>
        </p:nvSpPr>
        <p:spPr>
          <a:xfrm>
            <a:off x="3072268" y="401637"/>
            <a:ext cx="8753475" cy="1325563"/>
          </a:xfrm>
        </p:spPr>
        <p:txBody>
          <a:bodyPr vert="horz" lIns="91440" tIns="45720" rIns="91440" bIns="45720" rtlCol="0" anchor="ctr">
            <a:normAutofit/>
          </a:bodyPr>
          <a:lstStyle/>
          <a:p>
            <a:r>
              <a:rPr lang="en-GB" dirty="0"/>
              <a:t>Backbone Graph</a:t>
            </a:r>
            <a:endParaRPr lang="en-IL" dirty="0"/>
          </a:p>
        </p:txBody>
      </p:sp>
      <p:pic>
        <p:nvPicPr>
          <p:cNvPr id="14" name="Content Placeholder 5">
            <a:extLst>
              <a:ext uri="{FF2B5EF4-FFF2-40B4-BE49-F238E27FC236}">
                <a16:creationId xmlns:a16="http://schemas.microsoft.com/office/drawing/2014/main" id="{09B8FFB2-963C-49F4-1F5C-572526DAB7FC}"/>
              </a:ext>
            </a:extLst>
          </p:cNvPr>
          <p:cNvPicPr>
            <a:picLocks noChangeAspect="1"/>
          </p:cNvPicPr>
          <p:nvPr/>
        </p:nvPicPr>
        <p:blipFill>
          <a:blip r:embed="rId2"/>
          <a:srcRect l="5539" t="7170" r="6226" b="7440"/>
          <a:stretch>
            <a:fillRect/>
          </a:stretch>
        </p:blipFill>
        <p:spPr>
          <a:xfrm>
            <a:off x="1495326" y="1727200"/>
            <a:ext cx="5052907" cy="4889910"/>
          </a:xfrm>
          <a:prstGeom prst="rect">
            <a:avLst/>
          </a:prstGeom>
          <a:noFill/>
        </p:spPr>
      </p:pic>
      <p:sp>
        <p:nvSpPr>
          <p:cNvPr id="11" name="TextBox 10">
            <a:extLst>
              <a:ext uri="{FF2B5EF4-FFF2-40B4-BE49-F238E27FC236}">
                <a16:creationId xmlns:a16="http://schemas.microsoft.com/office/drawing/2014/main" id="{0A339FE6-BB83-1D73-3CBF-9754FA6CC01D}"/>
              </a:ext>
            </a:extLst>
          </p:cNvPr>
          <p:cNvSpPr txBox="1"/>
          <p:nvPr/>
        </p:nvSpPr>
        <p:spPr>
          <a:xfrm>
            <a:off x="6570991" y="1821101"/>
            <a:ext cx="5181600" cy="4351338"/>
          </a:xfrm>
          <a:prstGeom prst="rect">
            <a:avLst/>
          </a:prstGeom>
        </p:spPr>
        <p:txBody>
          <a:bodyPr vert="horz" lIns="91440" tIns="45720" rIns="91440" bIns="45720" rtlCol="0">
            <a:normAutofit/>
          </a:bodyPr>
          <a:lstStyle/>
          <a:p>
            <a:pPr marL="228600" lvl="0" indent="-228600" fontAlgn="base">
              <a:lnSpc>
                <a:spcPct val="90000"/>
              </a:lnSpc>
              <a:spcBef>
                <a:spcPts val="1000"/>
              </a:spcBef>
              <a:spcAft>
                <a:spcPct val="0"/>
              </a:spcAft>
              <a:buFont typeface="Arial" panose="020B0604020202020204" pitchFamily="34" charset="0"/>
              <a:buChar char="•"/>
            </a:pPr>
            <a:r>
              <a:rPr lang="en-US" altLang="en-IL" sz="2000" dirty="0"/>
              <a:t>Graph built on a sample of 200 posts </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IO drivers are mainly located at the center of the graph and highly connected.</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Layout: “spring”.</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Constructed using `</a:t>
            </a:r>
            <a:r>
              <a:rPr lang="en-US" altLang="en-IL" sz="2000" dirty="0" err="1"/>
              <a:t>NetworkX</a:t>
            </a:r>
            <a:r>
              <a:rPr lang="en-US" altLang="en-IL" sz="2000" dirty="0"/>
              <a:t>`</a:t>
            </a:r>
            <a:endParaRPr lang="en-US" sz="2000" dirty="0"/>
          </a:p>
        </p:txBody>
      </p:sp>
      <p:sp>
        <p:nvSpPr>
          <p:cNvPr id="4" name="Slide Number Placeholder 3">
            <a:extLst>
              <a:ext uri="{FF2B5EF4-FFF2-40B4-BE49-F238E27FC236}">
                <a16:creationId xmlns:a16="http://schemas.microsoft.com/office/drawing/2014/main" id="{502028CA-06D2-4B7A-E544-3337846DF123}"/>
              </a:ext>
            </a:extLst>
          </p:cNvPr>
          <p:cNvSpPr>
            <a:spLocks noGrp="1"/>
          </p:cNvSpPr>
          <p:nvPr>
            <p:ph type="sldNum" sz="quarter" idx="12"/>
          </p:nvPr>
        </p:nvSpPr>
        <p:spPr>
          <a:xfrm>
            <a:off x="11728704" y="6464649"/>
            <a:ext cx="452233" cy="365125"/>
          </a:xfrm>
        </p:spPr>
        <p:txBody>
          <a:bodyPr vert="horz" lIns="91440" tIns="45720" rIns="91440" bIns="45720" rtlCol="0" anchor="ctr">
            <a:normAutofit/>
          </a:bodyPr>
          <a:lstStyle/>
          <a:p>
            <a:pPr>
              <a:spcAft>
                <a:spcPts val="600"/>
              </a:spcAft>
            </a:pPr>
            <a:fld id="{E6AB8EDD-9EF2-4633-A1C2-4D908C1019B4}" type="slidenum">
              <a:rPr lang="he-IL" smtClean="0"/>
              <a:pPr>
                <a:spcAft>
                  <a:spcPts val="600"/>
                </a:spcAft>
              </a:pPr>
              <a:t>9</a:t>
            </a:fld>
            <a:endParaRPr lang="he-IL"/>
          </a:p>
        </p:txBody>
      </p:sp>
      <p:pic>
        <p:nvPicPr>
          <p:cNvPr id="15" name="Content Placeholder 5">
            <a:extLst>
              <a:ext uri="{FF2B5EF4-FFF2-40B4-BE49-F238E27FC236}">
                <a16:creationId xmlns:a16="http://schemas.microsoft.com/office/drawing/2014/main" id="{7D1B7A03-0284-B524-BB21-325107041BE0}"/>
              </a:ext>
            </a:extLst>
          </p:cNvPr>
          <p:cNvPicPr>
            <a:picLocks noChangeAspect="1"/>
          </p:cNvPicPr>
          <p:nvPr/>
        </p:nvPicPr>
        <p:blipFill>
          <a:blip r:embed="rId2"/>
          <a:srcRect l="79096" t="709" r="731" b="93851"/>
          <a:stretch>
            <a:fillRect/>
          </a:stretch>
        </p:blipFill>
        <p:spPr>
          <a:xfrm>
            <a:off x="4483510" y="1554563"/>
            <a:ext cx="1976930" cy="533075"/>
          </a:xfrm>
          <a:prstGeom prst="rect">
            <a:avLst/>
          </a:prstGeom>
          <a:noFill/>
        </p:spPr>
      </p:pic>
    </p:spTree>
    <p:extLst>
      <p:ext uri="{BB962C8B-B14F-4D97-AF65-F5344CB8AC3E}">
        <p14:creationId xmlns:p14="http://schemas.microsoft.com/office/powerpoint/2010/main" val="3987253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B6F2E-A2A6-84E0-04AF-9E4EDE478EA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EC61F64-F9CC-17BB-5DB8-B31E152C0F45}"/>
              </a:ext>
            </a:extLst>
          </p:cNvPr>
          <p:cNvSpPr>
            <a:spLocks noGrp="1"/>
          </p:cNvSpPr>
          <p:nvPr>
            <p:ph type="title"/>
          </p:nvPr>
        </p:nvSpPr>
        <p:spPr>
          <a:xfrm>
            <a:off x="3072268" y="401637"/>
            <a:ext cx="8753475" cy="1325563"/>
          </a:xfrm>
        </p:spPr>
        <p:txBody>
          <a:bodyPr vert="horz" lIns="91440" tIns="45720" rIns="91440" bIns="45720" rtlCol="0" anchor="ctr">
            <a:normAutofit/>
          </a:bodyPr>
          <a:lstStyle/>
          <a:p>
            <a:r>
              <a:rPr lang="en-GB" dirty="0"/>
              <a:t>Backbone Graph</a:t>
            </a:r>
            <a:endParaRPr lang="en-IL" dirty="0"/>
          </a:p>
        </p:txBody>
      </p:sp>
      <p:pic>
        <p:nvPicPr>
          <p:cNvPr id="17" name="Picture 16">
            <a:extLst>
              <a:ext uri="{FF2B5EF4-FFF2-40B4-BE49-F238E27FC236}">
                <a16:creationId xmlns:a16="http://schemas.microsoft.com/office/drawing/2014/main" id="{18735507-B7F3-CAE3-5104-4D30FF6F30FA}"/>
              </a:ext>
            </a:extLst>
          </p:cNvPr>
          <p:cNvPicPr>
            <a:picLocks noChangeAspect="1"/>
          </p:cNvPicPr>
          <p:nvPr/>
        </p:nvPicPr>
        <p:blipFill>
          <a:blip r:embed="rId2"/>
          <a:srcRect t="7921" b="8103"/>
          <a:stretch>
            <a:fillRect/>
          </a:stretch>
        </p:blipFill>
        <p:spPr>
          <a:xfrm>
            <a:off x="1236991" y="1821101"/>
            <a:ext cx="5181600" cy="4351338"/>
          </a:xfrm>
          <a:prstGeom prst="rect">
            <a:avLst/>
          </a:prstGeom>
          <a:noFill/>
        </p:spPr>
      </p:pic>
      <p:sp>
        <p:nvSpPr>
          <p:cNvPr id="11" name="TextBox 10">
            <a:extLst>
              <a:ext uri="{FF2B5EF4-FFF2-40B4-BE49-F238E27FC236}">
                <a16:creationId xmlns:a16="http://schemas.microsoft.com/office/drawing/2014/main" id="{E39926DC-4194-3764-F2B5-886CF587947E}"/>
              </a:ext>
            </a:extLst>
          </p:cNvPr>
          <p:cNvSpPr txBox="1"/>
          <p:nvPr/>
        </p:nvSpPr>
        <p:spPr>
          <a:xfrm>
            <a:off x="6570991" y="1821101"/>
            <a:ext cx="5181600" cy="4351338"/>
          </a:xfrm>
          <a:prstGeom prst="rect">
            <a:avLst/>
          </a:prstGeom>
        </p:spPr>
        <p:txBody>
          <a:bodyPr vert="horz" lIns="91440" tIns="45720" rIns="91440" bIns="45720" rtlCol="0">
            <a:normAutofit/>
          </a:bodyPr>
          <a:lstStyle/>
          <a:p>
            <a:pPr marL="228600" lvl="0" indent="-228600" fontAlgn="base">
              <a:lnSpc>
                <a:spcPct val="90000"/>
              </a:lnSpc>
              <a:spcBef>
                <a:spcPts val="1000"/>
              </a:spcBef>
              <a:spcAft>
                <a:spcPct val="0"/>
              </a:spcAft>
              <a:buFont typeface="Arial" panose="020B0604020202020204" pitchFamily="34" charset="0"/>
              <a:buChar char="•"/>
            </a:pPr>
            <a:r>
              <a:rPr lang="en-US" altLang="en-IL" sz="2000" dirty="0"/>
              <a:t>Graph built on a sample of 10,000 posts </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IO drivers are mainly located at the center of the graph and highly connected.</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Layout: “spring”.</a:t>
            </a:r>
          </a:p>
          <a:p>
            <a:pPr marL="228600" lvl="0" indent="-228600" fontAlgn="base">
              <a:lnSpc>
                <a:spcPct val="90000"/>
              </a:lnSpc>
              <a:spcBef>
                <a:spcPts val="1000"/>
              </a:spcBef>
              <a:spcAft>
                <a:spcPct val="0"/>
              </a:spcAft>
              <a:buFont typeface="Arial" panose="020B0604020202020204" pitchFamily="34" charset="0"/>
              <a:buChar char="•"/>
            </a:pPr>
            <a:r>
              <a:rPr lang="en-US" altLang="en-IL" sz="2000" dirty="0"/>
              <a:t>Constructed using `</a:t>
            </a:r>
            <a:r>
              <a:rPr lang="en-US" altLang="en-IL" sz="2000" dirty="0" err="1"/>
              <a:t>NetworkX</a:t>
            </a:r>
            <a:r>
              <a:rPr lang="en-US" altLang="en-IL" sz="2000" dirty="0"/>
              <a:t>`</a:t>
            </a:r>
            <a:endParaRPr lang="en-US" sz="2000" dirty="0"/>
          </a:p>
        </p:txBody>
      </p:sp>
      <p:sp>
        <p:nvSpPr>
          <p:cNvPr id="4" name="Slide Number Placeholder 3">
            <a:extLst>
              <a:ext uri="{FF2B5EF4-FFF2-40B4-BE49-F238E27FC236}">
                <a16:creationId xmlns:a16="http://schemas.microsoft.com/office/drawing/2014/main" id="{9D898B1F-CD53-4CD6-5007-A93E5B5F64CC}"/>
              </a:ext>
            </a:extLst>
          </p:cNvPr>
          <p:cNvSpPr>
            <a:spLocks noGrp="1"/>
          </p:cNvSpPr>
          <p:nvPr>
            <p:ph type="sldNum" sz="quarter" idx="12"/>
          </p:nvPr>
        </p:nvSpPr>
        <p:spPr>
          <a:xfrm>
            <a:off x="11728704" y="6464649"/>
            <a:ext cx="452233" cy="365125"/>
          </a:xfrm>
        </p:spPr>
        <p:txBody>
          <a:bodyPr vert="horz" lIns="91440" tIns="45720" rIns="91440" bIns="45720" rtlCol="0" anchor="ctr">
            <a:normAutofit/>
          </a:bodyPr>
          <a:lstStyle/>
          <a:p>
            <a:pPr>
              <a:spcAft>
                <a:spcPts val="600"/>
              </a:spcAft>
            </a:pPr>
            <a:fld id="{E6AB8EDD-9EF2-4633-A1C2-4D908C1019B4}" type="slidenum">
              <a:rPr lang="he-IL" smtClean="0"/>
              <a:pPr>
                <a:spcAft>
                  <a:spcPts val="600"/>
                </a:spcAft>
              </a:pPr>
              <a:t>10</a:t>
            </a:fld>
            <a:endParaRPr lang="he-IL"/>
          </a:p>
        </p:txBody>
      </p:sp>
      <p:pic>
        <p:nvPicPr>
          <p:cNvPr id="18" name="Picture 17">
            <a:extLst>
              <a:ext uri="{FF2B5EF4-FFF2-40B4-BE49-F238E27FC236}">
                <a16:creationId xmlns:a16="http://schemas.microsoft.com/office/drawing/2014/main" id="{63F1687D-3F32-AA5C-86EA-FA35CE67C7FE}"/>
              </a:ext>
            </a:extLst>
          </p:cNvPr>
          <p:cNvPicPr>
            <a:picLocks noChangeAspect="1"/>
          </p:cNvPicPr>
          <p:nvPr/>
        </p:nvPicPr>
        <p:blipFill>
          <a:blip r:embed="rId2"/>
          <a:srcRect l="77857" t="976" b="93660"/>
          <a:stretch>
            <a:fillRect/>
          </a:stretch>
        </p:blipFill>
        <p:spPr>
          <a:xfrm>
            <a:off x="4658721" y="1494117"/>
            <a:ext cx="1924577" cy="466165"/>
          </a:xfrm>
          <a:prstGeom prst="rect">
            <a:avLst/>
          </a:prstGeom>
          <a:noFill/>
        </p:spPr>
      </p:pic>
    </p:spTree>
    <p:extLst>
      <p:ext uri="{BB962C8B-B14F-4D97-AF65-F5344CB8AC3E}">
        <p14:creationId xmlns:p14="http://schemas.microsoft.com/office/powerpoint/2010/main" val="3836493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CB815-DA17-3CBD-4DA5-D200F3944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82981-4578-9DFA-9B78-6D536D89C28D}"/>
              </a:ext>
            </a:extLst>
          </p:cNvPr>
          <p:cNvSpPr>
            <a:spLocks noGrp="1"/>
          </p:cNvSpPr>
          <p:nvPr>
            <p:ph type="title"/>
          </p:nvPr>
        </p:nvSpPr>
        <p:spPr/>
        <p:txBody>
          <a:bodyPr/>
          <a:lstStyle/>
          <a:p>
            <a:r>
              <a:rPr lang="en-US" dirty="0"/>
              <a:t>Indicators: Graph Theory </a:t>
            </a:r>
            <a:endParaRPr lang="en-IL" dirty="0"/>
          </a:p>
        </p:txBody>
      </p:sp>
      <p:sp>
        <p:nvSpPr>
          <p:cNvPr id="3" name="Content Placeholder 2">
            <a:extLst>
              <a:ext uri="{FF2B5EF4-FFF2-40B4-BE49-F238E27FC236}">
                <a16:creationId xmlns:a16="http://schemas.microsoft.com/office/drawing/2014/main" id="{A67E614F-0CB2-16A5-EB4F-E10824EF2CC1}"/>
              </a:ext>
            </a:extLst>
          </p:cNvPr>
          <p:cNvSpPr>
            <a:spLocks noGrp="1"/>
          </p:cNvSpPr>
          <p:nvPr>
            <p:ph idx="1"/>
          </p:nvPr>
        </p:nvSpPr>
        <p:spPr>
          <a:xfrm>
            <a:off x="1243087" y="1825624"/>
            <a:ext cx="6511384" cy="4879976"/>
          </a:xfrm>
        </p:spPr>
        <p:txBody>
          <a:bodyPr>
            <a:normAutofit/>
          </a:bodyPr>
          <a:lstStyle/>
          <a:p>
            <a:pPr eaLnBrk="0" fontAlgn="base" hangingPunct="0">
              <a:lnSpc>
                <a:spcPct val="100000"/>
              </a:lnSpc>
              <a:spcBef>
                <a:spcPct val="0"/>
              </a:spcBef>
              <a:spcAft>
                <a:spcPct val="0"/>
              </a:spcAft>
            </a:pPr>
            <a:r>
              <a:rPr lang="en-IL" altLang="en-IL" dirty="0">
                <a:latin typeface="Arial" panose="020B0604020202020204" pitchFamily="34" charset="0"/>
              </a:rPr>
              <a:t>The graph represents </a:t>
            </a:r>
            <a:r>
              <a:rPr lang="en-IL" altLang="en-IL" b="1" dirty="0">
                <a:latin typeface="Arial" panose="020B0604020202020204" pitchFamily="34" charset="0"/>
              </a:rPr>
              <a:t>behaviour similarity between users</a:t>
            </a:r>
            <a:r>
              <a:rPr lang="en-US" altLang="en-IL" b="1" dirty="0">
                <a:latin typeface="Arial" panose="020B0604020202020204" pitchFamily="34" charset="0"/>
              </a:rPr>
              <a:t>.</a:t>
            </a:r>
          </a:p>
          <a:p>
            <a:pPr eaLnBrk="0" fontAlgn="base" hangingPunct="0">
              <a:lnSpc>
                <a:spcPct val="100000"/>
              </a:lnSpc>
              <a:spcBef>
                <a:spcPct val="0"/>
              </a:spcBef>
              <a:spcAft>
                <a:spcPct val="0"/>
              </a:spcAft>
            </a:pPr>
            <a:r>
              <a:rPr lang="en-IL" altLang="en-IL" dirty="0">
                <a:latin typeface="Arial" panose="020B0604020202020204" pitchFamily="34" charset="0"/>
              </a:rPr>
              <a:t>IO drivers tend to be </a:t>
            </a:r>
            <a:r>
              <a:rPr lang="en-IL" altLang="en-IL" b="1" dirty="0">
                <a:latin typeface="Arial" panose="020B0604020202020204" pitchFamily="34" charset="0"/>
              </a:rPr>
              <a:t>more central and more connected</a:t>
            </a:r>
            <a:r>
              <a:rPr lang="en-IL" altLang="en-IL" dirty="0">
                <a:latin typeface="Arial" panose="020B0604020202020204" pitchFamily="34" charset="0"/>
              </a:rPr>
              <a:t> than legitimate users</a:t>
            </a:r>
            <a:r>
              <a:rPr lang="en-US" altLang="en-IL" dirty="0">
                <a:latin typeface="Arial" panose="020B0604020202020204" pitchFamily="34" charset="0"/>
              </a:rPr>
              <a:t>.</a:t>
            </a:r>
          </a:p>
          <a:p>
            <a:pPr eaLnBrk="0" fontAlgn="base" hangingPunct="0">
              <a:lnSpc>
                <a:spcPct val="100000"/>
              </a:lnSpc>
              <a:spcBef>
                <a:spcPct val="0"/>
              </a:spcBef>
              <a:spcAft>
                <a:spcPct val="0"/>
              </a:spcAft>
            </a:pPr>
            <a:r>
              <a:rPr lang="en-IL" altLang="en-IL" dirty="0">
                <a:latin typeface="Arial" panose="020B0604020202020204" pitchFamily="34" charset="0"/>
              </a:rPr>
              <a:t>We use indicators to measure, for each user, </a:t>
            </a:r>
            <a:r>
              <a:rPr lang="en-IL" altLang="en-IL" b="1" dirty="0">
                <a:latin typeface="Arial" panose="020B0604020202020204" pitchFamily="34" charset="0"/>
              </a:rPr>
              <a:t>how embedded they are in the network</a:t>
            </a:r>
            <a:r>
              <a:rPr lang="en-US" altLang="en-IL" b="1" dirty="0">
                <a:latin typeface="Arial" panose="020B0604020202020204" pitchFamily="34" charset="0"/>
              </a:rPr>
              <a:t>.</a:t>
            </a:r>
          </a:p>
          <a:p>
            <a:pPr eaLnBrk="0" fontAlgn="base" hangingPunct="0">
              <a:lnSpc>
                <a:spcPct val="100000"/>
              </a:lnSpc>
              <a:spcBef>
                <a:spcPct val="0"/>
              </a:spcBef>
              <a:spcAft>
                <a:spcPct val="0"/>
              </a:spcAft>
            </a:pPr>
            <a:r>
              <a:rPr lang="en-IL" altLang="en-IL" dirty="0">
                <a:latin typeface="Arial" panose="020B0604020202020204" pitchFamily="34" charset="0"/>
              </a:rPr>
              <a:t>Each user is converted into </a:t>
            </a:r>
            <a:r>
              <a:rPr lang="en-IL" altLang="en-IL" b="1" dirty="0">
                <a:latin typeface="Arial" panose="020B0604020202020204" pitchFamily="34" charset="0"/>
              </a:rPr>
              <a:t>numeric features</a:t>
            </a:r>
            <a:r>
              <a:rPr lang="en-US" altLang="en-IL" b="1" dirty="0">
                <a:latin typeface="Arial" panose="020B0604020202020204" pitchFamily="34" charset="0"/>
              </a:rPr>
              <a:t>.</a:t>
            </a:r>
          </a:p>
          <a:p>
            <a:pPr eaLnBrk="0" fontAlgn="base" hangingPunct="0">
              <a:lnSpc>
                <a:spcPct val="100000"/>
              </a:lnSpc>
              <a:spcBef>
                <a:spcPct val="0"/>
              </a:spcBef>
              <a:spcAft>
                <a:spcPct val="0"/>
              </a:spcAft>
            </a:pPr>
            <a:r>
              <a:rPr lang="en-IL" altLang="en-IL" dirty="0">
                <a:latin typeface="Arial" panose="020B0604020202020204" pitchFamily="34" charset="0"/>
              </a:rPr>
              <a:t>These features can then be used for different tasks, such as </a:t>
            </a:r>
            <a:r>
              <a:rPr lang="en-IL" altLang="en-IL" b="1" dirty="0">
                <a:latin typeface="Arial" panose="020B0604020202020204" pitchFamily="34" charset="0"/>
              </a:rPr>
              <a:t>classification models for IO detection</a:t>
            </a:r>
            <a:r>
              <a:rPr lang="en-US" altLang="en-IL" b="1" dirty="0">
                <a:latin typeface="Arial" panose="020B0604020202020204" pitchFamily="34" charset="0"/>
              </a:rPr>
              <a:t>.</a:t>
            </a:r>
            <a:endParaRPr lang="en-IL" altLang="en-IL" dirty="0">
              <a:latin typeface="Arial" panose="020B0604020202020204" pitchFamily="34" charset="0"/>
            </a:endParaRPr>
          </a:p>
        </p:txBody>
      </p:sp>
      <p:sp>
        <p:nvSpPr>
          <p:cNvPr id="4" name="Slide Number Placeholder 3">
            <a:extLst>
              <a:ext uri="{FF2B5EF4-FFF2-40B4-BE49-F238E27FC236}">
                <a16:creationId xmlns:a16="http://schemas.microsoft.com/office/drawing/2014/main" id="{AEE5605A-34FF-F4E0-D05D-D1E5A62868FE}"/>
              </a:ext>
            </a:extLst>
          </p:cNvPr>
          <p:cNvSpPr>
            <a:spLocks noGrp="1"/>
          </p:cNvSpPr>
          <p:nvPr>
            <p:ph type="sldNum" sz="quarter" idx="12"/>
          </p:nvPr>
        </p:nvSpPr>
        <p:spPr/>
        <p:txBody>
          <a:bodyPr/>
          <a:lstStyle/>
          <a:p>
            <a:fld id="{E6AB8EDD-9EF2-4633-A1C2-4D908C1019B4}" type="slidenum">
              <a:rPr lang="he-IL" smtClean="0"/>
              <a:t>11</a:t>
            </a:fld>
            <a:endParaRPr lang="he-IL"/>
          </a:p>
        </p:txBody>
      </p:sp>
      <p:pic>
        <p:nvPicPr>
          <p:cNvPr id="7" name="Picture 6">
            <a:extLst>
              <a:ext uri="{FF2B5EF4-FFF2-40B4-BE49-F238E27FC236}">
                <a16:creationId xmlns:a16="http://schemas.microsoft.com/office/drawing/2014/main" id="{43433032-6FA8-9987-F89C-0DCDABDA925D}"/>
              </a:ext>
            </a:extLst>
          </p:cNvPr>
          <p:cNvPicPr>
            <a:picLocks noChangeAspect="1"/>
          </p:cNvPicPr>
          <p:nvPr/>
        </p:nvPicPr>
        <p:blipFill>
          <a:blip r:embed="rId2"/>
          <a:stretch>
            <a:fillRect/>
          </a:stretch>
        </p:blipFill>
        <p:spPr>
          <a:xfrm>
            <a:off x="8366940" y="2258438"/>
            <a:ext cx="3361764" cy="3674973"/>
          </a:xfrm>
          <a:prstGeom prst="rect">
            <a:avLst/>
          </a:prstGeom>
        </p:spPr>
      </p:pic>
      <p:sp>
        <p:nvSpPr>
          <p:cNvPr id="8" name="TextBox 7">
            <a:extLst>
              <a:ext uri="{FF2B5EF4-FFF2-40B4-BE49-F238E27FC236}">
                <a16:creationId xmlns:a16="http://schemas.microsoft.com/office/drawing/2014/main" id="{8BCA7CEC-C005-0E40-2AB1-C099DE3C313A}"/>
              </a:ext>
            </a:extLst>
          </p:cNvPr>
          <p:cNvSpPr txBox="1"/>
          <p:nvPr/>
        </p:nvSpPr>
        <p:spPr>
          <a:xfrm>
            <a:off x="8057657" y="1727200"/>
            <a:ext cx="3980330" cy="815608"/>
          </a:xfrm>
          <a:prstGeom prst="rect">
            <a:avLst/>
          </a:prstGeom>
          <a:noFill/>
        </p:spPr>
        <p:txBody>
          <a:bodyPr wrap="square" rtlCol="0">
            <a:spAutoFit/>
          </a:bodyPr>
          <a:lstStyle/>
          <a:p>
            <a:pPr algn="ctr"/>
            <a:r>
              <a:rPr lang="en-GB" sz="1400" b="1" dirty="0"/>
              <a:t>Indicators of an Account</a:t>
            </a:r>
          </a:p>
          <a:p>
            <a:pPr algn="ctr"/>
            <a:r>
              <a:rPr lang="en-GB" sz="1100" dirty="0"/>
              <a:t>Account ID: `718633c01af2bd9c2435764721d961a6ae113dec92` </a:t>
            </a:r>
          </a:p>
          <a:p>
            <a:pPr algn="ctr"/>
            <a:br>
              <a:rPr lang="en-GB" sz="1100" dirty="0"/>
            </a:br>
            <a:endParaRPr lang="en-IL" sz="1100" b="1" dirty="0"/>
          </a:p>
        </p:txBody>
      </p:sp>
    </p:spTree>
    <p:extLst>
      <p:ext uri="{BB962C8B-B14F-4D97-AF65-F5344CB8AC3E}">
        <p14:creationId xmlns:p14="http://schemas.microsoft.com/office/powerpoint/2010/main" val="2206619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50E01-4300-3DE5-CB26-B50E4D0BA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2747D-9283-B209-7194-59E0EF3956D6}"/>
              </a:ext>
            </a:extLst>
          </p:cNvPr>
          <p:cNvSpPr>
            <a:spLocks noGrp="1"/>
          </p:cNvSpPr>
          <p:nvPr>
            <p:ph type="title"/>
          </p:nvPr>
        </p:nvSpPr>
        <p:spPr/>
        <p:txBody>
          <a:bodyPr/>
          <a:lstStyle/>
          <a:p>
            <a:r>
              <a:rPr lang="en-US" dirty="0"/>
              <a:t>Indicators: Graph Theory </a:t>
            </a:r>
            <a:endParaRPr lang="en-IL" dirty="0"/>
          </a:p>
        </p:txBody>
      </p:sp>
      <p:sp>
        <p:nvSpPr>
          <p:cNvPr id="3" name="Content Placeholder 2">
            <a:extLst>
              <a:ext uri="{FF2B5EF4-FFF2-40B4-BE49-F238E27FC236}">
                <a16:creationId xmlns:a16="http://schemas.microsoft.com/office/drawing/2014/main" id="{C00DF79D-7189-E660-2269-D00740213DB6}"/>
              </a:ext>
            </a:extLst>
          </p:cNvPr>
          <p:cNvSpPr>
            <a:spLocks noGrp="1"/>
          </p:cNvSpPr>
          <p:nvPr>
            <p:ph idx="1"/>
          </p:nvPr>
        </p:nvSpPr>
        <p:spPr>
          <a:xfrm>
            <a:off x="1243087" y="1825624"/>
            <a:ext cx="10582656" cy="4879976"/>
          </a:xfrm>
        </p:spPr>
        <p:txBody>
          <a:bodyPr>
            <a:normAutofit lnSpcReduction="10000"/>
          </a:bodyPr>
          <a:lstStyle/>
          <a:p>
            <a:r>
              <a:rPr lang="en-GB" b="1" dirty="0"/>
              <a:t>Degree Centrality: </a:t>
            </a:r>
            <a:r>
              <a:rPr lang="en-GB" dirty="0"/>
              <a:t>Counts how many direct connections a user has.</a:t>
            </a:r>
          </a:p>
          <a:p>
            <a:r>
              <a:rPr lang="en-GB" b="1" dirty="0"/>
              <a:t>Betweenness Centrality: </a:t>
            </a:r>
            <a:r>
              <a:rPr lang="en-GB" dirty="0"/>
              <a:t>measures how frequently a node appears on the shortest path between other.</a:t>
            </a:r>
          </a:p>
          <a:p>
            <a:r>
              <a:rPr lang="en-GB" b="1" dirty="0"/>
              <a:t>Harmonic Centrality: </a:t>
            </a:r>
            <a:r>
              <a:rPr lang="en-GB" dirty="0"/>
              <a:t>Reflects how easily a user can reach many others in the network.</a:t>
            </a:r>
          </a:p>
          <a:p>
            <a:r>
              <a:rPr lang="en-GB" b="1" dirty="0"/>
              <a:t>Eigenvector Centrality: </a:t>
            </a:r>
            <a:r>
              <a:rPr lang="en-GB" dirty="0"/>
              <a:t>Shows whether a user is connected to other high-scoring users.</a:t>
            </a:r>
          </a:p>
          <a:p>
            <a:r>
              <a:rPr lang="en-GB" b="1" dirty="0" err="1"/>
              <a:t>Pagerank</a:t>
            </a:r>
            <a:r>
              <a:rPr lang="en-GB" b="1" dirty="0"/>
              <a:t>: </a:t>
            </a:r>
            <a:r>
              <a:rPr lang="en-GB" dirty="0"/>
              <a:t>Estimates a user’s overall importance based on how many important users connect to them.</a:t>
            </a:r>
          </a:p>
          <a:p>
            <a:r>
              <a:rPr lang="en-GB" b="1" dirty="0"/>
              <a:t>K-core: </a:t>
            </a:r>
            <a:r>
              <a:rPr lang="en-GB" dirty="0"/>
              <a:t>Indicates how deeply embedded a user is within the dense group.</a:t>
            </a:r>
          </a:p>
          <a:p>
            <a:r>
              <a:rPr lang="en-GB" b="1" dirty="0"/>
              <a:t>Clustering: </a:t>
            </a:r>
            <a:r>
              <a:rPr lang="en-GB" dirty="0"/>
              <a:t>Measures how tightly connected a user’s </a:t>
            </a:r>
            <a:r>
              <a:rPr lang="en-GB" dirty="0" err="1"/>
              <a:t>neighbors</a:t>
            </a:r>
            <a:r>
              <a:rPr lang="en-GB" dirty="0"/>
              <a:t> are to each other.</a:t>
            </a:r>
          </a:p>
          <a:p>
            <a:r>
              <a:rPr lang="en-GB" b="1" dirty="0"/>
              <a:t>Square Clustering: </a:t>
            </a:r>
            <a:r>
              <a:rPr lang="en-GB" dirty="0"/>
              <a:t>Measures how often a user participates in tightly connected small group structures.</a:t>
            </a:r>
          </a:p>
        </p:txBody>
      </p:sp>
      <p:sp>
        <p:nvSpPr>
          <p:cNvPr id="4" name="Slide Number Placeholder 3">
            <a:extLst>
              <a:ext uri="{FF2B5EF4-FFF2-40B4-BE49-F238E27FC236}">
                <a16:creationId xmlns:a16="http://schemas.microsoft.com/office/drawing/2014/main" id="{FB814CE5-5261-51D2-0ED2-383584D53484}"/>
              </a:ext>
            </a:extLst>
          </p:cNvPr>
          <p:cNvSpPr>
            <a:spLocks noGrp="1"/>
          </p:cNvSpPr>
          <p:nvPr>
            <p:ph type="sldNum" sz="quarter" idx="12"/>
          </p:nvPr>
        </p:nvSpPr>
        <p:spPr/>
        <p:txBody>
          <a:bodyPr/>
          <a:lstStyle/>
          <a:p>
            <a:fld id="{E6AB8EDD-9EF2-4633-A1C2-4D908C1019B4}" type="slidenum">
              <a:rPr lang="he-IL" smtClean="0"/>
              <a:t>12</a:t>
            </a:fld>
            <a:endParaRPr lang="he-IL"/>
          </a:p>
        </p:txBody>
      </p:sp>
    </p:spTree>
    <p:extLst>
      <p:ext uri="{BB962C8B-B14F-4D97-AF65-F5344CB8AC3E}">
        <p14:creationId xmlns:p14="http://schemas.microsoft.com/office/powerpoint/2010/main" val="4611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A07AB-132C-A7F4-812F-3C59E7D3B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E5028-87C4-7748-C238-4F6CD4F7F5AA}"/>
              </a:ext>
            </a:extLst>
          </p:cNvPr>
          <p:cNvSpPr>
            <a:spLocks noGrp="1"/>
          </p:cNvSpPr>
          <p:nvPr>
            <p:ph type="title"/>
          </p:nvPr>
        </p:nvSpPr>
        <p:spPr/>
        <p:txBody>
          <a:bodyPr/>
          <a:lstStyle/>
          <a:p>
            <a:r>
              <a:rPr lang="en-US" dirty="0"/>
              <a:t>Indicators: Graph Theory </a:t>
            </a:r>
            <a:endParaRPr lang="en-IL" dirty="0"/>
          </a:p>
        </p:txBody>
      </p:sp>
      <p:sp>
        <p:nvSpPr>
          <p:cNvPr id="3" name="Content Placeholder 2">
            <a:extLst>
              <a:ext uri="{FF2B5EF4-FFF2-40B4-BE49-F238E27FC236}">
                <a16:creationId xmlns:a16="http://schemas.microsoft.com/office/drawing/2014/main" id="{E6380650-68FF-C733-603E-557040DB58B8}"/>
              </a:ext>
            </a:extLst>
          </p:cNvPr>
          <p:cNvSpPr>
            <a:spLocks noGrp="1"/>
          </p:cNvSpPr>
          <p:nvPr>
            <p:ph idx="1"/>
          </p:nvPr>
        </p:nvSpPr>
        <p:spPr>
          <a:xfrm>
            <a:off x="1243087" y="1825624"/>
            <a:ext cx="10582656" cy="4879976"/>
          </a:xfrm>
        </p:spPr>
        <p:txBody>
          <a:bodyPr>
            <a:normAutofit fontScale="92500" lnSpcReduction="10000"/>
          </a:bodyPr>
          <a:lstStyle/>
          <a:p>
            <a:pPr eaLnBrk="0" fontAlgn="base" hangingPunct="0">
              <a:lnSpc>
                <a:spcPct val="100000"/>
              </a:lnSpc>
              <a:spcBef>
                <a:spcPct val="0"/>
              </a:spcBef>
              <a:spcAft>
                <a:spcPct val="0"/>
              </a:spcAft>
            </a:pPr>
            <a:r>
              <a:rPr lang="en-IL" altLang="en-IL" b="1" dirty="0">
                <a:latin typeface="Arial" panose="020B0604020202020204" pitchFamily="34" charset="0"/>
              </a:rPr>
              <a:t>Degree Centrality:</a:t>
            </a:r>
            <a:r>
              <a:rPr lang="en-IL" altLang="en-IL" dirty="0">
                <a:latin typeface="Arial" panose="020B0604020202020204" pitchFamily="34" charset="0"/>
              </a:rPr>
              <a:t> IO drivers tend to coordinate with many accounts, creating many direct connections.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Betweenness Centrality:</a:t>
            </a:r>
            <a:r>
              <a:rPr lang="en-IL" altLang="en-IL" dirty="0">
                <a:latin typeface="Arial" panose="020B0604020202020204" pitchFamily="34" charset="0"/>
              </a:rPr>
              <a:t> IO drivers often connect different coordinated groups, acting as bridges between clusters.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Harmonic Centrality:</a:t>
            </a:r>
            <a:r>
              <a:rPr lang="en-IL" altLang="en-IL" dirty="0">
                <a:latin typeface="Arial" panose="020B0604020202020204" pitchFamily="34" charset="0"/>
              </a:rPr>
              <a:t> IO drivers are close to many users, enabling fast coordination across the network.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Eigenvector Centrality:</a:t>
            </a:r>
            <a:r>
              <a:rPr lang="en-IL" altLang="en-IL" dirty="0">
                <a:latin typeface="Arial" panose="020B0604020202020204" pitchFamily="34" charset="0"/>
              </a:rPr>
              <a:t> IO drivers are connected to other highly coordinated or central actors.</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PageRank:</a:t>
            </a:r>
            <a:r>
              <a:rPr lang="en-IL" altLang="en-IL" dirty="0">
                <a:latin typeface="Arial" panose="020B0604020202020204" pitchFamily="34" charset="0"/>
              </a:rPr>
              <a:t> IO drivers are reinforced by connections from other important coordinated users.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K-core:</a:t>
            </a:r>
            <a:r>
              <a:rPr lang="en-IL" altLang="en-IL" dirty="0">
                <a:latin typeface="Arial" panose="020B0604020202020204" pitchFamily="34" charset="0"/>
              </a:rPr>
              <a:t> IO drivers are deeply embedded in dense, highly coordinated groups.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Clustering:</a:t>
            </a:r>
            <a:r>
              <a:rPr lang="en-IL" altLang="en-IL" dirty="0">
                <a:latin typeface="Arial" panose="020B0604020202020204" pitchFamily="34" charset="0"/>
              </a:rPr>
              <a:t> IO drivers are part of tightly connected groups that coordinate actions together.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Square Clustering:</a:t>
            </a:r>
            <a:r>
              <a:rPr lang="en-IL" altLang="en-IL" dirty="0">
                <a:latin typeface="Arial" panose="020B0604020202020204" pitchFamily="34" charset="0"/>
              </a:rPr>
              <a:t> IO drivers participate in small, repeated coordination patterns within tightly-knit groups. </a:t>
            </a:r>
          </a:p>
        </p:txBody>
      </p:sp>
      <p:sp>
        <p:nvSpPr>
          <p:cNvPr id="4" name="Slide Number Placeholder 3">
            <a:extLst>
              <a:ext uri="{FF2B5EF4-FFF2-40B4-BE49-F238E27FC236}">
                <a16:creationId xmlns:a16="http://schemas.microsoft.com/office/drawing/2014/main" id="{2A13FB25-F9AB-171E-E778-6E8C33B232AD}"/>
              </a:ext>
            </a:extLst>
          </p:cNvPr>
          <p:cNvSpPr>
            <a:spLocks noGrp="1"/>
          </p:cNvSpPr>
          <p:nvPr>
            <p:ph type="sldNum" sz="quarter" idx="12"/>
          </p:nvPr>
        </p:nvSpPr>
        <p:spPr/>
        <p:txBody>
          <a:bodyPr/>
          <a:lstStyle/>
          <a:p>
            <a:fld id="{E6AB8EDD-9EF2-4633-A1C2-4D908C1019B4}" type="slidenum">
              <a:rPr lang="he-IL" smtClean="0"/>
              <a:t>13</a:t>
            </a:fld>
            <a:endParaRPr lang="he-IL"/>
          </a:p>
        </p:txBody>
      </p:sp>
    </p:spTree>
    <p:extLst>
      <p:ext uri="{BB962C8B-B14F-4D97-AF65-F5344CB8AC3E}">
        <p14:creationId xmlns:p14="http://schemas.microsoft.com/office/powerpoint/2010/main" val="219528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09D58-D596-3589-1CC6-34787244A088}"/>
              </a:ext>
            </a:extLst>
          </p:cNvPr>
          <p:cNvSpPr>
            <a:spLocks noGrp="1"/>
          </p:cNvSpPr>
          <p:nvPr>
            <p:ph type="title"/>
          </p:nvPr>
        </p:nvSpPr>
        <p:spPr/>
        <p:txBody>
          <a:bodyPr/>
          <a:lstStyle/>
          <a:p>
            <a:r>
              <a:rPr lang="en-US" dirty="0"/>
              <a:t>Indicators: Key Score and Boost </a:t>
            </a:r>
            <a:endParaRPr lang="en-IL" dirty="0"/>
          </a:p>
        </p:txBody>
      </p:sp>
      <p:sp>
        <p:nvSpPr>
          <p:cNvPr id="3" name="Content Placeholder 2">
            <a:extLst>
              <a:ext uri="{FF2B5EF4-FFF2-40B4-BE49-F238E27FC236}">
                <a16:creationId xmlns:a16="http://schemas.microsoft.com/office/drawing/2014/main" id="{93BAA2BB-9036-5A2D-A38B-0735CF846418}"/>
              </a:ext>
            </a:extLst>
          </p:cNvPr>
          <p:cNvSpPr>
            <a:spLocks noGrp="1"/>
          </p:cNvSpPr>
          <p:nvPr>
            <p:ph idx="1"/>
          </p:nvPr>
        </p:nvSpPr>
        <p:spPr/>
        <p:txBody>
          <a:bodyPr/>
          <a:lstStyle/>
          <a:p>
            <a:r>
              <a:rPr lang="en-GB" dirty="0"/>
              <a:t>These indicators quantify user behaviour by measuring the extent to which an individual </a:t>
            </a:r>
            <a:r>
              <a:rPr lang="en-GB" b="1" dirty="0"/>
              <a:t>leads</a:t>
            </a:r>
            <a:r>
              <a:rPr lang="en-GB" dirty="0"/>
              <a:t>, </a:t>
            </a:r>
            <a:r>
              <a:rPr lang="en-GB" b="1" dirty="0"/>
              <a:t>focuses</a:t>
            </a:r>
            <a:r>
              <a:rPr lang="en-GB" dirty="0"/>
              <a:t>, and </a:t>
            </a:r>
            <a:r>
              <a:rPr lang="en-GB" b="1" dirty="0"/>
              <a:t>drives</a:t>
            </a:r>
            <a:r>
              <a:rPr lang="en-GB" dirty="0"/>
              <a:t> activity within discussions. </a:t>
            </a:r>
          </a:p>
          <a:p>
            <a:r>
              <a:rPr lang="en-GB" dirty="0"/>
              <a:t>The indicators capture how strongly a user contributes to topics, whether their activity is concentrated on specific narratives, and how much their actions are associated with increased engagement. </a:t>
            </a:r>
          </a:p>
          <a:p>
            <a:r>
              <a:rPr lang="en-GB" dirty="0"/>
              <a:t>By providing a consistent numeric representation of these behavioural patterns, they enable systematic comparison between users.</a:t>
            </a:r>
            <a:endParaRPr lang="en-IL" dirty="0"/>
          </a:p>
        </p:txBody>
      </p:sp>
      <p:sp>
        <p:nvSpPr>
          <p:cNvPr id="4" name="Slide Number Placeholder 3">
            <a:extLst>
              <a:ext uri="{FF2B5EF4-FFF2-40B4-BE49-F238E27FC236}">
                <a16:creationId xmlns:a16="http://schemas.microsoft.com/office/drawing/2014/main" id="{E0359E93-1E78-861A-D72D-672D08E32321}"/>
              </a:ext>
            </a:extLst>
          </p:cNvPr>
          <p:cNvSpPr>
            <a:spLocks noGrp="1"/>
          </p:cNvSpPr>
          <p:nvPr>
            <p:ph type="sldNum" sz="quarter" idx="12"/>
          </p:nvPr>
        </p:nvSpPr>
        <p:spPr/>
        <p:txBody>
          <a:bodyPr/>
          <a:lstStyle/>
          <a:p>
            <a:fld id="{E6AB8EDD-9EF2-4633-A1C2-4D908C1019B4}" type="slidenum">
              <a:rPr lang="he-IL" smtClean="0"/>
              <a:t>14</a:t>
            </a:fld>
            <a:endParaRPr lang="he-IL"/>
          </a:p>
        </p:txBody>
      </p:sp>
    </p:spTree>
    <p:extLst>
      <p:ext uri="{BB962C8B-B14F-4D97-AF65-F5344CB8AC3E}">
        <p14:creationId xmlns:p14="http://schemas.microsoft.com/office/powerpoint/2010/main" val="1501545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0CF04-DED3-2E08-8761-891A60FEF6EA}"/>
              </a:ext>
            </a:extLst>
          </p:cNvPr>
          <p:cNvSpPr>
            <a:spLocks noGrp="1"/>
          </p:cNvSpPr>
          <p:nvPr>
            <p:ph type="title"/>
          </p:nvPr>
        </p:nvSpPr>
        <p:spPr/>
        <p:txBody>
          <a:bodyPr/>
          <a:lstStyle/>
          <a:p>
            <a:r>
              <a:rPr lang="en-US" dirty="0"/>
              <a:t>Indicators: Key Score and Boost </a:t>
            </a:r>
            <a:endParaRPr lang="en-IL" dirty="0"/>
          </a:p>
        </p:txBody>
      </p:sp>
      <p:sp>
        <p:nvSpPr>
          <p:cNvPr id="3" name="Content Placeholder 2">
            <a:extLst>
              <a:ext uri="{FF2B5EF4-FFF2-40B4-BE49-F238E27FC236}">
                <a16:creationId xmlns:a16="http://schemas.microsoft.com/office/drawing/2014/main" id="{61818744-AA3F-0C94-68C3-B98E69E97B93}"/>
              </a:ext>
            </a:extLst>
          </p:cNvPr>
          <p:cNvSpPr>
            <a:spLocks noGrp="1"/>
          </p:cNvSpPr>
          <p:nvPr>
            <p:ph idx="1"/>
          </p:nvPr>
        </p:nvSpPr>
        <p:spPr>
          <a:xfrm>
            <a:off x="1243087" y="1825624"/>
            <a:ext cx="10582656" cy="4879976"/>
          </a:xfrm>
        </p:spPr>
        <p:txBody>
          <a:bodyPr>
            <a:normAutofit/>
          </a:bodyPr>
          <a:lstStyle/>
          <a:p>
            <a:r>
              <a:rPr lang="en-GB" b="1" dirty="0"/>
              <a:t>Key Score Sum: </a:t>
            </a:r>
            <a:r>
              <a:rPr lang="en-GB" dirty="0"/>
              <a:t>The sum of the all the per-topic </a:t>
            </a:r>
            <a:r>
              <a:rPr lang="en-GB" dirty="0" err="1"/>
              <a:t>tdidf</a:t>
            </a:r>
            <a:r>
              <a:rPr lang="en-GB" dirty="0"/>
              <a:t> score. How much the author is a leading participant in the topics.</a:t>
            </a:r>
          </a:p>
          <a:p>
            <a:r>
              <a:rPr lang="en-GB" b="1" dirty="0"/>
              <a:t>Key Score Dominance: </a:t>
            </a:r>
            <a:r>
              <a:rPr lang="en-GB" dirty="0"/>
              <a:t>Author’s</a:t>
            </a:r>
            <a:r>
              <a:rPr lang="en-GB" b="1" dirty="0"/>
              <a:t> </a:t>
            </a:r>
            <a:r>
              <a:rPr lang="en-GB" dirty="0"/>
              <a:t>max score in a topic, divided by total score across all topics. Higher values indicate the author is mostly a leading participate in specific(s) topic(s).</a:t>
            </a:r>
          </a:p>
          <a:p>
            <a:r>
              <a:rPr lang="en-GB" b="1" dirty="0"/>
              <a:t>Posting Dominance: </a:t>
            </a:r>
            <a:r>
              <a:rPr lang="en-GB" dirty="0"/>
              <a:t>Author’s max number of posts in a topic, divided by total number of posts across all topics. Higher values indicate the author is mostly a leading participate in specific(s) topic(s).</a:t>
            </a:r>
          </a:p>
          <a:p>
            <a:r>
              <a:rPr lang="en-GB" b="1" dirty="0"/>
              <a:t>Boost Score : </a:t>
            </a:r>
            <a:r>
              <a:rPr lang="en-GB" dirty="0"/>
              <a:t>A quantitative measure calculated as the cumulative burst weights associated with a user's activity, based on discussion volume increases occurring shortly after the user posts or contributes.</a:t>
            </a:r>
          </a:p>
          <a:p>
            <a:endParaRPr lang="en-GB" dirty="0">
              <a:highlight>
                <a:srgbClr val="FFFF00"/>
              </a:highlight>
            </a:endParaRPr>
          </a:p>
          <a:p>
            <a:endParaRPr lang="en-GB" dirty="0">
              <a:highlight>
                <a:srgbClr val="FFFF00"/>
              </a:highlight>
            </a:endParaRPr>
          </a:p>
          <a:p>
            <a:endParaRPr lang="en-GB" b="1" dirty="0">
              <a:highlight>
                <a:srgbClr val="FFFF00"/>
              </a:highlight>
            </a:endParaRPr>
          </a:p>
        </p:txBody>
      </p:sp>
      <p:sp>
        <p:nvSpPr>
          <p:cNvPr id="4" name="Slide Number Placeholder 3">
            <a:extLst>
              <a:ext uri="{FF2B5EF4-FFF2-40B4-BE49-F238E27FC236}">
                <a16:creationId xmlns:a16="http://schemas.microsoft.com/office/drawing/2014/main" id="{B369E058-D5C2-C2B9-04B1-D7B341490D5D}"/>
              </a:ext>
            </a:extLst>
          </p:cNvPr>
          <p:cNvSpPr>
            <a:spLocks noGrp="1"/>
          </p:cNvSpPr>
          <p:nvPr>
            <p:ph type="sldNum" sz="quarter" idx="12"/>
          </p:nvPr>
        </p:nvSpPr>
        <p:spPr/>
        <p:txBody>
          <a:bodyPr/>
          <a:lstStyle/>
          <a:p>
            <a:fld id="{E6AB8EDD-9EF2-4633-A1C2-4D908C1019B4}" type="slidenum">
              <a:rPr lang="he-IL" smtClean="0"/>
              <a:t>15</a:t>
            </a:fld>
            <a:endParaRPr lang="he-IL"/>
          </a:p>
        </p:txBody>
      </p:sp>
    </p:spTree>
    <p:extLst>
      <p:ext uri="{BB962C8B-B14F-4D97-AF65-F5344CB8AC3E}">
        <p14:creationId xmlns:p14="http://schemas.microsoft.com/office/powerpoint/2010/main" val="3277267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8DE0-4812-F64C-3F70-17162E2F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D2B2B-AB86-F51C-7830-5FBE03EC18D7}"/>
              </a:ext>
            </a:extLst>
          </p:cNvPr>
          <p:cNvSpPr>
            <a:spLocks noGrp="1"/>
          </p:cNvSpPr>
          <p:nvPr>
            <p:ph type="title"/>
          </p:nvPr>
        </p:nvSpPr>
        <p:spPr/>
        <p:txBody>
          <a:bodyPr/>
          <a:lstStyle/>
          <a:p>
            <a:r>
              <a:rPr lang="en-US" dirty="0"/>
              <a:t>Indicators: Key Score and Boost </a:t>
            </a:r>
            <a:endParaRPr lang="en-IL" dirty="0"/>
          </a:p>
        </p:txBody>
      </p:sp>
      <p:sp>
        <p:nvSpPr>
          <p:cNvPr id="3" name="Content Placeholder 2">
            <a:extLst>
              <a:ext uri="{FF2B5EF4-FFF2-40B4-BE49-F238E27FC236}">
                <a16:creationId xmlns:a16="http://schemas.microsoft.com/office/drawing/2014/main" id="{FB6C1624-E6C8-6B2A-46D6-7E793BC04C23}"/>
              </a:ext>
            </a:extLst>
          </p:cNvPr>
          <p:cNvSpPr>
            <a:spLocks noGrp="1"/>
          </p:cNvSpPr>
          <p:nvPr>
            <p:ph idx="1"/>
          </p:nvPr>
        </p:nvSpPr>
        <p:spPr>
          <a:xfrm>
            <a:off x="1243087" y="1825624"/>
            <a:ext cx="10582656" cy="4879976"/>
          </a:xfrm>
        </p:spPr>
        <p:txBody>
          <a:bodyPr>
            <a:normAutofit/>
          </a:bodyPr>
          <a:lstStyle/>
          <a:p>
            <a:pPr eaLnBrk="0" fontAlgn="base" hangingPunct="0">
              <a:lnSpc>
                <a:spcPct val="100000"/>
              </a:lnSpc>
              <a:spcBef>
                <a:spcPct val="0"/>
              </a:spcBef>
              <a:spcAft>
                <a:spcPct val="0"/>
              </a:spcAft>
            </a:pPr>
            <a:r>
              <a:rPr lang="en-IL" altLang="en-IL" b="1" dirty="0">
                <a:latin typeface="Arial" panose="020B0604020202020204" pitchFamily="34" charset="0"/>
              </a:rPr>
              <a:t>Key Score Sum:</a:t>
            </a:r>
            <a:r>
              <a:rPr lang="en-IL" altLang="en-IL" dirty="0">
                <a:latin typeface="Arial" panose="020B0604020202020204" pitchFamily="34" charset="0"/>
              </a:rPr>
              <a:t> IO drivers tend to consistently lead discussions across topics, resulting in high overall contribution scores.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Key Score Dominance:</a:t>
            </a:r>
            <a:r>
              <a:rPr lang="en-IL" altLang="en-IL" dirty="0">
                <a:latin typeface="Arial" panose="020B0604020202020204" pitchFamily="34" charset="0"/>
              </a:rPr>
              <a:t> IO drivers often focus on specific narratives where they act as main leaders.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Posting Dominance:</a:t>
            </a:r>
            <a:r>
              <a:rPr lang="en-IL" altLang="en-IL" dirty="0">
                <a:latin typeface="Arial" panose="020B0604020202020204" pitchFamily="34" charset="0"/>
              </a:rPr>
              <a:t> IO drivers concentrate their activity in particular topics to push targeted messages. </a:t>
            </a:r>
            <a:endParaRPr lang="en-US" altLang="en-IL" dirty="0">
              <a:latin typeface="Arial" panose="020B0604020202020204" pitchFamily="34" charset="0"/>
            </a:endParaRPr>
          </a:p>
          <a:p>
            <a:pPr eaLnBrk="0" fontAlgn="base" hangingPunct="0">
              <a:lnSpc>
                <a:spcPct val="100000"/>
              </a:lnSpc>
              <a:spcBef>
                <a:spcPct val="0"/>
              </a:spcBef>
              <a:spcAft>
                <a:spcPct val="0"/>
              </a:spcAft>
            </a:pPr>
            <a:r>
              <a:rPr lang="en-IL" altLang="en-IL" b="1" dirty="0">
                <a:latin typeface="Arial" panose="020B0604020202020204" pitchFamily="34" charset="0"/>
              </a:rPr>
              <a:t>Boost Score:</a:t>
            </a:r>
            <a:r>
              <a:rPr lang="en-IL" altLang="en-IL" dirty="0">
                <a:latin typeface="Arial" panose="020B0604020202020204" pitchFamily="34" charset="0"/>
              </a:rPr>
              <a:t> IO drivers’ actions are often followed by increases in activity, indicating coordinated amplification after they post. </a:t>
            </a:r>
          </a:p>
        </p:txBody>
      </p:sp>
      <p:sp>
        <p:nvSpPr>
          <p:cNvPr id="4" name="Slide Number Placeholder 3">
            <a:extLst>
              <a:ext uri="{FF2B5EF4-FFF2-40B4-BE49-F238E27FC236}">
                <a16:creationId xmlns:a16="http://schemas.microsoft.com/office/drawing/2014/main" id="{D3157926-83A7-0987-A5BF-ACEB5D9414D3}"/>
              </a:ext>
            </a:extLst>
          </p:cNvPr>
          <p:cNvSpPr>
            <a:spLocks noGrp="1"/>
          </p:cNvSpPr>
          <p:nvPr>
            <p:ph type="sldNum" sz="quarter" idx="12"/>
          </p:nvPr>
        </p:nvSpPr>
        <p:spPr/>
        <p:txBody>
          <a:bodyPr/>
          <a:lstStyle/>
          <a:p>
            <a:fld id="{E6AB8EDD-9EF2-4633-A1C2-4D908C1019B4}" type="slidenum">
              <a:rPr lang="he-IL" smtClean="0"/>
              <a:t>16</a:t>
            </a:fld>
            <a:endParaRPr lang="he-IL"/>
          </a:p>
        </p:txBody>
      </p:sp>
    </p:spTree>
    <p:extLst>
      <p:ext uri="{BB962C8B-B14F-4D97-AF65-F5344CB8AC3E}">
        <p14:creationId xmlns:p14="http://schemas.microsoft.com/office/powerpoint/2010/main" val="233460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1D98-6E94-E899-1C0B-FDA97B875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24865-CBA5-0D08-16D7-D3F84C92B9EA}"/>
              </a:ext>
            </a:extLst>
          </p:cNvPr>
          <p:cNvSpPr>
            <a:spLocks noGrp="1"/>
          </p:cNvSpPr>
          <p:nvPr>
            <p:ph type="title"/>
          </p:nvPr>
        </p:nvSpPr>
        <p:spPr>
          <a:xfrm>
            <a:off x="3072268" y="401637"/>
            <a:ext cx="8753475" cy="1325563"/>
          </a:xfrm>
        </p:spPr>
        <p:txBody>
          <a:bodyPr anchor="ctr">
            <a:normAutofit/>
          </a:bodyPr>
          <a:lstStyle/>
          <a:p>
            <a:r>
              <a:rPr lang="en-US" dirty="0"/>
              <a:t>Indicators: Information Gain</a:t>
            </a:r>
            <a:endParaRPr lang="en-IL" dirty="0"/>
          </a:p>
        </p:txBody>
      </p:sp>
      <p:pic>
        <p:nvPicPr>
          <p:cNvPr id="7" name="Picture 6">
            <a:extLst>
              <a:ext uri="{FF2B5EF4-FFF2-40B4-BE49-F238E27FC236}">
                <a16:creationId xmlns:a16="http://schemas.microsoft.com/office/drawing/2014/main" id="{9F97AA56-B26F-3FBC-5D15-1C9A7822D38A}"/>
              </a:ext>
            </a:extLst>
          </p:cNvPr>
          <p:cNvPicPr>
            <a:picLocks noChangeAspect="1"/>
          </p:cNvPicPr>
          <p:nvPr/>
        </p:nvPicPr>
        <p:blipFill>
          <a:blip r:embed="rId2"/>
          <a:srcRect l="-2" t="-114" r="3" b="7842"/>
          <a:stretch>
            <a:fillRect/>
          </a:stretch>
        </p:blipFill>
        <p:spPr>
          <a:xfrm>
            <a:off x="1452144" y="1589968"/>
            <a:ext cx="10276560" cy="4622572"/>
          </a:xfrm>
          <a:prstGeom prst="rect">
            <a:avLst/>
          </a:prstGeom>
          <a:noFill/>
        </p:spPr>
      </p:pic>
      <p:sp>
        <p:nvSpPr>
          <p:cNvPr id="4" name="Slide Number Placeholder 3">
            <a:extLst>
              <a:ext uri="{FF2B5EF4-FFF2-40B4-BE49-F238E27FC236}">
                <a16:creationId xmlns:a16="http://schemas.microsoft.com/office/drawing/2014/main" id="{3F63A626-1E2D-FD03-BD04-F81EFB01FD04}"/>
              </a:ext>
            </a:extLst>
          </p:cNvPr>
          <p:cNvSpPr>
            <a:spLocks noGrp="1"/>
          </p:cNvSpPr>
          <p:nvPr>
            <p:ph type="sldNum" sz="quarter" idx="12"/>
          </p:nvPr>
        </p:nvSpPr>
        <p:spPr>
          <a:xfrm>
            <a:off x="11728704" y="6464649"/>
            <a:ext cx="452233" cy="365125"/>
          </a:xfrm>
        </p:spPr>
        <p:txBody>
          <a:bodyPr anchor="ctr">
            <a:normAutofit/>
          </a:bodyPr>
          <a:lstStyle/>
          <a:p>
            <a:pPr>
              <a:spcAft>
                <a:spcPts val="600"/>
              </a:spcAft>
            </a:pPr>
            <a:fld id="{E6AB8EDD-9EF2-4633-A1C2-4D908C1019B4}" type="slidenum">
              <a:rPr lang="he-IL" smtClean="0"/>
              <a:pPr>
                <a:spcAft>
                  <a:spcPts val="600"/>
                </a:spcAft>
              </a:pPr>
              <a:t>17</a:t>
            </a:fld>
            <a:endParaRPr lang="he-IL"/>
          </a:p>
        </p:txBody>
      </p:sp>
    </p:spTree>
    <p:extLst>
      <p:ext uri="{BB962C8B-B14F-4D97-AF65-F5344CB8AC3E}">
        <p14:creationId xmlns:p14="http://schemas.microsoft.com/office/powerpoint/2010/main" val="408575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12217</TotalTime>
  <Words>1126</Words>
  <Application>Microsoft Office PowerPoint</Application>
  <PresentationFormat>Widescreen</PresentationFormat>
  <Paragraphs>110</Paragraphs>
  <Slides>17</Slides>
  <Notes>2</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Backbone Graph</vt:lpstr>
      <vt:lpstr>Core Concepts</vt:lpstr>
      <vt:lpstr>Hypothesis</vt:lpstr>
      <vt:lpstr>PowerPoint Presentation</vt:lpstr>
      <vt:lpstr>Terms &amp; Definitions - IO</vt:lpstr>
      <vt:lpstr>Terms &amp; Definitions - Key</vt:lpstr>
      <vt:lpstr>Backbone Graph Building</vt:lpstr>
      <vt:lpstr>Backbone Graph &amp; IO Indicators</vt:lpstr>
      <vt:lpstr>Backbone Graph</vt:lpstr>
      <vt:lpstr>Backbone Graph</vt:lpstr>
      <vt:lpstr>Indicators: Graph Theory </vt:lpstr>
      <vt:lpstr>Indicators: Graph Theory </vt:lpstr>
      <vt:lpstr>Indicators: Graph Theory </vt:lpstr>
      <vt:lpstr>Indicators: Key Score and Boost </vt:lpstr>
      <vt:lpstr>Indicators: Key Score and Boost </vt:lpstr>
      <vt:lpstr>Indicators: Key Score and Boost </vt:lpstr>
      <vt:lpstr>Indicators: Information Gain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Edita Grolman</dc:creator>
  <cp:lastModifiedBy>Amit Ner Gaon</cp:lastModifiedBy>
  <cp:revision>368</cp:revision>
  <dcterms:created xsi:type="dcterms:W3CDTF">2021-05-04T15:24:24Z</dcterms:created>
  <dcterms:modified xsi:type="dcterms:W3CDTF">2026-03-25T12:25:29Z</dcterms:modified>
</cp:coreProperties>
</file>