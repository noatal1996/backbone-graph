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1574" r:id="rId2"/>
    <p:sldId id="1577" r:id="rId3"/>
    <p:sldId id="1582" r:id="rId4"/>
    <p:sldId id="1693" r:id="rId5"/>
    <p:sldId id="1649" r:id="rId6"/>
    <p:sldId id="1702" r:id="rId7"/>
    <p:sldId id="1686" r:id="rId8"/>
    <p:sldId id="1642" r:id="rId9"/>
    <p:sldId id="1628" r:id="rId10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101"/>
    <a:srgbClr val="F58377"/>
    <a:srgbClr val="F59120"/>
    <a:srgbClr val="FF4343"/>
    <a:srgbClr val="548235"/>
    <a:srgbClr val="009DBB"/>
    <a:srgbClr val="0688BA"/>
    <a:srgbClr val="005488"/>
    <a:srgbClr val="006189"/>
    <a:srgbClr val="5D5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E72004-61F2-4D6D-B395-3F69B2DB77B9}" v="6" dt="2026-02-22T11:40:56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107" d="100"/>
          <a:sy n="107" d="100"/>
        </p:scale>
        <p:origin x="63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i Puzis (BGU)" userId="15455a32-cfa8-4f75-8502-2ebc95aecdb5" providerId="ADAL" clId="{4604D058-1A9B-4964-A759-971FC0161111}"/>
    <pc:docChg chg="custSel modSld">
      <pc:chgData name="Rami Puzis (BGU)" userId="15455a32-cfa8-4f75-8502-2ebc95aecdb5" providerId="ADAL" clId="{4604D058-1A9B-4964-A759-971FC0161111}" dt="2026-02-22T11:42:08.251" v="89" actId="20577"/>
      <pc:docMkLst>
        <pc:docMk/>
      </pc:docMkLst>
      <pc:sldChg chg="modSp mod">
        <pc:chgData name="Rami Puzis (BGU)" userId="15455a32-cfa8-4f75-8502-2ebc95aecdb5" providerId="ADAL" clId="{4604D058-1A9B-4964-A759-971FC0161111}" dt="2026-02-22T11:42:08.251" v="89" actId="20577"/>
        <pc:sldMkLst>
          <pc:docMk/>
          <pc:sldMk cId="2564283967" sldId="1581"/>
        </pc:sldMkLst>
        <pc:graphicFrameChg chg="mod modGraphic">
          <ac:chgData name="Rami Puzis (BGU)" userId="15455a32-cfa8-4f75-8502-2ebc95aecdb5" providerId="ADAL" clId="{4604D058-1A9B-4964-A759-971FC0161111}" dt="2026-02-22T11:42:08.251" v="89" actId="20577"/>
          <ac:graphicFrameMkLst>
            <pc:docMk/>
            <pc:sldMk cId="2564283967" sldId="1581"/>
            <ac:graphicFrameMk id="6" creationId="{B16D549A-CC57-1C2C-A976-5DA7CC5B824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י"א/אייר/תשפ"ו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E3288-5BF2-D9DF-8903-3815EA846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4D93B-2CAA-655A-D343-2F2C08517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D5B2A-8E4D-2383-E5FD-2EE7130D6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FBD8A-5038-8B28-578E-470208906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4005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28 אפריל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buFont typeface="Courier New" panose="02070309020205020404" pitchFamily="49" charset="0"/>
              <a:buChar char="o"/>
              <a:defRPr sz="2000"/>
            </a:lvl2pPr>
            <a:lvl3pPr>
              <a:buFont typeface="Wingdings" panose="05000000000000000000" pitchFamily="2" charset="2"/>
              <a:buChar char="Ø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28 אפריל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28 אפריל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28 אפריל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28 אפריל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28 אפריל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28 אפריל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28 אפריל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28 אפריל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28 אפריל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28 אפריל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28 אפריל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28 אפריל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956582"/>
            <a:ext cx="9356388" cy="172481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Backbone Graph - Terms &amp; Definitions 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08939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28.04.2026</a:t>
            </a:r>
          </a:p>
          <a:p>
            <a:r>
              <a:rPr lang="en-US" dirty="0"/>
              <a:t>Amit Ner Gaon, Noa Tal</a:t>
            </a:r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6C1-AB65-35BD-8133-F3F29DB9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IO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1FA6F-2F61-214E-F20E-E15E3A7E9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Information Operation (IO):</a:t>
            </a:r>
            <a:r>
              <a:rPr lang="en-GB" dirty="0"/>
              <a:t> A collection of publications by coordinated actors pursuing a shared intent while misleading others.</a:t>
            </a:r>
          </a:p>
          <a:p>
            <a:pPr fontAlgn="base"/>
            <a:r>
              <a:rPr lang="en-GB" b="1" dirty="0"/>
              <a:t>IO Driver:</a:t>
            </a:r>
            <a:r>
              <a:rPr lang="en-GB" dirty="0"/>
              <a:t> An account that promotes one or more IO.</a:t>
            </a:r>
          </a:p>
          <a:p>
            <a:pPr fontAlgn="base"/>
            <a:r>
              <a:rPr lang="en-GB" b="1" dirty="0"/>
              <a:t>Author ‘s IO Label:</a:t>
            </a:r>
            <a:r>
              <a:rPr lang="en-GB" dirty="0"/>
              <a:t> label =  1 if the author is a IO Driver and label = 0 if not.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2458-50C9-BF06-3967-CE25C3C3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289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F5D21-FEAA-6801-6A47-D72173FC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C365-C8A0-2A99-D1C2-5872EAA4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Key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F7DE5-3E08-EDD2-0E70-2E2FD9E3B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Key Author:</a:t>
            </a:r>
            <a:r>
              <a:rPr lang="en-GB" dirty="0"/>
              <a:t> An author who is a leading participant in one or more topic(s).</a:t>
            </a:r>
          </a:p>
          <a:p>
            <a:r>
              <a:rPr lang="en-GB" b="1" dirty="0"/>
              <a:t>Author-Topic Key Score: </a:t>
            </a:r>
            <a:r>
              <a:rPr lang="en-GB" dirty="0"/>
              <a:t>A measure of how strongly an author is associated with a topic, emphasizing topic-specific content. It is calculated based on the use of topic-related entities (e.g., hashtags, mentions, URLs) in the author’s posts.</a:t>
            </a:r>
            <a:endParaRPr lang="en-GB" b="1" dirty="0"/>
          </a:p>
          <a:p>
            <a:r>
              <a:rPr lang="en-GB" b="1" dirty="0"/>
              <a:t>Author Key Score: </a:t>
            </a:r>
            <a:r>
              <a:rPr lang="en-GB" dirty="0"/>
              <a:t>sum of the </a:t>
            </a:r>
            <a:r>
              <a:rPr lang="en-GB" i="1" dirty="0"/>
              <a:t>Author-Topic Key Score </a:t>
            </a:r>
            <a:r>
              <a:rPr lang="en-GB" dirty="0"/>
              <a:t>across all topics</a:t>
            </a:r>
            <a:r>
              <a:rPr lang="en-GB" i="1" dirty="0"/>
              <a:t>.</a:t>
            </a:r>
          </a:p>
          <a:p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43EF8-3FAF-E450-9AAA-2FA80E8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0370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8B8B8-53D9-C226-E1F8-2E8DA580B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1165E-EF64-300E-1E53-2570FC1D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Co-Actions Graph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B3E43-5A53-5200-9C94-39D690B8A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2800" b="1" dirty="0"/>
              <a:t>Nodes:</a:t>
            </a:r>
            <a:r>
              <a:rPr lang="en-GB" sz="2800" dirty="0"/>
              <a:t> authors in the discourse.</a:t>
            </a:r>
          </a:p>
          <a:p>
            <a:r>
              <a:rPr lang="en-GB" sz="2800" b="1" dirty="0"/>
              <a:t>Edges: </a:t>
            </a:r>
            <a:r>
              <a:rPr lang="en-GB" sz="2800" dirty="0"/>
              <a:t>co-action relations between author pairs (e.g., co-mention, co-entity, co-topic). Represents </a:t>
            </a:r>
            <a:r>
              <a:rPr lang="en-US" sz="2800" b="1" dirty="0"/>
              <a:t>behavioral similar</a:t>
            </a:r>
            <a:r>
              <a:rPr lang="en-GB" sz="2800" b="1" dirty="0"/>
              <a:t>arty </a:t>
            </a:r>
            <a:r>
              <a:rPr lang="en-GB" sz="2800" dirty="0"/>
              <a:t>between the authors.</a:t>
            </a:r>
          </a:p>
          <a:p>
            <a:r>
              <a:rPr lang="en-GB" sz="2800" b="1" dirty="0"/>
              <a:t>Purpose</a:t>
            </a:r>
            <a:r>
              <a:rPr lang="en-GB" sz="2800" dirty="0"/>
              <a:t>: expose coordinated behaviour and structural signals for IO detection.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D1271-DE7C-51ED-634F-F2B90986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BEE3672-65FB-63D0-45E7-9D616EA5E0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2" b="10900"/>
          <a:stretch>
            <a:fillRect/>
          </a:stretch>
        </p:blipFill>
        <p:spPr bwMode="auto">
          <a:xfrm>
            <a:off x="1243087" y="4445296"/>
            <a:ext cx="9585434" cy="212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76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B815-DA17-3CBD-4DA5-D200F39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2981-4578-9DFA-9B78-6D536D89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Backbone Graph &amp; IO Indicators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E614F-0CB2-16A5-EB4F-E10824EF2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6511384" cy="4879976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dirty="0">
                <a:latin typeface="Arial" panose="020B0604020202020204" pitchFamily="34" charset="0"/>
              </a:rPr>
              <a:t>The graph represents </a:t>
            </a:r>
            <a:r>
              <a:rPr lang="en-IL" altLang="en-IL" b="1" dirty="0">
                <a:latin typeface="Arial" panose="020B0604020202020204" pitchFamily="34" charset="0"/>
              </a:rPr>
              <a:t>behaviour similarity between users</a:t>
            </a:r>
            <a:r>
              <a:rPr lang="en-US" altLang="en-IL" b="1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dirty="0">
                <a:latin typeface="Arial" panose="020B0604020202020204" pitchFamily="34" charset="0"/>
              </a:rPr>
              <a:t>IO drivers tend to be </a:t>
            </a:r>
            <a:r>
              <a:rPr lang="en-IL" altLang="en-IL" b="1" dirty="0">
                <a:latin typeface="Arial" panose="020B0604020202020204" pitchFamily="34" charset="0"/>
              </a:rPr>
              <a:t>more central and more connected</a:t>
            </a:r>
            <a:r>
              <a:rPr lang="en-IL" altLang="en-IL" dirty="0">
                <a:latin typeface="Arial" panose="020B0604020202020204" pitchFamily="34" charset="0"/>
              </a:rPr>
              <a:t> than legitimate users</a:t>
            </a:r>
            <a:r>
              <a:rPr lang="en-US" altLang="en-IL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dirty="0">
                <a:latin typeface="Arial" panose="020B0604020202020204" pitchFamily="34" charset="0"/>
              </a:rPr>
              <a:t>We use indicators to measure, for each user, </a:t>
            </a:r>
            <a:r>
              <a:rPr lang="en-IL" altLang="en-IL" b="1" dirty="0">
                <a:latin typeface="Arial" panose="020B0604020202020204" pitchFamily="34" charset="0"/>
              </a:rPr>
              <a:t>how embedded they are in the network</a:t>
            </a:r>
            <a:r>
              <a:rPr lang="en-US" altLang="en-IL" b="1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dirty="0">
                <a:latin typeface="Arial" panose="020B0604020202020204" pitchFamily="34" charset="0"/>
              </a:rPr>
              <a:t>Each user is converted into </a:t>
            </a:r>
            <a:r>
              <a:rPr lang="en-IL" altLang="en-IL" b="1" dirty="0">
                <a:latin typeface="Arial" panose="020B0604020202020204" pitchFamily="34" charset="0"/>
              </a:rPr>
              <a:t>numeric features</a:t>
            </a:r>
            <a:r>
              <a:rPr lang="en-US" altLang="en-IL" b="1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dirty="0">
                <a:latin typeface="Arial" panose="020B0604020202020204" pitchFamily="34" charset="0"/>
              </a:rPr>
              <a:t>These features can then be used for different tasks, such as </a:t>
            </a:r>
            <a:r>
              <a:rPr lang="en-IL" altLang="en-IL" b="1" dirty="0">
                <a:latin typeface="Arial" panose="020B0604020202020204" pitchFamily="34" charset="0"/>
              </a:rPr>
              <a:t>IO</a:t>
            </a:r>
            <a:r>
              <a:rPr lang="en-US" altLang="en-IL" b="1" dirty="0">
                <a:latin typeface="Arial" panose="020B0604020202020204" pitchFamily="34" charset="0"/>
              </a:rPr>
              <a:t> </a:t>
            </a:r>
            <a:r>
              <a:rPr lang="en-IL" altLang="en-IL" b="1" dirty="0">
                <a:latin typeface="Arial" panose="020B0604020202020204" pitchFamily="34" charset="0"/>
              </a:rPr>
              <a:t>classification</a:t>
            </a:r>
            <a:r>
              <a:rPr lang="en-US" altLang="en-IL" b="1" dirty="0">
                <a:latin typeface="Arial" panose="020B0604020202020204" pitchFamily="34" charset="0"/>
              </a:rPr>
              <a:t>.</a:t>
            </a:r>
            <a:endParaRPr lang="en-IL" altLang="en-IL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605A-34FF-F4E0-D05D-D1E5A628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433032-6FA8-9987-F89C-0DCDABDA9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940" y="2258438"/>
            <a:ext cx="3361764" cy="36749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CA7CEC-C005-0E40-2AB1-C099DE3C313A}"/>
              </a:ext>
            </a:extLst>
          </p:cNvPr>
          <p:cNvSpPr txBox="1"/>
          <p:nvPr/>
        </p:nvSpPr>
        <p:spPr>
          <a:xfrm>
            <a:off x="8057657" y="1727200"/>
            <a:ext cx="398033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Indicators of an Account</a:t>
            </a:r>
          </a:p>
          <a:p>
            <a:pPr algn="ctr"/>
            <a:r>
              <a:rPr lang="en-GB" sz="1100" dirty="0"/>
              <a:t>Account ID: `718633c01af2bd9c2435764721d961a6ae113dec92` </a:t>
            </a:r>
          </a:p>
          <a:p>
            <a:pPr algn="ctr"/>
            <a:br>
              <a:rPr lang="en-GB" sz="1100" dirty="0"/>
            </a:br>
            <a:endParaRPr lang="en-IL" sz="1100" b="1" dirty="0"/>
          </a:p>
        </p:txBody>
      </p:sp>
    </p:spTree>
    <p:extLst>
      <p:ext uri="{BB962C8B-B14F-4D97-AF65-F5344CB8AC3E}">
        <p14:creationId xmlns:p14="http://schemas.microsoft.com/office/powerpoint/2010/main" val="2206619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0124C-3CDF-0FCE-11BF-C8D6BD53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1A568-13AB-BBF4-03FB-B54C88FB0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Indicators Analysis – Information Gain  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20E08-D80C-DC85-DD9F-EE9FBCDD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6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7F2D63-4AB3-EAA6-FD89-E32C05891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722" y="1727200"/>
            <a:ext cx="8710555" cy="43043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496FF5-0596-8027-C1D1-6C473AF12502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Information Gain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 </a:t>
            </a:r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used to measure how much knowledge one variable provides about another.</a:t>
            </a:r>
          </a:p>
        </p:txBody>
      </p:sp>
    </p:spTree>
    <p:extLst>
      <p:ext uri="{BB962C8B-B14F-4D97-AF65-F5344CB8AC3E}">
        <p14:creationId xmlns:p14="http://schemas.microsoft.com/office/powerpoint/2010/main" val="1154059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6A4D-7568-BAE4-62D1-881293F2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C420-F8E3-F707-0927-1E9D7AEC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Indicators Analysis – SHAP 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2290A-7BF2-C0BD-9A9F-A26B3BAE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7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A8EFF5-F41B-CA1E-8E71-AF38FD646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73" y="2451572"/>
            <a:ext cx="4962130" cy="3269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F9EC2E-A916-3168-AE65-350DB2FB1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480" y="2390644"/>
            <a:ext cx="5760000" cy="33751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97C5E1-5F57-35AD-F9CE-6328C30BB91A}"/>
              </a:ext>
            </a:extLst>
          </p:cNvPr>
          <p:cNvSpPr txBox="1"/>
          <p:nvPr/>
        </p:nvSpPr>
        <p:spPr>
          <a:xfrm>
            <a:off x="0" y="1729419"/>
            <a:ext cx="1218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SHAP analysis on </a:t>
            </a:r>
            <a:r>
              <a:rPr lang="en-US" dirty="0" err="1"/>
              <a:t>XGBoost</a:t>
            </a:r>
            <a:r>
              <a:rPr lang="en-US" dirty="0"/>
              <a:t> model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5D321-D39B-4DBC-6CB1-32D4550FBD1C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SHAP explains how much each feature contributes to a model’s prediction.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751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50E01-4300-3DE5-CB26-B50E4D0BA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747D-9283-B209-7194-59E0EF395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Indicators: Graph Theory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DF79D-7189-E660-2269-D00740213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879976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Degree Centrality: </a:t>
            </a:r>
            <a:r>
              <a:rPr lang="en-GB" dirty="0"/>
              <a:t>Counts how many direct connections a user has.</a:t>
            </a:r>
          </a:p>
          <a:p>
            <a:r>
              <a:rPr lang="en-GB" b="1" dirty="0"/>
              <a:t>Betweenness Centrality: </a:t>
            </a:r>
            <a:r>
              <a:rPr lang="en-GB" dirty="0"/>
              <a:t>measures how frequently a node appears on the shortest path between other.</a:t>
            </a:r>
          </a:p>
          <a:p>
            <a:r>
              <a:rPr lang="en-GB" b="1" dirty="0"/>
              <a:t>Harmonic Centrality: </a:t>
            </a:r>
            <a:r>
              <a:rPr lang="en-GB" dirty="0"/>
              <a:t>Reflects how easily a user can reach many others in the network.</a:t>
            </a:r>
          </a:p>
          <a:p>
            <a:r>
              <a:rPr lang="en-GB" b="1" dirty="0"/>
              <a:t>Eigenvector Centrality: </a:t>
            </a:r>
            <a:r>
              <a:rPr lang="en-GB" dirty="0"/>
              <a:t>Shows whether a user is connected to other high-scoring users.</a:t>
            </a:r>
          </a:p>
          <a:p>
            <a:r>
              <a:rPr lang="en-GB" b="1" dirty="0" err="1"/>
              <a:t>Pagerank</a:t>
            </a:r>
            <a:r>
              <a:rPr lang="en-GB" b="1" dirty="0"/>
              <a:t>: </a:t>
            </a:r>
            <a:r>
              <a:rPr lang="en-GB" dirty="0"/>
              <a:t>Estimates a user’s overall importance based on how many important users connect to them.</a:t>
            </a:r>
          </a:p>
          <a:p>
            <a:r>
              <a:rPr lang="en-GB" b="1" dirty="0"/>
              <a:t>K-core: </a:t>
            </a:r>
            <a:r>
              <a:rPr lang="en-GB" dirty="0"/>
              <a:t>Indicates how deeply embedded a user is within the dense group.</a:t>
            </a:r>
          </a:p>
          <a:p>
            <a:r>
              <a:rPr lang="en-GB" b="1" dirty="0"/>
              <a:t>Clustering: </a:t>
            </a:r>
            <a:r>
              <a:rPr lang="en-GB" dirty="0"/>
              <a:t>Measures how tightly connected a user’s </a:t>
            </a:r>
            <a:r>
              <a:rPr lang="en-GB" dirty="0" err="1"/>
              <a:t>neighbors</a:t>
            </a:r>
            <a:r>
              <a:rPr lang="en-GB" dirty="0"/>
              <a:t> are to each other.</a:t>
            </a:r>
          </a:p>
          <a:p>
            <a:r>
              <a:rPr lang="en-GB" b="1" dirty="0"/>
              <a:t>Square Clustering: </a:t>
            </a:r>
            <a:r>
              <a:rPr lang="en-GB" dirty="0"/>
              <a:t>Measures how often a user participates in tightly connected small group structures.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14CE5-5261-51D2-0ED2-383584D5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111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CF04-DED3-2E08-8761-891A60FE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Indicators: Key Score and Boost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18744-AA3F-0C94-68C3-B98E69E97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879976"/>
          </a:xfrm>
        </p:spPr>
        <p:txBody>
          <a:bodyPr>
            <a:normAutofit/>
          </a:bodyPr>
          <a:lstStyle/>
          <a:p>
            <a:r>
              <a:rPr lang="en-GB" b="1" dirty="0"/>
              <a:t>Key Score Sum: </a:t>
            </a:r>
            <a:r>
              <a:rPr lang="en-GB" dirty="0"/>
              <a:t>The sum of the all the per-topic </a:t>
            </a:r>
            <a:r>
              <a:rPr lang="en-GB" dirty="0" err="1"/>
              <a:t>tdidf</a:t>
            </a:r>
            <a:r>
              <a:rPr lang="en-GB" dirty="0"/>
              <a:t> score. How much the author is a leading participant in the topics.</a:t>
            </a:r>
          </a:p>
          <a:p>
            <a:r>
              <a:rPr lang="en-GB" b="1" dirty="0"/>
              <a:t>Key Score Dominance: </a:t>
            </a:r>
            <a:r>
              <a:rPr lang="en-GB" dirty="0"/>
              <a:t>Author’s</a:t>
            </a:r>
            <a:r>
              <a:rPr lang="en-GB" b="1" dirty="0"/>
              <a:t> </a:t>
            </a:r>
            <a:r>
              <a:rPr lang="en-GB" dirty="0"/>
              <a:t>max score in a topic, divided by total score across all topics. Higher values indicate the author is mostly a leading participate in specific(s) topic(s).</a:t>
            </a:r>
          </a:p>
          <a:p>
            <a:r>
              <a:rPr lang="en-GB" b="1" dirty="0"/>
              <a:t>Posting Dominance: </a:t>
            </a:r>
            <a:r>
              <a:rPr lang="en-GB" dirty="0"/>
              <a:t>Author’s max number of posts in a topic, divided by total number of posts across all topics. Higher values indicate the author is mostly a leading participate in specific(s) topic(s).</a:t>
            </a:r>
          </a:p>
          <a:p>
            <a:r>
              <a:rPr lang="en-GB" b="1" dirty="0"/>
              <a:t>Boost Score : </a:t>
            </a:r>
            <a:r>
              <a:rPr lang="en-GB" dirty="0"/>
              <a:t>A quantitative measure calculated as the cumulative burst weights associated with a user's activity, based on discussion volume increases occurring shortly after the user posts or contributes.</a:t>
            </a:r>
          </a:p>
          <a:p>
            <a:endParaRPr lang="en-GB" dirty="0">
              <a:highlight>
                <a:srgbClr val="FFFF00"/>
              </a:highlight>
            </a:endParaRPr>
          </a:p>
          <a:p>
            <a:endParaRPr lang="en-GB" dirty="0">
              <a:highlight>
                <a:srgbClr val="FFFF00"/>
              </a:highlight>
            </a:endParaRPr>
          </a:p>
          <a:p>
            <a:endParaRPr lang="en-GB" b="1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9E058-D5C2-C2B9-04B1-D7B34149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726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14265</TotalTime>
  <Words>604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Wingdings</vt:lpstr>
      <vt:lpstr>Office Theme</vt:lpstr>
      <vt:lpstr>Backbone Graph - Terms &amp; Definitions </vt:lpstr>
      <vt:lpstr>Terms &amp; Definitions - IO</vt:lpstr>
      <vt:lpstr>Terms &amp; Definitions - Key</vt:lpstr>
      <vt:lpstr>Co-Actions Graph</vt:lpstr>
      <vt:lpstr>Backbone Graph &amp; IO Indicators</vt:lpstr>
      <vt:lpstr>Indicators Analysis – Information Gain  </vt:lpstr>
      <vt:lpstr>Indicators Analysis – SHAP </vt:lpstr>
      <vt:lpstr>Indicators: Graph Theory </vt:lpstr>
      <vt:lpstr>Indicators: Key Score and Boost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447</cp:revision>
  <dcterms:created xsi:type="dcterms:W3CDTF">2021-05-04T15:24:24Z</dcterms:created>
  <dcterms:modified xsi:type="dcterms:W3CDTF">2026-04-28T12:20:54Z</dcterms:modified>
</cp:coreProperties>
</file>