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1574" r:id="rId2"/>
    <p:sldId id="1577" r:id="rId3"/>
    <p:sldId id="1582" r:id="rId4"/>
    <p:sldId id="1581" r:id="rId5"/>
    <p:sldId id="1670" r:id="rId6"/>
    <p:sldId id="1591" r:id="rId7"/>
    <p:sldId id="1649" r:id="rId8"/>
    <p:sldId id="1678" r:id="rId9"/>
    <p:sldId id="1688" r:id="rId10"/>
    <p:sldId id="1686" r:id="rId11"/>
    <p:sldId id="1687" r:id="rId12"/>
    <p:sldId id="1727" r:id="rId13"/>
    <p:sldId id="1681" r:id="rId14"/>
    <p:sldId id="1718" r:id="rId15"/>
    <p:sldId id="1694" r:id="rId16"/>
    <p:sldId id="1717" r:id="rId17"/>
    <p:sldId id="1695" r:id="rId18"/>
    <p:sldId id="1715" r:id="rId19"/>
    <p:sldId id="1716" r:id="rId20"/>
    <p:sldId id="1696" r:id="rId21"/>
    <p:sldId id="1698" r:id="rId22"/>
    <p:sldId id="1700" r:id="rId23"/>
    <p:sldId id="1673" r:id="rId24"/>
    <p:sldId id="1677" r:id="rId25"/>
    <p:sldId id="1726" r:id="rId26"/>
    <p:sldId id="1720" r:id="rId27"/>
    <p:sldId id="1721" r:id="rId28"/>
    <p:sldId id="1596" r:id="rId29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A84E6CC-2EA2-4553-A6A4-DAF877036261}">
          <p14:sldIdLst>
            <p14:sldId id="1574"/>
            <p14:sldId id="1577"/>
            <p14:sldId id="1582"/>
            <p14:sldId id="1581"/>
            <p14:sldId id="1670"/>
            <p14:sldId id="1591"/>
            <p14:sldId id="1649"/>
          </p14:sldIdLst>
        </p14:section>
        <p14:section name="Choosing Indicator" id="{41BA4D2E-EE9A-4912-AA84-C4B98F291FF6}">
          <p14:sldIdLst>
            <p14:sldId id="1678"/>
            <p14:sldId id="1688"/>
            <p14:sldId id="1686"/>
            <p14:sldId id="1687"/>
            <p14:sldId id="1727"/>
            <p14:sldId id="1681"/>
            <p14:sldId id="1718"/>
          </p14:sldIdLst>
        </p14:section>
        <p14:section name="Hypotheses" id="{DD1E1135-EFD8-4A85-AF51-780BF0DD8DE5}">
          <p14:sldIdLst>
            <p14:sldId id="1694"/>
            <p14:sldId id="1717"/>
            <p14:sldId id="1695"/>
            <p14:sldId id="1715"/>
            <p14:sldId id="1716"/>
            <p14:sldId id="1696"/>
            <p14:sldId id="1698"/>
            <p14:sldId id="1700"/>
          </p14:sldIdLst>
        </p14:section>
        <p14:section name="Choosing System Configuration" id="{1D8F0A42-FB98-41AC-86C5-D299008F9146}">
          <p14:sldIdLst>
            <p14:sldId id="1673"/>
            <p14:sldId id="1677"/>
            <p14:sldId id="1726"/>
          </p14:sldIdLst>
        </p14:section>
        <p14:section name="Data" id="{DB098AA4-3A76-49BC-B882-BA090BEB24C9}">
          <p14:sldIdLst>
            <p14:sldId id="1720"/>
            <p14:sldId id="1721"/>
            <p14:sldId id="159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488"/>
    <a:srgbClr val="F59120"/>
    <a:srgbClr val="FE0101"/>
    <a:srgbClr val="F58377"/>
    <a:srgbClr val="FF4343"/>
    <a:srgbClr val="548235"/>
    <a:srgbClr val="009DBB"/>
    <a:srgbClr val="0688BA"/>
    <a:srgbClr val="006189"/>
    <a:srgbClr val="5D5D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E72004-61F2-4D6D-B395-3F69B2DB77B9}" v="6" dt="2026-02-22T11:40:56.8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033" autoAdjust="0"/>
  </p:normalViewPr>
  <p:slideViewPr>
    <p:cSldViewPr snapToGrid="0">
      <p:cViewPr varScale="1">
        <p:scale>
          <a:sx n="79" d="100"/>
          <a:sy n="79" d="100"/>
        </p:scale>
        <p:origin x="744" y="5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mi Puzis (BGU)" userId="15455a32-cfa8-4f75-8502-2ebc95aecdb5" providerId="ADAL" clId="{4604D058-1A9B-4964-A759-971FC0161111}"/>
    <pc:docChg chg="custSel modSld">
      <pc:chgData name="Rami Puzis (BGU)" userId="15455a32-cfa8-4f75-8502-2ebc95aecdb5" providerId="ADAL" clId="{4604D058-1A9B-4964-A759-971FC0161111}" dt="2026-02-22T11:42:08.251" v="89" actId="20577"/>
      <pc:docMkLst>
        <pc:docMk/>
      </pc:docMkLst>
      <pc:sldChg chg="modSp mod">
        <pc:chgData name="Rami Puzis (BGU)" userId="15455a32-cfa8-4f75-8502-2ebc95aecdb5" providerId="ADAL" clId="{4604D058-1A9B-4964-A759-971FC0161111}" dt="2026-02-22T11:42:08.251" v="89" actId="20577"/>
        <pc:sldMkLst>
          <pc:docMk/>
          <pc:sldMk cId="2564283967" sldId="1581"/>
        </pc:sldMkLst>
        <pc:graphicFrameChg chg="mod modGraphic">
          <ac:chgData name="Rami Puzis (BGU)" userId="15455a32-cfa8-4f75-8502-2ebc95aecdb5" providerId="ADAL" clId="{4604D058-1A9B-4964-A759-971FC0161111}" dt="2026-02-22T11:42:08.251" v="89" actId="20577"/>
          <ac:graphicFrameMkLst>
            <pc:docMk/>
            <pc:sldMk cId="2564283967" sldId="1581"/>
            <ac:graphicFrameMk id="6" creationId="{B16D549A-CC57-1C2C-A976-5DA7CC5B8247}"/>
          </ac:graphicFrameMkLst>
        </pc:graphicFrame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51ADD07-83FC-412A-AFCA-54ED7AB8BDE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20BF6AF-D097-451B-B004-3E4F0E0AEEB9}">
      <dgm:prSet/>
      <dgm:spPr/>
      <dgm:t>
        <a:bodyPr/>
        <a:lstStyle/>
        <a:p>
          <a:pPr rtl="0"/>
          <a:r>
            <a:rPr lang="en-GB" dirty="0"/>
            <a:t>Background: </a:t>
          </a:r>
        </a:p>
        <a:p>
          <a:pPr rtl="0"/>
          <a:r>
            <a:rPr lang="en-GB" dirty="0"/>
            <a:t>Successful information operation </a:t>
          </a:r>
          <a:r>
            <a:rPr lang="en-GB" b="0" dirty="0"/>
            <a:t>drivers</a:t>
          </a:r>
          <a:r>
            <a:rPr lang="en-GB" dirty="0"/>
            <a:t> </a:t>
          </a:r>
          <a:r>
            <a:rPr lang="en-GB" b="1" dirty="0"/>
            <a:t>lead topic-level discourse </a:t>
          </a:r>
          <a:r>
            <a:rPr lang="en-GB" dirty="0"/>
            <a:t>and act in </a:t>
          </a:r>
          <a:r>
            <a:rPr lang="en-GB" b="1" dirty="0"/>
            <a:t>coordination</a:t>
          </a:r>
          <a:r>
            <a:rPr lang="en-GB" dirty="0"/>
            <a:t> with other drivers. </a:t>
          </a:r>
          <a:endParaRPr lang="en-US" dirty="0"/>
        </a:p>
      </dgm:t>
    </dgm:pt>
    <dgm:pt modelId="{1B3DA8FE-615C-4CAD-AD1A-83C4D5C3B18E}" type="parTrans" cxnId="{C0F4BB65-B1A1-46FC-8E88-C5B7A3B5290C}">
      <dgm:prSet/>
      <dgm:spPr/>
      <dgm:t>
        <a:bodyPr/>
        <a:lstStyle/>
        <a:p>
          <a:endParaRPr lang="en-US"/>
        </a:p>
      </dgm:t>
    </dgm:pt>
    <dgm:pt modelId="{F3538FF5-C72C-4C84-89BC-6ECE192FF4F4}" type="sibTrans" cxnId="{C0F4BB65-B1A1-46FC-8E88-C5B7A3B5290C}">
      <dgm:prSet/>
      <dgm:spPr/>
      <dgm:t>
        <a:bodyPr/>
        <a:lstStyle/>
        <a:p>
          <a:endParaRPr lang="en-US"/>
        </a:p>
      </dgm:t>
    </dgm:pt>
    <dgm:pt modelId="{E39D2ACD-8A0D-4B01-833E-8042ACD0DB54}">
      <dgm:prSet/>
      <dgm:spPr/>
      <dgm:t>
        <a:bodyPr/>
        <a:lstStyle/>
        <a:p>
          <a:pPr rtl="0"/>
          <a:r>
            <a:rPr lang="en-GB" dirty="0"/>
            <a:t>Objectives:</a:t>
          </a:r>
        </a:p>
        <a:p>
          <a:pPr rtl="0"/>
          <a:r>
            <a:rPr lang="en-GB" dirty="0"/>
            <a:t>Author’s </a:t>
          </a:r>
          <a:r>
            <a:rPr lang="en-GB" b="1" dirty="0"/>
            <a:t>key score </a:t>
          </a:r>
          <a:r>
            <a:rPr lang="en-GB" b="0" dirty="0"/>
            <a:t>to </a:t>
          </a:r>
          <a:r>
            <a:rPr lang="en-GB" dirty="0"/>
            <a:t>quantify topic leadership. </a:t>
          </a:r>
        </a:p>
        <a:p>
          <a:pPr rtl="0"/>
          <a:r>
            <a:rPr lang="en-GB" b="1" dirty="0"/>
            <a:t>Co-Actions graph </a:t>
          </a:r>
          <a:r>
            <a:rPr lang="en-GB" b="0" dirty="0"/>
            <a:t>to </a:t>
          </a:r>
          <a:r>
            <a:rPr lang="en-GB" dirty="0"/>
            <a:t>capture </a:t>
          </a:r>
          <a:r>
            <a:rPr lang="en-US" b="1" dirty="0"/>
            <a:t>behavioral similar</a:t>
          </a:r>
          <a:r>
            <a:rPr lang="en-GB" b="1" dirty="0"/>
            <a:t>arty </a:t>
          </a:r>
          <a:r>
            <a:rPr lang="en-GB" dirty="0"/>
            <a:t>among key authors. </a:t>
          </a:r>
          <a:endParaRPr lang="en-US" dirty="0"/>
        </a:p>
      </dgm:t>
    </dgm:pt>
    <dgm:pt modelId="{50BCA0A0-F847-40B6-A29A-9E80CAFF435E}" type="parTrans" cxnId="{BCC7FBA5-3595-4076-A26A-50B09B66D361}">
      <dgm:prSet/>
      <dgm:spPr/>
      <dgm:t>
        <a:bodyPr/>
        <a:lstStyle/>
        <a:p>
          <a:endParaRPr lang="en-US"/>
        </a:p>
      </dgm:t>
    </dgm:pt>
    <dgm:pt modelId="{06BACE1A-323F-4E92-90EF-7FB1DEFFCD2C}" type="sibTrans" cxnId="{BCC7FBA5-3595-4076-A26A-50B09B66D361}">
      <dgm:prSet/>
      <dgm:spPr/>
      <dgm:t>
        <a:bodyPr/>
        <a:lstStyle/>
        <a:p>
          <a:endParaRPr lang="en-US"/>
        </a:p>
      </dgm:t>
    </dgm:pt>
    <dgm:pt modelId="{2A8A38E9-53CA-44D5-8DFC-907932863099}">
      <dgm:prSet custT="1"/>
      <dgm:spPr/>
      <dgm:t>
        <a:bodyPr/>
        <a:lstStyle/>
        <a:p>
          <a:pPr rtl="0"/>
          <a:r>
            <a:rPr lang="en-GB" sz="1800" kern="1200" dirty="0"/>
            <a:t>Goal:</a:t>
          </a:r>
        </a:p>
        <a:p>
          <a:pPr rtl="0"/>
          <a:r>
            <a:rPr lang="en-GB" sz="18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+mn-cs"/>
            </a:rPr>
            <a:t>Calculation</a:t>
          </a:r>
          <a:r>
            <a:rPr lang="en-GB" sz="1800" kern="1200" dirty="0"/>
            <a:t> of </a:t>
          </a:r>
          <a:r>
            <a:rPr lang="en-GB" sz="1800" b="1" kern="1200" dirty="0"/>
            <a:t>graph-based indicators </a:t>
          </a:r>
          <a:r>
            <a:rPr lang="en-GB" sz="1800" kern="1200" dirty="0"/>
            <a:t>(e.g., centralities) to identify information operation (IO) drivers.</a:t>
          </a:r>
          <a:endParaRPr lang="en-US" sz="1800" kern="1200" dirty="0"/>
        </a:p>
      </dgm:t>
    </dgm:pt>
    <dgm:pt modelId="{1C19421E-9F25-4C69-A119-786E9C23DCF0}" type="parTrans" cxnId="{3ACB8547-BA01-42D1-807F-761232340476}">
      <dgm:prSet/>
      <dgm:spPr/>
      <dgm:t>
        <a:bodyPr/>
        <a:lstStyle/>
        <a:p>
          <a:endParaRPr lang="en-US"/>
        </a:p>
      </dgm:t>
    </dgm:pt>
    <dgm:pt modelId="{DAD72EB5-E415-4649-A88F-D2A6BD457E78}" type="sibTrans" cxnId="{3ACB8547-BA01-42D1-807F-761232340476}">
      <dgm:prSet/>
      <dgm:spPr/>
      <dgm:t>
        <a:bodyPr/>
        <a:lstStyle/>
        <a:p>
          <a:endParaRPr lang="en-US"/>
        </a:p>
      </dgm:t>
    </dgm:pt>
    <dgm:pt modelId="{B49D8D80-4BEC-43F9-8332-FDD107B3F2C9}" type="pres">
      <dgm:prSet presAssocID="{551ADD07-83FC-412A-AFCA-54ED7AB8BDE9}" presName="root" presStyleCnt="0">
        <dgm:presLayoutVars>
          <dgm:dir/>
          <dgm:resizeHandles val="exact"/>
        </dgm:presLayoutVars>
      </dgm:prSet>
      <dgm:spPr/>
    </dgm:pt>
    <dgm:pt modelId="{234596F3-45E6-4A0B-84CB-CD7F1CEC7BB6}" type="pres">
      <dgm:prSet presAssocID="{920BF6AF-D097-451B-B004-3E4F0E0AEEB9}" presName="compNode" presStyleCnt="0"/>
      <dgm:spPr/>
    </dgm:pt>
    <dgm:pt modelId="{2C6B269B-04EF-4B77-8D34-4ED88A9CC619}" type="pres">
      <dgm:prSet presAssocID="{920BF6AF-D097-451B-B004-3E4F0E0AEEB9}" presName="bgRect" presStyleLbl="bgShp" presStyleIdx="0" presStyleCnt="3"/>
      <dgm:spPr/>
    </dgm:pt>
    <dgm:pt modelId="{AB766CAB-60EC-49F0-89A5-002DEB1DC9EC}" type="pres">
      <dgm:prSet presAssocID="{920BF6AF-D097-451B-B004-3E4F0E0AEEB9}" presName="iconRect" presStyleLbl="node1" presStyleIdx="0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ientific Thought with solid fill"/>
        </a:ext>
      </dgm:extLst>
    </dgm:pt>
    <dgm:pt modelId="{0B721B38-D226-410F-BAC9-2D888665195E}" type="pres">
      <dgm:prSet presAssocID="{920BF6AF-D097-451B-B004-3E4F0E0AEEB9}" presName="spaceRect" presStyleCnt="0"/>
      <dgm:spPr/>
    </dgm:pt>
    <dgm:pt modelId="{3E637D1C-C465-4876-A83C-04C72BB5E998}" type="pres">
      <dgm:prSet presAssocID="{920BF6AF-D097-451B-B004-3E4F0E0AEEB9}" presName="parTx" presStyleLbl="revTx" presStyleIdx="0" presStyleCnt="3">
        <dgm:presLayoutVars>
          <dgm:chMax val="0"/>
          <dgm:chPref val="0"/>
        </dgm:presLayoutVars>
      </dgm:prSet>
      <dgm:spPr/>
    </dgm:pt>
    <dgm:pt modelId="{A0B18739-A66C-4214-A36E-80ABCD3F56E6}" type="pres">
      <dgm:prSet presAssocID="{F3538FF5-C72C-4C84-89BC-6ECE192FF4F4}" presName="sibTrans" presStyleCnt="0"/>
      <dgm:spPr/>
    </dgm:pt>
    <dgm:pt modelId="{E94B648F-B109-44D3-A362-5A7CD8456848}" type="pres">
      <dgm:prSet presAssocID="{E39D2ACD-8A0D-4B01-833E-8042ACD0DB54}" presName="compNode" presStyleCnt="0"/>
      <dgm:spPr/>
    </dgm:pt>
    <dgm:pt modelId="{02F5843F-E1CD-4550-87C4-36EB26BEC779}" type="pres">
      <dgm:prSet presAssocID="{E39D2ACD-8A0D-4B01-833E-8042ACD0DB54}" presName="bgRect" presStyleLbl="bgShp" presStyleIdx="1" presStyleCnt="3"/>
      <dgm:spPr/>
    </dgm:pt>
    <dgm:pt modelId="{9E158E14-3B86-4CC1-9750-95325F6E3EB0}" type="pres">
      <dgm:prSet presAssocID="{E39D2ACD-8A0D-4B01-833E-8042ACD0DB54}" presName="iconRect" presStyleLbl="node1" presStyleIdx="1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 network with solid fill"/>
        </a:ext>
      </dgm:extLst>
    </dgm:pt>
    <dgm:pt modelId="{F60FB6F8-463F-492D-AC38-859ADB965D33}" type="pres">
      <dgm:prSet presAssocID="{E39D2ACD-8A0D-4B01-833E-8042ACD0DB54}" presName="spaceRect" presStyleCnt="0"/>
      <dgm:spPr/>
    </dgm:pt>
    <dgm:pt modelId="{F428F88E-A70C-48F6-A66B-5274C025ABDE}" type="pres">
      <dgm:prSet presAssocID="{E39D2ACD-8A0D-4B01-833E-8042ACD0DB54}" presName="parTx" presStyleLbl="revTx" presStyleIdx="1" presStyleCnt="3">
        <dgm:presLayoutVars>
          <dgm:chMax val="0"/>
          <dgm:chPref val="0"/>
        </dgm:presLayoutVars>
      </dgm:prSet>
      <dgm:spPr/>
    </dgm:pt>
    <dgm:pt modelId="{F5E726E4-A878-457E-933C-BCEA315CA0C3}" type="pres">
      <dgm:prSet presAssocID="{06BACE1A-323F-4E92-90EF-7FB1DEFFCD2C}" presName="sibTrans" presStyleCnt="0"/>
      <dgm:spPr/>
    </dgm:pt>
    <dgm:pt modelId="{BD3B9828-9F25-45F0-995B-881D686D90DF}" type="pres">
      <dgm:prSet presAssocID="{2A8A38E9-53CA-44D5-8DFC-907932863099}" presName="compNode" presStyleCnt="0"/>
      <dgm:spPr/>
    </dgm:pt>
    <dgm:pt modelId="{85833E2F-A6EA-4B2D-BD32-529530AB4589}" type="pres">
      <dgm:prSet presAssocID="{2A8A38E9-53CA-44D5-8DFC-907932863099}" presName="bgRect" presStyleLbl="bgShp" presStyleIdx="2" presStyleCnt="3"/>
      <dgm:spPr/>
    </dgm:pt>
    <dgm:pt modelId="{847822B6-69AC-4972-8322-EB9ABE8D34B9}" type="pres">
      <dgm:prSet presAssocID="{2A8A38E9-53CA-44D5-8DFC-907932863099}" presName="iconRect" presStyleLbl="node1" presStyleIdx="2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culator with solid fill"/>
        </a:ext>
      </dgm:extLst>
    </dgm:pt>
    <dgm:pt modelId="{DDA98E99-0ADD-4B53-8FFE-DE6E80B72A59}" type="pres">
      <dgm:prSet presAssocID="{2A8A38E9-53CA-44D5-8DFC-907932863099}" presName="spaceRect" presStyleCnt="0"/>
      <dgm:spPr/>
    </dgm:pt>
    <dgm:pt modelId="{7E1E5A94-5C6C-43EF-91F4-61637B702812}" type="pres">
      <dgm:prSet presAssocID="{2A8A38E9-53CA-44D5-8DFC-90793286309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C0F4BB65-B1A1-46FC-8E88-C5B7A3B5290C}" srcId="{551ADD07-83FC-412A-AFCA-54ED7AB8BDE9}" destId="{920BF6AF-D097-451B-B004-3E4F0E0AEEB9}" srcOrd="0" destOrd="0" parTransId="{1B3DA8FE-615C-4CAD-AD1A-83C4D5C3B18E}" sibTransId="{F3538FF5-C72C-4C84-89BC-6ECE192FF4F4}"/>
    <dgm:cxn modelId="{3ACB8547-BA01-42D1-807F-761232340476}" srcId="{551ADD07-83FC-412A-AFCA-54ED7AB8BDE9}" destId="{2A8A38E9-53CA-44D5-8DFC-907932863099}" srcOrd="2" destOrd="0" parTransId="{1C19421E-9F25-4C69-A119-786E9C23DCF0}" sibTransId="{DAD72EB5-E415-4649-A88F-D2A6BD457E78}"/>
    <dgm:cxn modelId="{476DC380-D90B-4963-BA1D-EF004B8DFF9C}" type="presOf" srcId="{2A8A38E9-53CA-44D5-8DFC-907932863099}" destId="{7E1E5A94-5C6C-43EF-91F4-61637B702812}" srcOrd="0" destOrd="0" presId="urn:microsoft.com/office/officeart/2018/2/layout/IconVerticalSolidList"/>
    <dgm:cxn modelId="{BE2D088D-B685-4251-B03A-05C57EA6D1CA}" type="presOf" srcId="{E39D2ACD-8A0D-4B01-833E-8042ACD0DB54}" destId="{F428F88E-A70C-48F6-A66B-5274C025ABDE}" srcOrd="0" destOrd="0" presId="urn:microsoft.com/office/officeart/2018/2/layout/IconVerticalSolidList"/>
    <dgm:cxn modelId="{F98D408E-0BAD-4B33-9130-865164C21D5B}" type="presOf" srcId="{920BF6AF-D097-451B-B004-3E4F0E0AEEB9}" destId="{3E637D1C-C465-4876-A83C-04C72BB5E998}" srcOrd="0" destOrd="0" presId="urn:microsoft.com/office/officeart/2018/2/layout/IconVerticalSolidList"/>
    <dgm:cxn modelId="{BCC7FBA5-3595-4076-A26A-50B09B66D361}" srcId="{551ADD07-83FC-412A-AFCA-54ED7AB8BDE9}" destId="{E39D2ACD-8A0D-4B01-833E-8042ACD0DB54}" srcOrd="1" destOrd="0" parTransId="{50BCA0A0-F847-40B6-A29A-9E80CAFF435E}" sibTransId="{06BACE1A-323F-4E92-90EF-7FB1DEFFCD2C}"/>
    <dgm:cxn modelId="{AAF066BC-CAAA-4763-ADA3-D4F009CCE9A2}" type="presOf" srcId="{551ADD07-83FC-412A-AFCA-54ED7AB8BDE9}" destId="{B49D8D80-4BEC-43F9-8332-FDD107B3F2C9}" srcOrd="0" destOrd="0" presId="urn:microsoft.com/office/officeart/2018/2/layout/IconVerticalSolidList"/>
    <dgm:cxn modelId="{BCE67295-3472-4649-8578-5A2AF0877308}" type="presParOf" srcId="{B49D8D80-4BEC-43F9-8332-FDD107B3F2C9}" destId="{234596F3-45E6-4A0B-84CB-CD7F1CEC7BB6}" srcOrd="0" destOrd="0" presId="urn:microsoft.com/office/officeart/2018/2/layout/IconVerticalSolidList"/>
    <dgm:cxn modelId="{37B27883-AE4D-4F43-AAA9-364B1799A38D}" type="presParOf" srcId="{234596F3-45E6-4A0B-84CB-CD7F1CEC7BB6}" destId="{2C6B269B-04EF-4B77-8D34-4ED88A9CC619}" srcOrd="0" destOrd="0" presId="urn:microsoft.com/office/officeart/2018/2/layout/IconVerticalSolidList"/>
    <dgm:cxn modelId="{1FE31726-CE1A-4FF2-8F3A-3F6A8C1ECB72}" type="presParOf" srcId="{234596F3-45E6-4A0B-84CB-CD7F1CEC7BB6}" destId="{AB766CAB-60EC-49F0-89A5-002DEB1DC9EC}" srcOrd="1" destOrd="0" presId="urn:microsoft.com/office/officeart/2018/2/layout/IconVerticalSolidList"/>
    <dgm:cxn modelId="{D43CBF48-864E-42B2-B4C7-FEFD0C4EA1C1}" type="presParOf" srcId="{234596F3-45E6-4A0B-84CB-CD7F1CEC7BB6}" destId="{0B721B38-D226-410F-BAC9-2D888665195E}" srcOrd="2" destOrd="0" presId="urn:microsoft.com/office/officeart/2018/2/layout/IconVerticalSolidList"/>
    <dgm:cxn modelId="{F2616297-CF9C-4A9F-B438-8A02AF8EA604}" type="presParOf" srcId="{234596F3-45E6-4A0B-84CB-CD7F1CEC7BB6}" destId="{3E637D1C-C465-4876-A83C-04C72BB5E998}" srcOrd="3" destOrd="0" presId="urn:microsoft.com/office/officeart/2018/2/layout/IconVerticalSolidList"/>
    <dgm:cxn modelId="{021E74C0-B682-4A7C-9B3C-80BC6A1A451E}" type="presParOf" srcId="{B49D8D80-4BEC-43F9-8332-FDD107B3F2C9}" destId="{A0B18739-A66C-4214-A36E-80ABCD3F56E6}" srcOrd="1" destOrd="0" presId="urn:microsoft.com/office/officeart/2018/2/layout/IconVerticalSolidList"/>
    <dgm:cxn modelId="{5DD145BE-095B-4298-ADFC-8002C6AAD15E}" type="presParOf" srcId="{B49D8D80-4BEC-43F9-8332-FDD107B3F2C9}" destId="{E94B648F-B109-44D3-A362-5A7CD8456848}" srcOrd="2" destOrd="0" presId="urn:microsoft.com/office/officeart/2018/2/layout/IconVerticalSolidList"/>
    <dgm:cxn modelId="{96C74A1F-B98D-4223-A5E9-7277AE40F887}" type="presParOf" srcId="{E94B648F-B109-44D3-A362-5A7CD8456848}" destId="{02F5843F-E1CD-4550-87C4-36EB26BEC779}" srcOrd="0" destOrd="0" presId="urn:microsoft.com/office/officeart/2018/2/layout/IconVerticalSolidList"/>
    <dgm:cxn modelId="{37551C3B-A61E-40CD-95E6-06EC81BA6221}" type="presParOf" srcId="{E94B648F-B109-44D3-A362-5A7CD8456848}" destId="{9E158E14-3B86-4CC1-9750-95325F6E3EB0}" srcOrd="1" destOrd="0" presId="urn:microsoft.com/office/officeart/2018/2/layout/IconVerticalSolidList"/>
    <dgm:cxn modelId="{5B8E7111-26D5-45A9-A2C9-F67EC4DD4DD7}" type="presParOf" srcId="{E94B648F-B109-44D3-A362-5A7CD8456848}" destId="{F60FB6F8-463F-492D-AC38-859ADB965D33}" srcOrd="2" destOrd="0" presId="urn:microsoft.com/office/officeart/2018/2/layout/IconVerticalSolidList"/>
    <dgm:cxn modelId="{CAAC9538-3BDC-4D91-AC63-E046372345FF}" type="presParOf" srcId="{E94B648F-B109-44D3-A362-5A7CD8456848}" destId="{F428F88E-A70C-48F6-A66B-5274C025ABDE}" srcOrd="3" destOrd="0" presId="urn:microsoft.com/office/officeart/2018/2/layout/IconVerticalSolidList"/>
    <dgm:cxn modelId="{BB8A6ED7-F291-4709-814C-3DFCF74B0B5C}" type="presParOf" srcId="{B49D8D80-4BEC-43F9-8332-FDD107B3F2C9}" destId="{F5E726E4-A878-457E-933C-BCEA315CA0C3}" srcOrd="3" destOrd="0" presId="urn:microsoft.com/office/officeart/2018/2/layout/IconVerticalSolidList"/>
    <dgm:cxn modelId="{193E6BFC-A4A5-4A3B-BE91-424D6674F48E}" type="presParOf" srcId="{B49D8D80-4BEC-43F9-8332-FDD107B3F2C9}" destId="{BD3B9828-9F25-45F0-995B-881D686D90DF}" srcOrd="4" destOrd="0" presId="urn:microsoft.com/office/officeart/2018/2/layout/IconVerticalSolidList"/>
    <dgm:cxn modelId="{605738E7-7BB8-4D55-B283-D6BDF1D1C1C7}" type="presParOf" srcId="{BD3B9828-9F25-45F0-995B-881D686D90DF}" destId="{85833E2F-A6EA-4B2D-BD32-529530AB4589}" srcOrd="0" destOrd="0" presId="urn:microsoft.com/office/officeart/2018/2/layout/IconVerticalSolidList"/>
    <dgm:cxn modelId="{AD77C2DA-7E28-4367-8BE2-3300AC8794C3}" type="presParOf" srcId="{BD3B9828-9F25-45F0-995B-881D686D90DF}" destId="{847822B6-69AC-4972-8322-EB9ABE8D34B9}" srcOrd="1" destOrd="0" presId="urn:microsoft.com/office/officeart/2018/2/layout/IconVerticalSolidList"/>
    <dgm:cxn modelId="{833343CF-0F77-4BD0-9825-DC8C6C39F459}" type="presParOf" srcId="{BD3B9828-9F25-45F0-995B-881D686D90DF}" destId="{DDA98E99-0ADD-4B53-8FFE-DE6E80B72A59}" srcOrd="2" destOrd="0" presId="urn:microsoft.com/office/officeart/2018/2/layout/IconVerticalSolidList"/>
    <dgm:cxn modelId="{C9F44501-FBA1-4F35-B8A0-6554C28CFF8F}" type="presParOf" srcId="{BD3B9828-9F25-45F0-995B-881D686D90DF}" destId="{7E1E5A94-5C6C-43EF-91F4-61637B70281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6B269B-04EF-4B77-8D34-4ED88A9CC619}">
      <dsp:nvSpPr>
        <dsp:cNvPr id="0" name=""/>
        <dsp:cNvSpPr/>
      </dsp:nvSpPr>
      <dsp:spPr>
        <a:xfrm>
          <a:off x="0" y="531"/>
          <a:ext cx="10582656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766CAB-60EC-49F0-89A5-002DEB1DC9EC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637D1C-C465-4876-A83C-04C72BB5E998}">
      <dsp:nvSpPr>
        <dsp:cNvPr id="0" name=""/>
        <dsp:cNvSpPr/>
      </dsp:nvSpPr>
      <dsp:spPr>
        <a:xfrm>
          <a:off x="1435590" y="531"/>
          <a:ext cx="9147065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Background: 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Successful information operation </a:t>
          </a:r>
          <a:r>
            <a:rPr lang="en-GB" sz="1800" b="0" kern="1200" dirty="0"/>
            <a:t>drivers</a:t>
          </a:r>
          <a:r>
            <a:rPr lang="en-GB" sz="1800" kern="1200" dirty="0"/>
            <a:t> </a:t>
          </a:r>
          <a:r>
            <a:rPr lang="en-GB" sz="1800" b="1" kern="1200" dirty="0"/>
            <a:t>lead topic-level discourse </a:t>
          </a:r>
          <a:r>
            <a:rPr lang="en-GB" sz="1800" kern="1200" dirty="0"/>
            <a:t>and act in </a:t>
          </a:r>
          <a:r>
            <a:rPr lang="en-GB" sz="1800" b="1" kern="1200" dirty="0"/>
            <a:t>coordination</a:t>
          </a:r>
          <a:r>
            <a:rPr lang="en-GB" sz="1800" kern="1200" dirty="0"/>
            <a:t> with other drivers. </a:t>
          </a:r>
          <a:endParaRPr lang="en-US" sz="1800" kern="1200" dirty="0"/>
        </a:p>
      </dsp:txBody>
      <dsp:txXfrm>
        <a:off x="1435590" y="531"/>
        <a:ext cx="9147065" cy="1242935"/>
      </dsp:txXfrm>
    </dsp:sp>
    <dsp:sp modelId="{02F5843F-E1CD-4550-87C4-36EB26BEC779}">
      <dsp:nvSpPr>
        <dsp:cNvPr id="0" name=""/>
        <dsp:cNvSpPr/>
      </dsp:nvSpPr>
      <dsp:spPr>
        <a:xfrm>
          <a:off x="0" y="1554201"/>
          <a:ext cx="10582656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158E14-3B86-4CC1-9750-95325F6E3EB0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28F88E-A70C-48F6-A66B-5274C025ABDE}">
      <dsp:nvSpPr>
        <dsp:cNvPr id="0" name=""/>
        <dsp:cNvSpPr/>
      </dsp:nvSpPr>
      <dsp:spPr>
        <a:xfrm>
          <a:off x="1435590" y="1554201"/>
          <a:ext cx="9147065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Objectives: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Author’s </a:t>
          </a:r>
          <a:r>
            <a:rPr lang="en-GB" sz="1800" b="1" kern="1200" dirty="0"/>
            <a:t>key score </a:t>
          </a:r>
          <a:r>
            <a:rPr lang="en-GB" sz="1800" b="0" kern="1200" dirty="0"/>
            <a:t>to </a:t>
          </a:r>
          <a:r>
            <a:rPr lang="en-GB" sz="1800" kern="1200" dirty="0"/>
            <a:t>quantify topic leadership. 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b="1" kern="1200" dirty="0"/>
            <a:t>Co-Actions graph </a:t>
          </a:r>
          <a:r>
            <a:rPr lang="en-GB" sz="1800" b="0" kern="1200" dirty="0"/>
            <a:t>to </a:t>
          </a:r>
          <a:r>
            <a:rPr lang="en-GB" sz="1800" kern="1200" dirty="0"/>
            <a:t>capture </a:t>
          </a:r>
          <a:r>
            <a:rPr lang="en-US" sz="1800" b="1" kern="1200" dirty="0"/>
            <a:t>behavioral similar</a:t>
          </a:r>
          <a:r>
            <a:rPr lang="en-GB" sz="1800" b="1" kern="1200" dirty="0"/>
            <a:t>arty </a:t>
          </a:r>
          <a:r>
            <a:rPr lang="en-GB" sz="1800" kern="1200" dirty="0"/>
            <a:t>among key authors. </a:t>
          </a:r>
          <a:endParaRPr lang="en-US" sz="1800" kern="1200" dirty="0"/>
        </a:p>
      </dsp:txBody>
      <dsp:txXfrm>
        <a:off x="1435590" y="1554201"/>
        <a:ext cx="9147065" cy="1242935"/>
      </dsp:txXfrm>
    </dsp:sp>
    <dsp:sp modelId="{85833E2F-A6EA-4B2D-BD32-529530AB4589}">
      <dsp:nvSpPr>
        <dsp:cNvPr id="0" name=""/>
        <dsp:cNvSpPr/>
      </dsp:nvSpPr>
      <dsp:spPr>
        <a:xfrm>
          <a:off x="0" y="3107870"/>
          <a:ext cx="10582656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7822B6-69AC-4972-8322-EB9ABE8D34B9}">
      <dsp:nvSpPr>
        <dsp:cNvPr id="0" name=""/>
        <dsp:cNvSpPr/>
      </dsp:nvSpPr>
      <dsp:spPr>
        <a:xfrm>
          <a:off x="375988" y="338753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1E5A94-5C6C-43EF-91F4-61637B702812}">
      <dsp:nvSpPr>
        <dsp:cNvPr id="0" name=""/>
        <dsp:cNvSpPr/>
      </dsp:nvSpPr>
      <dsp:spPr>
        <a:xfrm>
          <a:off x="1435590" y="3107870"/>
          <a:ext cx="9147065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Goal: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 panose="020F0502020204030204"/>
              <a:ea typeface="+mn-ea"/>
              <a:cs typeface="+mn-cs"/>
            </a:rPr>
            <a:t>Calculation</a:t>
          </a:r>
          <a:r>
            <a:rPr lang="en-GB" sz="1800" kern="1200" dirty="0"/>
            <a:t> of </a:t>
          </a:r>
          <a:r>
            <a:rPr lang="en-GB" sz="1800" b="1" kern="1200" dirty="0"/>
            <a:t>graph-based indicators </a:t>
          </a:r>
          <a:r>
            <a:rPr lang="en-GB" sz="1800" kern="1200" dirty="0"/>
            <a:t>(e.g., centralities) to identify information operation (IO) drivers.</a:t>
          </a:r>
          <a:endParaRPr lang="en-US" sz="1800" kern="1200" dirty="0"/>
        </a:p>
      </dsp:txBody>
      <dsp:txXfrm>
        <a:off x="1435590" y="3107870"/>
        <a:ext cx="9147065" cy="124293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915196C-CDBC-4DEE-A220-849C85FC22AC}" type="datetimeFigureOut">
              <a:rPr lang="he-IL" smtClean="0"/>
              <a:t>כ"ג/אייר/תשפ"ו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7F6CD5E7-A5BE-4430-AD67-E129D63AAC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382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D1760-78DB-D18D-FBB8-239E0A7E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EC71B-5AA6-886B-0231-A74B41DE5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997CC-4715-39C7-93DD-C967C3080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57815-7BE0-C4B1-B3D0-083C2D02F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687258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[1]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Seckin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O. C., Pote, M.,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Nwala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A. C., Yin, L.,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Flammini, A., &amp; Menczer, F. (2025, June). Labeled datasets for research on information operations. In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Proceedings of the International AAAI Conference on Web and Social Media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(Vol. 19, pp. 2567-2574).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Balasubramanian, A., Zou, V., Narayana, H., You, C.,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&amp; Ferrara, E. (2024). A public dataset tracking social media discourse about the 2024 us presidential election on twitter/x.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arXiv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preprint arXiv:2411.00376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120918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83E6-A85C-4E94-BAD4-349975C5C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5376" y="1354011"/>
            <a:ext cx="9144000" cy="238760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3D7B5-5BE4-46C1-BA83-AEDFF303D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5376" y="4218431"/>
            <a:ext cx="9144000" cy="1374013"/>
          </a:xfrm>
        </p:spPr>
        <p:txBody>
          <a:bodyPr>
            <a:normAutofit/>
          </a:bodyPr>
          <a:lstStyle>
            <a:lvl1pPr marL="0" indent="0" algn="l">
              <a:buNone/>
              <a:defRPr lang="he-IL" sz="20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subtitle style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03C65-1526-4474-93EA-92201F97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B3A86-AB79-4388-8CA5-9FC4B834779B}" type="datetime8">
              <a:rPr lang="he-IL" smtClean="0"/>
              <a:t>10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4A285-90E9-4F27-9CCA-0A2DBEB4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19B0E-8F10-4832-ADC3-EA2B0C45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617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5C3A-1C12-429A-B672-CB062EE35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D984-D254-42A5-88FD-71A5B8FF6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buFont typeface="Courier New" panose="02070309020205020404" pitchFamily="49" charset="0"/>
              <a:buChar char="o"/>
              <a:defRPr sz="2000"/>
            </a:lvl2pPr>
            <a:lvl3pPr>
              <a:buFont typeface="Wingdings" panose="05000000000000000000" pitchFamily="2" charset="2"/>
              <a:buChar char="Ø"/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8C169-3299-4F42-91D0-7AF77E39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4CBFB-2532-48BA-BAE2-ADD925390740}" type="datetime8">
              <a:rPr lang="he-IL" smtClean="0"/>
              <a:t>10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2A088-F9A8-4123-A1D2-FE1125036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A253D-F657-44F9-AA3F-37F3CF175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1454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E174-92FD-46FC-9A31-EF3515102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50" y="1709738"/>
            <a:ext cx="7852146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61C8F-4A58-4042-B898-A57C837DF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95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B49A7-5C76-42AD-8811-4CADE04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C1FDD-37C4-4A6B-BF31-779943CE32CF}" type="datetime8">
              <a:rPr lang="he-IL" smtClean="0"/>
              <a:t>10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F3F55-C2A3-4A87-96C0-A01E9BCA6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76F6-B98E-4B7D-839A-27BF9494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90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15C3C-CE9E-4F7A-B728-9A335B51FB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48EB9-480D-4A31-8BC3-B899B4AAB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AF003-9AC3-4B4C-A1AA-89972395A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0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9E07C-7B13-4A7C-AEAC-814BACFD9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226C-A76A-4927-8F1D-1BD4AC033ABB}" type="datetime8">
              <a:rPr lang="he-IL" smtClean="0"/>
              <a:t>10 מאי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6D24B-DA20-4CC6-87E7-866505B0C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E9C41-8689-47B3-A905-63422020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7299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D0EE-D523-4780-A9CF-B6EE518CD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117" y="355600"/>
            <a:ext cx="8743124" cy="1325563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6447D-A16E-4B99-8F74-2BA51BF54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3148" y="1717419"/>
            <a:ext cx="5157787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B268A-D31A-4C35-948F-BF312EE59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3148" y="2511171"/>
            <a:ext cx="5157787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D0F3C6-09D4-4383-99DD-32F9053AC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1752" y="1717419"/>
            <a:ext cx="5183188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91A8D3-C002-4BA1-96FF-375F70D21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41752" y="2517267"/>
            <a:ext cx="5183188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CAC5E-E4EB-4131-AAEF-73C347968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DF2BF-D428-43E9-B36B-6DD16CF93579}" type="datetime8">
              <a:rPr lang="he-IL" smtClean="0"/>
              <a:t>10 מאי 26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C57A3-285F-4D36-851E-593C5F28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F8AB8-B698-4176-96F8-B833FE01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42569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FBF78-4DF0-407A-8E5A-BEF1E0D8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A3A88-6914-48FB-BE6F-948C3C66F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A9136-4922-4C74-B05C-12CD0951E601}" type="datetime8">
              <a:rPr lang="he-IL" smtClean="0"/>
              <a:t>10 מאי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50A1D4-4FBF-400A-B2CE-30A42EF7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B1F93-B2D0-4E42-B3CE-E85D6FC90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52457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88500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13734-3C5F-473D-9DD6-0C484ADFB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F3CA8-2E63-412C-AA06-0D760EBE5965}" type="datetime8">
              <a:rPr lang="he-IL" smtClean="0"/>
              <a:t>10 מאי 26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48D2E8-A18C-4B06-AF11-07B4F9C5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7CBE2-2F2D-43B9-8BC3-25BA1DDA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78659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0516-8B4A-495E-BFE5-33BF2DA50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2684" y="98132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53460-117E-457C-9F0F-1AA7B34F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0804" y="987425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E485A-1FF8-4FDD-A659-6ACC79989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912684" y="2581529"/>
            <a:ext cx="3932237" cy="329514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A78A4-064B-49BB-9360-FC686D8B5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7B867-AA4A-4FF3-AD8B-0AD0F18EE595}" type="datetime8">
              <a:rPr lang="he-IL" smtClean="0"/>
              <a:t>10 מאי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0114A-6704-44C0-BCAE-EAB756E6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98D20-B7C4-4CE0-812C-9B6976E0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24658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81F6-3528-4A38-B435-490FC2AF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173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7A6AE1-0DCE-4A5A-AC24-95C331B15D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987425"/>
            <a:ext cx="5259387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D3E13-E71C-4EE3-BA14-54D61F729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27173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A2D14-BF1B-420A-B0DF-91CD6E77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9EBD3-88E8-46DB-BD3B-F935B7013014}" type="datetime8">
              <a:rPr lang="he-IL" smtClean="0"/>
              <a:t>10 מאי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227BD5-73FD-47B4-BCDF-92BB6EA15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5EAC3-6043-41F9-B8D4-7F41DABB2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72402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CA57A-6715-4A64-AF19-74F32284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19522-954F-44AB-A8B2-881237A98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7FD09-CBF4-4ADA-B2BB-979C1F74B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56BC8-8E7D-4896-9980-77BC87FB8E3E}" type="datetime8">
              <a:rPr lang="he-IL" smtClean="0"/>
              <a:t>10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DEA1C-6A3E-4E8A-94C4-85129424B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897DB-9E67-41A9-B2B3-D6E613340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51003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7D7B8-0F66-43EC-B9A2-C261F37BC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B89D3-E69A-49EE-8D8C-EAC8400E3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10142" y="365125"/>
            <a:ext cx="7262357" cy="5811838"/>
          </a:xfrm>
        </p:spPr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9B41-D269-4701-B27C-CDDBCF20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327C8-CB36-417E-834B-544633ADCE63}" type="datetime8">
              <a:rPr lang="he-IL" smtClean="0"/>
              <a:t>10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D14E7-5E00-4D30-9BDD-9B32BEA0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1914F-9592-4EB2-998B-B922F8A2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55566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k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2684E-6693-F58C-BC24-150353E83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65D1C-C98B-44F5-AB2A-FEE3E85D0A94}" type="datetime8">
              <a:rPr lang="he-IL" smtClean="0"/>
              <a:t>10 מאי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C0620-C9BE-4C99-2D6C-A02A9A677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48F728-5692-0756-E6BD-FFB67E1A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7" name="Picture 6" descr="A document with text on it&#10;&#10;AI-generated content may be incorrect.">
            <a:extLst>
              <a:ext uri="{FF2B5EF4-FFF2-40B4-BE49-F238E27FC236}">
                <a16:creationId xmlns:a16="http://schemas.microsoft.com/office/drawing/2014/main" id="{221434F7-1295-8CB3-5E53-891A52C3D7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06" t="8664" r="8034" b="78094"/>
          <a:stretch>
            <a:fillRect/>
          </a:stretch>
        </p:blipFill>
        <p:spPr>
          <a:xfrm>
            <a:off x="1038256" y="2478278"/>
            <a:ext cx="10821413" cy="229428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FF33BC-21D6-16B0-C505-3CEE5CDF6D13}"/>
              </a:ext>
            </a:extLst>
          </p:cNvPr>
          <p:cNvSpPr txBox="1"/>
          <p:nvPr userDrawn="1"/>
        </p:nvSpPr>
        <p:spPr>
          <a:xfrm>
            <a:off x="3072268" y="679697"/>
            <a:ext cx="8753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0" kern="1200" dirty="0">
                <a:solidFill>
                  <a:srgbClr val="009DBB"/>
                </a:solidFill>
                <a:latin typeface="+mj-lt"/>
                <a:ea typeface="+mj-ea"/>
                <a:cs typeface="+mj-cs"/>
              </a:rPr>
              <a:t>Workflow</a:t>
            </a:r>
            <a:endParaRPr lang="en-IL" sz="4400" b="0" kern="1200" dirty="0">
              <a:solidFill>
                <a:srgbClr val="009DBB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1238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EDABD8-1012-46AD-89C2-C8E4E06DB9B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5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9C71F-AAAB-425C-B1EA-7A7182DF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FA75E-5AAA-412B-BAE0-CF5F86B37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0143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198C1-7EB5-4CA4-98A0-2833A18F3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1014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65D1C-C98B-44F5-AB2A-FEE3E85D0A94}" type="datetime8">
              <a:rPr lang="he-IL" smtClean="0"/>
              <a:t>10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97CC5-2317-4D8E-8C89-E7B89F4BE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1054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048FF-C291-43F3-A9DD-3B48AE56F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8704" y="6476841"/>
            <a:ext cx="4522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1D43D3-8C77-B77A-1D9D-8CDC43D8429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57" y="6139952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3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9DB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jpe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zenodo.org/records/14189193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een object on a black surface&#10;&#10;Description automatically generated with low confidence">
            <a:extLst>
              <a:ext uri="{FF2B5EF4-FFF2-40B4-BE49-F238E27FC236}">
                <a16:creationId xmlns:a16="http://schemas.microsoft.com/office/drawing/2014/main" id="{3CB67A20-DF50-FA5C-9F89-051979AEC2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6" r="11818" b="26261"/>
          <a:stretch/>
        </p:blipFill>
        <p:spPr>
          <a:xfrm>
            <a:off x="4547937" y="0"/>
            <a:ext cx="7644062" cy="3656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F2EE9F-F796-A6BB-3045-695978EABEE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830" r="-1" b="7292"/>
          <a:stretch/>
        </p:blipFill>
        <p:spPr>
          <a:xfrm>
            <a:off x="4547938" y="3681409"/>
            <a:ext cx="7644062" cy="317659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220BDD-53D9-474C-9782-2415C685D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956582"/>
            <a:ext cx="5395912" cy="1724819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Backbone Graph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553B468-8035-4F27-9A10-D7A4E7C75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824627"/>
            <a:ext cx="4361329" cy="191780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prstClr val="white"/>
                </a:solidFill>
              </a:rPr>
              <a:t>06.05.2026</a:t>
            </a:r>
          </a:p>
          <a:p>
            <a:r>
              <a:rPr lang="en-US" dirty="0"/>
              <a:t>Amit Ner Gaon, Noa Tal, Idan </a:t>
            </a:r>
            <a:r>
              <a:rPr lang="en-GB" dirty="0"/>
              <a:t>Muallem</a:t>
            </a:r>
            <a:endParaRPr lang="en-US" dirty="0"/>
          </a:p>
          <a:p>
            <a:r>
              <a:rPr lang="en-US" dirty="0"/>
              <a:t>Prof. Rami </a:t>
            </a:r>
            <a:r>
              <a:rPr lang="en-US" dirty="0" err="1"/>
              <a:t>Puzis</a:t>
            </a:r>
            <a:endParaRPr lang="en-IL" dirty="0"/>
          </a:p>
          <a:p>
            <a:endParaRPr lang="en-US" b="1" dirty="0">
              <a:solidFill>
                <a:prstClr val="white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E9033-B890-41F0-A499-F7F83D1F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E6AB8EDD-9EF2-4633-A1C2-4D908C1019B4}" type="slidenum">
              <a:rPr kumimoji="0" lang="he-IL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he-IL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itle 4">
            <a:extLst>
              <a:ext uri="{FF2B5EF4-FFF2-40B4-BE49-F238E27FC236}">
                <a16:creationId xmlns:a16="http://schemas.microsoft.com/office/drawing/2014/main" id="{6D84A53B-A147-EEC0-9D81-D931915B4D17}"/>
              </a:ext>
            </a:extLst>
          </p:cNvPr>
          <p:cNvSpPr txBox="1">
            <a:spLocks/>
          </p:cNvSpPr>
          <p:nvPr/>
        </p:nvSpPr>
        <p:spPr>
          <a:xfrm>
            <a:off x="838200" y="3706020"/>
            <a:ext cx="3138714" cy="62546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DE9F95-0435-3A81-61D6-23ED74B595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3" y="0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0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AF6C1-AB65-35BD-8133-F3F29DB90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Terms &amp; Definitions - IO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1FA6F-2F61-214E-F20E-E15E3A7E9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Information Operation (IO):</a:t>
            </a:r>
            <a:r>
              <a:rPr lang="en-GB" dirty="0"/>
              <a:t> A collection of publications by coordinated actors pursuing a shared intent while misleading others.</a:t>
            </a:r>
          </a:p>
          <a:p>
            <a:pPr fontAlgn="base"/>
            <a:r>
              <a:rPr lang="en-GB" b="1" dirty="0"/>
              <a:t>IO Driver:</a:t>
            </a:r>
            <a:r>
              <a:rPr lang="en-GB" dirty="0"/>
              <a:t> An account that promotes one or more IO.</a:t>
            </a:r>
          </a:p>
          <a:p>
            <a:pPr fontAlgn="base"/>
            <a:r>
              <a:rPr lang="en-GB" b="1" dirty="0"/>
              <a:t>Author ‘s IO Label:</a:t>
            </a:r>
            <a:r>
              <a:rPr lang="en-GB" dirty="0"/>
              <a:t> label =  1 if the author is a IO Driver and label = 0 if not.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42458-50C9-BF06-3967-CE25C3C30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92892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F5D21-FEAA-6801-6A47-D72173FC7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8C365-C8A0-2A99-D1C2-5872EAA4D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Terms &amp; Definitions - Key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F7DE5-3E08-EDD2-0E70-2E2FD9E3B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Key Author:</a:t>
            </a:r>
            <a:r>
              <a:rPr lang="en-GB" dirty="0"/>
              <a:t> An author who is a leading participant in one or more topic(s).</a:t>
            </a:r>
          </a:p>
          <a:p>
            <a:r>
              <a:rPr lang="en-GB" b="1" dirty="0"/>
              <a:t>Author-Topic Key Score: </a:t>
            </a:r>
            <a:r>
              <a:rPr lang="en-GB" dirty="0"/>
              <a:t>A measure of how strongly an author is associated with a topic, emphasizing topic-specific content. It is calculated based on the use of topic-related entities (e.g., hashtags, mentions, URLs) in the author’s posts.</a:t>
            </a:r>
            <a:endParaRPr lang="en-GB" b="1" dirty="0"/>
          </a:p>
          <a:p>
            <a:r>
              <a:rPr lang="en-GB" b="1" dirty="0"/>
              <a:t>Author Key Score: </a:t>
            </a:r>
            <a:r>
              <a:rPr lang="en-GB" dirty="0"/>
              <a:t>sum of the </a:t>
            </a:r>
            <a:r>
              <a:rPr lang="en-GB" i="1" dirty="0"/>
              <a:t>Author-Topic Key Score </a:t>
            </a:r>
            <a:r>
              <a:rPr lang="en-GB" dirty="0"/>
              <a:t>across all topics</a:t>
            </a:r>
            <a:r>
              <a:rPr lang="en-GB" i="1" dirty="0"/>
              <a:t>.</a:t>
            </a:r>
          </a:p>
          <a:p>
            <a:endParaRPr lang="en-GB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443EF8-3FAF-E450-9AAA-2FA80E88E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903708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54D25-02A9-78EB-690B-D93ACC2A9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C47FB-3B8E-1F68-D6EB-C3B6C0E7B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Project Core Concepts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68C5A-EA8F-5CB7-FF7C-6442F88DB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4</a:t>
            </a:fld>
            <a:endParaRPr lang="he-IL"/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B16D549A-CC57-1C2C-A976-5DA7CC5B82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42598712"/>
              </p:ext>
            </p:extLst>
          </p:nvPr>
        </p:nvGraphicFramePr>
        <p:xfrm>
          <a:off x="1243087" y="1825625"/>
          <a:ext cx="10582656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4283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2D1ED-B482-5DD4-F114-26736B001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9FCA846-95C2-250E-C243-25D910E55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8596779" cy="2852737"/>
          </a:xfrm>
        </p:spPr>
        <p:txBody>
          <a:bodyPr/>
          <a:lstStyle/>
          <a:p>
            <a:r>
              <a:rPr lang="en-GB" dirty="0"/>
              <a:t>Coordinated Behaviour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0120A0-21C8-44D8-0893-379AF2F23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3999A-907D-8A28-8021-95C4739EB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61291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E27CD-C8FF-B185-45D8-666A78A6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98079-07AB-1011-721B-DDEB4687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Co-Actions Graph 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FF6C3-80E1-C75C-69F0-3A7FFA1D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b="1" dirty="0"/>
              <a:t>Nodes:</a:t>
            </a:r>
            <a:r>
              <a:rPr lang="en-GB" sz="2800" dirty="0"/>
              <a:t> authors in the discourse.</a:t>
            </a:r>
          </a:p>
          <a:p>
            <a:r>
              <a:rPr lang="en-GB" sz="2800" b="1" dirty="0"/>
              <a:t>Edges: </a:t>
            </a:r>
            <a:r>
              <a:rPr lang="en-GB" sz="2800" dirty="0"/>
              <a:t>co-action relations between author pairs (e.g., co-mention, co-entity, co-topic). Represents </a:t>
            </a:r>
            <a:r>
              <a:rPr lang="en-US" sz="2800" b="1" dirty="0"/>
              <a:t>behavioral similar</a:t>
            </a:r>
            <a:r>
              <a:rPr lang="en-GB" sz="2800" b="1" dirty="0"/>
              <a:t>arty </a:t>
            </a:r>
            <a:r>
              <a:rPr lang="en-GB" sz="2800" dirty="0"/>
              <a:t>between the authors.</a:t>
            </a:r>
          </a:p>
          <a:p>
            <a:r>
              <a:rPr lang="en-GB" sz="2800" b="1" dirty="0"/>
              <a:t>Purpose</a:t>
            </a:r>
            <a:r>
              <a:rPr lang="en-GB" sz="2800" dirty="0"/>
              <a:t>: expose coordinated behaviour and structural signals for IO detection.</a:t>
            </a:r>
          </a:p>
          <a:p>
            <a:endParaRPr lang="en-GB" dirty="0"/>
          </a:p>
          <a:p>
            <a:endParaRPr lang="en-GB" dirty="0"/>
          </a:p>
          <a:p>
            <a:pPr marL="457200" lvl="1" indent="0">
              <a:buNone/>
            </a:pP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E3158-F388-D9C9-D303-42FD2F68D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6</a:t>
            </a:fld>
            <a:endParaRPr lang="he-IL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4F46E8E-95AB-4D82-04F7-80C932FEC2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062" b="10900"/>
          <a:stretch>
            <a:fillRect/>
          </a:stretch>
        </p:blipFill>
        <p:spPr bwMode="auto">
          <a:xfrm>
            <a:off x="1243087" y="4445296"/>
            <a:ext cx="9585434" cy="2123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1122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CB815-DA17-3CBD-4DA5-D200F3944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82981-4578-9DFA-9B78-6D536D89C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Backbone Graph &amp; IO Indicators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E614F-0CB2-16A5-EB4F-E10824EF2C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6814570" cy="4879976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IL" altLang="en-IL" sz="2800" dirty="0">
                <a:latin typeface="Arial" panose="020B0604020202020204" pitchFamily="34" charset="0"/>
              </a:rPr>
              <a:t>The graph represents behaviour similarity between users</a:t>
            </a:r>
            <a:r>
              <a:rPr lang="en-US" altLang="en-IL" sz="2800" dirty="0">
                <a:latin typeface="Arial" panose="020B0604020202020204" pitchFamily="34" charset="0"/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IL" altLang="en-IL" sz="2800" dirty="0">
                <a:latin typeface="Arial" panose="020B0604020202020204" pitchFamily="34" charset="0"/>
              </a:rPr>
              <a:t>IO drivers tend to be </a:t>
            </a:r>
            <a:r>
              <a:rPr lang="en-US" altLang="en-IL" sz="2800" dirty="0">
                <a:latin typeface="Arial" panose="020B0604020202020204" pitchFamily="34" charset="0"/>
              </a:rPr>
              <a:t>in </a:t>
            </a:r>
            <a:r>
              <a:rPr lang="en-GB" sz="2800" dirty="0"/>
              <a:t>Dense Communities.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IL" sz="2800" dirty="0">
                <a:latin typeface="Arial" panose="020B0604020202020204" pitchFamily="34" charset="0"/>
              </a:rPr>
              <a:t>F</a:t>
            </a:r>
            <a:r>
              <a:rPr lang="en-IL" altLang="en-IL" sz="2800" dirty="0">
                <a:latin typeface="Arial" panose="020B0604020202020204" pitchFamily="34" charset="0"/>
              </a:rPr>
              <a:t>or each user, </a:t>
            </a:r>
            <a:r>
              <a:rPr lang="en-US" altLang="en-IL" sz="2800" dirty="0">
                <a:latin typeface="Arial" panose="020B0604020202020204" pitchFamily="34" charset="0"/>
              </a:rPr>
              <a:t>w</a:t>
            </a:r>
            <a:r>
              <a:rPr lang="en-IL" altLang="en-IL" sz="2800" dirty="0">
                <a:latin typeface="Arial" panose="020B0604020202020204" pitchFamily="34" charset="0"/>
              </a:rPr>
              <a:t>e use </a:t>
            </a:r>
            <a:r>
              <a:rPr lang="en-US" altLang="en-IL" sz="2800" dirty="0">
                <a:latin typeface="Arial" panose="020B0604020202020204" pitchFamily="34" charset="0"/>
              </a:rPr>
              <a:t>graph-based </a:t>
            </a:r>
            <a:r>
              <a:rPr lang="en-IL" altLang="en-IL" sz="2800" dirty="0">
                <a:latin typeface="Arial" panose="020B0604020202020204" pitchFamily="34" charset="0"/>
              </a:rPr>
              <a:t>indicators to measure how embedded </a:t>
            </a:r>
            <a:r>
              <a:rPr lang="en-US" altLang="en-IL" sz="2800" dirty="0">
                <a:latin typeface="Arial" panose="020B0604020202020204" pitchFamily="34" charset="0"/>
              </a:rPr>
              <a:t>he\she</a:t>
            </a:r>
            <a:r>
              <a:rPr lang="en-IL" altLang="en-IL" sz="2800" dirty="0">
                <a:latin typeface="Arial" panose="020B0604020202020204" pitchFamily="34" charset="0"/>
              </a:rPr>
              <a:t> </a:t>
            </a:r>
            <a:r>
              <a:rPr lang="en-US" altLang="en-IL" sz="2800" dirty="0">
                <a:latin typeface="Arial" panose="020B0604020202020204" pitchFamily="34" charset="0"/>
              </a:rPr>
              <a:t>is</a:t>
            </a:r>
            <a:r>
              <a:rPr lang="en-IL" altLang="en-IL" sz="2800" dirty="0">
                <a:latin typeface="Arial" panose="020B0604020202020204" pitchFamily="34" charset="0"/>
              </a:rPr>
              <a:t> in the network</a:t>
            </a:r>
            <a:r>
              <a:rPr lang="en-US" altLang="en-IL" sz="2800" dirty="0">
                <a:latin typeface="Arial" panose="020B0604020202020204" pitchFamily="34" charset="0"/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IL" sz="2800" dirty="0">
                <a:latin typeface="Arial" panose="020B0604020202020204" pitchFamily="34" charset="0"/>
              </a:rPr>
              <a:t>Each user is described by vector of features.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5605A-34FF-F4E0-D05D-D1E5A6286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7</a:t>
            </a:fld>
            <a:endParaRPr lang="he-I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B7E417-6A10-8FF5-D4F4-A584AA7918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4388" y="1761247"/>
            <a:ext cx="4290432" cy="424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6198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26D25-36D7-61FB-800F-D666E5C3B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B8062A9-4019-21A8-C181-3F8265302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9914592" cy="2852737"/>
          </a:xfrm>
        </p:spPr>
        <p:txBody>
          <a:bodyPr/>
          <a:lstStyle/>
          <a:p>
            <a:r>
              <a:rPr lang="en-GB" dirty="0"/>
              <a:t>Coordinated Behaviour - Choosing Indicator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AD05960-A975-BAF2-22A6-3B1434A4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6E229-8963-0D55-F98F-4CC7A796E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9068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225D8-EDFA-0591-872A-E0075FF02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DED4E-07D6-5029-1267-13E254619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Indicators Analysis – Information Gain  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F5E0B-95E2-EC2F-17CF-478A39DF1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9</a:t>
            </a:fld>
            <a:endParaRPr lang="he-I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694049-9AAF-FF1E-EB69-93619E1D8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721" y="1727200"/>
            <a:ext cx="8753475" cy="42754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88E7DED-7C45-6E37-6290-93FB4487F981}"/>
              </a:ext>
            </a:extLst>
          </p:cNvPr>
          <p:cNvSpPr txBox="1"/>
          <p:nvPr/>
        </p:nvSpPr>
        <p:spPr>
          <a:xfrm>
            <a:off x="1490383" y="6141483"/>
            <a:ext cx="6261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L" dirty="0">
                <a:solidFill>
                  <a:schemeClr val="bg1">
                    <a:lumMod val="50000"/>
                  </a:schemeClr>
                </a:solidFill>
              </a:rPr>
              <a:t>Information Gain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is </a:t>
            </a:r>
            <a:r>
              <a:rPr lang="en-IL" dirty="0">
                <a:solidFill>
                  <a:schemeClr val="bg1">
                    <a:lumMod val="50000"/>
                  </a:schemeClr>
                </a:solidFill>
              </a:rPr>
              <a:t>used to measure how much knowledge one variable provides about another.</a:t>
            </a:r>
          </a:p>
        </p:txBody>
      </p:sp>
    </p:spTree>
    <p:extLst>
      <p:ext uri="{BB962C8B-B14F-4D97-AF65-F5344CB8AC3E}">
        <p14:creationId xmlns:p14="http://schemas.microsoft.com/office/powerpoint/2010/main" val="32154045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D6A4D-7568-BAE4-62D1-881293F2C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3C420-F8E3-F707-0927-1E9D7AECA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Indicators Analysis – SHAP 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2290A-7BF2-C0BD-9A9F-A26B3BAEB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10</a:t>
            </a:fld>
            <a:endParaRPr lang="he-IL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2B9DBD-9D06-F91D-D64B-D21C4568C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3480" y="2390643"/>
            <a:ext cx="5745224" cy="333090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DDFF08-7A2E-6395-8B4C-1B8FB250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473" y="2418354"/>
            <a:ext cx="5012537" cy="33031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97C5E1-5F57-35AD-F9CE-6328C30BB91A}"/>
              </a:ext>
            </a:extLst>
          </p:cNvPr>
          <p:cNvSpPr txBox="1"/>
          <p:nvPr/>
        </p:nvSpPr>
        <p:spPr>
          <a:xfrm>
            <a:off x="0" y="1729419"/>
            <a:ext cx="12180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SHAP analysis on </a:t>
            </a:r>
            <a:r>
              <a:rPr lang="en-US" dirty="0" err="1"/>
              <a:t>XGBoost</a:t>
            </a:r>
            <a:r>
              <a:rPr lang="en-US" dirty="0"/>
              <a:t> model</a:t>
            </a:r>
            <a:endParaRPr lang="en-IL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65D321-D39B-4DBC-6CB1-32D4550FBD1C}"/>
              </a:ext>
            </a:extLst>
          </p:cNvPr>
          <p:cNvSpPr txBox="1"/>
          <p:nvPr/>
        </p:nvSpPr>
        <p:spPr>
          <a:xfrm>
            <a:off x="1490383" y="6141483"/>
            <a:ext cx="6261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SHAP explains how much each feature contributes to a model’s prediction.</a:t>
            </a:r>
            <a:endParaRPr lang="en-IL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47516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886FA-D75D-B1C5-1F7F-3DABFBBA9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27740-856C-1F50-2CE0-9C9EB10B9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Indicators Analysis – Box Plots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BE0A4-B226-D34F-31D7-E7C7F3842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11</a:t>
            </a:fld>
            <a:endParaRPr lang="he-I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2BD76C-B5E7-A4FA-A547-8B412A840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94" y="1366591"/>
            <a:ext cx="10784541" cy="483764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885F0EE-6C47-639E-CC0B-89DA7C32CA54}"/>
              </a:ext>
            </a:extLst>
          </p:cNvPr>
          <p:cNvSpPr/>
          <p:nvPr/>
        </p:nvSpPr>
        <p:spPr>
          <a:xfrm>
            <a:off x="667266" y="3218329"/>
            <a:ext cx="2036917" cy="149710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97FDBF-A5FC-FDF5-3FD4-894FDF6407A7}"/>
              </a:ext>
            </a:extLst>
          </p:cNvPr>
          <p:cNvSpPr txBox="1"/>
          <p:nvPr/>
        </p:nvSpPr>
        <p:spPr>
          <a:xfrm>
            <a:off x="1490383" y="6204236"/>
            <a:ext cx="6261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A box plot is a method for demonstrating graphically the distribution of numerical data across different groups.</a:t>
            </a:r>
          </a:p>
        </p:txBody>
      </p:sp>
    </p:spTree>
    <p:extLst>
      <p:ext uri="{BB962C8B-B14F-4D97-AF65-F5344CB8AC3E}">
        <p14:creationId xmlns:p14="http://schemas.microsoft.com/office/powerpoint/2010/main" val="12392298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3FBAF-9B11-4A31-979E-53C65228B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AF9C8-65DB-4D85-01B3-0FBE36FCD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Indicators Analysis – CDF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2EB28-5D98-7FA1-AEEA-63F15D94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12</a:t>
            </a:fld>
            <a:endParaRPr lang="he-I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95B18C-D28C-E7BD-52F4-0DEE256A54AC}"/>
              </a:ext>
            </a:extLst>
          </p:cNvPr>
          <p:cNvSpPr txBox="1"/>
          <p:nvPr/>
        </p:nvSpPr>
        <p:spPr>
          <a:xfrm>
            <a:off x="1490383" y="6204236"/>
            <a:ext cx="72353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The Cumulative Distribution Function (CDF) show the probability that the variable will take a value less than or equal to a particular value in X-axis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.</a:t>
            </a:r>
            <a:endParaRPr lang="en-GB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42A1FB-A88F-D710-1D3E-5AA2F5113F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0263"/>
          <a:stretch>
            <a:fillRect/>
          </a:stretch>
        </p:blipFill>
        <p:spPr>
          <a:xfrm>
            <a:off x="588640" y="2290008"/>
            <a:ext cx="11014720" cy="273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296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93180-6AFB-C018-C45A-F85FFDD44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76748-B0A2-DB91-7163-06340529AC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What k-core measures: </a:t>
            </a:r>
          </a:p>
          <a:p>
            <a:pPr lvl="1"/>
            <a:r>
              <a:rPr lang="en-GB" sz="2400" dirty="0"/>
              <a:t>A k-core is a maximal subgraph that contains nodes of degree k or more. The core number of a node is the largest value k of a k-core containing that node.(</a:t>
            </a:r>
            <a:r>
              <a:rPr lang="en-GB" sz="2400" dirty="0" err="1"/>
              <a:t>NetworkX</a:t>
            </a:r>
            <a:r>
              <a:rPr lang="en-GB" sz="2400" dirty="0"/>
              <a:t> documentation).</a:t>
            </a:r>
          </a:p>
          <a:p>
            <a:pPr lvl="1"/>
            <a:r>
              <a:rPr lang="en-GB" sz="2400" dirty="0"/>
              <a:t>How deeply a user is embedded inside the dense community in the graph.</a:t>
            </a:r>
          </a:p>
          <a:p>
            <a:pPr lvl="1"/>
            <a:r>
              <a:rPr lang="en-GB" sz="2400" dirty="0"/>
              <a:t>Higher core number → node belongs to tightly connected, cohesive groups.</a:t>
            </a:r>
          </a:p>
          <a:p>
            <a:pPr marL="457200" lvl="1" indent="0">
              <a:buNone/>
            </a:pPr>
            <a:endParaRPr lang="en-GB" sz="2400" dirty="0"/>
          </a:p>
          <a:p>
            <a:r>
              <a:rPr lang="en-GB" b="1" dirty="0"/>
              <a:t>Why it matters for IO detection:</a:t>
            </a:r>
          </a:p>
          <a:p>
            <a:pPr lvl="1"/>
            <a:r>
              <a:rPr lang="en-GB" sz="2400" dirty="0"/>
              <a:t>IO drivers don’t just connect , they </a:t>
            </a:r>
            <a:r>
              <a:rPr lang="en-GB" sz="2400" b="1" dirty="0"/>
              <a:t>coordinate. </a:t>
            </a:r>
            <a:r>
              <a:rPr lang="en-GB" sz="2400" dirty="0"/>
              <a:t>In a behaviour similarity graph, this coordination places them inside dense, highly connected community. </a:t>
            </a:r>
          </a:p>
          <a:p>
            <a:pPr lvl="1"/>
            <a:r>
              <a:rPr lang="en-GB" sz="2400" dirty="0"/>
              <a:t>Being in such community is what core number measures</a:t>
            </a:r>
            <a:r>
              <a:rPr lang="en-GB" sz="2400" b="1" dirty="0"/>
              <a:t>.</a:t>
            </a:r>
            <a:endParaRPr lang="en-GB" sz="2400" dirty="0"/>
          </a:p>
          <a:p>
            <a:endParaRPr lang="en-US" dirty="0"/>
          </a:p>
          <a:p>
            <a:pPr marL="0" indent="0" algn="ctr">
              <a:buNone/>
            </a:pPr>
            <a:r>
              <a:rPr lang="en-GB" dirty="0">
                <a:highlight>
                  <a:srgbClr val="FFFF00"/>
                </a:highlight>
              </a:rPr>
              <a:t>Coordinated actors → Placed inside dense community → High k-core</a:t>
            </a:r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37FBE6-83DC-F0C7-45B9-872DEC2AB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050495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1E3BC-962E-008E-4A26-C2135A4B2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3E1A7-B397-F9BA-7ECB-4DA1358CD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1681F-8D0E-063B-E5F8-8C7C1145E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14</a:t>
            </a:fld>
            <a:endParaRPr lang="he-IL"/>
          </a:p>
        </p:txBody>
      </p:sp>
      <p:pic>
        <p:nvPicPr>
          <p:cNvPr id="3" name="Picture 2" descr="k-Core of a graph">
            <a:extLst>
              <a:ext uri="{FF2B5EF4-FFF2-40B4-BE49-F238E27FC236}">
                <a16:creationId xmlns:a16="http://schemas.microsoft.com/office/drawing/2014/main" id="{3160D834-E7C4-9080-3DC5-CB154A8A5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283" y="1867838"/>
            <a:ext cx="10174718" cy="4107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8272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8F0AD-F0C5-33E1-2562-E17372409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7228204-ECF2-DC6D-4B49-8B710236D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9914592" cy="2852737"/>
          </a:xfrm>
        </p:spPr>
        <p:txBody>
          <a:bodyPr/>
          <a:lstStyle/>
          <a:p>
            <a:r>
              <a:rPr lang="en-GB" dirty="0"/>
              <a:t>Hypotheses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461B499-7E32-6FA8-41C1-75B7AB1B4C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562520-A245-8DA6-3976-FEA7FF5F0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563195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79D37-FDD0-4FDB-22AF-A9CB59A31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81F63-385C-16D4-F4A0-C52A181A2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Hypotheses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9C492-8B5E-7A0D-6094-43A9659C76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r>
              <a:rPr lang="en-GB" b="1" dirty="0"/>
              <a:t>H1 (Dense Community Hypothesis):</a:t>
            </a:r>
          </a:p>
          <a:p>
            <a:pPr lvl="1"/>
            <a:r>
              <a:rPr lang="en-GB" sz="1800" dirty="0"/>
              <a:t>IO drivers are more likely to appear in densely connected regions of the co-action graph.</a:t>
            </a:r>
          </a:p>
          <a:p>
            <a:pPr lvl="1"/>
            <a:r>
              <a:rPr lang="en-GB" sz="1800" dirty="0"/>
              <a:t>Evaluation: Compare IO driver probability across core-number values.</a:t>
            </a:r>
          </a:p>
          <a:p>
            <a:pPr lvl="1"/>
            <a:r>
              <a:rPr lang="en-GB" sz="1800" dirty="0"/>
              <a:t>Statistical test: Binomial Logistic Regression (Wald test on coefficient).</a:t>
            </a:r>
          </a:p>
          <a:p>
            <a:pPr lvl="2"/>
            <a:r>
              <a:rPr lang="en-GB" sz="1600" dirty="0"/>
              <a:t>Dependent variable: IO status (categorical, 0/1).</a:t>
            </a:r>
          </a:p>
          <a:p>
            <a:pPr lvl="2"/>
            <a:r>
              <a:rPr lang="en-GB" sz="1600" dirty="0"/>
              <a:t>Independent variable:  k-core values (numeric, discrete non-negative).</a:t>
            </a:r>
          </a:p>
          <a:p>
            <a:pPr marL="914400" lvl="2" indent="0">
              <a:buNone/>
            </a:pPr>
            <a:endParaRPr lang="en-GB" sz="1600" dirty="0"/>
          </a:p>
          <a:p>
            <a:r>
              <a:rPr lang="en-GB" b="1" dirty="0"/>
              <a:t>H2 (Community Heterogeneity Hypothesis):</a:t>
            </a:r>
          </a:p>
          <a:p>
            <a:pPr lvl="1"/>
            <a:r>
              <a:rPr lang="en-GB" sz="1800" dirty="0"/>
              <a:t>IO drivers are non-uniformly distributed across communities in the co-action graph.</a:t>
            </a:r>
          </a:p>
          <a:p>
            <a:pPr lvl="1"/>
            <a:r>
              <a:rPr lang="en-GB" sz="1800" dirty="0"/>
              <a:t>Evaluation: Compare IO driver probability across different communities.  Communities partition by authors’ top topic using the key score.</a:t>
            </a:r>
          </a:p>
          <a:p>
            <a:pPr lvl="1"/>
            <a:r>
              <a:rPr lang="en-GB" sz="1800" dirty="0"/>
              <a:t>Statistical test: permutation-based chi-square test of homogeneity.</a:t>
            </a:r>
          </a:p>
          <a:p>
            <a:pPr lvl="2"/>
            <a:r>
              <a:rPr lang="en-GB" sz="1600" dirty="0"/>
              <a:t>Dependent variable: IO status (categorical, 0/1).</a:t>
            </a:r>
          </a:p>
          <a:p>
            <a:pPr lvl="2"/>
            <a:r>
              <a:rPr lang="en-GB" sz="1600" dirty="0"/>
              <a:t>Independent variable: community membership (categorical).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C1904-85A5-17A9-D76F-1D73D9BDA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140945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18447-0015-D6D2-C229-D211C270F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F829A-4CDE-DD43-6803-D86C1C992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H1 (Dense Community Hypothesis)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A1276-3E86-0A50-539A-805A6ACFD9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r>
              <a:rPr lang="en-GB" b="1" dirty="0"/>
              <a:t>H1 (Dense Community Hypothesis):</a:t>
            </a:r>
          </a:p>
          <a:p>
            <a:pPr lvl="1"/>
            <a:r>
              <a:rPr lang="en-GB" sz="1800" dirty="0"/>
              <a:t>IO drivers are more likely to appear in densely connected regions of the co-action graph.</a:t>
            </a:r>
          </a:p>
          <a:p>
            <a:pPr lvl="1"/>
            <a:r>
              <a:rPr lang="en-GB" sz="1800" dirty="0"/>
              <a:t>Evaluation: Compare IO driver probability across core-number values.</a:t>
            </a:r>
          </a:p>
          <a:p>
            <a:pPr lvl="1"/>
            <a:r>
              <a:rPr lang="en-GB" sz="1800" dirty="0"/>
              <a:t>Statistical test: Binomial Logistic Regression (Wald test on coefficient).</a:t>
            </a:r>
          </a:p>
          <a:p>
            <a:pPr lvl="2"/>
            <a:r>
              <a:rPr lang="en-GB" sz="1600" dirty="0"/>
              <a:t>Dependent variable: IO status (categorical, 0/1).</a:t>
            </a:r>
          </a:p>
          <a:p>
            <a:pPr lvl="2"/>
            <a:r>
              <a:rPr lang="en-GB" sz="1600" dirty="0"/>
              <a:t>Independent variable:  nodes’ core-number values (numeric, discrete non-negative).</a:t>
            </a:r>
          </a:p>
          <a:p>
            <a:pPr marL="914400" lvl="2" indent="0">
              <a:buNone/>
            </a:pPr>
            <a:endParaRPr lang="en-GB" sz="2000" dirty="0"/>
          </a:p>
          <a:p>
            <a:r>
              <a:rPr lang="en-GB" sz="2000" dirty="0"/>
              <a:t>H1 (Embedding Hypothesis) tests whether users who are more deeply embedded in dense regions of the co-action graph are more likely to be IO drivers. </a:t>
            </a:r>
          </a:p>
          <a:p>
            <a:r>
              <a:rPr lang="en-GB" sz="2000" dirty="0"/>
              <a:t>The intuition is that IO actors often rely on repeated coordination and mutual amplification, which necessarily</a:t>
            </a:r>
            <a:r>
              <a:rPr lang="he-IL" sz="2000" dirty="0"/>
              <a:t> </a:t>
            </a:r>
            <a:r>
              <a:rPr lang="en-GB" sz="2000" dirty="0"/>
              <a:t>places them inside tightly connected groups rather than at the network’s periphery.</a:t>
            </a:r>
          </a:p>
          <a:p>
            <a:pPr marL="0" indent="0">
              <a:buNone/>
            </a:pPr>
            <a:endParaRPr lang="en-GB" sz="2000" b="1" dirty="0"/>
          </a:p>
          <a:p>
            <a:pPr lvl="2"/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2DE9CA-C86F-BA6D-A5C2-2D13844B6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363080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AB34D-2D7A-F556-495E-0CBC96104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1AEA69D-040E-DE12-FF0B-4330D7D19F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377" y="2061292"/>
            <a:ext cx="5826623" cy="27354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E1F8EA2-71D6-580F-81B8-0F2F2C7F43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6073" y="2114567"/>
            <a:ext cx="5599670" cy="26288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A8FD990-DDE6-CBC9-B3A6-00D4121DA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H1 (Dense Community Hypothesis)</a:t>
            </a:r>
            <a:br>
              <a:rPr lang="en-GB" dirty="0"/>
            </a:br>
            <a:r>
              <a:rPr lang="en-GB" sz="2400" dirty="0"/>
              <a:t>group mode: smaller</a:t>
            </a:r>
            <a:endParaRPr lang="en-IL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5D22E-3792-2DD2-21B2-D8ADB8E102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000" b="1" dirty="0"/>
          </a:p>
          <a:p>
            <a:pPr lvl="2"/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6BD006-7CBF-5F23-2244-43E7DEA5E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18</a:t>
            </a:fld>
            <a:endParaRPr lang="he-I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8F8192-2756-715E-FCCA-8DD01E5AA434}"/>
              </a:ext>
            </a:extLst>
          </p:cNvPr>
          <p:cNvSpPr txBox="1"/>
          <p:nvPr/>
        </p:nvSpPr>
        <p:spPr>
          <a:xfrm>
            <a:off x="1527433" y="5217459"/>
            <a:ext cx="7073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Group mode: smaller</a:t>
            </a:r>
            <a:r>
              <a:rPr lang="en-GB" dirty="0"/>
              <a:t> - each point represents authors whose indicator value is </a:t>
            </a:r>
            <a:r>
              <a:rPr lang="en-GB" b="1" dirty="0"/>
              <a:t>less than</a:t>
            </a:r>
            <a:r>
              <a:rPr lang="en-GB" dirty="0"/>
              <a:t> the x-axis value.</a:t>
            </a:r>
            <a:endParaRPr lang="en-I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A45B88-BBA4-ED58-4469-C910CCAA9BA6}"/>
              </a:ext>
            </a:extLst>
          </p:cNvPr>
          <p:cNvSpPr txBox="1"/>
          <p:nvPr/>
        </p:nvSpPr>
        <p:spPr>
          <a:xfrm>
            <a:off x="5234722" y="1639613"/>
            <a:ext cx="2214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Ecuador </a:t>
            </a:r>
            <a:r>
              <a:rPr lang="en-GB" dirty="0"/>
              <a:t>Campaigns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9533639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76A3C-FA4E-8A3B-4630-F74A2E6B0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FA72677-3325-6398-7663-469EB22FC1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377" y="2061291"/>
            <a:ext cx="5826623" cy="26821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F6DC0B2-A5D7-A044-A129-CDA32CD954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6072" y="2114566"/>
            <a:ext cx="5502631" cy="26288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7DF0BD-08C1-10F8-3D4C-43FAC8A35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H1 (Dense Community Hypothesis)</a:t>
            </a:r>
            <a:br>
              <a:rPr lang="en-GB" dirty="0"/>
            </a:br>
            <a:r>
              <a:rPr lang="en-GB" sz="2400" dirty="0"/>
              <a:t>group mode: larger</a:t>
            </a:r>
            <a:endParaRPr lang="en-IL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196902-EE53-15E0-7276-84B91C2D6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000" b="1" dirty="0"/>
          </a:p>
          <a:p>
            <a:pPr lvl="2"/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54786-E567-7FB2-3611-0BF711213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19</a:t>
            </a:fld>
            <a:endParaRPr lang="he-I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70AEB7-A966-0EF2-9024-9D5E45B5C74D}"/>
              </a:ext>
            </a:extLst>
          </p:cNvPr>
          <p:cNvSpPr txBox="1"/>
          <p:nvPr/>
        </p:nvSpPr>
        <p:spPr>
          <a:xfrm>
            <a:off x="1527433" y="5217459"/>
            <a:ext cx="7073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Group mode: larger</a:t>
            </a:r>
            <a:r>
              <a:rPr lang="en-GB" dirty="0"/>
              <a:t> - each point represents authors whose indicator value is </a:t>
            </a:r>
            <a:r>
              <a:rPr lang="en-GB" b="1" dirty="0"/>
              <a:t>greater than</a:t>
            </a:r>
            <a:r>
              <a:rPr lang="en-GB" dirty="0"/>
              <a:t> the x-axis value.</a:t>
            </a:r>
            <a:endParaRPr lang="en-I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0E996F-E3AA-95C2-9F95-422FEB9EECC5}"/>
              </a:ext>
            </a:extLst>
          </p:cNvPr>
          <p:cNvSpPr txBox="1"/>
          <p:nvPr/>
        </p:nvSpPr>
        <p:spPr>
          <a:xfrm>
            <a:off x="5234722" y="1639613"/>
            <a:ext cx="2214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Ecuador </a:t>
            </a:r>
            <a:r>
              <a:rPr lang="en-GB" dirty="0"/>
              <a:t>Campaigns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6969298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7CF90-7B3A-775B-2776-0CAB7962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E111C-2932-64BE-E9B6-61A8C23DF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H1 (Dense Community Hypothesis)</a:t>
            </a:r>
            <a:endParaRPr lang="en-I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CF4D89-8A67-D062-EBBF-D4F074BB9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933" y="1725312"/>
            <a:ext cx="5341739" cy="26023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902111-6A7F-86D4-745C-8BEF6E3D0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6964" y="1725311"/>
            <a:ext cx="5341739" cy="260238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7708B-BBF5-B023-9E60-48D8195BE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000" b="1" dirty="0"/>
          </a:p>
          <a:p>
            <a:pPr lvl="2"/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05FAD-2A0B-E49B-2DDF-1D7EC792A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20</a:t>
            </a:fld>
            <a:endParaRPr lang="he-IL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2664B2-B8A2-28AB-6C23-33AD907AE8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3366" y="4327698"/>
            <a:ext cx="4891351" cy="243230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F15FE9DF-CB6E-AF2A-8056-A91278FA84AA}"/>
              </a:ext>
            </a:extLst>
          </p:cNvPr>
          <p:cNvSpPr/>
          <p:nvPr/>
        </p:nvSpPr>
        <p:spPr>
          <a:xfrm>
            <a:off x="6899024" y="6456649"/>
            <a:ext cx="408562" cy="1307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08A51A-3852-434B-8630-2873F7249398}"/>
              </a:ext>
            </a:extLst>
          </p:cNvPr>
          <p:cNvSpPr/>
          <p:nvPr/>
        </p:nvSpPr>
        <p:spPr>
          <a:xfrm>
            <a:off x="4952834" y="6463135"/>
            <a:ext cx="408562" cy="1307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BD590EB-1027-6A6B-5879-1EF12319137B}"/>
              </a:ext>
            </a:extLst>
          </p:cNvPr>
          <p:cNvSpPr txBox="1"/>
          <p:nvPr/>
        </p:nvSpPr>
        <p:spPr>
          <a:xfrm>
            <a:off x="1614792" y="5233460"/>
            <a:ext cx="20914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Using binomial logistic regression with a Wald test on the coefficient</a:t>
            </a:r>
            <a:endParaRPr lang="en-I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75DE13-12C6-7928-ACF6-3FB80EAFF854}"/>
              </a:ext>
            </a:extLst>
          </p:cNvPr>
          <p:cNvSpPr txBox="1"/>
          <p:nvPr/>
        </p:nvSpPr>
        <p:spPr>
          <a:xfrm>
            <a:off x="5157115" y="1456291"/>
            <a:ext cx="2214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Ecuador </a:t>
            </a:r>
            <a:r>
              <a:rPr lang="en-GB" dirty="0"/>
              <a:t>Campaigns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934559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E3709-FABF-B0F9-3892-EB8FC37CD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47F10-B6D3-30EC-51D8-F32B3F779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H2 (Community Heterogeneity)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5EDBB-C29A-FC8C-903C-5AE8C381E2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r>
              <a:rPr lang="en-GB" sz="2100" b="1" dirty="0"/>
              <a:t>H2 (Community Heterogeneity Hypothesis):</a:t>
            </a:r>
          </a:p>
          <a:p>
            <a:pPr lvl="1"/>
            <a:r>
              <a:rPr lang="en-GB" dirty="0"/>
              <a:t>IO drivers are non-uniformly distributed across communities in the co-action graph.</a:t>
            </a:r>
          </a:p>
          <a:p>
            <a:pPr lvl="1"/>
            <a:r>
              <a:rPr lang="en-GB" dirty="0"/>
              <a:t>Evaluation: Compare IO driver probability across different communities. Communities partition by authors’ top topic and by Louvain algorithm .</a:t>
            </a:r>
          </a:p>
          <a:p>
            <a:pPr lvl="1"/>
            <a:r>
              <a:rPr lang="en-GB" dirty="0"/>
              <a:t>Statistical test: permutation-based chi-square test of homogeneity.</a:t>
            </a:r>
          </a:p>
          <a:p>
            <a:pPr lvl="2"/>
            <a:r>
              <a:rPr lang="en-GB" sz="2000" dirty="0"/>
              <a:t>Dependent variable: IO status (categorical, 0/1).</a:t>
            </a:r>
          </a:p>
          <a:p>
            <a:pPr lvl="2"/>
            <a:r>
              <a:rPr lang="en-GB" sz="2000" dirty="0"/>
              <a:t>Independent variable: community membership (categorical).</a:t>
            </a:r>
          </a:p>
          <a:p>
            <a:pPr marL="914400" lvl="2" indent="0">
              <a:buNone/>
            </a:pPr>
            <a:endParaRPr lang="en-GB" sz="2000" dirty="0"/>
          </a:p>
          <a:p>
            <a:r>
              <a:rPr lang="en-GB" sz="2000" dirty="0"/>
              <a:t>H2 (Community Heterogeneity Hypothesis) tests whether IO drivers are concentrated in specific communities\topics rather than being evenly spread across the co-action graph. </a:t>
            </a:r>
          </a:p>
          <a:p>
            <a:r>
              <a:rPr lang="en-GB" sz="2000" dirty="0"/>
              <a:t>The intuition is that </a:t>
            </a:r>
            <a:r>
              <a:rPr lang="en-GB" sz="2000" b="1" dirty="0"/>
              <a:t>IO actors often act around shared narratives</a:t>
            </a:r>
            <a:r>
              <a:rPr lang="en-GB" sz="2000" dirty="0"/>
              <a:t>, goals, or audiences, which leads them to cluster in particular communities. If this is true, some communities should show a higher probability of containing IO drivers than others. </a:t>
            </a:r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2690F6-6F08-6103-BCF9-9CF22A67B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605118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0BF4E-7108-2323-50B9-B299E0F79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040EF-88BE-45CB-04B1-0479D4417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H2 (Community Heterogeneity)</a:t>
            </a:r>
            <a:br>
              <a:rPr lang="en-GB" dirty="0"/>
            </a:br>
            <a:r>
              <a:rPr lang="en-GB" sz="2400" dirty="0"/>
              <a:t>top topic</a:t>
            </a:r>
            <a:endParaRPr lang="en-IL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07EAC1-12A2-0982-3EFA-E5D8BC965C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000" b="1" dirty="0"/>
          </a:p>
          <a:p>
            <a:pPr lvl="2"/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3CE5B4-38A1-B871-8C13-662C345428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933" y="1727200"/>
            <a:ext cx="5466054" cy="26629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FEC5E4-C022-86B2-13A0-80B177296A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6965" y="1825624"/>
            <a:ext cx="5573473" cy="24974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4018E8D-D283-E350-F4BD-8F2BE1A6CB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8373" y="4476103"/>
            <a:ext cx="5857184" cy="235367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FDCC65-5708-5FCD-DD0E-5B5FD87B2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22</a:t>
            </a:fld>
            <a:endParaRPr lang="he-IL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AE9223-F5FB-C5EE-02F4-57334A7306EC}"/>
              </a:ext>
            </a:extLst>
          </p:cNvPr>
          <p:cNvSpPr/>
          <p:nvPr/>
        </p:nvSpPr>
        <p:spPr>
          <a:xfrm>
            <a:off x="1120588" y="4033222"/>
            <a:ext cx="4688541" cy="1264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494D57-CEF3-F549-B464-37BE5BB30D8F}"/>
              </a:ext>
            </a:extLst>
          </p:cNvPr>
          <p:cNvSpPr/>
          <p:nvPr/>
        </p:nvSpPr>
        <p:spPr>
          <a:xfrm>
            <a:off x="7040163" y="3970021"/>
            <a:ext cx="4688541" cy="1264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75EC38-E44B-FF4F-E1BB-5DB742F1C19B}"/>
              </a:ext>
            </a:extLst>
          </p:cNvPr>
          <p:cNvSpPr txBox="1"/>
          <p:nvPr/>
        </p:nvSpPr>
        <p:spPr>
          <a:xfrm>
            <a:off x="5234722" y="1639613"/>
            <a:ext cx="2214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Ecuador </a:t>
            </a:r>
            <a:r>
              <a:rPr lang="en-GB" dirty="0"/>
              <a:t>Campaigns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2914059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327A6-4C1E-849F-AB71-C93216368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6FE43E6-846E-68E9-940A-E0CB32A3D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9914592" cy="2852737"/>
          </a:xfrm>
        </p:spPr>
        <p:txBody>
          <a:bodyPr/>
          <a:lstStyle/>
          <a:p>
            <a:r>
              <a:rPr lang="en-GB" dirty="0"/>
              <a:t>Choosing System Configuration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ACAB681-A9A7-5A90-DF29-6F2A3ED205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88C4E-853C-EB37-9539-77ACFE69E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5424901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FE93D-38D9-002B-94F2-E364104BA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E3F19-8076-0BAE-85F2-D7E0AF3CD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Hyper-Parameter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C4C69-AEC0-7D9E-04AD-2DD81D994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599481"/>
            <a:ext cx="6701378" cy="4879976"/>
          </a:xfrm>
        </p:spPr>
        <p:txBody>
          <a:bodyPr>
            <a:normAutofit lnSpcReduction="10000"/>
          </a:bodyPr>
          <a:lstStyle/>
          <a:p>
            <a:r>
              <a:rPr lang="en-GB" dirty="0"/>
              <a:t>Runs the same pipeline across multiple configurations:</a:t>
            </a:r>
          </a:p>
          <a:p>
            <a:pPr lvl="1"/>
            <a:r>
              <a:rPr lang="en-GB" dirty="0"/>
              <a:t>Topic column (model + model’s parameter)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Top percentage (the percentage of getting the key and boost authors by relevant the score)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Key authors mode (per-topic / global)</a:t>
            </a:r>
          </a:p>
          <a:p>
            <a:pPr lvl="2">
              <a:buFont typeface="Wingdings" panose="05000000000000000000" pitchFamily="2" charset="2"/>
              <a:buChar char="v"/>
            </a:pPr>
            <a:r>
              <a:rPr lang="en-GB" dirty="0"/>
              <a:t>Note: In per-topic mode, overlap between topics may result selecting more than X% of global authors.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Graph type: undirected</a:t>
            </a:r>
          </a:p>
          <a:p>
            <a:r>
              <a:rPr lang="en-GB" dirty="0"/>
              <a:t>For each configuration:</a:t>
            </a:r>
          </a:p>
          <a:p>
            <a:pPr lvl="1"/>
            <a:r>
              <a:rPr lang="en-GB" dirty="0"/>
              <a:t>Train models: Random Forest, </a:t>
            </a:r>
            <a:r>
              <a:rPr lang="en-GB" dirty="0" err="1"/>
              <a:t>XGBoost</a:t>
            </a:r>
            <a:r>
              <a:rPr lang="en-GB" dirty="0"/>
              <a:t>, Logistic Regression </a:t>
            </a:r>
          </a:p>
          <a:p>
            <a:pPr lvl="1"/>
            <a:r>
              <a:rPr lang="en-GB" dirty="0"/>
              <a:t>Report model </a:t>
            </a:r>
            <a:r>
              <a:rPr lang="en-GB" dirty="0" err="1"/>
              <a:t>auc</a:t>
            </a:r>
            <a:r>
              <a:rPr lang="en-GB" dirty="0"/>
              <a:t> and best AUC.</a:t>
            </a:r>
          </a:p>
          <a:p>
            <a:r>
              <a:rPr lang="en-GB" dirty="0"/>
              <a:t>AUC is evaluated on all accounts, with non-key authors represented by zero-filled features.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95ED08-9E13-07D7-A863-5769EC08F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24</a:t>
            </a:fld>
            <a:endParaRPr lang="he-IL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A27291C-E2B9-F697-75B6-15DAA17224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847" b="17427"/>
          <a:stretch>
            <a:fillRect/>
          </a:stretch>
        </p:blipFill>
        <p:spPr bwMode="auto">
          <a:xfrm>
            <a:off x="7944465" y="1784350"/>
            <a:ext cx="3739018" cy="4337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CB23BE1-EA7F-FC4F-0F68-099689985FBE}"/>
              </a:ext>
            </a:extLst>
          </p:cNvPr>
          <p:cNvSpPr txBox="1"/>
          <p:nvPr/>
        </p:nvSpPr>
        <p:spPr>
          <a:xfrm>
            <a:off x="10348119" y="1838324"/>
            <a:ext cx="13353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(configuration)</a:t>
            </a:r>
            <a:endParaRPr lang="en-IL" sz="1400" dirty="0"/>
          </a:p>
        </p:txBody>
      </p:sp>
    </p:spTree>
    <p:extLst>
      <p:ext uri="{BB962C8B-B14F-4D97-AF65-F5344CB8AC3E}">
        <p14:creationId xmlns:p14="http://schemas.microsoft.com/office/powerpoint/2010/main" val="37820009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0B7EA-2EF3-D3BD-B14C-51D287813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0DF4C-7F31-AD30-415C-5E89437E7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Sweep AUC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2ED2C-272A-72FB-DC60-86CF323A7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25</a:t>
            </a:fld>
            <a:endParaRPr lang="he-I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302E94-EC5C-6B79-D177-461BAF1151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6139"/>
          <a:stretch>
            <a:fillRect/>
          </a:stretch>
        </p:blipFill>
        <p:spPr>
          <a:xfrm>
            <a:off x="2824658" y="1469204"/>
            <a:ext cx="6222065" cy="50641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B11BAEE-8A5E-89B3-73C8-F78F5D8536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905" b="47178"/>
          <a:stretch>
            <a:fillRect/>
          </a:stretch>
        </p:blipFill>
        <p:spPr>
          <a:xfrm>
            <a:off x="9096228" y="1679705"/>
            <a:ext cx="1194205" cy="267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1377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74D0C-6CD6-808F-E4E8-A28B273B3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3B16EAC-B8F8-7A14-BDEB-F58F0A7F7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10701388" cy="2852737"/>
          </a:xfrm>
        </p:spPr>
        <p:txBody>
          <a:bodyPr/>
          <a:lstStyle/>
          <a:p>
            <a:r>
              <a:rPr lang="en-GB" dirty="0"/>
              <a:t>Data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E4C2AF8-7132-5B8B-C8CC-6D2002FDDF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B8275-863E-14FC-877A-698744089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544881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C79A7-305F-94A8-D7C0-6F1B310D2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C3DF54D3-95AD-FB1D-399F-66D21CF64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9" r="74883" b="5951"/>
          <a:stretch>
            <a:fillRect/>
          </a:stretch>
        </p:blipFill>
        <p:spPr>
          <a:xfrm>
            <a:off x="4666577" y="1411164"/>
            <a:ext cx="2425816" cy="512269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AB0785-CB32-86E5-9537-8877BB032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Schema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84B8F0-8D22-D762-516E-5C322DD8C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27</a:t>
            </a:fld>
            <a:endParaRPr lang="he-IL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FE1656-B378-A18C-9A52-DDECEF7BE08E}"/>
              </a:ext>
            </a:extLst>
          </p:cNvPr>
          <p:cNvSpPr/>
          <p:nvPr/>
        </p:nvSpPr>
        <p:spPr>
          <a:xfrm>
            <a:off x="4666577" y="1971295"/>
            <a:ext cx="2506486" cy="2571856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10ABFC-90D4-813F-036B-4A6DE16C7151}"/>
              </a:ext>
            </a:extLst>
          </p:cNvPr>
          <p:cNvSpPr/>
          <p:nvPr/>
        </p:nvSpPr>
        <p:spPr>
          <a:xfrm>
            <a:off x="4666577" y="4788883"/>
            <a:ext cx="2506486" cy="174497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F61F64-8A29-85EC-13E0-02F91A4F5367}"/>
              </a:ext>
            </a:extLst>
          </p:cNvPr>
          <p:cNvSpPr txBox="1"/>
          <p:nvPr/>
        </p:nvSpPr>
        <p:spPr>
          <a:xfrm>
            <a:off x="2828241" y="5661372"/>
            <a:ext cx="1516380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BGU OUTPUT</a:t>
            </a:r>
            <a:endParaRPr lang="en-IL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0B68BE-E5A0-8952-6221-6DC069BB8078}"/>
              </a:ext>
            </a:extLst>
          </p:cNvPr>
          <p:cNvSpPr txBox="1"/>
          <p:nvPr/>
        </p:nvSpPr>
        <p:spPr>
          <a:xfrm>
            <a:off x="2828241" y="2977290"/>
            <a:ext cx="1516379" cy="369332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BGU INPUT</a:t>
            </a:r>
            <a:endParaRPr lang="en-IL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720186-D18A-C1BF-4021-FFC94FD031F0}"/>
              </a:ext>
            </a:extLst>
          </p:cNvPr>
          <p:cNvSpPr/>
          <p:nvPr/>
        </p:nvSpPr>
        <p:spPr>
          <a:xfrm>
            <a:off x="4666577" y="4587240"/>
            <a:ext cx="2506486" cy="152399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5E807B-23DD-FADB-5731-B33B9C53D945}"/>
              </a:ext>
            </a:extLst>
          </p:cNvPr>
          <p:cNvSpPr txBox="1"/>
          <p:nvPr/>
        </p:nvSpPr>
        <p:spPr>
          <a:xfrm>
            <a:off x="2828241" y="4458796"/>
            <a:ext cx="1516379" cy="369332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For Evaluation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0978922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51D72-4134-AB7E-1B0A-64CFD080E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5590" y="398183"/>
            <a:ext cx="8753475" cy="1325563"/>
          </a:xfrm>
        </p:spPr>
        <p:txBody>
          <a:bodyPr>
            <a:normAutofit/>
          </a:bodyPr>
          <a:lstStyle/>
          <a:p>
            <a:r>
              <a:rPr lang="en-US" dirty="0"/>
              <a:t>Datasets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544F5D-1213-B7D4-11B6-681FD5C86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28</a:t>
            </a:fld>
            <a:endParaRPr lang="he-I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DCB54C2-7A31-3765-2BD6-58614883B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8883133"/>
              </p:ext>
            </p:extLst>
          </p:nvPr>
        </p:nvGraphicFramePr>
        <p:xfrm>
          <a:off x="1296561" y="1594306"/>
          <a:ext cx="10601378" cy="4404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00689">
                  <a:extLst>
                    <a:ext uri="{9D8B030D-6E8A-4147-A177-3AD203B41FA5}">
                      <a16:colId xmlns:a16="http://schemas.microsoft.com/office/drawing/2014/main" val="2664862571"/>
                    </a:ext>
                  </a:extLst>
                </a:gridCol>
                <a:gridCol w="5300689">
                  <a:extLst>
                    <a:ext uri="{9D8B030D-6E8A-4147-A177-3AD203B41FA5}">
                      <a16:colId xmlns:a16="http://schemas.microsoft.com/office/drawing/2014/main" val="2429324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L" sz="2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Labeled </a:t>
                      </a:r>
                      <a:r>
                        <a:rPr 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IO Corpus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Collection of 26 information operation (IO).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Campaigns from multiple countries.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Fully labeled (IO vs. Control accounts).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hlinkClick r:id="rId3"/>
                        </a:rPr>
                        <a:t>https://zenodo.org/records/14189193</a:t>
                      </a:r>
                      <a:endParaRPr lang="en-US" sz="2000" b="0" dirty="0">
                        <a:solidFill>
                          <a:schemeClr val="tx1"/>
                        </a:solidFill>
                      </a:endParaRPr>
                    </a:p>
                    <a:p>
                      <a:pPr>
                        <a:lnSpc>
                          <a:spcPct val="150000"/>
                        </a:lnSpc>
                      </a:pPr>
                      <a:endParaRPr lang="en-US" b="1" u="sng" dirty="0">
                        <a:solidFill>
                          <a:schemeClr val="tx1"/>
                        </a:solidFill>
                      </a:endParaRP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000" b="1" u="none" dirty="0">
                          <a:solidFill>
                            <a:schemeClr val="tx1"/>
                          </a:solidFill>
                        </a:rPr>
                        <a:t>Ecuador Campaign Subset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787 IO accounts | 21,138 Control accounts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700K IO tweets | 770K Control tweets</a:t>
                      </a:r>
                      <a:endParaRPr lang="en-US" sz="20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39872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5155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14938</TotalTime>
  <Words>1381</Words>
  <Application>Microsoft Office PowerPoint</Application>
  <PresentationFormat>Widescreen</PresentationFormat>
  <Paragraphs>165</Paragraphs>
  <Slides>28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Arial</vt:lpstr>
      <vt:lpstr>Calibri</vt:lpstr>
      <vt:lpstr>Calibri Light</vt:lpstr>
      <vt:lpstr>Courier New</vt:lpstr>
      <vt:lpstr>Wingdings</vt:lpstr>
      <vt:lpstr>Office Theme</vt:lpstr>
      <vt:lpstr>Backbone Graph</vt:lpstr>
      <vt:lpstr>Terms &amp; Definitions - IO</vt:lpstr>
      <vt:lpstr>Terms &amp; Definitions - Key</vt:lpstr>
      <vt:lpstr>Project Core Concepts</vt:lpstr>
      <vt:lpstr>Coordinated Behaviour</vt:lpstr>
      <vt:lpstr>Co-Actions Graph </vt:lpstr>
      <vt:lpstr>Backbone Graph &amp; IO Indicators</vt:lpstr>
      <vt:lpstr>Coordinated Behaviour - Choosing Indicator</vt:lpstr>
      <vt:lpstr>Indicators Analysis – Information Gain  </vt:lpstr>
      <vt:lpstr>Indicators Analysis – SHAP </vt:lpstr>
      <vt:lpstr>Indicators Analysis – Box Plots</vt:lpstr>
      <vt:lpstr>Indicators Analysis – CDF</vt:lpstr>
      <vt:lpstr>Core Number</vt:lpstr>
      <vt:lpstr>Core Number</vt:lpstr>
      <vt:lpstr>Hypotheses</vt:lpstr>
      <vt:lpstr>Hypotheses</vt:lpstr>
      <vt:lpstr>H1 (Dense Community Hypothesis)</vt:lpstr>
      <vt:lpstr>H1 (Dense Community Hypothesis) group mode: smaller</vt:lpstr>
      <vt:lpstr>H1 (Dense Community Hypothesis) group mode: larger</vt:lpstr>
      <vt:lpstr>H1 (Dense Community Hypothesis)</vt:lpstr>
      <vt:lpstr>H2 (Community Heterogeneity)</vt:lpstr>
      <vt:lpstr>H2 (Community Heterogeneity) top topic</vt:lpstr>
      <vt:lpstr>Choosing System Configuration</vt:lpstr>
      <vt:lpstr>Hyper-Parameter Optimization</vt:lpstr>
      <vt:lpstr>Parameter Sweep AUC Analysis</vt:lpstr>
      <vt:lpstr>Data</vt:lpstr>
      <vt:lpstr>Schema</vt:lpstr>
      <vt:lpstr>Datasets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Edita Grolman</dc:creator>
  <cp:lastModifiedBy>Amit Ner Gaon</cp:lastModifiedBy>
  <cp:revision>485</cp:revision>
  <dcterms:created xsi:type="dcterms:W3CDTF">2021-05-04T15:24:24Z</dcterms:created>
  <dcterms:modified xsi:type="dcterms:W3CDTF">2026-05-10T12:54:39Z</dcterms:modified>
</cp:coreProperties>
</file>