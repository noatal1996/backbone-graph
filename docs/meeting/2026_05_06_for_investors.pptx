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1574" r:id="rId2"/>
    <p:sldId id="1577" r:id="rId3"/>
    <p:sldId id="1582" r:id="rId4"/>
    <p:sldId id="1581" r:id="rId5"/>
    <p:sldId id="1670" r:id="rId6"/>
    <p:sldId id="1591" r:id="rId7"/>
    <p:sldId id="1613" r:id="rId8"/>
    <p:sldId id="1649" r:id="rId9"/>
    <p:sldId id="1642" r:id="rId10"/>
    <p:sldId id="1652" r:id="rId11"/>
    <p:sldId id="1651" r:id="rId12"/>
    <p:sldId id="1628" r:id="rId13"/>
    <p:sldId id="1653" r:id="rId14"/>
    <p:sldId id="1678" r:id="rId15"/>
    <p:sldId id="1688" r:id="rId16"/>
    <p:sldId id="1686" r:id="rId17"/>
    <p:sldId id="1687" r:id="rId18"/>
    <p:sldId id="1681" r:id="rId19"/>
    <p:sldId id="1718" r:id="rId20"/>
    <p:sldId id="1694" r:id="rId21"/>
    <p:sldId id="1690" r:id="rId22"/>
    <p:sldId id="1717" r:id="rId23"/>
    <p:sldId id="1695" r:id="rId24"/>
    <p:sldId id="1696" r:id="rId25"/>
    <p:sldId id="1715" r:id="rId26"/>
    <p:sldId id="1716" r:id="rId27"/>
    <p:sldId id="1697" r:id="rId28"/>
    <p:sldId id="1698" r:id="rId29"/>
    <p:sldId id="1700" r:id="rId30"/>
    <p:sldId id="1673" r:id="rId31"/>
    <p:sldId id="1677" r:id="rId32"/>
    <p:sldId id="1655" r:id="rId33"/>
    <p:sldId id="1684" r:id="rId34"/>
    <p:sldId id="1720" r:id="rId35"/>
    <p:sldId id="1719" r:id="rId36"/>
    <p:sldId id="1596" r:id="rId37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77"/>
            <p14:sldId id="1582"/>
            <p14:sldId id="1581"/>
            <p14:sldId id="1670"/>
            <p14:sldId id="1591"/>
            <p14:sldId id="1613"/>
            <p14:sldId id="1649"/>
            <p14:sldId id="1642"/>
            <p14:sldId id="1652"/>
            <p14:sldId id="1651"/>
            <p14:sldId id="1628"/>
            <p14:sldId id="1653"/>
          </p14:sldIdLst>
        </p14:section>
        <p14:section name="Choosing Indicator" id="{41BA4D2E-EE9A-4912-AA84-C4B98F291FF6}">
          <p14:sldIdLst>
            <p14:sldId id="1678"/>
            <p14:sldId id="1688"/>
            <p14:sldId id="1686"/>
            <p14:sldId id="1687"/>
            <p14:sldId id="1681"/>
            <p14:sldId id="1718"/>
          </p14:sldIdLst>
        </p14:section>
        <p14:section name="Hypotheses" id="{DD1E1135-EFD8-4A85-AF51-780BF0DD8DE5}">
          <p14:sldIdLst>
            <p14:sldId id="1694"/>
            <p14:sldId id="1690"/>
            <p14:sldId id="1717"/>
            <p14:sldId id="1695"/>
            <p14:sldId id="1696"/>
            <p14:sldId id="1715"/>
            <p14:sldId id="1716"/>
            <p14:sldId id="1697"/>
            <p14:sldId id="1698"/>
            <p14:sldId id="1700"/>
          </p14:sldIdLst>
        </p14:section>
        <p14:section name="Choosing System Configuration" id="{C83692CF-8343-44C5-98F0-57602EFBDB9D}">
          <p14:sldIdLst>
            <p14:sldId id="1673"/>
            <p14:sldId id="1677"/>
            <p14:sldId id="1655"/>
            <p14:sldId id="1684"/>
          </p14:sldIdLst>
        </p14:section>
        <p14:section name="Data" id="{DB098AA4-3A76-49BC-B882-BA090BEB24C9}">
          <p14:sldIdLst>
            <p14:sldId id="1720"/>
            <p14:sldId id="1719"/>
            <p14:sldId id="15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120"/>
    <a:srgbClr val="FE0101"/>
    <a:srgbClr val="F58377"/>
    <a:srgbClr val="FF4343"/>
    <a:srgbClr val="548235"/>
    <a:srgbClr val="009DBB"/>
    <a:srgbClr val="0688BA"/>
    <a:srgbClr val="005488"/>
    <a:srgbClr val="006189"/>
    <a:srgbClr val="5D5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1ADD07-83FC-412A-AFCA-54ED7AB8BDE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20BF6AF-D097-451B-B004-3E4F0E0AEEB9}">
      <dgm:prSet/>
      <dgm:spPr/>
      <dgm:t>
        <a:bodyPr/>
        <a:lstStyle/>
        <a:p>
          <a:pPr rtl="0"/>
          <a:r>
            <a:rPr lang="en-GB" dirty="0"/>
            <a:t>Background: </a:t>
          </a:r>
        </a:p>
        <a:p>
          <a:pPr rtl="0"/>
          <a:r>
            <a:rPr lang="en-GB" dirty="0"/>
            <a:t>Successful information operation </a:t>
          </a:r>
          <a:r>
            <a:rPr lang="en-GB" b="0" dirty="0"/>
            <a:t>drivers</a:t>
          </a:r>
          <a:r>
            <a:rPr lang="en-GB" dirty="0"/>
            <a:t> </a:t>
          </a:r>
          <a:r>
            <a:rPr lang="en-GB" b="1" dirty="0"/>
            <a:t>lead topic-level discourse </a:t>
          </a:r>
          <a:r>
            <a:rPr lang="en-GB" dirty="0"/>
            <a:t>and act in </a:t>
          </a:r>
          <a:r>
            <a:rPr lang="en-GB" b="1" dirty="0"/>
            <a:t>coordination</a:t>
          </a:r>
          <a:r>
            <a:rPr lang="en-GB" dirty="0"/>
            <a:t> with other drivers. </a:t>
          </a:r>
          <a:endParaRPr lang="en-US" dirty="0"/>
        </a:p>
      </dgm:t>
    </dgm:pt>
    <dgm:pt modelId="{1B3DA8FE-615C-4CAD-AD1A-83C4D5C3B18E}" type="parTrans" cxnId="{C0F4BB65-B1A1-46FC-8E88-C5B7A3B5290C}">
      <dgm:prSet/>
      <dgm:spPr/>
      <dgm:t>
        <a:bodyPr/>
        <a:lstStyle/>
        <a:p>
          <a:endParaRPr lang="en-US"/>
        </a:p>
      </dgm:t>
    </dgm:pt>
    <dgm:pt modelId="{F3538FF5-C72C-4C84-89BC-6ECE192FF4F4}" type="sibTrans" cxnId="{C0F4BB65-B1A1-46FC-8E88-C5B7A3B5290C}">
      <dgm:prSet/>
      <dgm:spPr/>
      <dgm:t>
        <a:bodyPr/>
        <a:lstStyle/>
        <a:p>
          <a:endParaRPr lang="en-US"/>
        </a:p>
      </dgm:t>
    </dgm:pt>
    <dgm:pt modelId="{E39D2ACD-8A0D-4B01-833E-8042ACD0DB54}">
      <dgm:prSet/>
      <dgm:spPr/>
      <dgm:t>
        <a:bodyPr/>
        <a:lstStyle/>
        <a:p>
          <a:pPr rtl="0"/>
          <a:r>
            <a:rPr lang="en-GB" dirty="0"/>
            <a:t>Objectives:</a:t>
          </a:r>
        </a:p>
        <a:p>
          <a:pPr rtl="0"/>
          <a:r>
            <a:rPr lang="en-GB" dirty="0"/>
            <a:t>Author’s </a:t>
          </a:r>
          <a:r>
            <a:rPr lang="en-GB" b="1" dirty="0"/>
            <a:t>key score </a:t>
          </a:r>
          <a:r>
            <a:rPr lang="en-GB" b="0" dirty="0"/>
            <a:t>to </a:t>
          </a:r>
          <a:r>
            <a:rPr lang="en-GB" dirty="0"/>
            <a:t>quantify topic leadership. </a:t>
          </a:r>
        </a:p>
        <a:p>
          <a:pPr rtl="0"/>
          <a:r>
            <a:rPr lang="en-GB" b="1" dirty="0"/>
            <a:t>Co-Actions graph </a:t>
          </a:r>
          <a:r>
            <a:rPr lang="en-GB" b="0" dirty="0"/>
            <a:t>to </a:t>
          </a:r>
          <a:r>
            <a:rPr lang="en-GB" dirty="0"/>
            <a:t>capture </a:t>
          </a:r>
          <a:r>
            <a:rPr lang="en-US" b="1" dirty="0"/>
            <a:t>behavioral similar</a:t>
          </a:r>
          <a:r>
            <a:rPr lang="en-GB" b="1" dirty="0"/>
            <a:t>arty </a:t>
          </a:r>
          <a:r>
            <a:rPr lang="en-GB" dirty="0"/>
            <a:t>among key authors. </a:t>
          </a:r>
          <a:endParaRPr lang="en-US" dirty="0"/>
        </a:p>
      </dgm:t>
    </dgm:pt>
    <dgm:pt modelId="{50BCA0A0-F847-40B6-A29A-9E80CAFF435E}" type="parTrans" cxnId="{BCC7FBA5-3595-4076-A26A-50B09B66D361}">
      <dgm:prSet/>
      <dgm:spPr/>
      <dgm:t>
        <a:bodyPr/>
        <a:lstStyle/>
        <a:p>
          <a:endParaRPr lang="en-US"/>
        </a:p>
      </dgm:t>
    </dgm:pt>
    <dgm:pt modelId="{06BACE1A-323F-4E92-90EF-7FB1DEFFCD2C}" type="sibTrans" cxnId="{BCC7FBA5-3595-4076-A26A-50B09B66D361}">
      <dgm:prSet/>
      <dgm:spPr/>
      <dgm:t>
        <a:bodyPr/>
        <a:lstStyle/>
        <a:p>
          <a:endParaRPr lang="en-US"/>
        </a:p>
      </dgm:t>
    </dgm:pt>
    <dgm:pt modelId="{2A8A38E9-53CA-44D5-8DFC-907932863099}">
      <dgm:prSet custT="1"/>
      <dgm:spPr/>
      <dgm:t>
        <a:bodyPr/>
        <a:lstStyle/>
        <a:p>
          <a:pPr rtl="0"/>
          <a:r>
            <a:rPr lang="en-GB" sz="1800" kern="1200" dirty="0"/>
            <a:t>Goal:</a:t>
          </a:r>
        </a:p>
        <a:p>
          <a:pPr rtl="0"/>
          <a:r>
            <a:rPr lang="en-GB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Calculation</a:t>
          </a:r>
          <a:r>
            <a:rPr lang="en-GB" sz="1800" kern="1200" dirty="0"/>
            <a:t> of </a:t>
          </a:r>
          <a:r>
            <a:rPr lang="en-GB" sz="1800" b="1" kern="1200" dirty="0"/>
            <a:t>graph-based indicators </a:t>
          </a:r>
          <a:r>
            <a:rPr lang="en-GB" sz="1800" kern="1200" dirty="0"/>
            <a:t>(e.g., centralities) to identify information operation (IO) drivers.</a:t>
          </a:r>
          <a:endParaRPr lang="en-US" sz="1800" kern="1200" dirty="0"/>
        </a:p>
      </dgm:t>
    </dgm:pt>
    <dgm:pt modelId="{1C19421E-9F25-4C69-A119-786E9C23DCF0}" type="parTrans" cxnId="{3ACB8547-BA01-42D1-807F-761232340476}">
      <dgm:prSet/>
      <dgm:spPr/>
      <dgm:t>
        <a:bodyPr/>
        <a:lstStyle/>
        <a:p>
          <a:endParaRPr lang="en-US"/>
        </a:p>
      </dgm:t>
    </dgm:pt>
    <dgm:pt modelId="{DAD72EB5-E415-4649-A88F-D2A6BD457E78}" type="sibTrans" cxnId="{3ACB8547-BA01-42D1-807F-761232340476}">
      <dgm:prSet/>
      <dgm:spPr/>
      <dgm:t>
        <a:bodyPr/>
        <a:lstStyle/>
        <a:p>
          <a:endParaRPr lang="en-US"/>
        </a:p>
      </dgm:t>
    </dgm:pt>
    <dgm:pt modelId="{B49D8D80-4BEC-43F9-8332-FDD107B3F2C9}" type="pres">
      <dgm:prSet presAssocID="{551ADD07-83FC-412A-AFCA-54ED7AB8BDE9}" presName="root" presStyleCnt="0">
        <dgm:presLayoutVars>
          <dgm:dir/>
          <dgm:resizeHandles val="exact"/>
        </dgm:presLayoutVars>
      </dgm:prSet>
      <dgm:spPr/>
    </dgm:pt>
    <dgm:pt modelId="{234596F3-45E6-4A0B-84CB-CD7F1CEC7BB6}" type="pres">
      <dgm:prSet presAssocID="{920BF6AF-D097-451B-B004-3E4F0E0AEEB9}" presName="compNode" presStyleCnt="0"/>
      <dgm:spPr/>
    </dgm:pt>
    <dgm:pt modelId="{2C6B269B-04EF-4B77-8D34-4ED88A9CC619}" type="pres">
      <dgm:prSet presAssocID="{920BF6AF-D097-451B-B004-3E4F0E0AEEB9}" presName="bgRect" presStyleLbl="bgShp" presStyleIdx="0" presStyleCnt="3"/>
      <dgm:spPr/>
    </dgm:pt>
    <dgm:pt modelId="{AB766CAB-60EC-49F0-89A5-002DEB1DC9EC}" type="pres">
      <dgm:prSet presAssocID="{920BF6AF-D097-451B-B004-3E4F0E0AEEB9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fic Thought with solid fill"/>
        </a:ext>
      </dgm:extLst>
    </dgm:pt>
    <dgm:pt modelId="{0B721B38-D226-410F-BAC9-2D888665195E}" type="pres">
      <dgm:prSet presAssocID="{920BF6AF-D097-451B-B004-3E4F0E0AEEB9}" presName="spaceRect" presStyleCnt="0"/>
      <dgm:spPr/>
    </dgm:pt>
    <dgm:pt modelId="{3E637D1C-C465-4876-A83C-04C72BB5E998}" type="pres">
      <dgm:prSet presAssocID="{920BF6AF-D097-451B-B004-3E4F0E0AEEB9}" presName="parTx" presStyleLbl="revTx" presStyleIdx="0" presStyleCnt="3">
        <dgm:presLayoutVars>
          <dgm:chMax val="0"/>
          <dgm:chPref val="0"/>
        </dgm:presLayoutVars>
      </dgm:prSet>
      <dgm:spPr/>
    </dgm:pt>
    <dgm:pt modelId="{A0B18739-A66C-4214-A36E-80ABCD3F56E6}" type="pres">
      <dgm:prSet presAssocID="{F3538FF5-C72C-4C84-89BC-6ECE192FF4F4}" presName="sibTrans" presStyleCnt="0"/>
      <dgm:spPr/>
    </dgm:pt>
    <dgm:pt modelId="{E94B648F-B109-44D3-A362-5A7CD8456848}" type="pres">
      <dgm:prSet presAssocID="{E39D2ACD-8A0D-4B01-833E-8042ACD0DB54}" presName="compNode" presStyleCnt="0"/>
      <dgm:spPr/>
    </dgm:pt>
    <dgm:pt modelId="{02F5843F-E1CD-4550-87C4-36EB26BEC779}" type="pres">
      <dgm:prSet presAssocID="{E39D2ACD-8A0D-4B01-833E-8042ACD0DB54}" presName="bgRect" presStyleLbl="bgShp" presStyleIdx="1" presStyleCnt="3"/>
      <dgm:spPr/>
    </dgm:pt>
    <dgm:pt modelId="{9E158E14-3B86-4CC1-9750-95325F6E3EB0}" type="pres">
      <dgm:prSet presAssocID="{E39D2ACD-8A0D-4B01-833E-8042ACD0DB54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F60FB6F8-463F-492D-AC38-859ADB965D33}" type="pres">
      <dgm:prSet presAssocID="{E39D2ACD-8A0D-4B01-833E-8042ACD0DB54}" presName="spaceRect" presStyleCnt="0"/>
      <dgm:spPr/>
    </dgm:pt>
    <dgm:pt modelId="{F428F88E-A70C-48F6-A66B-5274C025ABDE}" type="pres">
      <dgm:prSet presAssocID="{E39D2ACD-8A0D-4B01-833E-8042ACD0DB54}" presName="parTx" presStyleLbl="revTx" presStyleIdx="1" presStyleCnt="3">
        <dgm:presLayoutVars>
          <dgm:chMax val="0"/>
          <dgm:chPref val="0"/>
        </dgm:presLayoutVars>
      </dgm:prSet>
      <dgm:spPr/>
    </dgm:pt>
    <dgm:pt modelId="{F5E726E4-A878-457E-933C-BCEA315CA0C3}" type="pres">
      <dgm:prSet presAssocID="{06BACE1A-323F-4E92-90EF-7FB1DEFFCD2C}" presName="sibTrans" presStyleCnt="0"/>
      <dgm:spPr/>
    </dgm:pt>
    <dgm:pt modelId="{BD3B9828-9F25-45F0-995B-881D686D90DF}" type="pres">
      <dgm:prSet presAssocID="{2A8A38E9-53CA-44D5-8DFC-907932863099}" presName="compNode" presStyleCnt="0"/>
      <dgm:spPr/>
    </dgm:pt>
    <dgm:pt modelId="{85833E2F-A6EA-4B2D-BD32-529530AB4589}" type="pres">
      <dgm:prSet presAssocID="{2A8A38E9-53CA-44D5-8DFC-907932863099}" presName="bgRect" presStyleLbl="bgShp" presStyleIdx="2" presStyleCnt="3"/>
      <dgm:spPr/>
    </dgm:pt>
    <dgm:pt modelId="{847822B6-69AC-4972-8322-EB9ABE8D34B9}" type="pres">
      <dgm:prSet presAssocID="{2A8A38E9-53CA-44D5-8DFC-907932863099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 with solid fill"/>
        </a:ext>
      </dgm:extLst>
    </dgm:pt>
    <dgm:pt modelId="{DDA98E99-0ADD-4B53-8FFE-DE6E80B72A59}" type="pres">
      <dgm:prSet presAssocID="{2A8A38E9-53CA-44D5-8DFC-907932863099}" presName="spaceRect" presStyleCnt="0"/>
      <dgm:spPr/>
    </dgm:pt>
    <dgm:pt modelId="{7E1E5A94-5C6C-43EF-91F4-61637B702812}" type="pres">
      <dgm:prSet presAssocID="{2A8A38E9-53CA-44D5-8DFC-9079328630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0F4BB65-B1A1-46FC-8E88-C5B7A3B5290C}" srcId="{551ADD07-83FC-412A-AFCA-54ED7AB8BDE9}" destId="{920BF6AF-D097-451B-B004-3E4F0E0AEEB9}" srcOrd="0" destOrd="0" parTransId="{1B3DA8FE-615C-4CAD-AD1A-83C4D5C3B18E}" sibTransId="{F3538FF5-C72C-4C84-89BC-6ECE192FF4F4}"/>
    <dgm:cxn modelId="{3ACB8547-BA01-42D1-807F-761232340476}" srcId="{551ADD07-83FC-412A-AFCA-54ED7AB8BDE9}" destId="{2A8A38E9-53CA-44D5-8DFC-907932863099}" srcOrd="2" destOrd="0" parTransId="{1C19421E-9F25-4C69-A119-786E9C23DCF0}" sibTransId="{DAD72EB5-E415-4649-A88F-D2A6BD457E78}"/>
    <dgm:cxn modelId="{476DC380-D90B-4963-BA1D-EF004B8DFF9C}" type="presOf" srcId="{2A8A38E9-53CA-44D5-8DFC-907932863099}" destId="{7E1E5A94-5C6C-43EF-91F4-61637B702812}" srcOrd="0" destOrd="0" presId="urn:microsoft.com/office/officeart/2018/2/layout/IconVerticalSolidList"/>
    <dgm:cxn modelId="{BE2D088D-B685-4251-B03A-05C57EA6D1CA}" type="presOf" srcId="{E39D2ACD-8A0D-4B01-833E-8042ACD0DB54}" destId="{F428F88E-A70C-48F6-A66B-5274C025ABDE}" srcOrd="0" destOrd="0" presId="urn:microsoft.com/office/officeart/2018/2/layout/IconVerticalSolidList"/>
    <dgm:cxn modelId="{F98D408E-0BAD-4B33-9130-865164C21D5B}" type="presOf" srcId="{920BF6AF-D097-451B-B004-3E4F0E0AEEB9}" destId="{3E637D1C-C465-4876-A83C-04C72BB5E998}" srcOrd="0" destOrd="0" presId="urn:microsoft.com/office/officeart/2018/2/layout/IconVerticalSolidList"/>
    <dgm:cxn modelId="{BCC7FBA5-3595-4076-A26A-50B09B66D361}" srcId="{551ADD07-83FC-412A-AFCA-54ED7AB8BDE9}" destId="{E39D2ACD-8A0D-4B01-833E-8042ACD0DB54}" srcOrd="1" destOrd="0" parTransId="{50BCA0A0-F847-40B6-A29A-9E80CAFF435E}" sibTransId="{06BACE1A-323F-4E92-90EF-7FB1DEFFCD2C}"/>
    <dgm:cxn modelId="{AAF066BC-CAAA-4763-ADA3-D4F009CCE9A2}" type="presOf" srcId="{551ADD07-83FC-412A-AFCA-54ED7AB8BDE9}" destId="{B49D8D80-4BEC-43F9-8332-FDD107B3F2C9}" srcOrd="0" destOrd="0" presId="urn:microsoft.com/office/officeart/2018/2/layout/IconVerticalSolidList"/>
    <dgm:cxn modelId="{BCE67295-3472-4649-8578-5A2AF0877308}" type="presParOf" srcId="{B49D8D80-4BEC-43F9-8332-FDD107B3F2C9}" destId="{234596F3-45E6-4A0B-84CB-CD7F1CEC7BB6}" srcOrd="0" destOrd="0" presId="urn:microsoft.com/office/officeart/2018/2/layout/IconVerticalSolidList"/>
    <dgm:cxn modelId="{37B27883-AE4D-4F43-AAA9-364B1799A38D}" type="presParOf" srcId="{234596F3-45E6-4A0B-84CB-CD7F1CEC7BB6}" destId="{2C6B269B-04EF-4B77-8D34-4ED88A9CC619}" srcOrd="0" destOrd="0" presId="urn:microsoft.com/office/officeart/2018/2/layout/IconVerticalSolidList"/>
    <dgm:cxn modelId="{1FE31726-CE1A-4FF2-8F3A-3F6A8C1ECB72}" type="presParOf" srcId="{234596F3-45E6-4A0B-84CB-CD7F1CEC7BB6}" destId="{AB766CAB-60EC-49F0-89A5-002DEB1DC9EC}" srcOrd="1" destOrd="0" presId="urn:microsoft.com/office/officeart/2018/2/layout/IconVerticalSolidList"/>
    <dgm:cxn modelId="{D43CBF48-864E-42B2-B4C7-FEFD0C4EA1C1}" type="presParOf" srcId="{234596F3-45E6-4A0B-84CB-CD7F1CEC7BB6}" destId="{0B721B38-D226-410F-BAC9-2D888665195E}" srcOrd="2" destOrd="0" presId="urn:microsoft.com/office/officeart/2018/2/layout/IconVerticalSolidList"/>
    <dgm:cxn modelId="{F2616297-CF9C-4A9F-B438-8A02AF8EA604}" type="presParOf" srcId="{234596F3-45E6-4A0B-84CB-CD7F1CEC7BB6}" destId="{3E637D1C-C465-4876-A83C-04C72BB5E998}" srcOrd="3" destOrd="0" presId="urn:microsoft.com/office/officeart/2018/2/layout/IconVerticalSolidList"/>
    <dgm:cxn modelId="{021E74C0-B682-4A7C-9B3C-80BC6A1A451E}" type="presParOf" srcId="{B49D8D80-4BEC-43F9-8332-FDD107B3F2C9}" destId="{A0B18739-A66C-4214-A36E-80ABCD3F56E6}" srcOrd="1" destOrd="0" presId="urn:microsoft.com/office/officeart/2018/2/layout/IconVerticalSolidList"/>
    <dgm:cxn modelId="{5DD145BE-095B-4298-ADFC-8002C6AAD15E}" type="presParOf" srcId="{B49D8D80-4BEC-43F9-8332-FDD107B3F2C9}" destId="{E94B648F-B109-44D3-A362-5A7CD8456848}" srcOrd="2" destOrd="0" presId="urn:microsoft.com/office/officeart/2018/2/layout/IconVerticalSolidList"/>
    <dgm:cxn modelId="{96C74A1F-B98D-4223-A5E9-7277AE40F887}" type="presParOf" srcId="{E94B648F-B109-44D3-A362-5A7CD8456848}" destId="{02F5843F-E1CD-4550-87C4-36EB26BEC779}" srcOrd="0" destOrd="0" presId="urn:microsoft.com/office/officeart/2018/2/layout/IconVerticalSolidList"/>
    <dgm:cxn modelId="{37551C3B-A61E-40CD-95E6-06EC81BA6221}" type="presParOf" srcId="{E94B648F-B109-44D3-A362-5A7CD8456848}" destId="{9E158E14-3B86-4CC1-9750-95325F6E3EB0}" srcOrd="1" destOrd="0" presId="urn:microsoft.com/office/officeart/2018/2/layout/IconVerticalSolidList"/>
    <dgm:cxn modelId="{5B8E7111-26D5-45A9-A2C9-F67EC4DD4DD7}" type="presParOf" srcId="{E94B648F-B109-44D3-A362-5A7CD8456848}" destId="{F60FB6F8-463F-492D-AC38-859ADB965D33}" srcOrd="2" destOrd="0" presId="urn:microsoft.com/office/officeart/2018/2/layout/IconVerticalSolidList"/>
    <dgm:cxn modelId="{CAAC9538-3BDC-4D91-AC63-E046372345FF}" type="presParOf" srcId="{E94B648F-B109-44D3-A362-5A7CD8456848}" destId="{F428F88E-A70C-48F6-A66B-5274C025ABDE}" srcOrd="3" destOrd="0" presId="urn:microsoft.com/office/officeart/2018/2/layout/IconVerticalSolidList"/>
    <dgm:cxn modelId="{BB8A6ED7-F291-4709-814C-3DFCF74B0B5C}" type="presParOf" srcId="{B49D8D80-4BEC-43F9-8332-FDD107B3F2C9}" destId="{F5E726E4-A878-457E-933C-BCEA315CA0C3}" srcOrd="3" destOrd="0" presId="urn:microsoft.com/office/officeart/2018/2/layout/IconVerticalSolidList"/>
    <dgm:cxn modelId="{193E6BFC-A4A5-4A3B-BE91-424D6674F48E}" type="presParOf" srcId="{B49D8D80-4BEC-43F9-8332-FDD107B3F2C9}" destId="{BD3B9828-9F25-45F0-995B-881D686D90DF}" srcOrd="4" destOrd="0" presId="urn:microsoft.com/office/officeart/2018/2/layout/IconVerticalSolidList"/>
    <dgm:cxn modelId="{605738E7-7BB8-4D55-B283-D6BDF1D1C1C7}" type="presParOf" srcId="{BD3B9828-9F25-45F0-995B-881D686D90DF}" destId="{85833E2F-A6EA-4B2D-BD32-529530AB4589}" srcOrd="0" destOrd="0" presId="urn:microsoft.com/office/officeart/2018/2/layout/IconVerticalSolidList"/>
    <dgm:cxn modelId="{AD77C2DA-7E28-4367-8BE2-3300AC8794C3}" type="presParOf" srcId="{BD3B9828-9F25-45F0-995B-881D686D90DF}" destId="{847822B6-69AC-4972-8322-EB9ABE8D34B9}" srcOrd="1" destOrd="0" presId="urn:microsoft.com/office/officeart/2018/2/layout/IconVerticalSolidList"/>
    <dgm:cxn modelId="{833343CF-0F77-4BD0-9825-DC8C6C39F459}" type="presParOf" srcId="{BD3B9828-9F25-45F0-995B-881D686D90DF}" destId="{DDA98E99-0ADD-4B53-8FFE-DE6E80B72A59}" srcOrd="2" destOrd="0" presId="urn:microsoft.com/office/officeart/2018/2/layout/IconVerticalSolidList"/>
    <dgm:cxn modelId="{C9F44501-FBA1-4F35-B8A0-6554C28CFF8F}" type="presParOf" srcId="{BD3B9828-9F25-45F0-995B-881D686D90DF}" destId="{7E1E5A94-5C6C-43EF-91F4-61637B7028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D4E7A2-8A11-4977-90EB-BCF173AAC1CF}" type="doc">
      <dgm:prSet loTypeId="urn:microsoft.com/office/officeart/2005/8/layout/hierarchy1" loCatId="hierarchy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8C1F649-B664-442E-9C2C-71D703D0F72F}">
      <dgm:prSet/>
      <dgm:spPr/>
      <dgm:t>
        <a:bodyPr/>
        <a:lstStyle/>
        <a:p>
          <a:r>
            <a:rPr lang="en-US" dirty="0" err="1"/>
            <a:t>BERTopic</a:t>
          </a:r>
          <a:r>
            <a:rPr lang="en-US" dirty="0"/>
            <a:t> with min topic size 256</a:t>
          </a:r>
        </a:p>
      </dgm:t>
    </dgm:pt>
    <dgm:pt modelId="{2B401E80-D64E-4EB4-8448-150AA42F6027}" type="parTrans" cxnId="{EFEF0AC2-7C54-40A4-A0C9-F7B407D07FBF}">
      <dgm:prSet/>
      <dgm:spPr/>
      <dgm:t>
        <a:bodyPr/>
        <a:lstStyle/>
        <a:p>
          <a:endParaRPr lang="en-US"/>
        </a:p>
      </dgm:t>
    </dgm:pt>
    <dgm:pt modelId="{A1F3B2FA-854A-4011-87A0-2E3C3958B7E6}" type="sibTrans" cxnId="{EFEF0AC2-7C54-40A4-A0C9-F7B407D07FBF}">
      <dgm:prSet/>
      <dgm:spPr/>
      <dgm:t>
        <a:bodyPr/>
        <a:lstStyle/>
        <a:p>
          <a:endParaRPr lang="en-US"/>
        </a:p>
      </dgm:t>
    </dgm:pt>
    <dgm:pt modelId="{684C3ECF-12BA-4A1B-A548-F1E06B32F3A3}">
      <dgm:prSet/>
      <dgm:spPr/>
      <dgm:t>
        <a:bodyPr/>
        <a:lstStyle/>
        <a:p>
          <a:r>
            <a:rPr lang="en-US"/>
            <a:t>Undirected Graph</a:t>
          </a:r>
        </a:p>
      </dgm:t>
    </dgm:pt>
    <dgm:pt modelId="{B5EB8C15-3823-4AC4-96BE-38BE236A733B}" type="parTrans" cxnId="{B4A7BA22-7262-4259-85BF-D7B2D0DD3DC2}">
      <dgm:prSet/>
      <dgm:spPr/>
      <dgm:t>
        <a:bodyPr/>
        <a:lstStyle/>
        <a:p>
          <a:endParaRPr lang="en-US"/>
        </a:p>
      </dgm:t>
    </dgm:pt>
    <dgm:pt modelId="{6320B1B3-28F6-41D3-A741-E8413599B4D9}" type="sibTrans" cxnId="{B4A7BA22-7262-4259-85BF-D7B2D0DD3DC2}">
      <dgm:prSet/>
      <dgm:spPr/>
      <dgm:t>
        <a:bodyPr/>
        <a:lstStyle/>
        <a:p>
          <a:endParaRPr lang="en-US"/>
        </a:p>
      </dgm:t>
    </dgm:pt>
    <dgm:pt modelId="{35949B16-338C-4177-9A4B-B718DD3F783C}">
      <dgm:prSet/>
      <dgm:spPr/>
      <dgm:t>
        <a:bodyPr/>
        <a:lstStyle/>
        <a:p>
          <a:r>
            <a:rPr lang="en-US" dirty="0"/>
            <a:t>Per-topic key authors selection</a:t>
          </a:r>
        </a:p>
      </dgm:t>
    </dgm:pt>
    <dgm:pt modelId="{67190573-2B92-4455-836B-7C3704001459}" type="parTrans" cxnId="{07F142CF-1F0C-40E6-B73A-9EC73B4B2562}">
      <dgm:prSet/>
      <dgm:spPr/>
      <dgm:t>
        <a:bodyPr/>
        <a:lstStyle/>
        <a:p>
          <a:endParaRPr lang="en-US"/>
        </a:p>
      </dgm:t>
    </dgm:pt>
    <dgm:pt modelId="{FAAF96AD-2AB3-4061-BF38-CEE206FB28A0}" type="sibTrans" cxnId="{07F142CF-1F0C-40E6-B73A-9EC73B4B2562}">
      <dgm:prSet/>
      <dgm:spPr/>
      <dgm:t>
        <a:bodyPr/>
        <a:lstStyle/>
        <a:p>
          <a:endParaRPr lang="en-US"/>
        </a:p>
      </dgm:t>
    </dgm:pt>
    <dgm:pt modelId="{8AB73D15-007F-4F45-85D7-841E3319895E}" type="pres">
      <dgm:prSet presAssocID="{48D4E7A2-8A11-4977-90EB-BCF173AAC1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5C92AC-0A19-4B24-AEC2-466E7D6E5318}" type="pres">
      <dgm:prSet presAssocID="{48C1F649-B664-442E-9C2C-71D703D0F72F}" presName="hierRoot1" presStyleCnt="0"/>
      <dgm:spPr/>
    </dgm:pt>
    <dgm:pt modelId="{1E51895D-E3D6-4F89-8BBE-E147B4489BD3}" type="pres">
      <dgm:prSet presAssocID="{48C1F649-B664-442E-9C2C-71D703D0F72F}" presName="composite" presStyleCnt="0"/>
      <dgm:spPr/>
    </dgm:pt>
    <dgm:pt modelId="{FC157D70-A2FE-4FC6-9DE4-45F9C9AD44D8}" type="pres">
      <dgm:prSet presAssocID="{48C1F649-B664-442E-9C2C-71D703D0F72F}" presName="background" presStyleLbl="node0" presStyleIdx="0" presStyleCnt="3"/>
      <dgm:spPr/>
    </dgm:pt>
    <dgm:pt modelId="{C3A4576F-0386-4754-B9CF-9E31B2A2932C}" type="pres">
      <dgm:prSet presAssocID="{48C1F649-B664-442E-9C2C-71D703D0F72F}" presName="text" presStyleLbl="fgAcc0" presStyleIdx="0" presStyleCnt="3">
        <dgm:presLayoutVars>
          <dgm:chPref val="3"/>
        </dgm:presLayoutVars>
      </dgm:prSet>
      <dgm:spPr/>
    </dgm:pt>
    <dgm:pt modelId="{1D00A025-DB64-4BB5-967A-79BBC4E59A18}" type="pres">
      <dgm:prSet presAssocID="{48C1F649-B664-442E-9C2C-71D703D0F72F}" presName="hierChild2" presStyleCnt="0"/>
      <dgm:spPr/>
    </dgm:pt>
    <dgm:pt modelId="{0D7A648D-89A4-4FBE-9911-6DB7AD854215}" type="pres">
      <dgm:prSet presAssocID="{684C3ECF-12BA-4A1B-A548-F1E06B32F3A3}" presName="hierRoot1" presStyleCnt="0"/>
      <dgm:spPr/>
    </dgm:pt>
    <dgm:pt modelId="{4333EB95-4CD0-4488-B35D-9047928D24AB}" type="pres">
      <dgm:prSet presAssocID="{684C3ECF-12BA-4A1B-A548-F1E06B32F3A3}" presName="composite" presStyleCnt="0"/>
      <dgm:spPr/>
    </dgm:pt>
    <dgm:pt modelId="{4CE028F8-A63B-45AA-886D-7C4325390AEA}" type="pres">
      <dgm:prSet presAssocID="{684C3ECF-12BA-4A1B-A548-F1E06B32F3A3}" presName="background" presStyleLbl="node0" presStyleIdx="1" presStyleCnt="3"/>
      <dgm:spPr/>
    </dgm:pt>
    <dgm:pt modelId="{5E204233-41D4-45C7-BAC4-DEE75D604568}" type="pres">
      <dgm:prSet presAssocID="{684C3ECF-12BA-4A1B-A548-F1E06B32F3A3}" presName="text" presStyleLbl="fgAcc0" presStyleIdx="1" presStyleCnt="3">
        <dgm:presLayoutVars>
          <dgm:chPref val="3"/>
        </dgm:presLayoutVars>
      </dgm:prSet>
      <dgm:spPr/>
    </dgm:pt>
    <dgm:pt modelId="{13DC9582-8935-4C97-9B9F-48149BF6B13D}" type="pres">
      <dgm:prSet presAssocID="{684C3ECF-12BA-4A1B-A548-F1E06B32F3A3}" presName="hierChild2" presStyleCnt="0"/>
      <dgm:spPr/>
    </dgm:pt>
    <dgm:pt modelId="{4FA93D08-580B-480D-A637-E3B7E15B1F9E}" type="pres">
      <dgm:prSet presAssocID="{35949B16-338C-4177-9A4B-B718DD3F783C}" presName="hierRoot1" presStyleCnt="0"/>
      <dgm:spPr/>
    </dgm:pt>
    <dgm:pt modelId="{521B4C96-91E1-49C6-B56C-DE6B8B2D5E4F}" type="pres">
      <dgm:prSet presAssocID="{35949B16-338C-4177-9A4B-B718DD3F783C}" presName="composite" presStyleCnt="0"/>
      <dgm:spPr/>
    </dgm:pt>
    <dgm:pt modelId="{4201FDE8-646B-4DD3-8D96-FECE9F5F0F36}" type="pres">
      <dgm:prSet presAssocID="{35949B16-338C-4177-9A4B-B718DD3F783C}" presName="background" presStyleLbl="node0" presStyleIdx="2" presStyleCnt="3"/>
      <dgm:spPr/>
    </dgm:pt>
    <dgm:pt modelId="{E717723C-65AF-4550-BB31-2B724931FE5F}" type="pres">
      <dgm:prSet presAssocID="{35949B16-338C-4177-9A4B-B718DD3F783C}" presName="text" presStyleLbl="fgAcc0" presStyleIdx="2" presStyleCnt="3">
        <dgm:presLayoutVars>
          <dgm:chPref val="3"/>
        </dgm:presLayoutVars>
      </dgm:prSet>
      <dgm:spPr/>
    </dgm:pt>
    <dgm:pt modelId="{AA7120EB-054F-45F3-ABB2-3AA08A2AE618}" type="pres">
      <dgm:prSet presAssocID="{35949B16-338C-4177-9A4B-B718DD3F783C}" presName="hierChild2" presStyleCnt="0"/>
      <dgm:spPr/>
    </dgm:pt>
  </dgm:ptLst>
  <dgm:cxnLst>
    <dgm:cxn modelId="{FF10AC01-F0C6-4B84-9E33-7CB7841D38B6}" type="presOf" srcId="{684C3ECF-12BA-4A1B-A548-F1E06B32F3A3}" destId="{5E204233-41D4-45C7-BAC4-DEE75D604568}" srcOrd="0" destOrd="0" presId="urn:microsoft.com/office/officeart/2005/8/layout/hierarchy1"/>
    <dgm:cxn modelId="{B4A7BA22-7262-4259-85BF-D7B2D0DD3DC2}" srcId="{48D4E7A2-8A11-4977-90EB-BCF173AAC1CF}" destId="{684C3ECF-12BA-4A1B-A548-F1E06B32F3A3}" srcOrd="1" destOrd="0" parTransId="{B5EB8C15-3823-4AC4-96BE-38BE236A733B}" sibTransId="{6320B1B3-28F6-41D3-A741-E8413599B4D9}"/>
    <dgm:cxn modelId="{CD452133-FE8C-4805-8899-85808EA7850D}" type="presOf" srcId="{35949B16-338C-4177-9A4B-B718DD3F783C}" destId="{E717723C-65AF-4550-BB31-2B724931FE5F}" srcOrd="0" destOrd="0" presId="urn:microsoft.com/office/officeart/2005/8/layout/hierarchy1"/>
    <dgm:cxn modelId="{EFEF0AC2-7C54-40A4-A0C9-F7B407D07FBF}" srcId="{48D4E7A2-8A11-4977-90EB-BCF173AAC1CF}" destId="{48C1F649-B664-442E-9C2C-71D703D0F72F}" srcOrd="0" destOrd="0" parTransId="{2B401E80-D64E-4EB4-8448-150AA42F6027}" sibTransId="{A1F3B2FA-854A-4011-87A0-2E3C3958B7E6}"/>
    <dgm:cxn modelId="{7BB313C7-E85A-498F-B938-76A7A56683F8}" type="presOf" srcId="{48C1F649-B664-442E-9C2C-71D703D0F72F}" destId="{C3A4576F-0386-4754-B9CF-9E31B2A2932C}" srcOrd="0" destOrd="0" presId="urn:microsoft.com/office/officeart/2005/8/layout/hierarchy1"/>
    <dgm:cxn modelId="{07F142CF-1F0C-40E6-B73A-9EC73B4B2562}" srcId="{48D4E7A2-8A11-4977-90EB-BCF173AAC1CF}" destId="{35949B16-338C-4177-9A4B-B718DD3F783C}" srcOrd="2" destOrd="0" parTransId="{67190573-2B92-4455-836B-7C3704001459}" sibTransId="{FAAF96AD-2AB3-4061-BF38-CEE206FB28A0}"/>
    <dgm:cxn modelId="{59BE55E0-8644-4C40-89A3-570CF0A0067D}" type="presOf" srcId="{48D4E7A2-8A11-4977-90EB-BCF173AAC1CF}" destId="{8AB73D15-007F-4F45-85D7-841E3319895E}" srcOrd="0" destOrd="0" presId="urn:microsoft.com/office/officeart/2005/8/layout/hierarchy1"/>
    <dgm:cxn modelId="{D6024C07-4289-477A-91DE-A0A1FBBF59A5}" type="presParOf" srcId="{8AB73D15-007F-4F45-85D7-841E3319895E}" destId="{CA5C92AC-0A19-4B24-AEC2-466E7D6E5318}" srcOrd="0" destOrd="0" presId="urn:microsoft.com/office/officeart/2005/8/layout/hierarchy1"/>
    <dgm:cxn modelId="{77385DEB-E251-49CA-A2E4-FF8CDED676A9}" type="presParOf" srcId="{CA5C92AC-0A19-4B24-AEC2-466E7D6E5318}" destId="{1E51895D-E3D6-4F89-8BBE-E147B4489BD3}" srcOrd="0" destOrd="0" presId="urn:microsoft.com/office/officeart/2005/8/layout/hierarchy1"/>
    <dgm:cxn modelId="{E2BA18D3-63DE-44FF-B973-137AB0A46E50}" type="presParOf" srcId="{1E51895D-E3D6-4F89-8BBE-E147B4489BD3}" destId="{FC157D70-A2FE-4FC6-9DE4-45F9C9AD44D8}" srcOrd="0" destOrd="0" presId="urn:microsoft.com/office/officeart/2005/8/layout/hierarchy1"/>
    <dgm:cxn modelId="{A333D83C-6E45-48FA-ABF5-CE9ADDD736FE}" type="presParOf" srcId="{1E51895D-E3D6-4F89-8BBE-E147B4489BD3}" destId="{C3A4576F-0386-4754-B9CF-9E31B2A2932C}" srcOrd="1" destOrd="0" presId="urn:microsoft.com/office/officeart/2005/8/layout/hierarchy1"/>
    <dgm:cxn modelId="{E8BC0405-8811-4D81-8863-C7C553369617}" type="presParOf" srcId="{CA5C92AC-0A19-4B24-AEC2-466E7D6E5318}" destId="{1D00A025-DB64-4BB5-967A-79BBC4E59A18}" srcOrd="1" destOrd="0" presId="urn:microsoft.com/office/officeart/2005/8/layout/hierarchy1"/>
    <dgm:cxn modelId="{53C5B31D-ED21-4BD1-A962-BFFF6C2D47A0}" type="presParOf" srcId="{8AB73D15-007F-4F45-85D7-841E3319895E}" destId="{0D7A648D-89A4-4FBE-9911-6DB7AD854215}" srcOrd="1" destOrd="0" presId="urn:microsoft.com/office/officeart/2005/8/layout/hierarchy1"/>
    <dgm:cxn modelId="{04D687A0-0A3A-4CF7-852C-091141363F76}" type="presParOf" srcId="{0D7A648D-89A4-4FBE-9911-6DB7AD854215}" destId="{4333EB95-4CD0-4488-B35D-9047928D24AB}" srcOrd="0" destOrd="0" presId="urn:microsoft.com/office/officeart/2005/8/layout/hierarchy1"/>
    <dgm:cxn modelId="{653F6902-DC50-4BD7-B4BF-80704CFB8D49}" type="presParOf" srcId="{4333EB95-4CD0-4488-B35D-9047928D24AB}" destId="{4CE028F8-A63B-45AA-886D-7C4325390AEA}" srcOrd="0" destOrd="0" presId="urn:microsoft.com/office/officeart/2005/8/layout/hierarchy1"/>
    <dgm:cxn modelId="{62EC51B3-AB71-47B8-9984-0A996E110337}" type="presParOf" srcId="{4333EB95-4CD0-4488-B35D-9047928D24AB}" destId="{5E204233-41D4-45C7-BAC4-DEE75D604568}" srcOrd="1" destOrd="0" presId="urn:microsoft.com/office/officeart/2005/8/layout/hierarchy1"/>
    <dgm:cxn modelId="{318F0BEE-2EF9-4EAF-9195-87A84DFD331F}" type="presParOf" srcId="{0D7A648D-89A4-4FBE-9911-6DB7AD854215}" destId="{13DC9582-8935-4C97-9B9F-48149BF6B13D}" srcOrd="1" destOrd="0" presId="urn:microsoft.com/office/officeart/2005/8/layout/hierarchy1"/>
    <dgm:cxn modelId="{DD2C53C0-F1EF-44A7-8708-0E94BEFDE0A0}" type="presParOf" srcId="{8AB73D15-007F-4F45-85D7-841E3319895E}" destId="{4FA93D08-580B-480D-A637-E3B7E15B1F9E}" srcOrd="2" destOrd="0" presId="urn:microsoft.com/office/officeart/2005/8/layout/hierarchy1"/>
    <dgm:cxn modelId="{4C93BF50-9833-4555-884E-B0D9F16C9D9D}" type="presParOf" srcId="{4FA93D08-580B-480D-A637-E3B7E15B1F9E}" destId="{521B4C96-91E1-49C6-B56C-DE6B8B2D5E4F}" srcOrd="0" destOrd="0" presId="urn:microsoft.com/office/officeart/2005/8/layout/hierarchy1"/>
    <dgm:cxn modelId="{2B840FA7-189A-46E9-A619-7C6C988B7FD8}" type="presParOf" srcId="{521B4C96-91E1-49C6-B56C-DE6B8B2D5E4F}" destId="{4201FDE8-646B-4DD3-8D96-FECE9F5F0F36}" srcOrd="0" destOrd="0" presId="urn:microsoft.com/office/officeart/2005/8/layout/hierarchy1"/>
    <dgm:cxn modelId="{F610CC82-753B-4E10-B788-CF6F78A2117E}" type="presParOf" srcId="{521B4C96-91E1-49C6-B56C-DE6B8B2D5E4F}" destId="{E717723C-65AF-4550-BB31-2B724931FE5F}" srcOrd="1" destOrd="0" presId="urn:microsoft.com/office/officeart/2005/8/layout/hierarchy1"/>
    <dgm:cxn modelId="{04E203F9-5D3C-4228-B782-3842602E054B}" type="presParOf" srcId="{4FA93D08-580B-480D-A637-E3B7E15B1F9E}" destId="{AA7120EB-054F-45F3-ABB2-3AA08A2AE61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B269B-04EF-4B77-8D34-4ED88A9CC619}">
      <dsp:nvSpPr>
        <dsp:cNvPr id="0" name=""/>
        <dsp:cNvSpPr/>
      </dsp:nvSpPr>
      <dsp:spPr>
        <a:xfrm>
          <a:off x="0" y="53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66CAB-60EC-49F0-89A5-002DEB1DC9E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37D1C-C465-4876-A83C-04C72BB5E998}">
      <dsp:nvSpPr>
        <dsp:cNvPr id="0" name=""/>
        <dsp:cNvSpPr/>
      </dsp:nvSpPr>
      <dsp:spPr>
        <a:xfrm>
          <a:off x="1435590" y="53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Background: 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Successful information operation </a:t>
          </a:r>
          <a:r>
            <a:rPr lang="en-GB" sz="1800" b="0" kern="1200" dirty="0"/>
            <a:t>drivers</a:t>
          </a:r>
          <a:r>
            <a:rPr lang="en-GB" sz="1800" kern="1200" dirty="0"/>
            <a:t> </a:t>
          </a:r>
          <a:r>
            <a:rPr lang="en-GB" sz="1800" b="1" kern="1200" dirty="0"/>
            <a:t>lead topic-level discourse </a:t>
          </a:r>
          <a:r>
            <a:rPr lang="en-GB" sz="1800" kern="1200" dirty="0"/>
            <a:t>and act in </a:t>
          </a:r>
          <a:r>
            <a:rPr lang="en-GB" sz="1800" b="1" kern="1200" dirty="0"/>
            <a:t>coordination</a:t>
          </a:r>
          <a:r>
            <a:rPr lang="en-GB" sz="1800" kern="1200" dirty="0"/>
            <a:t> with other drivers. </a:t>
          </a:r>
          <a:endParaRPr lang="en-US" sz="1800" kern="1200" dirty="0"/>
        </a:p>
      </dsp:txBody>
      <dsp:txXfrm>
        <a:off x="1435590" y="531"/>
        <a:ext cx="9147065" cy="1242935"/>
      </dsp:txXfrm>
    </dsp:sp>
    <dsp:sp modelId="{02F5843F-E1CD-4550-87C4-36EB26BEC779}">
      <dsp:nvSpPr>
        <dsp:cNvPr id="0" name=""/>
        <dsp:cNvSpPr/>
      </dsp:nvSpPr>
      <dsp:spPr>
        <a:xfrm>
          <a:off x="0" y="1554201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58E14-3B86-4CC1-9750-95325F6E3EB0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8F88E-A70C-48F6-A66B-5274C025ABDE}">
      <dsp:nvSpPr>
        <dsp:cNvPr id="0" name=""/>
        <dsp:cNvSpPr/>
      </dsp:nvSpPr>
      <dsp:spPr>
        <a:xfrm>
          <a:off x="1435590" y="1554201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Objectives: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Author’s </a:t>
          </a:r>
          <a:r>
            <a:rPr lang="en-GB" sz="1800" b="1" kern="1200" dirty="0"/>
            <a:t>key score </a:t>
          </a:r>
          <a:r>
            <a:rPr lang="en-GB" sz="1800" b="0" kern="1200" dirty="0"/>
            <a:t>to </a:t>
          </a:r>
          <a:r>
            <a:rPr lang="en-GB" sz="1800" kern="1200" dirty="0"/>
            <a:t>quantify topic leadership. 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Co-Actions graph </a:t>
          </a:r>
          <a:r>
            <a:rPr lang="en-GB" sz="1800" b="0" kern="1200" dirty="0"/>
            <a:t>to </a:t>
          </a:r>
          <a:r>
            <a:rPr lang="en-GB" sz="1800" kern="1200" dirty="0"/>
            <a:t>capture </a:t>
          </a:r>
          <a:r>
            <a:rPr lang="en-US" sz="1800" b="1" kern="1200" dirty="0"/>
            <a:t>behavioral similar</a:t>
          </a:r>
          <a:r>
            <a:rPr lang="en-GB" sz="1800" b="1" kern="1200" dirty="0"/>
            <a:t>arty </a:t>
          </a:r>
          <a:r>
            <a:rPr lang="en-GB" sz="1800" kern="1200" dirty="0"/>
            <a:t>among key authors. </a:t>
          </a:r>
          <a:endParaRPr lang="en-US" sz="1800" kern="1200" dirty="0"/>
        </a:p>
      </dsp:txBody>
      <dsp:txXfrm>
        <a:off x="1435590" y="1554201"/>
        <a:ext cx="9147065" cy="1242935"/>
      </dsp:txXfrm>
    </dsp:sp>
    <dsp:sp modelId="{85833E2F-A6EA-4B2D-BD32-529530AB4589}">
      <dsp:nvSpPr>
        <dsp:cNvPr id="0" name=""/>
        <dsp:cNvSpPr/>
      </dsp:nvSpPr>
      <dsp:spPr>
        <a:xfrm>
          <a:off x="0" y="3107870"/>
          <a:ext cx="10582656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22B6-69AC-4972-8322-EB9ABE8D34B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5A94-5C6C-43EF-91F4-61637B702812}">
      <dsp:nvSpPr>
        <dsp:cNvPr id="0" name=""/>
        <dsp:cNvSpPr/>
      </dsp:nvSpPr>
      <dsp:spPr>
        <a:xfrm>
          <a:off x="1435590" y="3107870"/>
          <a:ext cx="914706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Goal: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Calculation</a:t>
          </a:r>
          <a:r>
            <a:rPr lang="en-GB" sz="1800" kern="1200" dirty="0"/>
            <a:t> of </a:t>
          </a:r>
          <a:r>
            <a:rPr lang="en-GB" sz="1800" b="1" kern="1200" dirty="0"/>
            <a:t>graph-based indicators </a:t>
          </a:r>
          <a:r>
            <a:rPr lang="en-GB" sz="1800" kern="1200" dirty="0"/>
            <a:t>(e.g., centralities) to identify information operation (IO) drivers.</a:t>
          </a:r>
          <a:endParaRPr lang="en-US" sz="1800" kern="1200" dirty="0"/>
        </a:p>
      </dsp:txBody>
      <dsp:txXfrm>
        <a:off x="1435590" y="3107870"/>
        <a:ext cx="9147065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57D70-A2FE-4FC6-9DE4-45F9C9AD44D8}">
      <dsp:nvSpPr>
        <dsp:cNvPr id="0" name=""/>
        <dsp:cNvSpPr/>
      </dsp:nvSpPr>
      <dsp:spPr>
        <a:xfrm>
          <a:off x="0" y="1073584"/>
          <a:ext cx="2976372" cy="18899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A4576F-0386-4754-B9CF-9E31B2A2932C}">
      <dsp:nvSpPr>
        <dsp:cNvPr id="0" name=""/>
        <dsp:cNvSpPr/>
      </dsp:nvSpPr>
      <dsp:spPr>
        <a:xfrm>
          <a:off x="330708" y="1387757"/>
          <a:ext cx="2976372" cy="18899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 err="1"/>
            <a:t>BERTopic</a:t>
          </a:r>
          <a:r>
            <a:rPr lang="en-US" sz="3500" kern="1200" dirty="0"/>
            <a:t> with min topic size 256</a:t>
          </a:r>
        </a:p>
      </dsp:txBody>
      <dsp:txXfrm>
        <a:off x="386064" y="1443113"/>
        <a:ext cx="2865660" cy="1779284"/>
      </dsp:txXfrm>
    </dsp:sp>
    <dsp:sp modelId="{4CE028F8-A63B-45AA-886D-7C4325390AEA}">
      <dsp:nvSpPr>
        <dsp:cNvPr id="0" name=""/>
        <dsp:cNvSpPr/>
      </dsp:nvSpPr>
      <dsp:spPr>
        <a:xfrm>
          <a:off x="3637788" y="1073584"/>
          <a:ext cx="2976372" cy="18899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204233-41D4-45C7-BAC4-DEE75D604568}">
      <dsp:nvSpPr>
        <dsp:cNvPr id="0" name=""/>
        <dsp:cNvSpPr/>
      </dsp:nvSpPr>
      <dsp:spPr>
        <a:xfrm>
          <a:off x="3968496" y="1387757"/>
          <a:ext cx="2976372" cy="18899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Undirected Graph</a:t>
          </a:r>
        </a:p>
      </dsp:txBody>
      <dsp:txXfrm>
        <a:off x="4023852" y="1443113"/>
        <a:ext cx="2865660" cy="1779284"/>
      </dsp:txXfrm>
    </dsp:sp>
    <dsp:sp modelId="{4201FDE8-646B-4DD3-8D96-FECE9F5F0F36}">
      <dsp:nvSpPr>
        <dsp:cNvPr id="0" name=""/>
        <dsp:cNvSpPr/>
      </dsp:nvSpPr>
      <dsp:spPr>
        <a:xfrm>
          <a:off x="7275576" y="1073584"/>
          <a:ext cx="2976372" cy="18899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17723C-65AF-4550-BB31-2B724931FE5F}">
      <dsp:nvSpPr>
        <dsp:cNvPr id="0" name=""/>
        <dsp:cNvSpPr/>
      </dsp:nvSpPr>
      <dsp:spPr>
        <a:xfrm>
          <a:off x="7606284" y="1387757"/>
          <a:ext cx="2976372" cy="18899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Per-topic key authors selection</a:t>
          </a:r>
        </a:p>
      </dsp:txBody>
      <dsp:txXfrm>
        <a:off x="7661640" y="1443113"/>
        <a:ext cx="2865660" cy="17792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73ED-A99E-1255-DF0A-F46C0A3F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8042E-74BF-F12B-EB05-B5A12A791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9362C-8306-7A0F-CDF5-AFC8289AE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EDC18-E9C8-4ECA-7039-35E23F9D9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7236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[1]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Seckin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 C., Pote, M.,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Nwala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A. C., Yin, L.,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Flammini, A., &amp; Menczer, F. (2025, June). Labeled datasets for research on information operations.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International AAAI Conference on Web and Social Media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(Vol. 19, pp. 2567-2574).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Balasubramanian, A., Zou, V., Narayana, H., You, C.,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&amp; Ferrara, E. (2024). A public dataset tracking social media discourse about the 2024 us presidential election on twitter/x.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arXiv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preprint arXiv:2411.00376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36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209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06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06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06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06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06 מאי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06 מאי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06 מאי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06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06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06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06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06 מאי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06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418919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06.05.2026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6C1-AB65-35BD-8133-F3F29DB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IO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1FA6F-2F61-214E-F20E-E15E3A7E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Information Operation (IO):</a:t>
            </a:r>
            <a:r>
              <a:rPr lang="en-GB" dirty="0"/>
              <a:t> A collection of publications by coordinated actors pursuing a shared intent while misleading others.</a:t>
            </a:r>
          </a:p>
          <a:p>
            <a:pPr fontAlgn="base"/>
            <a:r>
              <a:rPr lang="en-GB" b="1" dirty="0"/>
              <a:t>IO Driver:</a:t>
            </a:r>
            <a:r>
              <a:rPr lang="en-GB" dirty="0"/>
              <a:t> An account that promotes one or more IO.</a:t>
            </a:r>
          </a:p>
          <a:p>
            <a:pPr fontAlgn="base"/>
            <a:r>
              <a:rPr lang="en-GB" b="1" dirty="0"/>
              <a:t>Author ‘s IO Label:</a:t>
            </a:r>
            <a:r>
              <a:rPr lang="en-GB" dirty="0"/>
              <a:t> label =  1 if the author is a IO Driver and label = 0 if not.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42458-50C9-BF06-3967-CE25C3C3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289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5D21-FEAA-6801-6A47-D72173FC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C365-C8A0-2A99-D1C2-5872EAA4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&amp; Definitions - Key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F7DE5-3E08-EDD2-0E70-2E2FD9E3B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 Author:</a:t>
            </a:r>
            <a:r>
              <a:rPr lang="en-GB" dirty="0"/>
              <a:t> An author who is a leading participant in one or more topic(s).</a:t>
            </a:r>
          </a:p>
          <a:p>
            <a:r>
              <a:rPr lang="en-GB" b="1" dirty="0"/>
              <a:t>Author-Topic Key Score: </a:t>
            </a:r>
            <a:r>
              <a:rPr lang="en-GB" dirty="0"/>
              <a:t>A measure of how strongly an author is associated with a topic, emphasizing topic-specific content. It is calculated based on the use of topic-related entities (e.g., hashtags, mentions, URLs) in the author’s posts.</a:t>
            </a:r>
            <a:endParaRPr lang="en-GB" b="1" dirty="0"/>
          </a:p>
          <a:p>
            <a:r>
              <a:rPr lang="en-GB" b="1" dirty="0"/>
              <a:t>Author Key Score: </a:t>
            </a:r>
            <a:r>
              <a:rPr lang="en-GB" dirty="0"/>
              <a:t>sum of the </a:t>
            </a:r>
            <a:r>
              <a:rPr lang="en-GB" i="1" dirty="0"/>
              <a:t>Author-Topic Key Score </a:t>
            </a:r>
            <a:r>
              <a:rPr lang="en-GB" dirty="0"/>
              <a:t>across all topics</a:t>
            </a:r>
            <a:r>
              <a:rPr lang="en-GB" i="1" dirty="0"/>
              <a:t>.</a:t>
            </a:r>
          </a:p>
          <a:p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3EF8-3FAF-E450-9AAA-2FA80E88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037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4D25-02A9-78EB-690B-D93ACC2A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C47FB-3B8E-1F68-D6EB-C3B6C0E7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Project Core Concepts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8C5A-EA8F-5CB7-FF7C-6442F88D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4</a:t>
            </a:fld>
            <a:endParaRPr lang="he-IL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6D549A-CC57-1C2C-A976-5DA7CC5B8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2598712"/>
              </p:ext>
            </p:extLst>
          </p:nvPr>
        </p:nvGraphicFramePr>
        <p:xfrm>
          <a:off x="1243087" y="1825625"/>
          <a:ext cx="105826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428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2D1ED-B482-5DD4-F114-26736B001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FCA846-95C2-250E-C243-25D910E5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8596779" cy="2852737"/>
          </a:xfrm>
        </p:spPr>
        <p:txBody>
          <a:bodyPr/>
          <a:lstStyle/>
          <a:p>
            <a:r>
              <a:rPr lang="en-GB" dirty="0"/>
              <a:t>Coordinated Behaviour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0120A0-21C8-44D8-0893-379AF2F23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3999A-907D-8A28-8021-95C4739E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6129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Co-Actions Graph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author pairs (e.g., co-mention, co-entity, co-topic). Represents </a:t>
            </a:r>
            <a:r>
              <a:rPr lang="en-US" sz="2800" b="1" dirty="0"/>
              <a:t>behavioral similar</a:t>
            </a:r>
            <a:r>
              <a:rPr lang="en-GB" sz="2800" b="1" dirty="0"/>
              <a:t>arty </a:t>
            </a:r>
            <a:r>
              <a:rPr lang="en-GB" sz="2800" dirty="0"/>
              <a:t>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and structural signals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45296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0BEF17-A85B-69A7-4947-96097D1A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2D88-5AB1-052E-FB13-E091040F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 &amp; IO Indicators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5DFBC-E283-482F-07BA-A333B910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  <p:pic>
        <p:nvPicPr>
          <p:cNvPr id="8" name="Content Placeholder 7" descr="A network of dots and lines&#10;&#10;AI-generated content may be incorrect.">
            <a:extLst>
              <a:ext uri="{FF2B5EF4-FFF2-40B4-BE49-F238E27FC236}">
                <a16:creationId xmlns:a16="http://schemas.microsoft.com/office/drawing/2014/main" id="{66A4053E-AB18-5F2F-D1F0-F2B2E5298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2" t="3063" r="4355"/>
          <a:stretch>
            <a:fillRect/>
          </a:stretch>
        </p:blipFill>
        <p:spPr>
          <a:xfrm>
            <a:off x="1616927" y="1630362"/>
            <a:ext cx="6362773" cy="5176361"/>
          </a:xfr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4C0EF37-C21E-64B9-190B-12A5FFAC380E}"/>
              </a:ext>
            </a:extLst>
          </p:cNvPr>
          <p:cNvSpPr/>
          <p:nvPr/>
        </p:nvSpPr>
        <p:spPr>
          <a:xfrm>
            <a:off x="6840109" y="4305300"/>
            <a:ext cx="558911" cy="559646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78D894D-6702-3125-2BFF-3DB2ECBA4904}"/>
              </a:ext>
            </a:extLst>
          </p:cNvPr>
          <p:cNvSpPr/>
          <p:nvPr/>
        </p:nvSpPr>
        <p:spPr>
          <a:xfrm>
            <a:off x="8256994" y="2008500"/>
            <a:ext cx="360000" cy="360000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9B6F5-B9F8-08F7-1704-81E9386024CC}"/>
              </a:ext>
            </a:extLst>
          </p:cNvPr>
          <p:cNvSpPr txBox="1"/>
          <p:nvPr/>
        </p:nvSpPr>
        <p:spPr>
          <a:xfrm>
            <a:off x="8824162" y="1983610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degree centrality </a:t>
            </a:r>
            <a:endParaRPr lang="en-IL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55C2BB5-5CCD-8048-0623-B56A7107E499}"/>
              </a:ext>
            </a:extLst>
          </p:cNvPr>
          <p:cNvSpPr/>
          <p:nvPr/>
        </p:nvSpPr>
        <p:spPr>
          <a:xfrm>
            <a:off x="1738768" y="3086616"/>
            <a:ext cx="1057772" cy="891024"/>
          </a:xfrm>
          <a:prstGeom prst="flowChartConnector">
            <a:avLst/>
          </a:prstGeom>
          <a:noFill/>
          <a:ln w="57150">
            <a:solidFill>
              <a:srgbClr val="F59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8978A85-2029-EA91-65C8-D4836607FD42}"/>
              </a:ext>
            </a:extLst>
          </p:cNvPr>
          <p:cNvSpPr/>
          <p:nvPr/>
        </p:nvSpPr>
        <p:spPr>
          <a:xfrm>
            <a:off x="8256994" y="3116584"/>
            <a:ext cx="360000" cy="360000"/>
          </a:xfrm>
          <a:prstGeom prst="flowChartConnector">
            <a:avLst/>
          </a:prstGeom>
          <a:noFill/>
          <a:ln w="57150">
            <a:solidFill>
              <a:srgbClr val="F59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425336-454F-FE31-1422-436892C703EC}"/>
              </a:ext>
            </a:extLst>
          </p:cNvPr>
          <p:cNvSpPr txBox="1"/>
          <p:nvPr/>
        </p:nvSpPr>
        <p:spPr>
          <a:xfrm>
            <a:off x="8824162" y="3095422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core-number</a:t>
            </a:r>
            <a:endParaRPr lang="en-IL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71B8A36-FB76-083A-5FA0-EA7EA872E11A}"/>
              </a:ext>
            </a:extLst>
          </p:cNvPr>
          <p:cNvSpPr/>
          <p:nvPr/>
        </p:nvSpPr>
        <p:spPr>
          <a:xfrm>
            <a:off x="8256994" y="3670626"/>
            <a:ext cx="360000" cy="360000"/>
          </a:xfrm>
          <a:prstGeom prst="flowChartConnector">
            <a:avLst/>
          </a:prstGeom>
          <a:noFill/>
          <a:ln w="57150">
            <a:solidFill>
              <a:srgbClr val="F583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CE1F5E2-96CB-66E7-B575-B51DA37B4E37}"/>
              </a:ext>
            </a:extLst>
          </p:cNvPr>
          <p:cNvSpPr/>
          <p:nvPr/>
        </p:nvSpPr>
        <p:spPr>
          <a:xfrm>
            <a:off x="3481782" y="3449324"/>
            <a:ext cx="2251102" cy="1539240"/>
          </a:xfrm>
          <a:prstGeom prst="flowChartConnector">
            <a:avLst/>
          </a:prstGeom>
          <a:noFill/>
          <a:ln w="57150">
            <a:solidFill>
              <a:srgbClr val="F583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54FF2-3B58-D836-F1A2-897465C04679}"/>
              </a:ext>
            </a:extLst>
          </p:cNvPr>
          <p:cNvSpPr txBox="1"/>
          <p:nvPr/>
        </p:nvSpPr>
        <p:spPr>
          <a:xfrm>
            <a:off x="8824162" y="3698672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high</a:t>
            </a:r>
            <a:endParaRPr lang="en-IL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CFD6D60-027A-1FE4-805D-AC0BDD584F9A}"/>
              </a:ext>
            </a:extLst>
          </p:cNvPr>
          <p:cNvSpPr/>
          <p:nvPr/>
        </p:nvSpPr>
        <p:spPr>
          <a:xfrm>
            <a:off x="8256994" y="2562542"/>
            <a:ext cx="360000" cy="360000"/>
          </a:xfrm>
          <a:prstGeom prst="flowChartConnector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BBC2B-DFD1-CC39-847A-385C36AC7347}"/>
              </a:ext>
            </a:extLst>
          </p:cNvPr>
          <p:cNvSpPr txBox="1"/>
          <p:nvPr/>
        </p:nvSpPr>
        <p:spPr>
          <a:xfrm>
            <a:off x="8824162" y="2553210"/>
            <a:ext cx="283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eigenvector centrality </a:t>
            </a:r>
            <a:endParaRPr lang="en-IL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87C4792C-A2E7-5B20-B256-55095FB999CA}"/>
              </a:ext>
            </a:extLst>
          </p:cNvPr>
          <p:cNvSpPr/>
          <p:nvPr/>
        </p:nvSpPr>
        <p:spPr>
          <a:xfrm>
            <a:off x="4708538" y="2184404"/>
            <a:ext cx="966331" cy="825496"/>
          </a:xfrm>
          <a:prstGeom prst="flowChartConnector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059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Backbone Graph &amp; IO Indicators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614F-0CB2-16A5-EB4F-E10824EF2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6814570" cy="487997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sz="2800" dirty="0">
                <a:latin typeface="Arial" panose="020B0604020202020204" pitchFamily="34" charset="0"/>
              </a:rPr>
              <a:t>The graph represents behaviour similarity between users</a:t>
            </a:r>
            <a:r>
              <a:rPr lang="en-US" altLang="en-IL" sz="2800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sz="2800" dirty="0">
                <a:latin typeface="Arial" panose="020B0604020202020204" pitchFamily="34" charset="0"/>
              </a:rPr>
              <a:t>IO drivers tend to be </a:t>
            </a:r>
            <a:r>
              <a:rPr lang="en-US" altLang="en-IL" sz="2800" dirty="0">
                <a:latin typeface="Arial" panose="020B0604020202020204" pitchFamily="34" charset="0"/>
              </a:rPr>
              <a:t>in </a:t>
            </a:r>
            <a:r>
              <a:rPr lang="en-GB" sz="2800" dirty="0"/>
              <a:t>Dense Communities.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IL" sz="2800" dirty="0">
                <a:latin typeface="Arial" panose="020B0604020202020204" pitchFamily="34" charset="0"/>
              </a:rPr>
              <a:t>F</a:t>
            </a:r>
            <a:r>
              <a:rPr lang="en-IL" altLang="en-IL" sz="2800" dirty="0">
                <a:latin typeface="Arial" panose="020B0604020202020204" pitchFamily="34" charset="0"/>
              </a:rPr>
              <a:t>or each user, </a:t>
            </a:r>
            <a:r>
              <a:rPr lang="en-US" altLang="en-IL" sz="2800" dirty="0">
                <a:latin typeface="Arial" panose="020B0604020202020204" pitchFamily="34" charset="0"/>
              </a:rPr>
              <a:t>w</a:t>
            </a:r>
            <a:r>
              <a:rPr lang="en-IL" altLang="en-IL" sz="2800" dirty="0">
                <a:latin typeface="Arial" panose="020B0604020202020204" pitchFamily="34" charset="0"/>
              </a:rPr>
              <a:t>e use </a:t>
            </a:r>
            <a:r>
              <a:rPr lang="en-US" altLang="en-IL" sz="2800" dirty="0">
                <a:latin typeface="Arial" panose="020B0604020202020204" pitchFamily="34" charset="0"/>
              </a:rPr>
              <a:t>graph-based </a:t>
            </a:r>
            <a:r>
              <a:rPr lang="en-IL" altLang="en-IL" sz="2800" dirty="0">
                <a:latin typeface="Arial" panose="020B0604020202020204" pitchFamily="34" charset="0"/>
              </a:rPr>
              <a:t>indicators to measure how embedded </a:t>
            </a:r>
            <a:r>
              <a:rPr lang="en-US" altLang="en-IL" sz="2800" dirty="0">
                <a:latin typeface="Arial" panose="020B0604020202020204" pitchFamily="34" charset="0"/>
              </a:rPr>
              <a:t>he\she</a:t>
            </a:r>
            <a:r>
              <a:rPr lang="en-IL" altLang="en-IL" sz="2800" dirty="0">
                <a:latin typeface="Arial" panose="020B0604020202020204" pitchFamily="34" charset="0"/>
              </a:rPr>
              <a:t> </a:t>
            </a:r>
            <a:r>
              <a:rPr lang="en-US" altLang="en-IL" sz="2800" dirty="0">
                <a:latin typeface="Arial" panose="020B0604020202020204" pitchFamily="34" charset="0"/>
              </a:rPr>
              <a:t>is</a:t>
            </a:r>
            <a:r>
              <a:rPr lang="en-IL" altLang="en-IL" sz="2800" dirty="0">
                <a:latin typeface="Arial" panose="020B0604020202020204" pitchFamily="34" charset="0"/>
              </a:rPr>
              <a:t> in the network</a:t>
            </a:r>
            <a:r>
              <a:rPr lang="en-US" altLang="en-IL" sz="2800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IL" sz="2800" dirty="0">
                <a:latin typeface="Arial" panose="020B0604020202020204" pitchFamily="34" charset="0"/>
              </a:rPr>
              <a:t>Each user is described by vector of features.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E417-6A10-8FF5-D4F4-A584AA791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388" y="1761247"/>
            <a:ext cx="4290432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A50E01-4300-3DE5-CB26-B50E4D0B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747D-9283-B209-7194-59E0EF395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Graph Theory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DF79D-7189-E660-2269-D0074021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Degree Centrality: </a:t>
            </a:r>
            <a:r>
              <a:rPr lang="en-GB" dirty="0"/>
              <a:t>Counts how many direct connections a user has.</a:t>
            </a:r>
          </a:p>
          <a:p>
            <a:r>
              <a:rPr lang="en-GB" b="1" dirty="0"/>
              <a:t>Betweenness Centrality: </a:t>
            </a:r>
            <a:r>
              <a:rPr lang="en-GB" dirty="0"/>
              <a:t>measures how frequently a node appears on the shortest path between other.</a:t>
            </a:r>
          </a:p>
          <a:p>
            <a:r>
              <a:rPr lang="en-GB" b="1" dirty="0"/>
              <a:t>Harmonic Centrality: </a:t>
            </a:r>
            <a:r>
              <a:rPr lang="en-GB" dirty="0"/>
              <a:t>Reflects how easily a user can reach many others in the network.</a:t>
            </a:r>
          </a:p>
          <a:p>
            <a:r>
              <a:rPr lang="en-GB" b="1" dirty="0"/>
              <a:t>Eigenvector Centrality: </a:t>
            </a:r>
            <a:r>
              <a:rPr lang="en-GB" dirty="0"/>
              <a:t>Shows whether a user is connected to other high-scoring users.</a:t>
            </a:r>
          </a:p>
          <a:p>
            <a:r>
              <a:rPr lang="en-GB" b="1" dirty="0" err="1"/>
              <a:t>Pagerank</a:t>
            </a:r>
            <a:r>
              <a:rPr lang="en-GB" b="1" dirty="0"/>
              <a:t>: </a:t>
            </a:r>
            <a:r>
              <a:rPr lang="en-GB" dirty="0"/>
              <a:t>Estimates a user’s overall importance based on how many important users connect to them.</a:t>
            </a:r>
          </a:p>
          <a:p>
            <a:r>
              <a:rPr lang="en-GB" b="1" dirty="0"/>
              <a:t>K-core: </a:t>
            </a:r>
            <a:r>
              <a:rPr lang="en-GB" dirty="0"/>
              <a:t>Indicates how deeply embedded a user is within the dense group.</a:t>
            </a:r>
          </a:p>
          <a:p>
            <a:r>
              <a:rPr lang="en-GB" b="1" dirty="0"/>
              <a:t>Clustering: </a:t>
            </a:r>
            <a:r>
              <a:rPr lang="en-GB" dirty="0"/>
              <a:t>Measures how tightly connected a user’s </a:t>
            </a:r>
            <a:r>
              <a:rPr lang="en-GB" dirty="0" err="1"/>
              <a:t>neighbors</a:t>
            </a:r>
            <a:r>
              <a:rPr lang="en-GB" dirty="0"/>
              <a:t> are to each other.</a:t>
            </a:r>
          </a:p>
          <a:p>
            <a:r>
              <a:rPr lang="en-GB" b="1" dirty="0"/>
              <a:t>Square Clustering: </a:t>
            </a:r>
            <a:r>
              <a:rPr lang="en-GB" dirty="0"/>
              <a:t>Measures how often a user participates in tightly connected small group structures.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14CE5-5261-51D2-0ED2-383584D5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11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9A07AB-132C-A7F4-812F-3C59E7D3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E5028-87C4-7748-C238-4F6CD4F7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Graph Theory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80650-68FF-C733-603E-557040DB5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Degree Centrality:</a:t>
            </a:r>
            <a:r>
              <a:rPr lang="en-IL" altLang="en-IL" dirty="0">
                <a:latin typeface="Arial" panose="020B0604020202020204" pitchFamily="34" charset="0"/>
              </a:rPr>
              <a:t> IO drivers tend to coordinate with many accounts, creating many direct connections.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Betweenness Centrality:</a:t>
            </a:r>
            <a:r>
              <a:rPr lang="en-IL" altLang="en-IL" dirty="0">
                <a:latin typeface="Arial" panose="020B0604020202020204" pitchFamily="34" charset="0"/>
              </a:rPr>
              <a:t> IO drivers often connect different coordinated groups, acting as bridges between clusters.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Harmonic Centrality:</a:t>
            </a:r>
            <a:r>
              <a:rPr lang="en-IL" altLang="en-IL" dirty="0">
                <a:latin typeface="Arial" panose="020B0604020202020204" pitchFamily="34" charset="0"/>
              </a:rPr>
              <a:t> IO drivers are close to many users, enabling fast coordination across the network.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Eigenvector Centrality:</a:t>
            </a:r>
            <a:r>
              <a:rPr lang="en-IL" altLang="en-IL" dirty="0">
                <a:latin typeface="Arial" panose="020B0604020202020204" pitchFamily="34" charset="0"/>
              </a:rPr>
              <a:t> IO drivers are connected to other highly coordinated or central actors.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PageRank:</a:t>
            </a:r>
            <a:r>
              <a:rPr lang="en-IL" altLang="en-IL" dirty="0">
                <a:latin typeface="Arial" panose="020B0604020202020204" pitchFamily="34" charset="0"/>
              </a:rPr>
              <a:t> IO drivers are reinforced by connections from other important coordinated users.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K-core:</a:t>
            </a:r>
            <a:r>
              <a:rPr lang="en-IL" altLang="en-IL" dirty="0">
                <a:latin typeface="Arial" panose="020B0604020202020204" pitchFamily="34" charset="0"/>
              </a:rPr>
              <a:t> IO drivers are deeply embedded in dense, highly coordinated groups.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Clustering:</a:t>
            </a:r>
            <a:r>
              <a:rPr lang="en-IL" altLang="en-IL" dirty="0">
                <a:latin typeface="Arial" panose="020B0604020202020204" pitchFamily="34" charset="0"/>
              </a:rPr>
              <a:t> IO drivers are part of tightly connected groups that coordinate actions together.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Square Clustering:</a:t>
            </a:r>
            <a:r>
              <a:rPr lang="en-IL" altLang="en-IL" dirty="0">
                <a:latin typeface="Arial" panose="020B0604020202020204" pitchFamily="34" charset="0"/>
              </a:rPr>
              <a:t> IO drivers participate in small, repeated coordination patterns within tightly-knit groups.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3FB25-F9AB-171E-E778-6E8C33B2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528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09D58-D596-3589-1CC6-34787244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Key Score and Boost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AA2BB-9036-5A2D-A38B-0735CF846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These indicators quantify user behaviour by measuring the extent to which an individual </a:t>
            </a:r>
            <a:r>
              <a:rPr lang="en-GB" b="1" dirty="0"/>
              <a:t>leads</a:t>
            </a:r>
            <a:r>
              <a:rPr lang="en-GB" dirty="0"/>
              <a:t>, </a:t>
            </a:r>
            <a:r>
              <a:rPr lang="en-GB" b="1" dirty="0"/>
              <a:t>focuses</a:t>
            </a:r>
            <a:r>
              <a:rPr lang="en-GB" dirty="0"/>
              <a:t>, and </a:t>
            </a:r>
            <a:r>
              <a:rPr lang="en-GB" b="1" dirty="0"/>
              <a:t>drives</a:t>
            </a:r>
            <a:r>
              <a:rPr lang="en-GB" dirty="0"/>
              <a:t> activity within discussions. </a:t>
            </a:r>
          </a:p>
          <a:p>
            <a:r>
              <a:rPr lang="en-GB" dirty="0"/>
              <a:t>The indicators capture how strongly a user contributes to topics, whether their activity is concentrated on specific narratives, and how much their actions are associated with increased engagement. </a:t>
            </a:r>
          </a:p>
          <a:p>
            <a:r>
              <a:rPr lang="en-GB" dirty="0"/>
              <a:t>By providing a consistent numeric representation of these behavioural patterns, they enable systematic comparison between users.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59E93-1E78-861A-D72D-672D08E3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1545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CF04-DED3-2E08-8761-891A60FE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Key Score and Boost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8744-AA3F-0C94-68C3-B98E69E9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/>
          </a:bodyPr>
          <a:lstStyle/>
          <a:p>
            <a:r>
              <a:rPr lang="en-GB" b="1" dirty="0"/>
              <a:t>Key Score Sum: </a:t>
            </a:r>
            <a:r>
              <a:rPr lang="en-GB" dirty="0"/>
              <a:t>The sum of the all the per-topic </a:t>
            </a:r>
            <a:r>
              <a:rPr lang="en-GB" dirty="0" err="1"/>
              <a:t>tdidf</a:t>
            </a:r>
            <a:r>
              <a:rPr lang="en-GB" dirty="0"/>
              <a:t> score. How much the author is a leading participant in the topics.</a:t>
            </a:r>
          </a:p>
          <a:p>
            <a:r>
              <a:rPr lang="en-GB" b="1" dirty="0"/>
              <a:t>Key Score Dominance: </a:t>
            </a:r>
            <a:r>
              <a:rPr lang="en-GB" dirty="0"/>
              <a:t>Author’s</a:t>
            </a:r>
            <a:r>
              <a:rPr lang="en-GB" b="1" dirty="0"/>
              <a:t> </a:t>
            </a:r>
            <a:r>
              <a:rPr lang="en-GB" dirty="0"/>
              <a:t>max score in a topic, divided by total score across all topics. Higher values indicate the author is mostly a leading participate in specific(s) topic(s).</a:t>
            </a:r>
          </a:p>
          <a:p>
            <a:r>
              <a:rPr lang="en-GB" b="1" dirty="0"/>
              <a:t>Posting Dominance: </a:t>
            </a:r>
            <a:r>
              <a:rPr lang="en-GB" dirty="0"/>
              <a:t>Author’s max number of posts in a topic, divided by total number of posts across all topics. Higher values indicate the author is mostly a leading participate in specific(s) topic(s).</a:t>
            </a:r>
          </a:p>
          <a:p>
            <a:r>
              <a:rPr lang="en-GB" b="1" dirty="0"/>
              <a:t>Boost Score : </a:t>
            </a:r>
            <a:r>
              <a:rPr lang="en-GB" dirty="0"/>
              <a:t>A quantitative measure calculated as the cumulative burst weights associated with a user's activity, based on discussion volume increases occurring shortly after the user posts or contributes.</a:t>
            </a:r>
          </a:p>
          <a:p>
            <a:endParaRPr lang="en-GB" dirty="0">
              <a:highlight>
                <a:srgbClr val="FFFF00"/>
              </a:highlight>
            </a:endParaRPr>
          </a:p>
          <a:p>
            <a:endParaRPr lang="en-GB" dirty="0">
              <a:highlight>
                <a:srgbClr val="FFFF00"/>
              </a:highlight>
            </a:endParaRPr>
          </a:p>
          <a:p>
            <a:endParaRPr lang="en-GB" b="1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9E058-D5C2-C2B9-04B1-D7B34149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726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1A8DE0-4812-F64C-3F70-17162E2F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D2B2B-AB86-F51C-7830-5FBE03EC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Indicators: Key Score and Boost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C1624-E6C8-6B2A-46D6-7E793BC04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87997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Key Score Sum:</a:t>
            </a:r>
            <a:r>
              <a:rPr lang="en-IL" altLang="en-IL" dirty="0">
                <a:latin typeface="Arial" panose="020B0604020202020204" pitchFamily="34" charset="0"/>
              </a:rPr>
              <a:t> IO drivers tend to consistently lead discussions across topics, resulting in high overall contribution scores.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Key Score Dominance:</a:t>
            </a:r>
            <a:r>
              <a:rPr lang="en-IL" altLang="en-IL" dirty="0">
                <a:latin typeface="Arial" panose="020B0604020202020204" pitchFamily="34" charset="0"/>
              </a:rPr>
              <a:t> IO drivers often focus on specific narratives where they act as main leaders.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Posting Dominance:</a:t>
            </a:r>
            <a:r>
              <a:rPr lang="en-IL" altLang="en-IL" dirty="0">
                <a:latin typeface="Arial" panose="020B0604020202020204" pitchFamily="34" charset="0"/>
              </a:rPr>
              <a:t> IO drivers concentrate their activity in particular topics to push targeted messages. </a:t>
            </a:r>
            <a:endParaRPr lang="en-US" altLang="en-IL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L" altLang="en-IL" b="1" dirty="0">
                <a:latin typeface="Arial" panose="020B0604020202020204" pitchFamily="34" charset="0"/>
              </a:rPr>
              <a:t>Boost Score:</a:t>
            </a:r>
            <a:r>
              <a:rPr lang="en-IL" altLang="en-IL" dirty="0">
                <a:latin typeface="Arial" panose="020B0604020202020204" pitchFamily="34" charset="0"/>
              </a:rPr>
              <a:t> IO drivers’ actions are often followed by increases in activity, indicating coordinated amplification after they post.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57926-83A7-0987-A5BF-ACEB5D94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460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6D25-36D7-61FB-800F-D666E5C3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8062A9-4019-21A8-C181-3F826530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Coordinated Behaviour - Choosing Indicator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D05960-A975-BAF2-22A6-3B1434A4E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6E229-8963-0D55-F98F-4CC7A796E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9068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25D8-EDFA-0591-872A-E0075FF0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ED4E-07D6-5029-1267-13E25461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Indicators Analysis – Information Gain 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5E0B-95E2-EC2F-17CF-478A39DF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15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94049-9AAF-FF1E-EB69-93619E1D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1" y="1727200"/>
            <a:ext cx="8753475" cy="4275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E7DED-7C45-6E37-6290-93FB4487F981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</p:spTree>
    <p:extLst>
      <p:ext uri="{BB962C8B-B14F-4D97-AF65-F5344CB8AC3E}">
        <p14:creationId xmlns:p14="http://schemas.microsoft.com/office/powerpoint/2010/main" val="3215404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Indicators Analysis – SHAP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16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480" y="2390643"/>
            <a:ext cx="5745224" cy="3330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73" y="2418354"/>
            <a:ext cx="5012537" cy="33031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751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86FA-D75D-B1C5-1F7F-3DABFBBA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7740-856C-1F50-2CE0-9C9EB10B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Indicators Analysis – Box Plots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E0A4-B226-D34F-31D7-E7C7F384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17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BD76C-B5E7-A4FA-A547-8B412A84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4" y="1366591"/>
            <a:ext cx="10784541" cy="48376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85F0EE-6C47-639E-CC0B-89DA7C32CA54}"/>
              </a:ext>
            </a:extLst>
          </p:cNvPr>
          <p:cNvSpPr/>
          <p:nvPr/>
        </p:nvSpPr>
        <p:spPr>
          <a:xfrm>
            <a:off x="636494" y="3218329"/>
            <a:ext cx="2123293" cy="149710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97FDBF-A5FC-FDF5-3FD4-894FDF6407A7}"/>
              </a:ext>
            </a:extLst>
          </p:cNvPr>
          <p:cNvSpPr txBox="1"/>
          <p:nvPr/>
        </p:nvSpPr>
        <p:spPr>
          <a:xfrm>
            <a:off x="1490383" y="6204236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box plot is a method for demonstrating graphically the distribution of numerical data across different groups.</a:t>
            </a:r>
          </a:p>
        </p:txBody>
      </p:sp>
    </p:spTree>
    <p:extLst>
      <p:ext uri="{BB962C8B-B14F-4D97-AF65-F5344CB8AC3E}">
        <p14:creationId xmlns:p14="http://schemas.microsoft.com/office/powerpoint/2010/main" val="123922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3180-6AFB-C018-C45A-F85FFDD4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76748-B0A2-DB91-7163-06340529A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What k-core measures: </a:t>
            </a:r>
          </a:p>
          <a:p>
            <a:pPr lvl="1"/>
            <a:r>
              <a:rPr lang="en-GB" sz="2400" dirty="0"/>
              <a:t>A core-number is the k value of the maximal subgraph that contains nodes of degree k or more. The core number of a node is the largest value k of a k-core containing that node (</a:t>
            </a:r>
            <a:r>
              <a:rPr lang="en-GB" sz="2400" dirty="0" err="1"/>
              <a:t>NetworkX</a:t>
            </a:r>
            <a:r>
              <a:rPr lang="en-GB" sz="2400" dirty="0"/>
              <a:t> documentation).</a:t>
            </a:r>
          </a:p>
          <a:p>
            <a:pPr lvl="1"/>
            <a:r>
              <a:rPr lang="en-GB" sz="2400" dirty="0"/>
              <a:t>How deeply a user is embedded inside the dense community in the graph.</a:t>
            </a:r>
          </a:p>
          <a:p>
            <a:pPr lvl="1"/>
            <a:r>
              <a:rPr lang="en-GB" sz="2400" dirty="0"/>
              <a:t>Higher core number → node belongs to tightly connected, cohesive groups.</a:t>
            </a:r>
          </a:p>
          <a:p>
            <a:pPr marL="457200" lvl="1" indent="0">
              <a:buNone/>
            </a:pPr>
            <a:endParaRPr lang="en-GB" sz="2400" dirty="0"/>
          </a:p>
          <a:p>
            <a:r>
              <a:rPr lang="en-GB" b="1" dirty="0"/>
              <a:t>Why it matters for IO detection:</a:t>
            </a:r>
          </a:p>
          <a:p>
            <a:pPr lvl="1"/>
            <a:r>
              <a:rPr lang="en-GB" sz="2400" dirty="0"/>
              <a:t>IO drivers don’t just connect , they </a:t>
            </a:r>
            <a:r>
              <a:rPr lang="en-GB" sz="2400" b="1" dirty="0"/>
              <a:t>coordinate. </a:t>
            </a:r>
            <a:r>
              <a:rPr lang="en-GB" sz="2400" dirty="0"/>
              <a:t>In a behaviour similarity graph, this coordination places them inside dense, highly connected community. </a:t>
            </a:r>
          </a:p>
          <a:p>
            <a:pPr lvl="1"/>
            <a:r>
              <a:rPr lang="en-GB" sz="2400" dirty="0"/>
              <a:t>Being in such community is what core number measures</a:t>
            </a:r>
            <a:r>
              <a:rPr lang="en-GB" sz="2400" b="1" dirty="0"/>
              <a:t>.</a:t>
            </a:r>
            <a:endParaRPr lang="en-GB" sz="2400" dirty="0"/>
          </a:p>
          <a:p>
            <a:endParaRPr lang="en-US" dirty="0"/>
          </a:p>
          <a:p>
            <a:pPr marL="0" indent="0" algn="ctr">
              <a:buNone/>
            </a:pPr>
            <a:r>
              <a:rPr lang="en-GB" dirty="0">
                <a:highlight>
                  <a:srgbClr val="FFFF00"/>
                </a:highlight>
              </a:rPr>
              <a:t>Coordinated actors → Placed inside dense community → High k-core</a:t>
            </a:r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7FBE6-83DC-F0C7-45B9-872DEC2A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5049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E3BC-962E-008E-4A26-C2135A4B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1A7-B397-F9BA-7ECB-4DA1358C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1681F-8D0E-063B-E5F8-8C7C1145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19</a:t>
            </a:fld>
            <a:endParaRPr lang="he-I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8EFFCC-3202-2E8F-293B-F3BDF91B4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5DF08D-48EF-9D5E-EFBA-B58561C98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4" t="2831" r="10439" b="10169"/>
          <a:stretch>
            <a:fillRect/>
          </a:stretch>
        </p:blipFill>
        <p:spPr>
          <a:xfrm>
            <a:off x="1571000" y="1642555"/>
            <a:ext cx="9049999" cy="453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27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8F0AD-F0C5-33E1-2562-E1737240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228204-ECF2-DC6D-4B49-8B710236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Hypotheses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1B499-7E32-6FA8-41C1-75B7AB1B4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62520-A245-8DA6-3976-FEA7FF5F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319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37E0C-D23B-7EE1-7C9A-AAF472B5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1051C-EDF0-EAA6-5969-49A6E1423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highlight>
                  <a:srgbClr val="FE0101"/>
                </a:highlight>
              </a:rPr>
              <a:t>H1</a:t>
            </a:r>
            <a:r>
              <a:rPr lang="en-US" dirty="0">
                <a:highlight>
                  <a:srgbClr val="FE0101"/>
                </a:highlight>
              </a:rPr>
              <a:t>: IO Drivers form clusters on the co action graph. So in dense </a:t>
            </a:r>
            <a:r>
              <a:rPr lang="en-US" dirty="0" err="1">
                <a:highlight>
                  <a:srgbClr val="FE0101"/>
                </a:highlight>
              </a:rPr>
              <a:t>gpurps</a:t>
            </a:r>
            <a:r>
              <a:rPr lang="en-US" dirty="0">
                <a:highlight>
                  <a:srgbClr val="FE0101"/>
                </a:highlight>
              </a:rPr>
              <a:t> this is more likely to find IO drivers. Cheak </a:t>
            </a:r>
            <a:r>
              <a:rPr lang="en-US" dirty="0" err="1">
                <a:highlight>
                  <a:srgbClr val="FE0101"/>
                </a:highlight>
              </a:rPr>
              <a:t>concectivity</a:t>
            </a:r>
            <a:r>
              <a:rPr lang="en-US" dirty="0">
                <a:highlight>
                  <a:srgbClr val="FE0101"/>
                </a:highlight>
              </a:rPr>
              <a:t>.  </a:t>
            </a:r>
            <a:r>
              <a:rPr lang="he-IL" dirty="0">
                <a:highlight>
                  <a:srgbClr val="FE0101"/>
                </a:highlight>
              </a:rPr>
              <a:t> </a:t>
            </a:r>
            <a:r>
              <a:rPr lang="en-US" dirty="0">
                <a:highlight>
                  <a:srgbClr val="FE0101"/>
                </a:highlight>
              </a:rPr>
              <a:t>Cheak </a:t>
            </a:r>
            <a:r>
              <a:rPr lang="en-US" dirty="0" err="1">
                <a:highlight>
                  <a:srgbClr val="FE0101"/>
                </a:highlight>
              </a:rPr>
              <a:t>prescnge</a:t>
            </a:r>
            <a:r>
              <a:rPr lang="en-US" dirty="0">
                <a:highlight>
                  <a:srgbClr val="FE0101"/>
                </a:highlight>
              </a:rPr>
              <a:t> of IO driver per level of k-core and k-shell. </a:t>
            </a:r>
            <a:r>
              <a:rPr lang="en-US" dirty="0" err="1">
                <a:highlight>
                  <a:srgbClr val="FE0101"/>
                </a:highlight>
              </a:rPr>
              <a:t>Prst</a:t>
            </a:r>
            <a:r>
              <a:rPr lang="en-US" dirty="0">
                <a:highlight>
                  <a:srgbClr val="FE0101"/>
                </a:highlight>
              </a:rPr>
              <a:t> on k-core and k-shell like in the </a:t>
            </a:r>
            <a:r>
              <a:rPr lang="en-US" dirty="0" err="1">
                <a:highlight>
                  <a:srgbClr val="FE0101"/>
                </a:highlight>
              </a:rPr>
              <a:t>witheade</a:t>
            </a:r>
            <a:r>
              <a:rPr lang="en-US" dirty="0">
                <a:highlight>
                  <a:srgbClr val="FE0101"/>
                </a:highlight>
              </a:rPr>
              <a:t> average in the all users in graph. </a:t>
            </a:r>
          </a:p>
          <a:p>
            <a:r>
              <a:rPr lang="en-US" b="1" dirty="0">
                <a:highlight>
                  <a:srgbClr val="FE0101"/>
                </a:highlight>
              </a:rPr>
              <a:t>H2</a:t>
            </a:r>
            <a:r>
              <a:rPr lang="en-US" dirty="0">
                <a:highlight>
                  <a:srgbClr val="FE0101"/>
                </a:highlight>
              </a:rPr>
              <a:t>: When grouping the graph to </a:t>
            </a:r>
            <a:r>
              <a:rPr lang="en-US" dirty="0" err="1">
                <a:highlight>
                  <a:srgbClr val="FE0101"/>
                </a:highlight>
              </a:rPr>
              <a:t>densce</a:t>
            </a:r>
            <a:r>
              <a:rPr lang="en-US" dirty="0">
                <a:highlight>
                  <a:srgbClr val="FE0101"/>
                </a:highlight>
              </a:rPr>
              <a:t> group we want to </a:t>
            </a:r>
            <a:r>
              <a:rPr lang="en-US" dirty="0" err="1">
                <a:highlight>
                  <a:srgbClr val="FE0101"/>
                </a:highlight>
              </a:rPr>
              <a:t>cheak</a:t>
            </a:r>
            <a:r>
              <a:rPr lang="en-US" dirty="0">
                <a:highlight>
                  <a:srgbClr val="FE0101"/>
                </a:highlight>
              </a:rPr>
              <a:t> if in different </a:t>
            </a:r>
            <a:r>
              <a:rPr lang="en-US" dirty="0" err="1">
                <a:highlight>
                  <a:srgbClr val="FE0101"/>
                </a:highlight>
              </a:rPr>
              <a:t>grpups</a:t>
            </a:r>
            <a:r>
              <a:rPr lang="en-US" dirty="0">
                <a:highlight>
                  <a:srgbClr val="FE0101"/>
                </a:highlight>
              </a:rPr>
              <a:t> have more IO driver and in some </a:t>
            </a:r>
            <a:r>
              <a:rPr lang="en-US" dirty="0" err="1">
                <a:highlight>
                  <a:srgbClr val="FE0101"/>
                </a:highlight>
              </a:rPr>
              <a:t>grpup</a:t>
            </a:r>
            <a:r>
              <a:rPr lang="en-US" dirty="0">
                <a:highlight>
                  <a:srgbClr val="FE0101"/>
                </a:highlight>
              </a:rPr>
              <a:t>. The IO driver are not </a:t>
            </a:r>
            <a:r>
              <a:rPr lang="en-US" dirty="0" err="1">
                <a:highlight>
                  <a:srgbClr val="FE0101"/>
                </a:highlight>
              </a:rPr>
              <a:t>disptrebutied</a:t>
            </a:r>
            <a:r>
              <a:rPr lang="en-US" dirty="0">
                <a:highlight>
                  <a:srgbClr val="FE0101"/>
                </a:highlight>
              </a:rPr>
              <a:t> </a:t>
            </a:r>
            <a:r>
              <a:rPr lang="en-US" dirty="0" err="1">
                <a:highlight>
                  <a:srgbClr val="FE0101"/>
                </a:highlight>
              </a:rPr>
              <a:t>evenaly</a:t>
            </a:r>
            <a:r>
              <a:rPr lang="en-US" dirty="0">
                <a:highlight>
                  <a:srgbClr val="FE0101"/>
                </a:highlight>
              </a:rPr>
              <a:t>.  Use community </a:t>
            </a:r>
            <a:r>
              <a:rPr lang="en-US" dirty="0" err="1">
                <a:highlight>
                  <a:srgbClr val="FE0101"/>
                </a:highlight>
              </a:rPr>
              <a:t>detaction</a:t>
            </a:r>
            <a:r>
              <a:rPr lang="en-US" dirty="0">
                <a:highlight>
                  <a:srgbClr val="FE0101"/>
                </a:highlight>
              </a:rPr>
              <a:t> and look at the IO driver percentage on each </a:t>
            </a:r>
            <a:r>
              <a:rPr lang="en-US" dirty="0" err="1">
                <a:highlight>
                  <a:srgbClr val="FE0101"/>
                </a:highlight>
              </a:rPr>
              <a:t>ecommunity</a:t>
            </a:r>
            <a:r>
              <a:rPr lang="en-US" dirty="0">
                <a:highlight>
                  <a:srgbClr val="FE0101"/>
                </a:highlight>
              </a:rPr>
              <a:t>.</a:t>
            </a:r>
          </a:p>
          <a:p>
            <a:r>
              <a:rPr lang="en-US" b="1" dirty="0">
                <a:highlight>
                  <a:srgbClr val="FE0101"/>
                </a:highlight>
              </a:rPr>
              <a:t>H3</a:t>
            </a:r>
            <a:r>
              <a:rPr lang="en-US" dirty="0">
                <a:highlight>
                  <a:srgbClr val="FE0101"/>
                </a:highlight>
              </a:rPr>
              <a:t>: matching cohort for IO drivers. So in key score is </a:t>
            </a:r>
            <a:r>
              <a:rPr lang="en-US" dirty="0" err="1">
                <a:highlight>
                  <a:srgbClr val="FE0101"/>
                </a:highlight>
              </a:rPr>
              <a:t>macht</a:t>
            </a:r>
            <a:r>
              <a:rPr lang="en-US" dirty="0">
                <a:highlight>
                  <a:srgbClr val="FE0101"/>
                </a:highlight>
              </a:rPr>
              <a:t> to the IO driver when dealing with authors with similar </a:t>
            </a:r>
            <a:r>
              <a:rPr lang="en-US" dirty="0" err="1">
                <a:highlight>
                  <a:srgbClr val="FE0101"/>
                </a:highlight>
              </a:rPr>
              <a:t>attrivtution</a:t>
            </a:r>
            <a:r>
              <a:rPr lang="en-US" dirty="0">
                <a:highlight>
                  <a:srgbClr val="FE0101"/>
                </a:highlight>
              </a:rPr>
              <a:t> (number of posts, degree </a:t>
            </a:r>
            <a:r>
              <a:rPr lang="en-US" dirty="0" err="1">
                <a:highlight>
                  <a:srgbClr val="FE0101"/>
                </a:highlight>
              </a:rPr>
              <a:t>centralty</a:t>
            </a:r>
            <a:r>
              <a:rPr lang="en-US" dirty="0">
                <a:highlight>
                  <a:srgbClr val="FE0101"/>
                </a:highlight>
              </a:rPr>
              <a:t>….).</a:t>
            </a:r>
          </a:p>
          <a:p>
            <a:endParaRPr lang="en-US" dirty="0">
              <a:highlight>
                <a:srgbClr val="FE0101"/>
              </a:highlight>
            </a:endParaRPr>
          </a:p>
          <a:p>
            <a:r>
              <a:rPr lang="en-GB" sz="2000" b="1" strike="sngStrike" dirty="0">
                <a:highlight>
                  <a:srgbClr val="FE0101"/>
                </a:highlight>
              </a:rPr>
              <a:t>H3.1 (</a:t>
            </a:r>
            <a:r>
              <a:rPr lang="en-GB" sz="2100" b="1" strike="sngStrike" dirty="0">
                <a:highlight>
                  <a:srgbClr val="FE0101"/>
                </a:highlight>
              </a:rPr>
              <a:t>Narrative </a:t>
            </a:r>
            <a:r>
              <a:rPr lang="en-GB" sz="2000" b="1" strike="sngStrike" dirty="0">
                <a:highlight>
                  <a:srgbClr val="FE0101"/>
                </a:highlight>
              </a:rPr>
              <a:t>Amplification</a:t>
            </a:r>
            <a:r>
              <a:rPr lang="en-GB" sz="2100" b="1" strike="sngStrike" dirty="0">
                <a:highlight>
                  <a:srgbClr val="FE0101"/>
                </a:highlight>
              </a:rPr>
              <a:t> Hypothesis</a:t>
            </a:r>
            <a:r>
              <a:rPr lang="en-GB" sz="2000" b="1" strike="sngStrike" dirty="0">
                <a:highlight>
                  <a:srgbClr val="FE0101"/>
                </a:highlight>
              </a:rPr>
              <a:t>):</a:t>
            </a:r>
          </a:p>
          <a:p>
            <a:pPr lvl="1"/>
            <a:r>
              <a:rPr lang="en-GB" sz="1600" strike="sngStrike" dirty="0">
                <a:highlight>
                  <a:srgbClr val="FE0101"/>
                </a:highlight>
              </a:rPr>
              <a:t>IO drivers tend to lead topic narratives in online discussions.</a:t>
            </a:r>
          </a:p>
          <a:p>
            <a:pPr lvl="1"/>
            <a:r>
              <a:rPr lang="en-GB" sz="1600" strike="sngStrike" dirty="0">
                <a:highlight>
                  <a:srgbClr val="FE0101"/>
                </a:highlight>
              </a:rPr>
              <a:t>Evaluation: Compare the mean key score between IO and non-IO users while controlling for activity and structural factors (e.g., posts, degree in graph).</a:t>
            </a:r>
          </a:p>
          <a:p>
            <a:pPr lvl="1"/>
            <a:r>
              <a:rPr lang="en-GB" sz="1600" strike="sngStrike" dirty="0">
                <a:highlight>
                  <a:srgbClr val="FE0101"/>
                </a:highlight>
              </a:rPr>
              <a:t>Statistical test: paired t-test.</a:t>
            </a:r>
            <a:endParaRPr lang="en-US" dirty="0">
              <a:highlight>
                <a:srgbClr val="FE0101"/>
              </a:highlight>
            </a:endParaRPr>
          </a:p>
          <a:p>
            <a:endParaRPr lang="en-US" dirty="0">
              <a:highlight>
                <a:srgbClr val="FE0101"/>
              </a:highlight>
            </a:endParaRPr>
          </a:p>
          <a:p>
            <a:endParaRPr lang="en-US" dirty="0">
              <a:highlight>
                <a:srgbClr val="FE0101"/>
              </a:highlight>
            </a:endParaRPr>
          </a:p>
          <a:p>
            <a:r>
              <a:rPr lang="en-US" dirty="0">
                <a:highlight>
                  <a:srgbClr val="FE0101"/>
                </a:highlight>
              </a:rPr>
              <a:t>Objective: Run classification model with and </a:t>
            </a:r>
            <a:r>
              <a:rPr lang="en-US" dirty="0" err="1">
                <a:highlight>
                  <a:srgbClr val="FE0101"/>
                </a:highlight>
              </a:rPr>
              <a:t>withput</a:t>
            </a:r>
            <a:r>
              <a:rPr lang="en-US" dirty="0">
                <a:highlight>
                  <a:srgbClr val="FE0101"/>
                </a:highlight>
              </a:rPr>
              <a:t> degree </a:t>
            </a:r>
            <a:r>
              <a:rPr lang="en-US" dirty="0" err="1">
                <a:highlight>
                  <a:srgbClr val="FE0101"/>
                </a:highlight>
              </a:rPr>
              <a:t>centralty</a:t>
            </a:r>
            <a:r>
              <a:rPr lang="en-US" dirty="0">
                <a:highlight>
                  <a:srgbClr val="FE0101"/>
                </a:highlight>
              </a:rPr>
              <a:t> and such. Only k-core. See the different  in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80FF7-B252-DBE8-D483-F826D8B4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21941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79D37-FDD0-4FDB-22AF-A9CB59A3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1F63-385C-16D4-F4A0-C52A181A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9C492-8B5E-7A0D-6094-43A9659C7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r>
              <a:rPr lang="en-GB" b="1" dirty="0"/>
              <a:t>H1 (Dense Community Hypothesis):</a:t>
            </a:r>
          </a:p>
          <a:p>
            <a:pPr lvl="1"/>
            <a:r>
              <a:rPr lang="en-GB" sz="1800" dirty="0"/>
              <a:t>IO drivers are more likely to appear in densely connected regions of the co-action graph.</a:t>
            </a:r>
          </a:p>
          <a:p>
            <a:pPr lvl="1"/>
            <a:r>
              <a:rPr lang="en-GB" sz="1800" dirty="0"/>
              <a:t>Evaluation: Compare IO driver probability across core-number values.</a:t>
            </a:r>
          </a:p>
          <a:p>
            <a:pPr lvl="1"/>
            <a:r>
              <a:rPr lang="en-GB" sz="1800" dirty="0"/>
              <a:t>Statistical test: Binomial Logistic Regression (Wald test on coefficient).</a:t>
            </a:r>
          </a:p>
          <a:p>
            <a:pPr lvl="2"/>
            <a:r>
              <a:rPr lang="en-GB" sz="1600" dirty="0"/>
              <a:t>Dependent variable: IO status (categorical, 0/1).</a:t>
            </a:r>
          </a:p>
          <a:p>
            <a:pPr lvl="2"/>
            <a:r>
              <a:rPr lang="en-GB" sz="1600" dirty="0"/>
              <a:t>Independent variable:  k-core values (numeric, discrete non-negative).</a:t>
            </a:r>
          </a:p>
          <a:p>
            <a:pPr marL="914400" lvl="2" indent="0">
              <a:buNone/>
            </a:pPr>
            <a:endParaRPr lang="en-GB" sz="1600" dirty="0"/>
          </a:p>
          <a:p>
            <a:r>
              <a:rPr lang="en-GB" b="1" dirty="0"/>
              <a:t>H2 (Community Heterogeneity Hypothesis):</a:t>
            </a:r>
          </a:p>
          <a:p>
            <a:pPr lvl="1"/>
            <a:r>
              <a:rPr lang="en-GB" sz="1800" dirty="0"/>
              <a:t>IO drivers are non-uniformly distributed across communities in the co-action graph.</a:t>
            </a:r>
          </a:p>
          <a:p>
            <a:pPr lvl="1"/>
            <a:r>
              <a:rPr lang="en-GB" sz="1800" dirty="0"/>
              <a:t>Evaluation: Compare IO driver probability across different communities.  Communities partition by authors’ top topic using the key score.</a:t>
            </a:r>
          </a:p>
          <a:p>
            <a:pPr lvl="1"/>
            <a:r>
              <a:rPr lang="en-GB" sz="1800" dirty="0"/>
              <a:t>Statistical test: permutation-based chi-square test of homogeneity.</a:t>
            </a:r>
          </a:p>
          <a:p>
            <a:pPr lvl="2"/>
            <a:r>
              <a:rPr lang="en-GB" sz="1600" dirty="0"/>
              <a:t>Dependent variable: IO status (categorical, 0/1).</a:t>
            </a:r>
          </a:p>
          <a:p>
            <a:pPr lvl="2"/>
            <a:r>
              <a:rPr lang="en-GB" sz="1600" dirty="0"/>
              <a:t>Independent variable: community membership (categorical).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C1904-85A5-17A9-D76F-1D73D9BDA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4094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8447-0015-D6D2-C229-D211C270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829A-4CDE-DD43-6803-D86C1C99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H1 (Dense Community Hypothesis)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1276-3E86-0A50-539A-805A6ACFD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r>
              <a:rPr lang="en-GB" b="1" dirty="0"/>
              <a:t>H1 (Dense Community Hypothesis):</a:t>
            </a:r>
          </a:p>
          <a:p>
            <a:pPr lvl="1"/>
            <a:r>
              <a:rPr lang="en-GB" sz="1800" dirty="0"/>
              <a:t>IO drivers are more likely to appear in densely connected regions of the co-action graph.</a:t>
            </a:r>
          </a:p>
          <a:p>
            <a:pPr lvl="1"/>
            <a:r>
              <a:rPr lang="en-GB" sz="1800" dirty="0"/>
              <a:t>Evaluation: Compare IO driver probability across core-number values.</a:t>
            </a:r>
          </a:p>
          <a:p>
            <a:pPr lvl="1"/>
            <a:r>
              <a:rPr lang="en-GB" sz="1800" dirty="0"/>
              <a:t>Statistical test: Binomial Logistic Regression (Wald test on coefficient).</a:t>
            </a:r>
          </a:p>
          <a:p>
            <a:pPr lvl="2"/>
            <a:r>
              <a:rPr lang="en-GB" sz="1600" dirty="0"/>
              <a:t>Dependent variable: IO status (categorical, 0/1).</a:t>
            </a:r>
          </a:p>
          <a:p>
            <a:pPr lvl="2"/>
            <a:r>
              <a:rPr lang="en-GB" sz="1600" dirty="0"/>
              <a:t>Independent variable:  k-core values (numeric, discrete non-negative).</a:t>
            </a:r>
          </a:p>
          <a:p>
            <a:pPr marL="914400" lvl="2" indent="0">
              <a:buNone/>
            </a:pPr>
            <a:endParaRPr lang="en-GB" sz="2000" dirty="0"/>
          </a:p>
          <a:p>
            <a:r>
              <a:rPr lang="en-GB" sz="2000" dirty="0"/>
              <a:t>H1 (Embedding Hypothesis) tests whether users who are more deeply embedded in dense regions of the co-action graph are more likely to be IO drivers. </a:t>
            </a:r>
          </a:p>
          <a:p>
            <a:r>
              <a:rPr lang="en-GB" sz="2000" dirty="0"/>
              <a:t>The intuition is that IO actors often rely on repeated coordination and mutual amplification, which necessarily</a:t>
            </a:r>
            <a:r>
              <a:rPr lang="he-IL" sz="2000" dirty="0"/>
              <a:t> </a:t>
            </a:r>
            <a:r>
              <a:rPr lang="en-GB" sz="2000" dirty="0"/>
              <a:t>places them inside tightly connected groups rather than at the network’s periphery.</a:t>
            </a:r>
          </a:p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DE9CA-C86F-BA6D-A5C2-2D13844B6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6308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CF90-7B3A-775B-2776-0CAB7962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111C-2932-64BE-E9B6-61A8C23D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H1 (Dense Community Hypothesis)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CF4D89-8A67-D062-EBBF-D4F074BB9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3" y="1725312"/>
            <a:ext cx="5341739" cy="2602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902111-6A7F-86D4-745C-8BEF6E3D0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964" y="1725311"/>
            <a:ext cx="5341739" cy="26023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7708B-BBF5-B023-9E60-48D8195BE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05FAD-2A0B-E49B-2DDF-1D7EC792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24</a:t>
            </a:fld>
            <a:endParaRPr lang="he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2664B2-B8A2-28AB-6C23-33AD907AE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366" y="4327698"/>
            <a:ext cx="4891351" cy="243230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15FE9DF-CB6E-AF2A-8056-A91278FA84AA}"/>
              </a:ext>
            </a:extLst>
          </p:cNvPr>
          <p:cNvSpPr/>
          <p:nvPr/>
        </p:nvSpPr>
        <p:spPr>
          <a:xfrm>
            <a:off x="6899024" y="6456649"/>
            <a:ext cx="408562" cy="130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08A51A-3852-434B-8630-2873F7249398}"/>
              </a:ext>
            </a:extLst>
          </p:cNvPr>
          <p:cNvSpPr/>
          <p:nvPr/>
        </p:nvSpPr>
        <p:spPr>
          <a:xfrm>
            <a:off x="4952834" y="6463135"/>
            <a:ext cx="408562" cy="130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590EB-1027-6A6B-5879-1EF12319137B}"/>
              </a:ext>
            </a:extLst>
          </p:cNvPr>
          <p:cNvSpPr txBox="1"/>
          <p:nvPr/>
        </p:nvSpPr>
        <p:spPr>
          <a:xfrm>
            <a:off x="1614792" y="5233460"/>
            <a:ext cx="2091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binomial logistic regression with a Wald test on the coefficient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5DE13-12C6-7928-ACF6-3FB80EAFF854}"/>
              </a:ext>
            </a:extLst>
          </p:cNvPr>
          <p:cNvSpPr txBox="1"/>
          <p:nvPr/>
        </p:nvSpPr>
        <p:spPr>
          <a:xfrm>
            <a:off x="5157115" y="1456291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3455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B34D-2D7A-F556-495E-0CBC9610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AEA69D-040E-DE12-FF0B-4330D7D1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7" y="2061292"/>
            <a:ext cx="5826623" cy="2735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1F8EA2-71D6-580F-81B8-0F2F2C7F4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073" y="2114567"/>
            <a:ext cx="5599670" cy="2628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8FD990-DDE6-CBC9-B3A6-00D4121D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H1 (Dense Community Hypothesis)</a:t>
            </a:r>
            <a:br>
              <a:rPr lang="en-GB" dirty="0"/>
            </a:br>
            <a:r>
              <a:rPr lang="en-GB" sz="2400" dirty="0"/>
              <a:t>group mode: smaller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5D22E-3792-2DD2-21B2-D8ADB8E1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BD006-7CBF-5F23-2244-43E7DEA5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25</a:t>
            </a:fld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F8192-2756-715E-FCCA-8DD01E5AA434}"/>
              </a:ext>
            </a:extLst>
          </p:cNvPr>
          <p:cNvSpPr txBox="1"/>
          <p:nvPr/>
        </p:nvSpPr>
        <p:spPr>
          <a:xfrm>
            <a:off x="1527433" y="5217459"/>
            <a:ext cx="707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Group mode: smaller</a:t>
            </a:r>
            <a:r>
              <a:rPr lang="en-GB" dirty="0"/>
              <a:t> - each point represents authors whose indicator value is </a:t>
            </a:r>
            <a:r>
              <a:rPr lang="en-GB" b="1" dirty="0"/>
              <a:t>less than</a:t>
            </a:r>
            <a:r>
              <a:rPr lang="en-GB" dirty="0"/>
              <a:t> the x-axis value.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45B88-BBA4-ED58-4469-C910CCAA9BA6}"/>
              </a:ext>
            </a:extLst>
          </p:cNvPr>
          <p:cNvSpPr txBox="1"/>
          <p:nvPr/>
        </p:nvSpPr>
        <p:spPr>
          <a:xfrm>
            <a:off x="5234722" y="1639613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53363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6A3C-FA4E-8A3B-4630-F74A2E6B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FA72677-3325-6398-7663-469EB22FC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7" y="2061291"/>
            <a:ext cx="5826623" cy="26821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6DC0B2-A5D7-A044-A129-CDA32CD95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072" y="2114566"/>
            <a:ext cx="5502631" cy="2628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7DF0BD-08C1-10F8-3D4C-43FAC8A35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H1 (Dense Community Hypothesis)</a:t>
            </a:r>
            <a:br>
              <a:rPr lang="en-GB" dirty="0"/>
            </a:br>
            <a:r>
              <a:rPr lang="en-GB" sz="2400" dirty="0"/>
              <a:t>group mode: larger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6902-EE53-15E0-7276-84B91C2D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54786-E567-7FB2-3611-0BF71121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26</a:t>
            </a:fld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0AEB7-A966-0EF2-9024-9D5E45B5C74D}"/>
              </a:ext>
            </a:extLst>
          </p:cNvPr>
          <p:cNvSpPr txBox="1"/>
          <p:nvPr/>
        </p:nvSpPr>
        <p:spPr>
          <a:xfrm>
            <a:off x="1527433" y="5217459"/>
            <a:ext cx="707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Group mode: larger</a:t>
            </a:r>
            <a:r>
              <a:rPr lang="en-GB" dirty="0"/>
              <a:t> - each point represents authors whose indicator value is </a:t>
            </a:r>
            <a:r>
              <a:rPr lang="en-GB" b="1" dirty="0"/>
              <a:t>greater than</a:t>
            </a:r>
            <a:r>
              <a:rPr lang="en-GB" dirty="0"/>
              <a:t> the x-axis value.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E996F-E3AA-95C2-9F95-422FEB9EECC5}"/>
              </a:ext>
            </a:extLst>
          </p:cNvPr>
          <p:cNvSpPr txBox="1"/>
          <p:nvPr/>
        </p:nvSpPr>
        <p:spPr>
          <a:xfrm>
            <a:off x="5234722" y="1639613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6929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0E60FB-8F62-AB25-20A5-834F5AB27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C9E28F-DC9E-6200-BAA1-F36B99B4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4" y="1719075"/>
            <a:ext cx="5466053" cy="25993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6B1B65-55BB-6D43-1801-5D099F72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767" y="1719074"/>
            <a:ext cx="5532904" cy="25951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B270F8-B3F6-1AF9-44CF-5C1D6F49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H1 (Dense Community Hypothesis)</a:t>
            </a:r>
            <a:br>
              <a:rPr lang="en-GB" dirty="0"/>
            </a:br>
            <a:r>
              <a:rPr lang="en-GB" sz="2400" dirty="0"/>
              <a:t>20 bins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79777-0C37-4726-6532-D55678A50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29D34-003B-6A59-7431-DAD3E9A30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27</a:t>
            </a:fld>
            <a:endParaRPr lang="he-IL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D5307EF-BD5B-AB5C-BEF8-4DC696498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648" y="4506141"/>
            <a:ext cx="4935991" cy="22714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8B6C14E-F690-48FF-9517-8FD655C6A719}"/>
              </a:ext>
            </a:extLst>
          </p:cNvPr>
          <p:cNvSpPr/>
          <p:nvPr/>
        </p:nvSpPr>
        <p:spPr>
          <a:xfrm>
            <a:off x="6906644" y="6433789"/>
            <a:ext cx="408562" cy="130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702C44-0199-6724-A882-0A681319013E}"/>
              </a:ext>
            </a:extLst>
          </p:cNvPr>
          <p:cNvSpPr/>
          <p:nvPr/>
        </p:nvSpPr>
        <p:spPr>
          <a:xfrm>
            <a:off x="4899494" y="6440275"/>
            <a:ext cx="408562" cy="130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41AECF-4B97-AEA4-D54F-76B61829D5B7}"/>
              </a:ext>
            </a:extLst>
          </p:cNvPr>
          <p:cNvSpPr txBox="1"/>
          <p:nvPr/>
        </p:nvSpPr>
        <p:spPr>
          <a:xfrm>
            <a:off x="1614792" y="5233460"/>
            <a:ext cx="2091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binomial logistic regression with a Wald test on the coefficient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86872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3709-FABF-B0F9-3892-EB8FC37C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7F10-B6D3-30EC-51D8-F32B3F77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H2 (Community Heterogeneity)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5EDBB-C29A-FC8C-903C-5AE8C381E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r>
              <a:rPr lang="en-GB" sz="2100" b="1" dirty="0"/>
              <a:t>H2 (Community Heterogeneity Hypothesis):</a:t>
            </a:r>
          </a:p>
          <a:p>
            <a:pPr lvl="1"/>
            <a:r>
              <a:rPr lang="en-GB" dirty="0"/>
              <a:t>IO drivers are non-uniformly distributed across communities in the co-action graph.</a:t>
            </a:r>
          </a:p>
          <a:p>
            <a:pPr lvl="1"/>
            <a:r>
              <a:rPr lang="en-GB" dirty="0"/>
              <a:t>Evaluation: Compare IO driver probability across different communities. Communities partition by authors’ top topic and by Louvain algorithm .</a:t>
            </a:r>
          </a:p>
          <a:p>
            <a:pPr lvl="1"/>
            <a:r>
              <a:rPr lang="en-GB" dirty="0"/>
              <a:t>Statistical test: permutation-based chi-square test of homogeneity.</a:t>
            </a:r>
          </a:p>
          <a:p>
            <a:pPr lvl="2"/>
            <a:r>
              <a:rPr lang="en-GB" sz="2000" dirty="0"/>
              <a:t>Dependent variable: IO status (categorical, 0/1).</a:t>
            </a:r>
          </a:p>
          <a:p>
            <a:pPr lvl="2"/>
            <a:r>
              <a:rPr lang="en-GB" sz="2000" dirty="0"/>
              <a:t>Independent variable: community membership (categorical).</a:t>
            </a:r>
          </a:p>
          <a:p>
            <a:pPr marL="914400" lvl="2" indent="0">
              <a:buNone/>
            </a:pPr>
            <a:endParaRPr lang="en-GB" sz="2000" dirty="0"/>
          </a:p>
          <a:p>
            <a:r>
              <a:rPr lang="en-GB" sz="2000" dirty="0"/>
              <a:t>H2 (Community Heterogeneity Hypothesis) tests whether IO drivers are concentrated in specific communities\topics rather than being evenly spread across the co-action graph. </a:t>
            </a:r>
          </a:p>
          <a:p>
            <a:r>
              <a:rPr lang="en-GB" sz="2000" dirty="0"/>
              <a:t>The intuition is that </a:t>
            </a:r>
            <a:r>
              <a:rPr lang="en-GB" sz="2000" b="1" dirty="0"/>
              <a:t>IO actors often act around shared narratives</a:t>
            </a:r>
            <a:r>
              <a:rPr lang="en-GB" sz="2000" dirty="0"/>
              <a:t>, goals, or audiences, which leads them to cluster in particular communities. If this is true, some communities should show a higher probability of containing IO drivers than others. </a:t>
            </a:r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690F6-6F08-6103-BCF9-9CF22A67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0511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BF4E-7108-2323-50B9-B299E0F7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40EF-88BE-45CB-04B1-0479D441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H2 (Community Heterogeneity)</a:t>
            </a:r>
            <a:br>
              <a:rPr lang="en-GB" dirty="0"/>
            </a:br>
            <a:r>
              <a:rPr lang="en-GB" sz="2400" dirty="0"/>
              <a:t>for top topic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7EAC1-12A2-0982-3EFA-E5D8BC96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3CE5B4-38A1-B871-8C13-662C34542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33" y="1727200"/>
            <a:ext cx="5466054" cy="2662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FEC5E4-C022-86B2-13A0-80B177296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65" y="1825624"/>
            <a:ext cx="5573473" cy="24974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018E8D-D283-E350-F4BD-8F2BE1A6CB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373" y="4476103"/>
            <a:ext cx="5857184" cy="235367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DCC65-5708-5FCD-DD0E-5B5FD87B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29</a:t>
            </a:fld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E9223-F5FB-C5EE-02F4-57334A7306EC}"/>
              </a:ext>
            </a:extLst>
          </p:cNvPr>
          <p:cNvSpPr/>
          <p:nvPr/>
        </p:nvSpPr>
        <p:spPr>
          <a:xfrm>
            <a:off x="1120588" y="4033222"/>
            <a:ext cx="4688541" cy="126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494D57-CEF3-F549-B464-37BE5BB30D8F}"/>
              </a:ext>
            </a:extLst>
          </p:cNvPr>
          <p:cNvSpPr/>
          <p:nvPr/>
        </p:nvSpPr>
        <p:spPr>
          <a:xfrm>
            <a:off x="7040163" y="3970021"/>
            <a:ext cx="4688541" cy="126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5EC38-E44B-FF4F-E1BB-5DB742F1C19B}"/>
              </a:ext>
            </a:extLst>
          </p:cNvPr>
          <p:cNvSpPr txBox="1"/>
          <p:nvPr/>
        </p:nvSpPr>
        <p:spPr>
          <a:xfrm>
            <a:off x="5234722" y="1639613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91405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327A6-4C1E-849F-AB71-C93216368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FE43E6-846E-68E9-940A-E0CB32A3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Choosing System Configuration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CAB681-A9A7-5A90-DF29-6F2A3ED20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88C4E-853C-EB37-9539-77ACFE69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42490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FE93D-38D9-002B-94F2-E364104B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3F19-8076-0BAE-85F2-D7E0AF3CD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Hyper-Parameter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C4C69-AEC0-7D9E-04AD-2DD81D994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599481"/>
            <a:ext cx="6701378" cy="487997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Runs the same pipeline across multiple configurations:</a:t>
            </a:r>
          </a:p>
          <a:p>
            <a:pPr lvl="1"/>
            <a:r>
              <a:rPr lang="en-GB" dirty="0"/>
              <a:t>Topic column (model + model’s parameter)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Top percentage (the percentage of getting the key and boost authors by relevant the score)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Key authors mode (per-topic / global)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GB" dirty="0"/>
              <a:t>Note: In per-topic mode, overlap between topics may result selecting more than X% of global authors.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Graph type (directed / undirected)</a:t>
            </a:r>
          </a:p>
          <a:p>
            <a:r>
              <a:rPr lang="en-GB" dirty="0"/>
              <a:t>For each configuration:</a:t>
            </a:r>
          </a:p>
          <a:p>
            <a:pPr lvl="1"/>
            <a:r>
              <a:rPr lang="en-GB" dirty="0"/>
              <a:t>Train models: Random Forest, </a:t>
            </a:r>
            <a:r>
              <a:rPr lang="en-GB" dirty="0" err="1"/>
              <a:t>XGBoost</a:t>
            </a:r>
            <a:r>
              <a:rPr lang="en-GB" dirty="0"/>
              <a:t>, Logistic Regression </a:t>
            </a:r>
          </a:p>
          <a:p>
            <a:pPr lvl="1"/>
            <a:r>
              <a:rPr lang="en-GB" dirty="0"/>
              <a:t>Report model </a:t>
            </a:r>
            <a:r>
              <a:rPr lang="en-GB" dirty="0" err="1"/>
              <a:t>auc</a:t>
            </a:r>
            <a:r>
              <a:rPr lang="en-GB" dirty="0"/>
              <a:t> and best AUC.</a:t>
            </a:r>
          </a:p>
          <a:p>
            <a:r>
              <a:rPr lang="en-GB" dirty="0"/>
              <a:t>AUC is computed for two populations</a:t>
            </a:r>
            <a:r>
              <a:rPr lang="he-IL" dirty="0"/>
              <a:t>/</a:t>
            </a:r>
            <a:r>
              <a:rPr lang="en-GB" dirty="0"/>
              <a:t>universe: </a:t>
            </a:r>
          </a:p>
          <a:p>
            <a:pPr lvl="1"/>
            <a:r>
              <a:rPr lang="en-GB" dirty="0"/>
              <a:t>Key authors - accounts in the filtered graph (key authors + boost authors).</a:t>
            </a:r>
          </a:p>
          <a:p>
            <a:pPr lvl="1"/>
            <a:r>
              <a:rPr lang="en-GB" dirty="0"/>
              <a:t>All authors - all accounts in dataset (missing authors filled with zero features).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5ED08-9E13-07D7-A863-5769EC08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31</a:t>
            </a:fld>
            <a:endParaRPr lang="he-IL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A27291C-E2B9-F697-75B6-15DAA17224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7" b="17427"/>
          <a:stretch>
            <a:fillRect/>
          </a:stretch>
        </p:blipFill>
        <p:spPr bwMode="auto">
          <a:xfrm>
            <a:off x="7944465" y="1784350"/>
            <a:ext cx="3739018" cy="4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B23BE1-EA7F-FC4F-0F68-099689985FBE}"/>
              </a:ext>
            </a:extLst>
          </p:cNvPr>
          <p:cNvSpPr txBox="1"/>
          <p:nvPr/>
        </p:nvSpPr>
        <p:spPr>
          <a:xfrm>
            <a:off x="10348119" y="1838324"/>
            <a:ext cx="1335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(configuration)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3782000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FBC96-B8B6-8D83-4AF3-948D70C0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3AB6-7C41-BC86-A2FA-468C7C4E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 Sweep AUC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6D5AE7-AEBB-1627-0266-1D325F60F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663" y="1508964"/>
            <a:ext cx="9659254" cy="48013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98692-CDEA-CEE4-3068-F43DA574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5319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3540-AC2F-BBC9-B8D2-C3B7CEFD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Final Configuration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96199-A430-7029-57F9-FA3DFDA7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33</a:t>
            </a:fld>
            <a:endParaRPr lang="he-IL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6F6AAC4-42BF-AB04-3506-62B2CC07F5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034716"/>
              </p:ext>
            </p:extLst>
          </p:nvPr>
        </p:nvGraphicFramePr>
        <p:xfrm>
          <a:off x="1243087" y="1825625"/>
          <a:ext cx="1058265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66135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4D0C-6CD6-808F-E4E8-A28B273B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B16EAC-B8F8-7A14-BDEB-F58F0A7F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10701388" cy="2852737"/>
          </a:xfrm>
        </p:spPr>
        <p:txBody>
          <a:bodyPr/>
          <a:lstStyle/>
          <a:p>
            <a:r>
              <a:rPr lang="en-GB" dirty="0"/>
              <a:t>Data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4C2AF8-7132-5B8B-C8CC-6D2002FDD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B8275-863E-14FC-877A-69874408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4488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79A7-305F-94A8-D7C0-6F1B310D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C3DF54D3-95AD-FB1D-399F-66D21CF64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" r="74883" b="5951"/>
          <a:stretch>
            <a:fillRect/>
          </a:stretch>
        </p:blipFill>
        <p:spPr>
          <a:xfrm>
            <a:off x="4666577" y="1411164"/>
            <a:ext cx="2425816" cy="51226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AB0785-CB32-86E5-9537-8877BB03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Required Data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4B8F0-8D22-D762-516E-5C322DD8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35</a:t>
            </a:fld>
            <a:endParaRPr lang="he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FE1656-B378-A18C-9A52-DDECEF7BE08E}"/>
              </a:ext>
            </a:extLst>
          </p:cNvPr>
          <p:cNvSpPr/>
          <p:nvPr/>
        </p:nvSpPr>
        <p:spPr>
          <a:xfrm>
            <a:off x="4666577" y="1971294"/>
            <a:ext cx="2506486" cy="258277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10ABFC-90D4-813F-036B-4A6DE16C7151}"/>
              </a:ext>
            </a:extLst>
          </p:cNvPr>
          <p:cNvSpPr/>
          <p:nvPr/>
        </p:nvSpPr>
        <p:spPr>
          <a:xfrm>
            <a:off x="4666577" y="4788883"/>
            <a:ext cx="2506486" cy="174497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F61F64-8A29-85EC-13E0-02F91A4F5367}"/>
              </a:ext>
            </a:extLst>
          </p:cNvPr>
          <p:cNvSpPr txBox="1"/>
          <p:nvPr/>
        </p:nvSpPr>
        <p:spPr>
          <a:xfrm>
            <a:off x="8613263" y="1810698"/>
            <a:ext cx="151638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BGU OUTPUT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0B68BE-E5A0-8952-6221-6DC069BB8078}"/>
              </a:ext>
            </a:extLst>
          </p:cNvPr>
          <p:cNvSpPr txBox="1"/>
          <p:nvPr/>
        </p:nvSpPr>
        <p:spPr>
          <a:xfrm>
            <a:off x="8613263" y="1411164"/>
            <a:ext cx="1516379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BGU INPUT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97892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1D72-4134-AB7E-1B0A-64CFD080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590" y="398183"/>
            <a:ext cx="8753475" cy="1325563"/>
          </a:xfrm>
        </p:spPr>
        <p:txBody>
          <a:bodyPr>
            <a:normAutofit/>
          </a:bodyPr>
          <a:lstStyle/>
          <a:p>
            <a:r>
              <a:rPr lang="en-US" dirty="0"/>
              <a:t>Datasets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44F5D-1213-B7D4-11B6-681FD5C8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36</a:t>
            </a:fld>
            <a:endParaRPr lang="he-I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CB54C2-7A31-3765-2BD6-58614883B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883133"/>
              </p:ext>
            </p:extLst>
          </p:nvPr>
        </p:nvGraphicFramePr>
        <p:xfrm>
          <a:off x="1296561" y="1594306"/>
          <a:ext cx="10601378" cy="4404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0689">
                  <a:extLst>
                    <a:ext uri="{9D8B030D-6E8A-4147-A177-3AD203B41FA5}">
                      <a16:colId xmlns:a16="http://schemas.microsoft.com/office/drawing/2014/main" val="2664862571"/>
                    </a:ext>
                  </a:extLst>
                </a:gridCol>
                <a:gridCol w="5300689">
                  <a:extLst>
                    <a:ext uri="{9D8B030D-6E8A-4147-A177-3AD203B41FA5}">
                      <a16:colId xmlns:a16="http://schemas.microsoft.com/office/drawing/2014/main" val="2429324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Labeled </a:t>
                      </a: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 Corpus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Collection of 26 information operation (IO).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Campaigns from multiple countries.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Fully labeled (IO vs. Control accounts).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hlinkClick r:id="rId3"/>
                        </a:rPr>
                        <a:t>https://zenodo.org/records/14189193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b="1" u="sng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u="none" dirty="0">
                          <a:solidFill>
                            <a:schemeClr val="tx1"/>
                          </a:solidFill>
                        </a:rPr>
                        <a:t>Ecuador Campaign Subset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787 IO accounts | 21,138 Control accounts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700K IO tweets | 770K Control tweets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987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155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14902</TotalTime>
  <Words>2207</Words>
  <Application>Microsoft Office PowerPoint</Application>
  <PresentationFormat>Widescreen</PresentationFormat>
  <Paragraphs>230</Paragraphs>
  <Slides>36</Slides>
  <Notes>3</Notes>
  <HiddenSlides>8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Wingdings</vt:lpstr>
      <vt:lpstr>Office Theme</vt:lpstr>
      <vt:lpstr>Backbone Graph</vt:lpstr>
      <vt:lpstr>Terms &amp; Definitions - IO</vt:lpstr>
      <vt:lpstr>Terms &amp; Definitions - Key</vt:lpstr>
      <vt:lpstr>Project Core Concepts</vt:lpstr>
      <vt:lpstr>Coordinated Behaviour</vt:lpstr>
      <vt:lpstr>Co-Actions Graph </vt:lpstr>
      <vt:lpstr>Backbone Graph &amp; IO Indicators</vt:lpstr>
      <vt:lpstr>Backbone Graph &amp; IO Indicators</vt:lpstr>
      <vt:lpstr>Indicators: Graph Theory </vt:lpstr>
      <vt:lpstr>Indicators: Graph Theory </vt:lpstr>
      <vt:lpstr>Indicators: Key Score and Boost </vt:lpstr>
      <vt:lpstr>Indicators: Key Score and Boost </vt:lpstr>
      <vt:lpstr>Indicators: Key Score and Boost </vt:lpstr>
      <vt:lpstr>Coordinated Behaviour - Choosing Indicator</vt:lpstr>
      <vt:lpstr>Indicators Analysis – Information Gain  </vt:lpstr>
      <vt:lpstr>Indicators Analysis – SHAP </vt:lpstr>
      <vt:lpstr>Indicators Analysis – Box Plots</vt:lpstr>
      <vt:lpstr>Core Number</vt:lpstr>
      <vt:lpstr>Core Number</vt:lpstr>
      <vt:lpstr>Hypotheses</vt:lpstr>
      <vt:lpstr>Hypothesis</vt:lpstr>
      <vt:lpstr>Hypotheses</vt:lpstr>
      <vt:lpstr>H1 (Dense Community Hypothesis)</vt:lpstr>
      <vt:lpstr>H1 (Dense Community Hypothesis)</vt:lpstr>
      <vt:lpstr>H1 (Dense Community Hypothesis) group mode: smaller</vt:lpstr>
      <vt:lpstr>H1 (Dense Community Hypothesis) group mode: larger</vt:lpstr>
      <vt:lpstr>H1 (Dense Community Hypothesis) 20 bins</vt:lpstr>
      <vt:lpstr>H2 (Community Heterogeneity)</vt:lpstr>
      <vt:lpstr>H2 (Community Heterogeneity) for top topic</vt:lpstr>
      <vt:lpstr>Choosing System Configuration</vt:lpstr>
      <vt:lpstr>Hyper-Parameter Optimization</vt:lpstr>
      <vt:lpstr>Parameter Sweep AUC Analysis</vt:lpstr>
      <vt:lpstr>Final Configuration</vt:lpstr>
      <vt:lpstr>Data</vt:lpstr>
      <vt:lpstr>Required Data</vt:lpstr>
      <vt:lpstr>Datasets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472</cp:revision>
  <dcterms:created xsi:type="dcterms:W3CDTF">2021-05-04T15:24:24Z</dcterms:created>
  <dcterms:modified xsi:type="dcterms:W3CDTF">2026-05-06T13:58:21Z</dcterms:modified>
</cp:coreProperties>
</file>