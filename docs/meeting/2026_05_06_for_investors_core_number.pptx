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1574" r:id="rId2"/>
    <p:sldId id="1591" r:id="rId3"/>
    <p:sldId id="1688" r:id="rId4"/>
    <p:sldId id="1686" r:id="rId5"/>
    <p:sldId id="1687" r:id="rId6"/>
    <p:sldId id="1727" r:id="rId7"/>
    <p:sldId id="1681" r:id="rId8"/>
    <p:sldId id="1718" r:id="rId9"/>
    <p:sldId id="1715" r:id="rId10"/>
    <p:sldId id="1716" r:id="rId11"/>
    <p:sldId id="1696" r:id="rId12"/>
  </p:sldIdLst>
  <p:sldSz cx="12192000" cy="6858000"/>
  <p:notesSz cx="6858000" cy="9144000"/>
  <p:defaultTextStyle>
    <a:defPPr>
      <a:defRPr lang="he-I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DA84E6CC-2EA2-4553-A6A4-DAF877036261}">
          <p14:sldIdLst>
            <p14:sldId id="1574"/>
            <p14:sldId id="1591"/>
            <p14:sldId id="1688"/>
            <p14:sldId id="1686"/>
            <p14:sldId id="1687"/>
            <p14:sldId id="1727"/>
            <p14:sldId id="1681"/>
            <p14:sldId id="1718"/>
            <p14:sldId id="1715"/>
            <p14:sldId id="1716"/>
            <p14:sldId id="1696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5488"/>
    <a:srgbClr val="F59120"/>
    <a:srgbClr val="FE0101"/>
    <a:srgbClr val="F58377"/>
    <a:srgbClr val="FF4343"/>
    <a:srgbClr val="548235"/>
    <a:srgbClr val="009DBB"/>
    <a:srgbClr val="0688BA"/>
    <a:srgbClr val="006189"/>
    <a:srgbClr val="5D5D5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CE72004-61F2-4D6D-B395-3F69B2DB77B9}" v="6" dt="2026-02-22T11:40:56.86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95033" autoAdjust="0"/>
  </p:normalViewPr>
  <p:slideViewPr>
    <p:cSldViewPr snapToGrid="0">
      <p:cViewPr varScale="1">
        <p:scale>
          <a:sx n="79" d="100"/>
          <a:sy n="79" d="100"/>
        </p:scale>
        <p:origin x="744" y="5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3894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ami Puzis (BGU)" userId="15455a32-cfa8-4f75-8502-2ebc95aecdb5" providerId="ADAL" clId="{4604D058-1A9B-4964-A759-971FC0161111}"/>
    <pc:docChg chg="custSel modSld">
      <pc:chgData name="Rami Puzis (BGU)" userId="15455a32-cfa8-4f75-8502-2ebc95aecdb5" providerId="ADAL" clId="{4604D058-1A9B-4964-A759-971FC0161111}" dt="2026-02-22T11:42:08.251" v="89" actId="20577"/>
      <pc:docMkLst>
        <pc:docMk/>
      </pc:docMkLst>
      <pc:sldChg chg="modSp mod">
        <pc:chgData name="Rami Puzis (BGU)" userId="15455a32-cfa8-4f75-8502-2ebc95aecdb5" providerId="ADAL" clId="{4604D058-1A9B-4964-A759-971FC0161111}" dt="2026-02-22T11:42:08.251" v="89" actId="20577"/>
        <pc:sldMkLst>
          <pc:docMk/>
          <pc:sldMk cId="2564283967" sldId="1581"/>
        </pc:sldMkLst>
        <pc:graphicFrameChg chg="mod modGraphic">
          <ac:chgData name="Rami Puzis (BGU)" userId="15455a32-cfa8-4f75-8502-2ebc95aecdb5" providerId="ADAL" clId="{4604D058-1A9B-4964-A759-971FC0161111}" dt="2026-02-22T11:42:08.251" v="89" actId="20577"/>
          <ac:graphicFrameMkLst>
            <pc:docMk/>
            <pc:sldMk cId="2564283967" sldId="1581"/>
            <ac:graphicFrameMk id="6" creationId="{B16D549A-CC57-1C2C-A976-5DA7CC5B8247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fld id="{2915196C-CDBC-4DEE-A220-849C85FC22AC}" type="datetimeFigureOut">
              <a:rPr lang="he-IL" smtClean="0"/>
              <a:t>כ"ג/אייר/תשפ"ו</a:t>
            </a:fld>
            <a:endParaRPr lang="he-I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e-I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fld id="{7F6CD5E7-A5BE-4430-AD67-E129D63AAC5C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1938299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2D1760-78DB-D18D-FBB8-239E0A7E74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2EC71B-5AA6-886B-0231-A74B41DE50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D997CC-4715-39C7-93DD-C967C30807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C57815-7BE0-C4B1-B3D0-083C2D02FC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2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6687258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783E6-A85C-4E94-BAD4-349975C5C1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65376" y="1354011"/>
            <a:ext cx="9144000" cy="2387600"/>
          </a:xfrm>
        </p:spPr>
        <p:txBody>
          <a:bodyPr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he-IL" sz="4800" kern="1200" dirty="0">
                <a:solidFill>
                  <a:srgbClr val="009DBB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DA3D7B5-5BE4-46C1-BA83-AEDFF303DE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65376" y="4218431"/>
            <a:ext cx="9144000" cy="1374013"/>
          </a:xfrm>
        </p:spPr>
        <p:txBody>
          <a:bodyPr>
            <a:normAutofit/>
          </a:bodyPr>
          <a:lstStyle>
            <a:lvl1pPr marL="0" indent="0" algn="l">
              <a:buNone/>
              <a:defRPr lang="he-IL" sz="2000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Master subtitle style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103C65-1526-4474-93EA-92201F973A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6B3A86-AB79-4388-8CA5-9FC4B834779B}" type="datetime8">
              <a:rPr lang="he-IL" smtClean="0"/>
              <a:t>10 מאי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84A285-90E9-4F27-9CCA-0A2DBEB472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119B0E-8F10-4832-ADC3-EA2B0C4574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2061723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A65C3A-1C12-429A-B672-CB062EE35E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02D984-D254-42A5-88FD-71A5B8FF61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5"/>
            <a:ext cx="10582656" cy="435133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buFont typeface="Courier New" panose="02070309020205020404" pitchFamily="49" charset="0"/>
              <a:buChar char="o"/>
              <a:defRPr sz="2000"/>
            </a:lvl2pPr>
            <a:lvl3pPr>
              <a:buFont typeface="Wingdings" panose="05000000000000000000" pitchFamily="2" charset="2"/>
              <a:buChar char="Ø"/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78C169-3299-4F42-91D0-7AF77E3982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34CBFB-2532-48BA-BAE2-ADD925390740}" type="datetime8">
              <a:rPr lang="he-IL" smtClean="0"/>
              <a:t>10 מאי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02A088-F9A8-4123-A1D2-FE1125036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AA253D-F657-44F9-AA3F-37F3CF175C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6145477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CE174-92FD-46FC-9A31-EF3515102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79550" y="1709738"/>
            <a:ext cx="7852146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261C8F-4A58-4042-B898-A57C837DF5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795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6B49A7-5C76-42AD-8811-4CADE0447C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AC1FDD-37C4-4A6B-BF31-779943CE32CF}" type="datetime8">
              <a:rPr lang="he-IL" smtClean="0"/>
              <a:t>10 מאי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BF3F55-C2A3-4A87-96C0-A01E9BCA6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7976F6-B98E-4B7D-839A-27BF949442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4990889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A15C3C-CE9E-4F7A-B728-9A335B51FB2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 </a:t>
            </a:r>
            <a:endParaRPr lang="he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B48EB9-480D-4A31-8BC3-B899B4AABD3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36991" y="1821101"/>
            <a:ext cx="5181600" cy="435133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CAF003-9AC3-4B4C-A1AA-89972395A0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70991" y="1821101"/>
            <a:ext cx="5181600" cy="435133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39E07C-7B13-4A7C-AEAC-814BACFD91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3C226C-A76A-4927-8F1D-1BD4AC033ABB}" type="datetime8">
              <a:rPr lang="he-IL" smtClean="0"/>
              <a:t>10 מאי 26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36D24B-DA20-4CC6-87E7-866505B0C5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BE9C41-8689-47B3-A905-634220202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2372998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FDD0EE-D523-4780-A9CF-B6EE518CD2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3117" y="355600"/>
            <a:ext cx="8743124" cy="1325563"/>
          </a:xfr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he-IL" sz="4400" kern="1200" dirty="0">
                <a:solidFill>
                  <a:srgbClr val="009DBB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B6447D-A16E-4B99-8F74-2BA51BF54C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53148" y="1717419"/>
            <a:ext cx="5157787" cy="823912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2400" kern="1200" dirty="0">
                <a:solidFill>
                  <a:srgbClr val="009DBB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9B268A-D31A-4C35-948F-BF312EE597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53148" y="2511171"/>
            <a:ext cx="5157787" cy="368458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7D0F3C6-09D4-4383-99DD-32F9053ACE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641752" y="1717419"/>
            <a:ext cx="5183188" cy="823912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2400" kern="1200" dirty="0">
                <a:solidFill>
                  <a:srgbClr val="009DBB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A91A8D3-C002-4BA1-96FF-375F70D218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641752" y="2517267"/>
            <a:ext cx="5183188" cy="368458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5CAC5E-E4EB-4131-AAEF-73C3479688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0DF2BF-D428-43E9-B36B-6DD16CF93579}" type="datetime8">
              <a:rPr lang="he-IL" smtClean="0"/>
              <a:t>10 מאי 26</a:t>
            </a:fld>
            <a:endParaRPr lang="he-I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EC57A3-285F-4D36-851E-593C5F287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26F8AB8-B698-4176-96F8-B833FE013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3425693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FBF78-4DF0-407A-8E5A-BEF1E0D8B0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9A3A88-6914-48FB-BE6F-948C3C66FB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0A9136-4922-4C74-B05C-12CD0951E601}" type="datetime8">
              <a:rPr lang="he-IL" smtClean="0"/>
              <a:t>10 מאי 26</a:t>
            </a:fld>
            <a:endParaRPr lang="he-I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50A1D4-4FBF-400A-B2CE-30A42EF7FB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D8B1F93-B2D0-4E42-B3CE-E85D6FC90C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52457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7885006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6213734-3C5F-473D-9DD6-0C484ADFB5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9F3CA8-2E63-412C-AA06-0D760EBE5965}" type="datetime8">
              <a:rPr lang="he-IL" smtClean="0"/>
              <a:t>10 מאי 26</a:t>
            </a:fld>
            <a:endParaRPr lang="he-I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F48D2E8-A18C-4B06-AF11-07B4F9C53F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A7CBE2-2F2D-43B9-8BC3-25BA1DDA40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0786591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C80516-8B4A-495E-BFE5-33BF2DA504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12684" y="981329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353460-117E-457C-9F0F-1AA7B34F21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0804" y="987425"/>
            <a:ext cx="6172200" cy="4873625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3E485A-1FF8-4FDD-A659-6ACC799899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912684" y="2581529"/>
            <a:ext cx="3932237" cy="3295142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1A78A4-064B-49BB-9360-FC686D8B5A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C7B867-AA4A-4FF3-AD8B-0AD0F18EE595}" type="datetime8">
              <a:rPr lang="he-IL" smtClean="0"/>
              <a:t>10 מאי 26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D0114A-6704-44C0-BCAE-EAB756E647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E98D20-B7C4-4CE0-812C-9B6976E08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1246584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7181F6-3528-4A38-B435-490FC2AFC3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27173" y="987424"/>
            <a:ext cx="3932237" cy="106997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E7A6AE1-0DCE-4A5A-AC24-95C331B15D5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096000" y="987425"/>
            <a:ext cx="5259387" cy="4873625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e-IL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4CD3E13-E71C-4EE3-BA14-54D61F7290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127173" y="2057400"/>
            <a:ext cx="3932237" cy="3811588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3A2D14-BF1B-420A-B0DF-91CD6E7712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E9EBD3-88E8-46DB-BD3B-F935B7013014}" type="datetime8">
              <a:rPr lang="he-IL" smtClean="0"/>
              <a:t>10 מאי 26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227BD5-73FD-47B4-BCDF-92BB6EA156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E5EAC3-6043-41F9-B8D4-7F41DABB26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3724020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5CA57A-6715-4A64-AF19-74F3228417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D19522-954F-44AB-A8B2-881237A98A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C7FD09-CBF4-4ADA-B2BB-979C1F74B2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F56BC8-8E7D-4896-9980-77BC87FB8E3E}" type="datetime8">
              <a:rPr lang="he-IL" smtClean="0"/>
              <a:t>10 מאי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3DEA1C-6A3E-4E8A-94C4-85129424B9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1897DB-9E67-41A9-B2B3-D6E613340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6510036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7C7D7B8-0F66-43EC-B9A2-C261F37BC4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0B89D3-E69A-49EE-8D8C-EAC8400E34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310142" y="365125"/>
            <a:ext cx="7262357" cy="5811838"/>
          </a:xfrm>
        </p:spPr>
        <p:txBody>
          <a:bodyPr vert="eaVert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0A9B41-D269-4701-B27C-CDDBCF201A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E327C8-CB36-417E-834B-544633ADCE63}" type="datetime8">
              <a:rPr lang="he-IL" smtClean="0"/>
              <a:t>10 מאי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BD14E7-5E00-4D30-9BDD-9B32BEA0F9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81914F-9592-4EB2-998B-B922F8A281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6155566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orkfl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072684E-6693-F58C-BC24-150353E83C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065D1C-C98B-44F5-AB2A-FEE3E85D0A94}" type="datetime8">
              <a:rPr lang="he-IL" smtClean="0"/>
              <a:t>10 מאי 26</a:t>
            </a:fld>
            <a:endParaRPr lang="he-I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2C0620-C9BE-4C99-2D6C-A02A9A6778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48F728-5692-0756-E6BD-FFB67E1A33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pPr/>
              <a:t>‹#›</a:t>
            </a:fld>
            <a:endParaRPr lang="he-IL" dirty="0"/>
          </a:p>
        </p:txBody>
      </p:sp>
      <p:pic>
        <p:nvPicPr>
          <p:cNvPr id="7" name="Picture 6" descr="A document with text on it&#10;&#10;AI-generated content may be incorrect.">
            <a:extLst>
              <a:ext uri="{FF2B5EF4-FFF2-40B4-BE49-F238E27FC236}">
                <a16:creationId xmlns:a16="http://schemas.microsoft.com/office/drawing/2014/main" id="{221434F7-1295-8CB3-5E53-891A52C3D78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606" t="8664" r="8034" b="78094"/>
          <a:stretch>
            <a:fillRect/>
          </a:stretch>
        </p:blipFill>
        <p:spPr>
          <a:xfrm>
            <a:off x="1038256" y="2478278"/>
            <a:ext cx="10821413" cy="229428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DFF33BC-21D6-16B0-C505-3CEE5CDF6D13}"/>
              </a:ext>
            </a:extLst>
          </p:cNvPr>
          <p:cNvSpPr txBox="1"/>
          <p:nvPr userDrawn="1"/>
        </p:nvSpPr>
        <p:spPr>
          <a:xfrm>
            <a:off x="3072268" y="679697"/>
            <a:ext cx="875347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400" b="0" kern="1200" dirty="0">
                <a:solidFill>
                  <a:srgbClr val="009DBB"/>
                </a:solidFill>
                <a:latin typeface="+mj-lt"/>
                <a:ea typeface="+mj-ea"/>
                <a:cs typeface="+mj-cs"/>
              </a:rPr>
              <a:t>Workflow</a:t>
            </a:r>
            <a:endParaRPr lang="en-IL" sz="4400" b="0" kern="1200" dirty="0">
              <a:solidFill>
                <a:srgbClr val="009DBB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9123835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EEDABD8-1012-46AD-89C2-C8E4E06DB9B5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33375" y="0"/>
            <a:ext cx="12192000" cy="6858000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C9C71F-AAAB-425C-B1EA-7A7182DF40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75347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EFA75E-5AAA-412B-BAE0-CF5F86B37F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10143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5198C1-7EB5-4CA4-98A0-2833A18F30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10143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065D1C-C98B-44F5-AB2A-FEE3E85D0A94}" type="datetime8">
              <a:rPr lang="he-IL" smtClean="0"/>
              <a:t>10 מאי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897CC5-2317-4D8E-8C89-E7B89F4BE95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10543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F048FF-C291-43F3-A9DD-3B48AE56F5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28704" y="6476841"/>
            <a:ext cx="4522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AB8EDD-9EF2-4633-A1C2-4D908C1019B4}" type="slidenum">
              <a:rPr lang="he-IL" smtClean="0"/>
              <a:pPr/>
              <a:t>‹#›</a:t>
            </a:fld>
            <a:endParaRPr lang="he-IL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61D43D3-8C77-B77A-1D9D-8CDC43D8429F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52957" y="6139952"/>
            <a:ext cx="2642865" cy="797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33572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009DBB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e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27BDFED6-6E33-4606-AFE2-886ADB1C01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" name="Picture 1" descr="A green object on a black surface&#10;&#10;Description automatically generated with low confidence">
            <a:extLst>
              <a:ext uri="{FF2B5EF4-FFF2-40B4-BE49-F238E27FC236}">
                <a16:creationId xmlns:a16="http://schemas.microsoft.com/office/drawing/2014/main" id="{3CB67A20-DF50-FA5C-9F89-051979AEC24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416" r="11818" b="26261"/>
          <a:stretch/>
        </p:blipFill>
        <p:spPr>
          <a:xfrm>
            <a:off x="4547937" y="0"/>
            <a:ext cx="7644062" cy="365679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6F2EE9F-F796-A6BB-3045-695978EABEE3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8830" r="-1" b="7292"/>
          <a:stretch/>
        </p:blipFill>
        <p:spPr>
          <a:xfrm>
            <a:off x="4547938" y="3681409"/>
            <a:ext cx="7644062" cy="3176595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890DEF05-784E-4B61-89E4-04C4ECF4E5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36000">
                <a:schemeClr val="tx1">
                  <a:lumMod val="95000"/>
                  <a:lumOff val="5000"/>
                </a:schemeClr>
              </a:gs>
              <a:gs pos="81000">
                <a:schemeClr val="tx1">
                  <a:lumMod val="95000"/>
                  <a:lumOff val="5000"/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8220BDD-53D9-474C-9782-2415C685DF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956582"/>
            <a:ext cx="5395912" cy="1724819"/>
          </a:xfrm>
        </p:spPr>
        <p:txBody>
          <a:bodyPr>
            <a:noAutofit/>
          </a:bodyPr>
          <a:lstStyle/>
          <a:p>
            <a:r>
              <a:rPr lang="en-US" sz="4000" dirty="0">
                <a:solidFill>
                  <a:schemeClr val="bg1"/>
                </a:solidFill>
              </a:rPr>
              <a:t>Backbone Graph</a:t>
            </a:r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B553B468-8035-4F27-9A10-D7A4E7C759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824627"/>
            <a:ext cx="4361329" cy="1917801"/>
          </a:xfrm>
        </p:spPr>
        <p:txBody>
          <a:bodyPr>
            <a:noAutofit/>
          </a:bodyPr>
          <a:lstStyle/>
          <a:p>
            <a:r>
              <a:rPr lang="en-US" b="1" dirty="0">
                <a:solidFill>
                  <a:prstClr val="white"/>
                </a:solidFill>
              </a:rPr>
              <a:t>10.05.2026</a:t>
            </a:r>
          </a:p>
          <a:p>
            <a:r>
              <a:rPr lang="en-US" dirty="0"/>
              <a:t>Amit Ner Gaon, Noa Tal, Idan </a:t>
            </a:r>
            <a:r>
              <a:rPr lang="en-GB" dirty="0"/>
              <a:t>Muallem</a:t>
            </a:r>
            <a:endParaRPr lang="en-US" dirty="0"/>
          </a:p>
          <a:p>
            <a:r>
              <a:rPr lang="en-US" dirty="0"/>
              <a:t>Prof. Rami </a:t>
            </a:r>
            <a:r>
              <a:rPr lang="en-US" dirty="0" err="1"/>
              <a:t>Puzis</a:t>
            </a:r>
            <a:endParaRPr lang="en-IL" dirty="0"/>
          </a:p>
          <a:p>
            <a:endParaRPr lang="en-US" b="1" dirty="0">
              <a:solidFill>
                <a:prstClr val="white"/>
              </a:solidFill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41BAEC7-F7B0-4224-8B18-8F74B7D87F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3681408"/>
            <a:ext cx="11353799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9E9033-B890-41F0-A499-F7F83D1F0E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fld id="{E6AB8EDD-9EF2-4633-A1C2-4D908C1019B4}" type="slidenum">
              <a:rPr kumimoji="0" lang="he-IL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Arial" panose="020B0604020202020204" pitchFamily="34" charset="0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he-IL" sz="1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Arial" panose="020B0604020202020204" pitchFamily="34" charset="0"/>
            </a:endParaRPr>
          </a:p>
        </p:txBody>
      </p:sp>
      <p:sp>
        <p:nvSpPr>
          <p:cNvPr id="28" name="Title 4">
            <a:extLst>
              <a:ext uri="{FF2B5EF4-FFF2-40B4-BE49-F238E27FC236}">
                <a16:creationId xmlns:a16="http://schemas.microsoft.com/office/drawing/2014/main" id="{6D84A53B-A147-EEC0-9D81-D931915B4D17}"/>
              </a:ext>
            </a:extLst>
          </p:cNvPr>
          <p:cNvSpPr txBox="1">
            <a:spLocks/>
          </p:cNvSpPr>
          <p:nvPr/>
        </p:nvSpPr>
        <p:spPr>
          <a:xfrm>
            <a:off x="838200" y="3706020"/>
            <a:ext cx="3138714" cy="625462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he-IL" sz="4800" kern="1200" dirty="0">
                <a:solidFill>
                  <a:srgbClr val="009DBB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4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j-ea"/>
              <a:cs typeface="+mj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9DE9F95-0435-3A81-61D6-23ED74B5950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03" y="0"/>
            <a:ext cx="2642865" cy="797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1603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8E27CD-C8FF-B185-45D8-666A78A68D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798079-07AB-1011-721B-DDEB468739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949044" cy="1325563"/>
          </a:xfrm>
        </p:spPr>
        <p:txBody>
          <a:bodyPr>
            <a:normAutofit/>
          </a:bodyPr>
          <a:lstStyle/>
          <a:p>
            <a:r>
              <a:rPr lang="en-GB" dirty="0"/>
              <a:t>Co-Actions Graph 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BFF6C3-80E1-C75C-69F0-3A7FFA1D10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4"/>
            <a:ext cx="10582656" cy="4441825"/>
          </a:xfrm>
        </p:spPr>
        <p:txBody>
          <a:bodyPr>
            <a:normAutofit/>
          </a:bodyPr>
          <a:lstStyle/>
          <a:p>
            <a:r>
              <a:rPr lang="en-GB" sz="2800" b="1" dirty="0"/>
              <a:t>Nodes:</a:t>
            </a:r>
            <a:r>
              <a:rPr lang="en-GB" sz="2800" dirty="0"/>
              <a:t> authors in the discourse.</a:t>
            </a:r>
          </a:p>
          <a:p>
            <a:r>
              <a:rPr lang="en-GB" sz="2800" b="1" dirty="0"/>
              <a:t>Edges: </a:t>
            </a:r>
            <a:r>
              <a:rPr lang="en-GB" sz="2800" dirty="0"/>
              <a:t>co-action relations between author pairs (e.g., co-mention, co-entity, co-topic). Represents </a:t>
            </a:r>
            <a:r>
              <a:rPr lang="en-US" sz="2800" b="1" dirty="0"/>
              <a:t>behavioral similar</a:t>
            </a:r>
            <a:r>
              <a:rPr lang="en-GB" sz="2800" b="1" dirty="0"/>
              <a:t>arty </a:t>
            </a:r>
            <a:r>
              <a:rPr lang="en-GB" sz="2800" dirty="0"/>
              <a:t>between the authors.</a:t>
            </a:r>
          </a:p>
          <a:p>
            <a:r>
              <a:rPr lang="en-GB" sz="2800" b="1" dirty="0"/>
              <a:t>Purpose</a:t>
            </a:r>
            <a:r>
              <a:rPr lang="en-GB" sz="2800" dirty="0"/>
              <a:t>: expose coordinated behaviour and structural signals for IO detection.</a:t>
            </a:r>
          </a:p>
          <a:p>
            <a:endParaRPr lang="en-GB" dirty="0"/>
          </a:p>
          <a:p>
            <a:endParaRPr lang="en-GB" dirty="0"/>
          </a:p>
          <a:p>
            <a:pPr marL="457200" lvl="1" indent="0">
              <a:buNone/>
            </a:pPr>
            <a:endParaRPr lang="en-GB" sz="33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5E3158-F388-D9C9-D303-42FD2F68D2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2</a:t>
            </a:fld>
            <a:endParaRPr lang="he-IL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94F46E8E-95AB-4D82-04F7-80C932FEC21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1062" b="10900"/>
          <a:stretch>
            <a:fillRect/>
          </a:stretch>
        </p:blipFill>
        <p:spPr bwMode="auto">
          <a:xfrm>
            <a:off x="1243087" y="4445296"/>
            <a:ext cx="9585434" cy="21236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111222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7225D8-EDFA-0591-872A-E0075FF029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4DED4E-07D6-5029-1267-13E254619F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753475" cy="1325563"/>
          </a:xfrm>
        </p:spPr>
        <p:txBody>
          <a:bodyPr anchor="ctr">
            <a:normAutofit/>
          </a:bodyPr>
          <a:lstStyle/>
          <a:p>
            <a:r>
              <a:rPr lang="en-GB" dirty="0"/>
              <a:t>Choosing Indicator</a:t>
            </a:r>
            <a:r>
              <a:rPr lang="en-US" dirty="0"/>
              <a:t>– Information Gain  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2F5E0B-95E2-EC2F-17CF-478A39DF16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E6AB8EDD-9EF2-4633-A1C2-4D908C1019B4}" type="slidenum">
              <a:rPr lang="he-IL" smtClean="0"/>
              <a:pPr>
                <a:spcAft>
                  <a:spcPts val="600"/>
                </a:spcAft>
              </a:pPr>
              <a:t>3</a:t>
            </a:fld>
            <a:endParaRPr lang="he-IL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F694049-9AAF-FF1E-EB69-93619E1D8D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0721" y="1727200"/>
            <a:ext cx="8753475" cy="427547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88E7DED-7C45-6E37-6290-93FB4487F981}"/>
              </a:ext>
            </a:extLst>
          </p:cNvPr>
          <p:cNvSpPr txBox="1"/>
          <p:nvPr/>
        </p:nvSpPr>
        <p:spPr>
          <a:xfrm>
            <a:off x="1490383" y="6141483"/>
            <a:ext cx="626184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L" dirty="0">
                <a:solidFill>
                  <a:schemeClr val="bg1">
                    <a:lumMod val="50000"/>
                  </a:schemeClr>
                </a:solidFill>
              </a:rPr>
              <a:t>Information Gain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is </a:t>
            </a:r>
            <a:r>
              <a:rPr lang="en-IL" dirty="0">
                <a:solidFill>
                  <a:schemeClr val="bg1">
                    <a:lumMod val="50000"/>
                  </a:schemeClr>
                </a:solidFill>
              </a:rPr>
              <a:t>used to measure how much knowledge one variable provides about another.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43CE284-809A-A65C-BDD2-3AC44719FA4E}"/>
              </a:ext>
            </a:extLst>
          </p:cNvPr>
          <p:cNvSpPr/>
          <p:nvPr/>
        </p:nvSpPr>
        <p:spPr>
          <a:xfrm rot="8053005">
            <a:off x="2398790" y="4289898"/>
            <a:ext cx="1550640" cy="321014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2154045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7D6A4D-7568-BAE4-62D1-881293F2CE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B3C420-F8E3-F707-0927-1E9D7AECAA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753475" cy="1325563"/>
          </a:xfrm>
        </p:spPr>
        <p:txBody>
          <a:bodyPr anchor="ctr">
            <a:normAutofit/>
          </a:bodyPr>
          <a:lstStyle/>
          <a:p>
            <a:r>
              <a:rPr lang="en-GB" dirty="0"/>
              <a:t>Choosing Indicator </a:t>
            </a:r>
            <a:r>
              <a:rPr lang="en-US" dirty="0"/>
              <a:t>– SHAP 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52290A-7BF2-C0BD-9A9F-A26B3BAEB6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E6AB8EDD-9EF2-4633-A1C2-4D908C1019B4}" type="slidenum">
              <a:rPr lang="he-IL" smtClean="0"/>
              <a:pPr>
                <a:spcAft>
                  <a:spcPts val="600"/>
                </a:spcAft>
              </a:pPr>
              <a:t>4</a:t>
            </a:fld>
            <a:endParaRPr lang="he-IL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32B9DBD-9D06-F91D-D64B-D21C4568C2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4179" y="2340414"/>
            <a:ext cx="5911564" cy="342951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BDDFF08-7A2E-6395-8B4C-1B8FB25076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870" y="2368126"/>
            <a:ext cx="5162180" cy="340180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997C5E1-5F57-35AD-F9CE-6328C30BB91A}"/>
              </a:ext>
            </a:extLst>
          </p:cNvPr>
          <p:cNvSpPr txBox="1"/>
          <p:nvPr/>
        </p:nvSpPr>
        <p:spPr>
          <a:xfrm>
            <a:off x="0" y="1729419"/>
            <a:ext cx="121809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SHAP analysis on </a:t>
            </a:r>
            <a:r>
              <a:rPr lang="en-US" dirty="0" err="1"/>
              <a:t>XGBoost</a:t>
            </a:r>
            <a:r>
              <a:rPr lang="en-US" dirty="0"/>
              <a:t> model</a:t>
            </a:r>
            <a:endParaRPr lang="en-IL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065D321-D39B-4DBC-6CB1-32D4550FBD1C}"/>
              </a:ext>
            </a:extLst>
          </p:cNvPr>
          <p:cNvSpPr txBox="1"/>
          <p:nvPr/>
        </p:nvSpPr>
        <p:spPr>
          <a:xfrm>
            <a:off x="1490383" y="6141483"/>
            <a:ext cx="626184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chemeClr val="bg1">
                    <a:lumMod val="50000"/>
                  </a:schemeClr>
                </a:solidFill>
              </a:rPr>
              <a:t>SHAP explains how much each feature contributes to a model’s prediction.</a:t>
            </a:r>
            <a:endParaRPr lang="en-IL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8239BF7-A475-CC65-7EE7-9930284821BC}"/>
              </a:ext>
            </a:extLst>
          </p:cNvPr>
          <p:cNvSpPr/>
          <p:nvPr/>
        </p:nvSpPr>
        <p:spPr>
          <a:xfrm>
            <a:off x="709879" y="2829161"/>
            <a:ext cx="1079771" cy="238328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4361CCB-ED27-8FB9-F58E-5F2C97748B71}"/>
              </a:ext>
            </a:extLst>
          </p:cNvPr>
          <p:cNvSpPr/>
          <p:nvPr/>
        </p:nvSpPr>
        <p:spPr>
          <a:xfrm>
            <a:off x="6484869" y="2848617"/>
            <a:ext cx="1079771" cy="238328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4347516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D886FA-D75D-B1C5-1F7F-3DABFBBA96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A27740-856C-1F50-2CE0-9C9EB10B9F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753475" cy="1325563"/>
          </a:xfrm>
        </p:spPr>
        <p:txBody>
          <a:bodyPr anchor="ctr">
            <a:normAutofit/>
          </a:bodyPr>
          <a:lstStyle/>
          <a:p>
            <a:r>
              <a:rPr lang="en-GB" dirty="0"/>
              <a:t>Choosing Indicator </a:t>
            </a:r>
            <a:r>
              <a:rPr lang="en-US" dirty="0"/>
              <a:t>– Box Plots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6BE0A4-B226-D34F-31D7-E7C7F3842D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E6AB8EDD-9EF2-4633-A1C2-4D908C1019B4}" type="slidenum">
              <a:rPr lang="he-IL" smtClean="0"/>
              <a:pPr>
                <a:spcAft>
                  <a:spcPts val="600"/>
                </a:spcAft>
              </a:pPr>
              <a:t>5</a:t>
            </a:fld>
            <a:endParaRPr lang="he-IL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D2BD76C-B5E7-A4FA-A547-8B412A8408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494" y="1366591"/>
            <a:ext cx="10784541" cy="4837645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6885F0EE-6C47-639E-CC0B-89DA7C32CA54}"/>
              </a:ext>
            </a:extLst>
          </p:cNvPr>
          <p:cNvSpPr/>
          <p:nvPr/>
        </p:nvSpPr>
        <p:spPr>
          <a:xfrm>
            <a:off x="667266" y="3218329"/>
            <a:ext cx="2036917" cy="1497106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397FDBF-A5FC-FDF5-3FD4-894FDF6407A7}"/>
              </a:ext>
            </a:extLst>
          </p:cNvPr>
          <p:cNvSpPr txBox="1"/>
          <p:nvPr/>
        </p:nvSpPr>
        <p:spPr>
          <a:xfrm>
            <a:off x="1490383" y="6204236"/>
            <a:ext cx="626184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dirty="0">
                <a:solidFill>
                  <a:schemeClr val="bg1">
                    <a:lumMod val="50000"/>
                  </a:schemeClr>
                </a:solidFill>
              </a:rPr>
              <a:t>A box plot is a method for demonstrating graphically the distribution of numerical data across different groups.</a:t>
            </a:r>
          </a:p>
        </p:txBody>
      </p:sp>
    </p:spTree>
    <p:extLst>
      <p:ext uri="{BB962C8B-B14F-4D97-AF65-F5344CB8AC3E}">
        <p14:creationId xmlns:p14="http://schemas.microsoft.com/office/powerpoint/2010/main" val="12392298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93FBAF-9B11-4A31-979E-53C65228B5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9AF9C8-65DB-4D85-01B3-0FBE36FCD7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753475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Indicators Analysis – CDF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12EB28-5D98-7FA1-AEEA-63F15D94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E6AB8EDD-9EF2-4633-A1C2-4D908C1019B4}" type="slidenum">
              <a:rPr lang="he-IL" smtClean="0"/>
              <a:pPr>
                <a:spcAft>
                  <a:spcPts val="600"/>
                </a:spcAft>
              </a:pPr>
              <a:t>6</a:t>
            </a:fld>
            <a:endParaRPr lang="he-IL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B95B18C-D28C-E7BD-52F4-0DEE256A54AC}"/>
              </a:ext>
            </a:extLst>
          </p:cNvPr>
          <p:cNvSpPr txBox="1"/>
          <p:nvPr/>
        </p:nvSpPr>
        <p:spPr>
          <a:xfrm>
            <a:off x="1490383" y="6204236"/>
            <a:ext cx="723532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dirty="0">
                <a:solidFill>
                  <a:schemeClr val="bg1">
                    <a:lumMod val="50000"/>
                  </a:schemeClr>
                </a:solidFill>
              </a:rPr>
              <a:t>The Cumulative Distribution Function (CDF) show the probability that the variable will take a value less than or equal to a particular value in X-axis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.</a:t>
            </a:r>
            <a:endParaRPr lang="en-GB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242A1FB-A88F-D710-1D3E-5AA2F5113F4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0263"/>
          <a:stretch>
            <a:fillRect/>
          </a:stretch>
        </p:blipFill>
        <p:spPr>
          <a:xfrm>
            <a:off x="588640" y="2290008"/>
            <a:ext cx="11014720" cy="2739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93296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693180-6AFB-C018-C45A-F85FFDD44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Core Number</a:t>
            </a:r>
            <a:endParaRPr lang="en-I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CA76748-B0A2-DB91-7163-06340529ACD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243087" y="1825625"/>
                <a:ext cx="10582656" cy="2474001"/>
              </a:xfrm>
            </p:spPr>
            <p:txBody>
              <a:bodyPr>
                <a:normAutofit/>
              </a:bodyPr>
              <a:lstStyle/>
              <a:p>
                <a:r>
                  <a:rPr lang="en-GB" sz="2400" dirty="0"/>
                  <a:t>A k-core is a maximal subgraph that contains nodes of degree k or more. </a:t>
                </a:r>
              </a:p>
              <a:p>
                <a:r>
                  <a:rPr lang="en-GB" sz="2400" dirty="0"/>
                  <a:t>The core number of a node is the highest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, </m:t>
                    </m:r>
                  </m:oMath>
                </a14:m>
                <a:r>
                  <a:rPr lang="en-GB" sz="2400" dirty="0"/>
                  <a:t>such that the node is part of a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GB" sz="2400" dirty="0"/>
                  <a:t>-core.</a:t>
                </a:r>
              </a:p>
              <a:p>
                <a:r>
                  <a:rPr lang="en-GB" sz="2400" dirty="0"/>
                  <a:t>Higher core number → node belongs to tightly connected, cohesive groups.</a:t>
                </a:r>
              </a:p>
              <a:p>
                <a:r>
                  <a:rPr lang="en-GB" dirty="0"/>
                  <a:t>IO drivers don’t just connect , they </a:t>
                </a:r>
                <a:r>
                  <a:rPr lang="en-GB" b="1" dirty="0"/>
                  <a:t>coordinate. </a:t>
                </a:r>
                <a:r>
                  <a:rPr lang="en-GB" dirty="0"/>
                  <a:t>In a behaviour similarity graph, this coordination places them inside dense, highly connected community, leading to high core-number. </a:t>
                </a:r>
                <a:endParaRPr lang="en-US" dirty="0"/>
              </a:p>
              <a:p>
                <a:endParaRPr lang="en-IL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CA76748-B0A2-DB91-7163-06340529ACD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243087" y="1825625"/>
                <a:ext cx="10582656" cy="2474001"/>
              </a:xfrm>
              <a:blipFill>
                <a:blip r:embed="rId2"/>
                <a:stretch>
                  <a:fillRect l="-806" t="-3448" r="-230" b="-4433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37FBE6-83DC-F0C7-45B9-872DEC2AB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7</a:t>
            </a:fld>
            <a:endParaRPr lang="he-IL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EE4F4DB-93A7-1D00-26B6-2AE90218BC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007" b="11878"/>
          <a:stretch>
            <a:fillRect/>
          </a:stretch>
        </p:blipFill>
        <p:spPr>
          <a:xfrm>
            <a:off x="3294433" y="4299626"/>
            <a:ext cx="5603133" cy="24632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50495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1E3BC-962E-008E-4A26-C2135A4B29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D3E1A7-B397-F9BA-7ECB-4DA1358CD3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Core Number - Example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71681F-8D0E-063B-E5F8-8C7C1145E4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8</a:t>
            </a:fld>
            <a:endParaRPr lang="he-IL"/>
          </a:p>
        </p:txBody>
      </p:sp>
      <p:pic>
        <p:nvPicPr>
          <p:cNvPr id="3" name="Picture 2" descr="k-Core of a graph">
            <a:extLst>
              <a:ext uri="{FF2B5EF4-FFF2-40B4-BE49-F238E27FC236}">
                <a16:creationId xmlns:a16="http://schemas.microsoft.com/office/drawing/2014/main" id="{3160D834-E7C4-9080-3DC5-CB154A8A5D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5283" y="1867838"/>
            <a:ext cx="10174718" cy="41070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88272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FAB34D-2D7A-F556-495E-0CBC96104F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1AEA69D-040E-DE12-FF0B-4330D7D19F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377" y="2061292"/>
            <a:ext cx="5826623" cy="273541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E1F8EA2-71D6-580F-81B8-0F2F2C7F43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6073" y="2114567"/>
            <a:ext cx="5599670" cy="262886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A8FD990-DDE6-CBC9-B3A6-00D4121DA2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Core Number Analysis</a:t>
            </a:r>
            <a:br>
              <a:rPr lang="en-GB" dirty="0"/>
            </a:br>
            <a:r>
              <a:rPr lang="en-GB" sz="2400" dirty="0"/>
              <a:t>group mode: smaller</a:t>
            </a:r>
            <a:endParaRPr lang="en-IL" sz="2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55D22E-3792-2DD2-21B2-D8ADB8E102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6" y="1825624"/>
            <a:ext cx="10850301" cy="5004149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GB" sz="2000" b="1" dirty="0"/>
          </a:p>
          <a:p>
            <a:pPr lvl="2"/>
            <a:endParaRPr lang="en-GB" sz="1500" dirty="0"/>
          </a:p>
          <a:p>
            <a:pPr marL="914400" lvl="2" indent="0">
              <a:buNone/>
            </a:pPr>
            <a:endParaRPr lang="en-GB" sz="15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6BD006-7CBF-5F23-2244-43E7DEA5E1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9</a:t>
            </a:fld>
            <a:endParaRPr lang="he-IL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B8F8192-2756-715E-FCCA-8DD01E5AA434}"/>
              </a:ext>
            </a:extLst>
          </p:cNvPr>
          <p:cNvSpPr txBox="1"/>
          <p:nvPr/>
        </p:nvSpPr>
        <p:spPr>
          <a:xfrm>
            <a:off x="1527433" y="5217459"/>
            <a:ext cx="70731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Group mode: smaller</a:t>
            </a:r>
            <a:r>
              <a:rPr lang="en-GB" dirty="0"/>
              <a:t> - each point represents authors whose indicator value is </a:t>
            </a:r>
            <a:r>
              <a:rPr lang="en-GB" b="1" dirty="0"/>
              <a:t>less than</a:t>
            </a:r>
            <a:r>
              <a:rPr lang="en-GB" dirty="0"/>
              <a:t> the x-axis value.</a:t>
            </a:r>
            <a:endParaRPr lang="en-IL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1A45B88-BBA4-ED58-4469-C910CCAA9BA6}"/>
              </a:ext>
            </a:extLst>
          </p:cNvPr>
          <p:cNvSpPr txBox="1"/>
          <p:nvPr/>
        </p:nvSpPr>
        <p:spPr>
          <a:xfrm>
            <a:off x="5234722" y="1639613"/>
            <a:ext cx="22142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Ecuador </a:t>
            </a:r>
            <a:r>
              <a:rPr lang="en-GB" dirty="0"/>
              <a:t>Campaigns</a:t>
            </a:r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39533639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076A3C-FA4E-8A3B-4630-F74A2E6B0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7FA72677-3325-6398-7663-469EB22FC1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377" y="2061291"/>
            <a:ext cx="5826623" cy="268214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F6DC0B2-A5D7-A044-A129-CDA32CD954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6072" y="2114566"/>
            <a:ext cx="5502631" cy="262886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F7DF0BD-08C1-10F8-3D4C-43FAC8A35A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Core Number Analysis</a:t>
            </a:r>
            <a:br>
              <a:rPr lang="en-GB" dirty="0"/>
            </a:br>
            <a:r>
              <a:rPr lang="en-GB" sz="2400" dirty="0"/>
              <a:t>group mode: larger</a:t>
            </a:r>
            <a:endParaRPr lang="en-IL" sz="2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196902-EE53-15E0-7276-84B91C2D64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6" y="1825624"/>
            <a:ext cx="10850301" cy="5004149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GB" sz="2000" b="1" dirty="0"/>
          </a:p>
          <a:p>
            <a:pPr lvl="2"/>
            <a:endParaRPr lang="en-GB" sz="1500" dirty="0"/>
          </a:p>
          <a:p>
            <a:pPr marL="914400" lvl="2" indent="0">
              <a:buNone/>
            </a:pPr>
            <a:endParaRPr lang="en-GB" sz="15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854786-E567-7FB2-3611-0BF7112133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10</a:t>
            </a:fld>
            <a:endParaRPr lang="he-IL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970AEB7-A966-0EF2-9024-9D5E45B5C74D}"/>
              </a:ext>
            </a:extLst>
          </p:cNvPr>
          <p:cNvSpPr txBox="1"/>
          <p:nvPr/>
        </p:nvSpPr>
        <p:spPr>
          <a:xfrm>
            <a:off x="1527433" y="5217459"/>
            <a:ext cx="70731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Group mode: larger</a:t>
            </a:r>
            <a:r>
              <a:rPr lang="en-GB" dirty="0"/>
              <a:t> - each point represents authors whose indicator value is </a:t>
            </a:r>
            <a:r>
              <a:rPr lang="en-GB" b="1" dirty="0"/>
              <a:t>greater than</a:t>
            </a:r>
            <a:r>
              <a:rPr lang="en-GB" dirty="0"/>
              <a:t> the x-axis value.</a:t>
            </a:r>
            <a:endParaRPr lang="en-IL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70E996F-E3AA-95C2-9F95-422FEB9EECC5}"/>
              </a:ext>
            </a:extLst>
          </p:cNvPr>
          <p:cNvSpPr txBox="1"/>
          <p:nvPr/>
        </p:nvSpPr>
        <p:spPr>
          <a:xfrm>
            <a:off x="5234722" y="1639613"/>
            <a:ext cx="22142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Ecuador </a:t>
            </a:r>
            <a:r>
              <a:rPr lang="en-GB" dirty="0"/>
              <a:t>Campaigns</a:t>
            </a:r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16969298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87CF90-7B3A-775B-2776-0CAB79622E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9E111C-2932-64BE-E9B6-61A8C23DF1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Core Number Analysis</a:t>
            </a:r>
            <a:endParaRPr lang="en-IL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CCF4D89-8A67-D062-EBBF-D4F074BB93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933" y="1725312"/>
            <a:ext cx="5341739" cy="260238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1902111-6A7F-86D4-745C-8BEF6E3D0A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6964" y="1725311"/>
            <a:ext cx="5341739" cy="2602387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C7708B-BBF5-B023-9E60-48D8195BE6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6" y="1825624"/>
            <a:ext cx="10850301" cy="5004149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GB" sz="2000" b="1" dirty="0"/>
          </a:p>
          <a:p>
            <a:pPr lvl="2"/>
            <a:endParaRPr lang="en-GB" sz="1500" dirty="0"/>
          </a:p>
          <a:p>
            <a:pPr marL="914400" lvl="2" indent="0">
              <a:buNone/>
            </a:pPr>
            <a:endParaRPr lang="en-GB" sz="15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F05FAD-2A0B-E49B-2DDF-1D7EC792A2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11</a:t>
            </a:fld>
            <a:endParaRPr lang="he-IL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82664B2-B8A2-28AB-6C23-33AD907AE8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3366" y="4327698"/>
            <a:ext cx="4891351" cy="2432305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F15FE9DF-CB6E-AF2A-8056-A91278FA84AA}"/>
              </a:ext>
            </a:extLst>
          </p:cNvPr>
          <p:cNvSpPr/>
          <p:nvPr/>
        </p:nvSpPr>
        <p:spPr>
          <a:xfrm>
            <a:off x="6899024" y="6456649"/>
            <a:ext cx="408562" cy="13070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208A51A-3852-434B-8630-2873F7249398}"/>
              </a:ext>
            </a:extLst>
          </p:cNvPr>
          <p:cNvSpPr/>
          <p:nvPr/>
        </p:nvSpPr>
        <p:spPr>
          <a:xfrm>
            <a:off x="4952834" y="6463135"/>
            <a:ext cx="408562" cy="13070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BD590EB-1027-6A6B-5879-1EF12319137B}"/>
              </a:ext>
            </a:extLst>
          </p:cNvPr>
          <p:cNvSpPr txBox="1"/>
          <p:nvPr/>
        </p:nvSpPr>
        <p:spPr>
          <a:xfrm>
            <a:off x="1614792" y="5233460"/>
            <a:ext cx="209144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Binomial logistic regression &amp; Wald test on coefficient.</a:t>
            </a:r>
            <a:endParaRPr lang="en-IL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075DE13-12C6-7928-ACF6-3FB80EAFF854}"/>
              </a:ext>
            </a:extLst>
          </p:cNvPr>
          <p:cNvSpPr txBox="1"/>
          <p:nvPr/>
        </p:nvSpPr>
        <p:spPr>
          <a:xfrm>
            <a:off x="5157115" y="1456291"/>
            <a:ext cx="22142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Ecuador </a:t>
            </a:r>
            <a:r>
              <a:rPr lang="en-GB" dirty="0"/>
              <a:t>Campaigns</a:t>
            </a:r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934559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15039</TotalTime>
  <Words>331</Words>
  <Application>Microsoft Office PowerPoint</Application>
  <PresentationFormat>Widescreen</PresentationFormat>
  <Paragraphs>48</Paragraphs>
  <Slides>11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Arial</vt:lpstr>
      <vt:lpstr>Calibri</vt:lpstr>
      <vt:lpstr>Calibri Light</vt:lpstr>
      <vt:lpstr>Cambria Math</vt:lpstr>
      <vt:lpstr>Courier New</vt:lpstr>
      <vt:lpstr>Wingdings</vt:lpstr>
      <vt:lpstr>Office Theme</vt:lpstr>
      <vt:lpstr>Backbone Graph</vt:lpstr>
      <vt:lpstr>Co-Actions Graph </vt:lpstr>
      <vt:lpstr>Choosing Indicator– Information Gain  </vt:lpstr>
      <vt:lpstr>Choosing Indicator – SHAP </vt:lpstr>
      <vt:lpstr>Choosing Indicator – Box Plots</vt:lpstr>
      <vt:lpstr>Indicators Analysis – CDF</vt:lpstr>
      <vt:lpstr>Core Number</vt:lpstr>
      <vt:lpstr>Core Number - Example</vt:lpstr>
      <vt:lpstr>Core Number Analysis group mode: smaller</vt:lpstr>
      <vt:lpstr>Core Number Analysis group mode: larger</vt:lpstr>
      <vt:lpstr>Core Number Analysis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Edita Grolman</dc:creator>
  <cp:lastModifiedBy>Amit Ner Gaon</cp:lastModifiedBy>
  <cp:revision>491</cp:revision>
  <dcterms:created xsi:type="dcterms:W3CDTF">2021-05-04T15:24:24Z</dcterms:created>
  <dcterms:modified xsi:type="dcterms:W3CDTF">2026-05-10T17:30:03Z</dcterms:modified>
</cp:coreProperties>
</file>