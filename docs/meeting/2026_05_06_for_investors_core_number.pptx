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1574" r:id="rId2"/>
    <p:sldId id="1591" r:id="rId3"/>
    <p:sldId id="1688" r:id="rId4"/>
    <p:sldId id="1686" r:id="rId5"/>
    <p:sldId id="1687" r:id="rId6"/>
    <p:sldId id="1727" r:id="rId7"/>
    <p:sldId id="1681" r:id="rId8"/>
    <p:sldId id="1718" r:id="rId9"/>
    <p:sldId id="1719" r:id="rId10"/>
    <p:sldId id="1715" r:id="rId11"/>
    <p:sldId id="1716" r:id="rId12"/>
    <p:sldId id="1696" r:id="rId13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591"/>
            <p14:sldId id="1688"/>
            <p14:sldId id="1686"/>
            <p14:sldId id="1687"/>
            <p14:sldId id="1727"/>
            <p14:sldId id="1681"/>
            <p14:sldId id="1718"/>
            <p14:sldId id="1719"/>
            <p14:sldId id="1715"/>
            <p14:sldId id="1716"/>
            <p14:sldId id="16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88"/>
    <a:srgbClr val="F59120"/>
    <a:srgbClr val="FE0101"/>
    <a:srgbClr val="F58377"/>
    <a:srgbClr val="FF4343"/>
    <a:srgbClr val="548235"/>
    <a:srgbClr val="009DBB"/>
    <a:srgbClr val="0688BA"/>
    <a:srgbClr val="006189"/>
    <a:srgbClr val="5D5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E72004-61F2-4D6D-B395-3F69B2DB77B9}" v="6" dt="2026-02-22T11:40:56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107" d="100"/>
          <a:sy n="107" d="100"/>
        </p:scale>
        <p:origin x="63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i Puzis (BGU)" userId="15455a32-cfa8-4f75-8502-2ebc95aecdb5" providerId="ADAL" clId="{4604D058-1A9B-4964-A759-971FC0161111}"/>
    <pc:docChg chg="custSel modSld">
      <pc:chgData name="Rami Puzis (BGU)" userId="15455a32-cfa8-4f75-8502-2ebc95aecdb5" providerId="ADAL" clId="{4604D058-1A9B-4964-A759-971FC0161111}" dt="2026-02-22T11:42:08.251" v="89" actId="20577"/>
      <pc:docMkLst>
        <pc:docMk/>
      </pc:docMkLst>
      <pc:sldChg chg="modSp mod">
        <pc:chgData name="Rami Puzis (BGU)" userId="15455a32-cfa8-4f75-8502-2ebc95aecdb5" providerId="ADAL" clId="{4604D058-1A9B-4964-A759-971FC0161111}" dt="2026-02-22T11:42:08.251" v="89" actId="20577"/>
        <pc:sldMkLst>
          <pc:docMk/>
          <pc:sldMk cId="2564283967" sldId="1581"/>
        </pc:sldMkLst>
        <pc:graphicFrameChg chg="mod modGraphic">
          <ac:chgData name="Rami Puzis (BGU)" userId="15455a32-cfa8-4f75-8502-2ebc95aecdb5" providerId="ADAL" clId="{4604D058-1A9B-4964-A759-971FC0161111}" dt="2026-02-22T11:42:08.251" v="89" actId="20577"/>
          <ac:graphicFrameMkLst>
            <pc:docMk/>
            <pc:sldMk cId="2564283967" sldId="1581"/>
            <ac:graphicFrameMk id="6" creationId="{B16D549A-CC57-1C2C-A976-5DA7CC5B824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א'/סיון/תשפ"ו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760-78DB-D18D-FBB8-239E0A7E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EC71B-5AA6-886B-0231-A74B41D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997CC-4715-39C7-93DD-C967C308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57815-7BE0-C4B1-B3D0-083C2D02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2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buFont typeface="Courier New" panose="02070309020205020404" pitchFamily="49" charset="0"/>
              <a:buChar char="o"/>
              <a:defRPr sz="2000"/>
            </a:lvl2pPr>
            <a:lvl3pPr>
              <a:buFont typeface="Wingdings" panose="05000000000000000000" pitchFamily="2" charset="2"/>
              <a:buChar char="Ø"/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17 מאי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17 מאי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17 מאי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17 מאי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17 מאי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17 מאי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17 מאי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221434F7-1295-8CB3-5E53-891A52C3D7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t="8664" r="8034" b="78094"/>
          <a:stretch>
            <a:fillRect/>
          </a:stretch>
        </p:blipFill>
        <p:spPr>
          <a:xfrm>
            <a:off x="1038256" y="2478278"/>
            <a:ext cx="10821413" cy="2294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56582"/>
            <a:ext cx="5395912" cy="172481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Backbone Graph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36132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10.05.2026</a:t>
            </a:r>
          </a:p>
          <a:p>
            <a:r>
              <a:rPr lang="en-US" dirty="0"/>
              <a:t>Amit Ner Gaon, Noa Tal, Idan </a:t>
            </a:r>
            <a:r>
              <a:rPr lang="en-GB" dirty="0"/>
              <a:t>Muallem</a:t>
            </a:r>
            <a:endParaRPr lang="en-US" dirty="0"/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27CD-C8FF-B185-45D8-666A78A6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8079-07AB-1011-721B-DDEB468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Co-Actions Graph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F6C3-80E1-C75C-69F0-3A7FFA1D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2800" b="1" dirty="0"/>
              <a:t>Nodes:</a:t>
            </a:r>
            <a:r>
              <a:rPr lang="en-GB" sz="2800" dirty="0"/>
              <a:t> authors in the discourse.</a:t>
            </a:r>
          </a:p>
          <a:p>
            <a:r>
              <a:rPr lang="en-GB" sz="2800" b="1" dirty="0"/>
              <a:t>Edges: </a:t>
            </a:r>
            <a:r>
              <a:rPr lang="en-GB" sz="2800" dirty="0"/>
              <a:t>co-action relations between author pairs (e.g., co-mention, co-entity, co-topic). Represents </a:t>
            </a:r>
            <a:r>
              <a:rPr lang="en-US" sz="2800" b="1" dirty="0"/>
              <a:t>behavioral similar</a:t>
            </a:r>
            <a:r>
              <a:rPr lang="en-GB" sz="2800" b="1" dirty="0"/>
              <a:t>arty </a:t>
            </a:r>
            <a:r>
              <a:rPr lang="en-GB" sz="2800" dirty="0"/>
              <a:t>between the authors.</a:t>
            </a:r>
          </a:p>
          <a:p>
            <a:r>
              <a:rPr lang="en-GB" sz="2800" b="1" dirty="0"/>
              <a:t>Purpose</a:t>
            </a:r>
            <a:r>
              <a:rPr lang="en-GB" sz="2800" dirty="0"/>
              <a:t>: expose coordinated behaviour and structural signals for IO detection.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sz="3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3158-F388-D9C9-D303-42FD2F68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</a:t>
            </a:fld>
            <a:endParaRPr lang="he-IL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4F46E8E-95AB-4D82-04F7-80C932FEC2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62" b="10900"/>
          <a:stretch>
            <a:fillRect/>
          </a:stretch>
        </p:blipFill>
        <p:spPr bwMode="auto">
          <a:xfrm>
            <a:off x="1243087" y="4445296"/>
            <a:ext cx="9585434" cy="212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12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225D8-EDFA-0591-872A-E0075FF02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DED4E-07D6-5029-1267-13E254619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Choosing Indicator</a:t>
            </a:r>
            <a:r>
              <a:rPr lang="en-US" dirty="0"/>
              <a:t>– Information Gain  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F5E0B-95E2-EC2F-17CF-478A39DF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3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694049-9AAF-FF1E-EB69-93619E1D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21" y="1727200"/>
            <a:ext cx="8753475" cy="4275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8E7DED-7C45-6E37-6290-93FB4487F981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Information Gain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 </a:t>
            </a:r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used to measure how much knowledge one variable provides about another.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3CE284-809A-A65C-BDD2-3AC44719FA4E}"/>
              </a:ext>
            </a:extLst>
          </p:cNvPr>
          <p:cNvSpPr/>
          <p:nvPr/>
        </p:nvSpPr>
        <p:spPr>
          <a:xfrm rot="8053005">
            <a:off x="2398790" y="4289898"/>
            <a:ext cx="1550640" cy="3210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5404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6A4D-7568-BAE4-62D1-881293F2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C420-F8E3-F707-0927-1E9D7AEC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Choosing Indicator </a:t>
            </a:r>
            <a:r>
              <a:rPr lang="en-US" dirty="0"/>
              <a:t>– SHAP 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2290A-7BF2-C0BD-9A9F-A26B3BAE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4</a:t>
            </a:fld>
            <a:endParaRPr lang="he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2B9DBD-9D06-F91D-D64B-D21C4568C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179" y="2340414"/>
            <a:ext cx="5911564" cy="34295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DDFF08-7A2E-6395-8B4C-1B8FB2507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70" y="2368126"/>
            <a:ext cx="5162180" cy="34018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97C5E1-5F57-35AD-F9CE-6328C30BB91A}"/>
              </a:ext>
            </a:extLst>
          </p:cNvPr>
          <p:cNvSpPr txBox="1"/>
          <p:nvPr/>
        </p:nvSpPr>
        <p:spPr>
          <a:xfrm>
            <a:off x="0" y="1729419"/>
            <a:ext cx="1218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SHAP analysis on </a:t>
            </a:r>
            <a:r>
              <a:rPr lang="en-US" dirty="0" err="1"/>
              <a:t>XGBoost</a:t>
            </a:r>
            <a:r>
              <a:rPr lang="en-US" dirty="0"/>
              <a:t> model</a:t>
            </a:r>
            <a:endParaRPr lang="en-I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5D321-D39B-4DBC-6CB1-32D4550FBD1C}"/>
              </a:ext>
            </a:extLst>
          </p:cNvPr>
          <p:cNvSpPr txBox="1"/>
          <p:nvPr/>
        </p:nvSpPr>
        <p:spPr>
          <a:xfrm>
            <a:off x="1490383" y="6141483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SHAP explains how much each feature contributes to a model’s prediction.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39BF7-A475-CC65-7EE7-9930284821BC}"/>
              </a:ext>
            </a:extLst>
          </p:cNvPr>
          <p:cNvSpPr/>
          <p:nvPr/>
        </p:nvSpPr>
        <p:spPr>
          <a:xfrm>
            <a:off x="709879" y="2829161"/>
            <a:ext cx="1079771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361CCB-ED27-8FB9-F58E-5F2C97748B71}"/>
              </a:ext>
            </a:extLst>
          </p:cNvPr>
          <p:cNvSpPr/>
          <p:nvPr/>
        </p:nvSpPr>
        <p:spPr>
          <a:xfrm>
            <a:off x="6484869" y="2848617"/>
            <a:ext cx="1079771" cy="238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4751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886FA-D75D-B1C5-1F7F-3DABFBBA9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27740-856C-1F50-2CE0-9C9EB10B9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Choosing Indicator </a:t>
            </a:r>
            <a:r>
              <a:rPr lang="en-US" dirty="0"/>
              <a:t>– Box Plots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BE0A4-B226-D34F-31D7-E7C7F384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5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BD76C-B5E7-A4FA-A547-8B412A840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94" y="1366591"/>
            <a:ext cx="10784541" cy="48376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885F0EE-6C47-639E-CC0B-89DA7C32CA54}"/>
              </a:ext>
            </a:extLst>
          </p:cNvPr>
          <p:cNvSpPr/>
          <p:nvPr/>
        </p:nvSpPr>
        <p:spPr>
          <a:xfrm>
            <a:off x="667266" y="3218329"/>
            <a:ext cx="2036917" cy="14971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97FDBF-A5FC-FDF5-3FD4-894FDF6407A7}"/>
              </a:ext>
            </a:extLst>
          </p:cNvPr>
          <p:cNvSpPr txBox="1"/>
          <p:nvPr/>
        </p:nvSpPr>
        <p:spPr>
          <a:xfrm>
            <a:off x="1490383" y="6204236"/>
            <a:ext cx="6261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box plot is a method for demonstrating graphically the distribution of numerical data across different groups.</a:t>
            </a:r>
          </a:p>
        </p:txBody>
      </p:sp>
    </p:spTree>
    <p:extLst>
      <p:ext uri="{BB962C8B-B14F-4D97-AF65-F5344CB8AC3E}">
        <p14:creationId xmlns:p14="http://schemas.microsoft.com/office/powerpoint/2010/main" val="1239229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3FBAF-9B11-4A31-979E-53C65228B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AF9C8-65DB-4D85-01B3-0FBE36FCD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Indicators Analysis – CDF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2EB28-5D98-7FA1-AEEA-63F15D94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6</a:t>
            </a:fld>
            <a:endParaRPr lang="he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95B18C-D28C-E7BD-52F4-0DEE256A54AC}"/>
              </a:ext>
            </a:extLst>
          </p:cNvPr>
          <p:cNvSpPr txBox="1"/>
          <p:nvPr/>
        </p:nvSpPr>
        <p:spPr>
          <a:xfrm>
            <a:off x="1490383" y="6204236"/>
            <a:ext cx="7235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 Cumulative Distribution Function (CDF) show the probability that the variable will take a value less than or equal to a particular value in X-axis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42A1FB-A88F-D710-1D3E-5AA2F5113F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263"/>
          <a:stretch>
            <a:fillRect/>
          </a:stretch>
        </p:blipFill>
        <p:spPr>
          <a:xfrm>
            <a:off x="588640" y="2290008"/>
            <a:ext cx="11014720" cy="273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29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3180-6AFB-C018-C45A-F85FFDD4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A76748-B0A2-DB91-7163-06340529AC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3087" y="1825625"/>
                <a:ext cx="10582656" cy="2474001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/>
                  <a:t>A k-core is a maximal subgraph that contains nodes of degree k or more. </a:t>
                </a:r>
              </a:p>
              <a:p>
                <a:r>
                  <a:rPr lang="en-GB" sz="2400" dirty="0"/>
                  <a:t>The core number of a node is the highest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GB" sz="2400" dirty="0"/>
                  <a:t>such that the node is part of a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400" dirty="0"/>
                  <a:t>-core.</a:t>
                </a:r>
              </a:p>
              <a:p>
                <a:r>
                  <a:rPr lang="en-GB" sz="2400" dirty="0"/>
                  <a:t>Higher core number → node belongs to tightly connected, cohesive groups.</a:t>
                </a:r>
              </a:p>
              <a:p>
                <a:r>
                  <a:rPr lang="en-GB" dirty="0"/>
                  <a:t>IO drivers don’t just connect , they </a:t>
                </a:r>
                <a:r>
                  <a:rPr lang="en-GB" b="1" dirty="0"/>
                  <a:t>coordinate. </a:t>
                </a:r>
                <a:r>
                  <a:rPr lang="en-GB" dirty="0"/>
                  <a:t>In a behaviour similarity graph, this coordination places them inside dense, highly connected community, leading to high core-number. </a:t>
                </a:r>
                <a:endParaRPr lang="en-US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A76748-B0A2-DB91-7163-06340529AC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3087" y="1825625"/>
                <a:ext cx="10582656" cy="2474001"/>
              </a:xfrm>
              <a:blipFill>
                <a:blip r:embed="rId2"/>
                <a:stretch>
                  <a:fillRect l="-806" t="-3448" r="-230" b="-44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7FBE6-83DC-F0C7-45B9-872DEC2AB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E4F4DB-93A7-1D00-26B6-2AE90218B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7" b="11878"/>
          <a:stretch>
            <a:fillRect/>
          </a:stretch>
        </p:blipFill>
        <p:spPr>
          <a:xfrm>
            <a:off x="3294433" y="4299626"/>
            <a:ext cx="5603133" cy="246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049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591E3BC-962E-008E-4A26-C2135A4B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E1A7-B397-F9BA-7ECB-4DA1358C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- Example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1681F-8D0E-063B-E5F8-8C7C1145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  <p:pic>
        <p:nvPicPr>
          <p:cNvPr id="3" name="Picture 2" descr="k-Core of a graph">
            <a:extLst>
              <a:ext uri="{FF2B5EF4-FFF2-40B4-BE49-F238E27FC236}">
                <a16:creationId xmlns:a16="http://schemas.microsoft.com/office/drawing/2014/main" id="{3160D834-E7C4-9080-3DC5-CB154A8A5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3" y="1867838"/>
            <a:ext cx="10174718" cy="410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27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1E3BC-962E-008E-4A26-C2135A4B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E1A7-B397-F9BA-7ECB-4DA1358C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1681F-8D0E-063B-E5F8-8C7C1145E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9</a:t>
            </a:fld>
            <a:endParaRPr lang="he-IL"/>
          </a:p>
        </p:txBody>
      </p:sp>
      <p:pic>
        <p:nvPicPr>
          <p:cNvPr id="3" name="Picture 2" descr="k-Core of a graph">
            <a:extLst>
              <a:ext uri="{FF2B5EF4-FFF2-40B4-BE49-F238E27FC236}">
                <a16:creationId xmlns:a16="http://schemas.microsoft.com/office/drawing/2014/main" id="{3160D834-E7C4-9080-3DC5-CB154A8A5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3" y="1867838"/>
            <a:ext cx="10174718" cy="41070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502E69-603F-AF94-7CF7-D27C2F884842}"/>
              </a:ext>
            </a:extLst>
          </p:cNvPr>
          <p:cNvSpPr txBox="1"/>
          <p:nvPr/>
        </p:nvSpPr>
        <p:spPr>
          <a:xfrm rot="21258625">
            <a:off x="6110596" y="1919799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2A0732-50ED-1AFC-32AA-3F7B95710760}"/>
              </a:ext>
            </a:extLst>
          </p:cNvPr>
          <p:cNvSpPr txBox="1"/>
          <p:nvPr/>
        </p:nvSpPr>
        <p:spPr>
          <a:xfrm rot="4810671">
            <a:off x="5646712" y="314919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CD94E7-365A-A4A6-5838-0EF7D67EF462}"/>
              </a:ext>
            </a:extLst>
          </p:cNvPr>
          <p:cNvSpPr txBox="1"/>
          <p:nvPr/>
        </p:nvSpPr>
        <p:spPr>
          <a:xfrm>
            <a:off x="6742558" y="3771025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#TruthExposed</a:t>
            </a:r>
            <a:endParaRPr lang="en-IL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EAFB6-CF99-FD38-EFA5-9E066A7D1940}"/>
              </a:ext>
            </a:extLst>
          </p:cNvPr>
          <p:cNvSpPr txBox="1"/>
          <p:nvPr/>
        </p:nvSpPr>
        <p:spPr>
          <a:xfrm rot="4119364">
            <a:off x="7794291" y="2828263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EDC16A-3C4E-B233-A738-0736FE8DA8F5}"/>
              </a:ext>
            </a:extLst>
          </p:cNvPr>
          <p:cNvSpPr txBox="1"/>
          <p:nvPr/>
        </p:nvSpPr>
        <p:spPr>
          <a:xfrm rot="1762880">
            <a:off x="7204790" y="3201896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4E0D75-2DDB-A370-7E53-455AEB5ABECD}"/>
              </a:ext>
            </a:extLst>
          </p:cNvPr>
          <p:cNvSpPr txBox="1"/>
          <p:nvPr/>
        </p:nvSpPr>
        <p:spPr>
          <a:xfrm rot="18366777">
            <a:off x="6630407" y="249058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DBF434-BC13-F47A-9E0A-990355917FA9}"/>
              </a:ext>
            </a:extLst>
          </p:cNvPr>
          <p:cNvSpPr txBox="1"/>
          <p:nvPr/>
        </p:nvSpPr>
        <p:spPr>
          <a:xfrm>
            <a:off x="4618686" y="3805712"/>
            <a:ext cx="1477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#Trending</a:t>
            </a:r>
            <a:endParaRPr lang="en-IL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2FEE4E-9909-A2EA-D4C0-7C567C0D81B3}"/>
              </a:ext>
            </a:extLst>
          </p:cNvPr>
          <p:cNvSpPr txBox="1"/>
          <p:nvPr/>
        </p:nvSpPr>
        <p:spPr>
          <a:xfrm rot="3114557">
            <a:off x="9656857" y="250859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17E1FF-92A9-A019-1A6C-4BE0291EDC76}"/>
              </a:ext>
            </a:extLst>
          </p:cNvPr>
          <p:cNvSpPr txBox="1"/>
          <p:nvPr/>
        </p:nvSpPr>
        <p:spPr>
          <a:xfrm rot="17535076">
            <a:off x="8457906" y="2864984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#DeepState</a:t>
            </a:r>
            <a:endParaRPr lang="en-IL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1BF22E-50BE-4ECE-923D-B4BF2FC677C0}"/>
              </a:ext>
            </a:extLst>
          </p:cNvPr>
          <p:cNvSpPr txBox="1"/>
          <p:nvPr/>
        </p:nvSpPr>
        <p:spPr>
          <a:xfrm>
            <a:off x="9656856" y="179174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#Music</a:t>
            </a:r>
            <a:endParaRPr lang="en-IL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E9EBA8-814F-F059-2FF1-53ED509537FF}"/>
              </a:ext>
            </a:extLst>
          </p:cNvPr>
          <p:cNvSpPr txBox="1"/>
          <p:nvPr/>
        </p:nvSpPr>
        <p:spPr>
          <a:xfrm rot="18686069">
            <a:off x="9453556" y="4603411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#Eurovision</a:t>
            </a:r>
            <a:endParaRPr lang="en-IL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117F96-65E5-BA1F-C866-9E834A2624AC}"/>
              </a:ext>
            </a:extLst>
          </p:cNvPr>
          <p:cNvSpPr txBox="1"/>
          <p:nvPr/>
        </p:nvSpPr>
        <p:spPr>
          <a:xfrm rot="20634719">
            <a:off x="9166637" y="3480230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4A7900-1718-9498-D12B-BF6EFF07BB99}"/>
              </a:ext>
            </a:extLst>
          </p:cNvPr>
          <p:cNvSpPr txBox="1"/>
          <p:nvPr/>
        </p:nvSpPr>
        <p:spPr>
          <a:xfrm rot="15751676">
            <a:off x="8165907" y="4724186"/>
            <a:ext cx="1377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#</a:t>
            </a:r>
            <a:r>
              <a:rPr lang="en-GB" sz="1600" dirty="0"/>
              <a:t>DeepState</a:t>
            </a:r>
            <a:endParaRPr lang="en-IL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E119A9-EA7D-D216-1015-8751196133B7}"/>
              </a:ext>
            </a:extLst>
          </p:cNvPr>
          <p:cNvSpPr txBox="1"/>
          <p:nvPr/>
        </p:nvSpPr>
        <p:spPr>
          <a:xfrm rot="5187585">
            <a:off x="5916302" y="4788727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#True</a:t>
            </a:r>
            <a:endParaRPr lang="en-IL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30366B-B9BA-ED1C-15BE-7915DA9DF1F3}"/>
              </a:ext>
            </a:extLst>
          </p:cNvPr>
          <p:cNvSpPr txBox="1"/>
          <p:nvPr/>
        </p:nvSpPr>
        <p:spPr>
          <a:xfrm rot="18445421">
            <a:off x="4377158" y="2864983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57D533-B730-0F94-C987-C8468DA9FC9F}"/>
              </a:ext>
            </a:extLst>
          </p:cNvPr>
          <p:cNvSpPr txBox="1"/>
          <p:nvPr/>
        </p:nvSpPr>
        <p:spPr>
          <a:xfrm rot="4499005">
            <a:off x="3739807" y="2936281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21E3F1-3775-B1D3-C89B-6A19DF5C7C01}"/>
              </a:ext>
            </a:extLst>
          </p:cNvPr>
          <p:cNvSpPr txBox="1"/>
          <p:nvPr/>
        </p:nvSpPr>
        <p:spPr>
          <a:xfrm rot="17463090">
            <a:off x="3407513" y="4683885"/>
            <a:ext cx="1205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#CoverUp</a:t>
            </a:r>
            <a:endParaRPr lang="en-IL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B9AD731-D0B0-5AFB-2AB3-95826840118E}"/>
              </a:ext>
            </a:extLst>
          </p:cNvPr>
          <p:cNvSpPr txBox="1"/>
          <p:nvPr/>
        </p:nvSpPr>
        <p:spPr>
          <a:xfrm rot="1702415">
            <a:off x="7159342" y="4609927"/>
            <a:ext cx="1377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# Media</a:t>
            </a:r>
            <a:endParaRPr lang="en-IL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115F42-0B0F-4345-6BB3-C0BBE90FDB99}"/>
                  </a:ext>
                </a:extLst>
              </p:cNvPr>
              <p:cNvSpPr txBox="1"/>
              <p:nvPr/>
            </p:nvSpPr>
            <p:spPr>
              <a:xfrm>
                <a:off x="1255283" y="6076537"/>
                <a:ext cx="797626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A node’s core number is the largest </a:t>
                </a:r>
                <a14:m>
                  <m:oMath xmlns:m="http://schemas.openxmlformats.org/officeDocument/2006/math">
                    <m:r>
                      <a:rPr lang="en-GB" sz="2000"/>
                      <m:t>𝑘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such that the node belongs to a subgraph where every node has at least </a:t>
                </a:r>
                <a14:m>
                  <m:oMath xmlns:m="http://schemas.openxmlformats.org/officeDocument/2006/math">
                    <m:r>
                      <a:rPr lang="en-GB" sz="2000"/>
                      <m:t>𝑘</m:t>
                    </m:r>
                  </m:oMath>
                </a14:m>
                <a:r>
                  <a:rPr lang="en-GB" sz="2000" dirty="0"/>
                  <a:t>neighbours within that subgraph.</a:t>
                </a:r>
                <a:endParaRPr lang="en-IL" sz="20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115F42-0B0F-4345-6BB3-C0BBE90FD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283" y="6076537"/>
                <a:ext cx="7976266" cy="707886"/>
              </a:xfrm>
              <a:prstGeom prst="rect">
                <a:avLst/>
              </a:prstGeom>
              <a:blipFill>
                <a:blip r:embed="rId3"/>
                <a:stretch>
                  <a:fillRect l="-841" t="-5172" r="-153" b="-1465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0127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AB34D-2D7A-F556-495E-0CBC96104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AEA69D-040E-DE12-FF0B-4330D7D19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77" y="2061292"/>
            <a:ext cx="5826623" cy="27354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1F8EA2-71D6-580F-81B8-0F2F2C7F4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073" y="2114567"/>
            <a:ext cx="5599670" cy="26288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8FD990-DDE6-CBC9-B3A6-00D4121DA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Core Number Analysis</a:t>
            </a:r>
            <a:br>
              <a:rPr lang="en-GB" dirty="0"/>
            </a:br>
            <a:r>
              <a:rPr lang="en-GB" sz="2400" dirty="0"/>
              <a:t>group mode: smaller</a:t>
            </a:r>
            <a:endParaRPr lang="en-IL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5D22E-3792-2DD2-21B2-D8ADB8E10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b="1" dirty="0"/>
          </a:p>
          <a:p>
            <a:pPr lvl="2"/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BD006-7CBF-5F23-2244-43E7DEA5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10</a:t>
            </a:fld>
            <a:endParaRPr lang="he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8F8192-2756-715E-FCCA-8DD01E5AA434}"/>
              </a:ext>
            </a:extLst>
          </p:cNvPr>
          <p:cNvSpPr txBox="1"/>
          <p:nvPr/>
        </p:nvSpPr>
        <p:spPr>
          <a:xfrm>
            <a:off x="1527433" y="5217459"/>
            <a:ext cx="7073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Group mode: smaller</a:t>
            </a:r>
            <a:r>
              <a:rPr lang="en-GB" dirty="0"/>
              <a:t> - each point represents authors whose indicator value is </a:t>
            </a:r>
            <a:r>
              <a:rPr lang="en-GB" b="1" dirty="0"/>
              <a:t>less than</a:t>
            </a:r>
            <a:r>
              <a:rPr lang="en-GB" dirty="0"/>
              <a:t> the x-axis value.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A45B88-BBA4-ED58-4469-C910CCAA9BA6}"/>
              </a:ext>
            </a:extLst>
          </p:cNvPr>
          <p:cNvSpPr txBox="1"/>
          <p:nvPr/>
        </p:nvSpPr>
        <p:spPr>
          <a:xfrm>
            <a:off x="5234722" y="1639613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53363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76A3C-FA4E-8A3B-4630-F74A2E6B0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FA72677-3325-6398-7663-469EB22FC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77" y="2061291"/>
            <a:ext cx="5826623" cy="26821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6DC0B2-A5D7-A044-A129-CDA32CD95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072" y="2114566"/>
            <a:ext cx="5502631" cy="26288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7DF0BD-08C1-10F8-3D4C-43FAC8A35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Core Number Analysis</a:t>
            </a:r>
            <a:br>
              <a:rPr lang="en-GB" dirty="0"/>
            </a:br>
            <a:r>
              <a:rPr lang="en-GB" sz="2400" dirty="0"/>
              <a:t>group mode: larger</a:t>
            </a:r>
            <a:endParaRPr lang="en-IL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96902-EE53-15E0-7276-84B91C2D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b="1" dirty="0"/>
          </a:p>
          <a:p>
            <a:pPr lvl="2"/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54786-E567-7FB2-3611-0BF711213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11</a:t>
            </a:fld>
            <a:endParaRPr lang="he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70AEB7-A966-0EF2-9024-9D5E45B5C74D}"/>
              </a:ext>
            </a:extLst>
          </p:cNvPr>
          <p:cNvSpPr txBox="1"/>
          <p:nvPr/>
        </p:nvSpPr>
        <p:spPr>
          <a:xfrm>
            <a:off x="1527433" y="5217459"/>
            <a:ext cx="7073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Group mode: larger</a:t>
            </a:r>
            <a:r>
              <a:rPr lang="en-GB" dirty="0"/>
              <a:t> - each point represents authors whose indicator value is </a:t>
            </a:r>
            <a:r>
              <a:rPr lang="en-GB" b="1" dirty="0"/>
              <a:t>greater than</a:t>
            </a:r>
            <a:r>
              <a:rPr lang="en-GB" dirty="0"/>
              <a:t> the x-axis value.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0E996F-E3AA-95C2-9F95-422FEB9EECC5}"/>
              </a:ext>
            </a:extLst>
          </p:cNvPr>
          <p:cNvSpPr txBox="1"/>
          <p:nvPr/>
        </p:nvSpPr>
        <p:spPr>
          <a:xfrm>
            <a:off x="5234722" y="1639613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96929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7CF90-7B3A-775B-2776-0CAB7962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E111C-2932-64BE-E9B6-61A8C23D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Number Analysis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CF4D89-8A67-D062-EBBF-D4F074BB9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3" y="1725312"/>
            <a:ext cx="5341739" cy="26023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902111-6A7F-86D4-745C-8BEF6E3D0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964" y="1725311"/>
            <a:ext cx="5341739" cy="26023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7708B-BBF5-B023-9E60-48D8195BE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6" y="1825624"/>
            <a:ext cx="10850301" cy="5004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2000" b="1" dirty="0"/>
          </a:p>
          <a:p>
            <a:pPr lvl="2"/>
            <a:endParaRPr lang="en-GB" sz="1500" dirty="0"/>
          </a:p>
          <a:p>
            <a:pPr marL="914400" lvl="2" indent="0">
              <a:buNone/>
            </a:pPr>
            <a:endParaRPr lang="en-GB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05FAD-2A0B-E49B-2DDF-1D7EC792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12</a:t>
            </a:fld>
            <a:endParaRPr lang="he-I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2664B2-B8A2-28AB-6C23-33AD907AE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366" y="4327698"/>
            <a:ext cx="4891351" cy="243230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15FE9DF-CB6E-AF2A-8056-A91278FA84AA}"/>
              </a:ext>
            </a:extLst>
          </p:cNvPr>
          <p:cNvSpPr/>
          <p:nvPr/>
        </p:nvSpPr>
        <p:spPr>
          <a:xfrm>
            <a:off x="6899024" y="6456649"/>
            <a:ext cx="408562" cy="130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08A51A-3852-434B-8630-2873F7249398}"/>
              </a:ext>
            </a:extLst>
          </p:cNvPr>
          <p:cNvSpPr/>
          <p:nvPr/>
        </p:nvSpPr>
        <p:spPr>
          <a:xfrm>
            <a:off x="4952834" y="6463135"/>
            <a:ext cx="408562" cy="130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D590EB-1027-6A6B-5879-1EF12319137B}"/>
              </a:ext>
            </a:extLst>
          </p:cNvPr>
          <p:cNvSpPr txBox="1"/>
          <p:nvPr/>
        </p:nvSpPr>
        <p:spPr>
          <a:xfrm>
            <a:off x="1614792" y="5233460"/>
            <a:ext cx="20914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Binomial logistic regression &amp; Wald test on coefficient.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75DE13-12C6-7928-ACF6-3FB80EAFF854}"/>
              </a:ext>
            </a:extLst>
          </p:cNvPr>
          <p:cNvSpPr txBox="1"/>
          <p:nvPr/>
        </p:nvSpPr>
        <p:spPr>
          <a:xfrm>
            <a:off x="5157115" y="1456291"/>
            <a:ext cx="2214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Ecuador </a:t>
            </a:r>
            <a:r>
              <a:rPr lang="en-GB" dirty="0"/>
              <a:t>Campaigns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3455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15085</TotalTime>
  <Words>398</Words>
  <Application>Microsoft Office PowerPoint</Application>
  <PresentationFormat>Widescreen</PresentationFormat>
  <Paragraphs>69</Paragraphs>
  <Slides>12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Backbone Graph</vt:lpstr>
      <vt:lpstr>Co-Actions Graph </vt:lpstr>
      <vt:lpstr>Choosing Indicator– Information Gain  </vt:lpstr>
      <vt:lpstr>Choosing Indicator – SHAP </vt:lpstr>
      <vt:lpstr>Choosing Indicator – Box Plots</vt:lpstr>
      <vt:lpstr>Indicators Analysis – CDF</vt:lpstr>
      <vt:lpstr>Core Number</vt:lpstr>
      <vt:lpstr>Core Number - Example</vt:lpstr>
      <vt:lpstr>Core Number</vt:lpstr>
      <vt:lpstr>Core Number Analysis group mode: smaller</vt:lpstr>
      <vt:lpstr>Core Number Analysis group mode: larger</vt:lpstr>
      <vt:lpstr>Core Number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492</cp:revision>
  <dcterms:created xsi:type="dcterms:W3CDTF">2021-05-04T15:24:24Z</dcterms:created>
  <dcterms:modified xsi:type="dcterms:W3CDTF">2026-05-17T11:15:15Z</dcterms:modified>
</cp:coreProperties>
</file>