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1574" r:id="rId2"/>
    <p:sldId id="1577" r:id="rId3"/>
    <p:sldId id="1591" r:id="rId4"/>
    <p:sldId id="1649" r:id="rId5"/>
    <p:sldId id="1740" r:id="rId6"/>
    <p:sldId id="1738" r:id="rId7"/>
    <p:sldId id="1739" r:id="rId8"/>
    <p:sldId id="1695" r:id="rId9"/>
    <p:sldId id="1752" r:id="rId10"/>
    <p:sldId id="1753" r:id="rId11"/>
    <p:sldId id="1754" r:id="rId12"/>
    <p:sldId id="1760" r:id="rId13"/>
    <p:sldId id="1719" r:id="rId14"/>
    <p:sldId id="1749" r:id="rId15"/>
    <p:sldId id="1596" r:id="rId16"/>
    <p:sldId id="1757" r:id="rId17"/>
    <p:sldId id="1759" r:id="rId18"/>
    <p:sldId id="1761" r:id="rId19"/>
    <p:sldId id="1678" r:id="rId20"/>
    <p:sldId id="1729" r:id="rId21"/>
    <p:sldId id="1730" r:id="rId22"/>
    <p:sldId id="1687" r:id="rId23"/>
    <p:sldId id="1756" r:id="rId24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A84E6CC-2EA2-4553-A6A4-DAF877036261}">
          <p14:sldIdLst>
            <p14:sldId id="1574"/>
            <p14:sldId id="1577"/>
            <p14:sldId id="1591"/>
            <p14:sldId id="1649"/>
          </p14:sldIdLst>
        </p14:section>
        <p14:section name="Core-Number" id="{2F1E73D5-870F-4091-9492-A1102BE33EA1}">
          <p14:sldIdLst>
            <p14:sldId id="1740"/>
            <p14:sldId id="1738"/>
            <p14:sldId id="1739"/>
            <p14:sldId id="1695"/>
            <p14:sldId id="1752"/>
            <p14:sldId id="1753"/>
            <p14:sldId id="1754"/>
            <p14:sldId id="1760"/>
            <p14:sldId id="1719"/>
            <p14:sldId id="1749"/>
            <p14:sldId id="1596"/>
            <p14:sldId id="1757"/>
            <p14:sldId id="1759"/>
            <p14:sldId id="1761"/>
            <p14:sldId id="1678"/>
            <p14:sldId id="1729"/>
            <p14:sldId id="1730"/>
            <p14:sldId id="1687"/>
            <p14:sldId id="17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9120"/>
    <a:srgbClr val="FE0101"/>
    <a:srgbClr val="F58377"/>
    <a:srgbClr val="FF4343"/>
    <a:srgbClr val="548235"/>
    <a:srgbClr val="009DBB"/>
    <a:srgbClr val="0688BA"/>
    <a:srgbClr val="005488"/>
    <a:srgbClr val="006189"/>
    <a:srgbClr val="5D5D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E72004-61F2-4D6D-B395-3F69B2DB77B9}" v="6" dt="2026-02-22T11:40:56.8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52"/>
    <p:restoredTop sz="95033" autoAdjust="0"/>
  </p:normalViewPr>
  <p:slideViewPr>
    <p:cSldViewPr snapToGrid="0">
      <p:cViewPr varScale="1">
        <p:scale>
          <a:sx n="155" d="100"/>
          <a:sy n="155" d="100"/>
        </p:scale>
        <p:origin x="504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mi Puzis (BGU)" userId="15455a32-cfa8-4f75-8502-2ebc95aecdb5" providerId="ADAL" clId="{4604D058-1A9B-4964-A759-971FC0161111}"/>
    <pc:docChg chg="custSel modSld">
      <pc:chgData name="Rami Puzis (BGU)" userId="15455a32-cfa8-4f75-8502-2ebc95aecdb5" providerId="ADAL" clId="{4604D058-1A9B-4964-A759-971FC0161111}" dt="2026-02-22T11:42:08.251" v="89" actId="20577"/>
      <pc:docMkLst>
        <pc:docMk/>
      </pc:docMkLst>
      <pc:sldChg chg="modSp mod">
        <pc:chgData name="Rami Puzis (BGU)" userId="15455a32-cfa8-4f75-8502-2ebc95aecdb5" providerId="ADAL" clId="{4604D058-1A9B-4964-A759-971FC0161111}" dt="2026-02-22T11:42:08.251" v="89" actId="20577"/>
        <pc:sldMkLst>
          <pc:docMk/>
          <pc:sldMk cId="2564283967" sldId="1581"/>
        </pc:sldMkLst>
        <pc:graphicFrameChg chg="mod modGraphic">
          <ac:chgData name="Rami Puzis (BGU)" userId="15455a32-cfa8-4f75-8502-2ebc95aecdb5" providerId="ADAL" clId="{4604D058-1A9B-4964-A759-971FC0161111}" dt="2026-02-22T11:42:08.251" v="89" actId="20577"/>
          <ac:graphicFrameMkLst>
            <pc:docMk/>
            <pc:sldMk cId="2564283967" sldId="1581"/>
            <ac:graphicFrameMk id="6" creationId="{B16D549A-CC57-1C2C-A976-5DA7CC5B8247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790C58F-1623-4B30-8E09-2CA0F33BB139}" type="doc">
      <dgm:prSet loTypeId="urn:microsoft.com/office/officeart/2005/8/layout/process4" loCatId="list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IL"/>
        </a:p>
      </dgm:t>
    </dgm:pt>
    <dgm:pt modelId="{4BC2FB94-54C5-4AA4-8613-4ABB9F2FB0D5}">
      <dgm:prSet custT="1"/>
      <dgm:spPr/>
      <dgm:t>
        <a:bodyPr/>
        <a:lstStyle/>
        <a:p>
          <a:r>
            <a:rPr lang="en-GB" sz="2400" dirty="0"/>
            <a:t>1) Co-actions graph represents author similarity.</a:t>
          </a:r>
          <a:endParaRPr lang="en-IL" sz="2400" dirty="0"/>
        </a:p>
      </dgm:t>
    </dgm:pt>
    <dgm:pt modelId="{81142ADE-1E42-4CE9-83A4-2B0D9F638559}" type="parTrans" cxnId="{BFFBDADC-868D-420E-9208-8F65BF16916D}">
      <dgm:prSet/>
      <dgm:spPr/>
      <dgm:t>
        <a:bodyPr/>
        <a:lstStyle/>
        <a:p>
          <a:endParaRPr lang="en-IL"/>
        </a:p>
      </dgm:t>
    </dgm:pt>
    <dgm:pt modelId="{1E17B9C2-D2AB-4D01-8569-00D12B23D4C7}" type="sibTrans" cxnId="{BFFBDADC-868D-420E-9208-8F65BF16916D}">
      <dgm:prSet/>
      <dgm:spPr/>
      <dgm:t>
        <a:bodyPr/>
        <a:lstStyle/>
        <a:p>
          <a:endParaRPr lang="en-IL"/>
        </a:p>
      </dgm:t>
    </dgm:pt>
    <dgm:pt modelId="{7D320D05-8BC7-49AB-93E1-F512A65ADBB4}">
      <dgm:prSet custT="1"/>
      <dgm:spPr/>
      <dgm:t>
        <a:bodyPr/>
        <a:lstStyle/>
        <a:p>
          <a:r>
            <a:rPr lang="en-GB" sz="2400" kern="1200" dirty="0"/>
            <a:t>2) IO drivers tend to be embedded in dense communities.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gm:t>
    </dgm:pt>
    <dgm:pt modelId="{76729AB0-F7FB-43B8-8268-2879B72FF758}" type="parTrans" cxnId="{D6404C00-BB8F-47F6-A3E0-E9AE5168B69E}">
      <dgm:prSet/>
      <dgm:spPr/>
      <dgm:t>
        <a:bodyPr/>
        <a:lstStyle/>
        <a:p>
          <a:endParaRPr lang="en-IL"/>
        </a:p>
      </dgm:t>
    </dgm:pt>
    <dgm:pt modelId="{7A6195CC-C5B6-499B-8C5A-C59F05E11EE6}" type="sibTrans" cxnId="{D6404C00-BB8F-47F6-A3E0-E9AE5168B69E}">
      <dgm:prSet/>
      <dgm:spPr/>
      <dgm:t>
        <a:bodyPr/>
        <a:lstStyle/>
        <a:p>
          <a:endParaRPr lang="en-IL"/>
        </a:p>
      </dgm:t>
    </dgm:pt>
    <dgm:pt modelId="{A7B258C5-DA38-4321-BB19-D9CB5619264C}">
      <dgm:prSet custT="1"/>
      <dgm:spPr/>
      <dgm:t>
        <a:bodyPr/>
        <a:lstStyle/>
        <a:p>
          <a:r>
            <a:rPr lang="en-GB" sz="2400" dirty="0"/>
            <a:t>3) Graph-based indicators are used to measure     author’s embeddedness.</a:t>
          </a:r>
          <a:endParaRPr lang="en-IL" sz="2400" dirty="0"/>
        </a:p>
      </dgm:t>
    </dgm:pt>
    <dgm:pt modelId="{203A4A45-D67F-4111-8115-F39D8B161CDD}" type="parTrans" cxnId="{601BA4A4-5D6C-40ED-8F48-667E9AF2836A}">
      <dgm:prSet/>
      <dgm:spPr/>
      <dgm:t>
        <a:bodyPr/>
        <a:lstStyle/>
        <a:p>
          <a:endParaRPr lang="en-IL"/>
        </a:p>
      </dgm:t>
    </dgm:pt>
    <dgm:pt modelId="{CFB66835-E5CB-4D8A-B6C8-1B3B8DF01259}" type="sibTrans" cxnId="{601BA4A4-5D6C-40ED-8F48-667E9AF2836A}">
      <dgm:prSet/>
      <dgm:spPr/>
      <dgm:t>
        <a:bodyPr/>
        <a:lstStyle/>
        <a:p>
          <a:endParaRPr lang="en-IL"/>
        </a:p>
      </dgm:t>
    </dgm:pt>
    <dgm:pt modelId="{5D7624BE-F238-4C3B-897B-9536540A45EC}">
      <dgm:prSet custT="1"/>
      <dgm:spPr/>
      <dgm:t>
        <a:bodyPr/>
        <a:lstStyle/>
        <a:p>
          <a:r>
            <a:rPr lang="en-GB" sz="2400" kern="1200" dirty="0">
              <a:latin typeface="Calibri" panose="020F0502020204030204"/>
              <a:ea typeface="+mn-ea"/>
              <a:cs typeface="+mn-cs"/>
            </a:rPr>
            <a:t>4) Each user is represented by a feature vector.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gm:t>
    </dgm:pt>
    <dgm:pt modelId="{DE3ECAEC-D217-4ACD-8F26-7D253DBBBB46}" type="parTrans" cxnId="{D548CB56-4B7F-4832-B855-6F1B2D31D122}">
      <dgm:prSet/>
      <dgm:spPr/>
      <dgm:t>
        <a:bodyPr/>
        <a:lstStyle/>
        <a:p>
          <a:endParaRPr lang="en-IL"/>
        </a:p>
      </dgm:t>
    </dgm:pt>
    <dgm:pt modelId="{312170D2-ED7B-4054-82B8-1D60C8F68B7F}" type="sibTrans" cxnId="{D548CB56-4B7F-4832-B855-6F1B2D31D122}">
      <dgm:prSet/>
      <dgm:spPr/>
      <dgm:t>
        <a:bodyPr/>
        <a:lstStyle/>
        <a:p>
          <a:endParaRPr lang="en-IL"/>
        </a:p>
      </dgm:t>
    </dgm:pt>
    <dgm:pt modelId="{F5835A2A-6EED-4CF0-AD6D-9C43F08E8106}">
      <dgm:prSet custT="1"/>
      <dgm:spPr/>
      <dgm:t>
        <a:bodyPr/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rPr>
            <a:t>5) The feature vectors are used to determine if               an author is an IO driver.</a:t>
          </a:r>
          <a:endParaRPr lang="en-IL" sz="2400" b="1" kern="1200" dirty="0">
            <a:solidFill>
              <a:prstClr val="black"/>
            </a:solidFill>
            <a:latin typeface="Calibri" panose="020F0502020204030204"/>
            <a:ea typeface="+mn-ea"/>
            <a:cs typeface="+mn-cs"/>
          </a:endParaRPr>
        </a:p>
      </dgm:t>
    </dgm:pt>
    <dgm:pt modelId="{3B3A9903-4669-470D-9A03-4D8FCA8E328C}" type="parTrans" cxnId="{02F270AA-4ABA-474A-B88D-AF4118A95DC5}">
      <dgm:prSet/>
      <dgm:spPr/>
      <dgm:t>
        <a:bodyPr/>
        <a:lstStyle/>
        <a:p>
          <a:endParaRPr lang="en-IL"/>
        </a:p>
      </dgm:t>
    </dgm:pt>
    <dgm:pt modelId="{687F42B4-C2AD-4C27-B6FA-0BF9E906535E}" type="sibTrans" cxnId="{02F270AA-4ABA-474A-B88D-AF4118A95DC5}">
      <dgm:prSet/>
      <dgm:spPr/>
      <dgm:t>
        <a:bodyPr/>
        <a:lstStyle/>
        <a:p>
          <a:endParaRPr lang="en-IL"/>
        </a:p>
      </dgm:t>
    </dgm:pt>
    <dgm:pt modelId="{E3D2F466-9D2B-489B-8FD7-00A269198811}" type="pres">
      <dgm:prSet presAssocID="{4790C58F-1623-4B30-8E09-2CA0F33BB139}" presName="Name0" presStyleCnt="0">
        <dgm:presLayoutVars>
          <dgm:dir/>
          <dgm:animLvl val="lvl"/>
          <dgm:resizeHandles val="exact"/>
        </dgm:presLayoutVars>
      </dgm:prSet>
      <dgm:spPr/>
    </dgm:pt>
    <dgm:pt modelId="{088EA719-2472-4684-87F4-629B6808F521}" type="pres">
      <dgm:prSet presAssocID="{F5835A2A-6EED-4CF0-AD6D-9C43F08E8106}" presName="boxAndChildren" presStyleCnt="0"/>
      <dgm:spPr/>
    </dgm:pt>
    <dgm:pt modelId="{BF4415FE-1BEA-4AAF-8504-EF442423F26C}" type="pres">
      <dgm:prSet presAssocID="{F5835A2A-6EED-4CF0-AD6D-9C43F08E8106}" presName="parentTextBox" presStyleLbl="node1" presStyleIdx="0" presStyleCnt="5" custLinFactNeighborX="-4106"/>
      <dgm:spPr/>
    </dgm:pt>
    <dgm:pt modelId="{089D2F7B-F14C-4A92-BB3A-DAA08CAE5848}" type="pres">
      <dgm:prSet presAssocID="{312170D2-ED7B-4054-82B8-1D60C8F68B7F}" presName="sp" presStyleCnt="0"/>
      <dgm:spPr/>
    </dgm:pt>
    <dgm:pt modelId="{F9478C95-2D8F-4B5D-9198-EA05C72041D6}" type="pres">
      <dgm:prSet presAssocID="{5D7624BE-F238-4C3B-897B-9536540A45EC}" presName="arrowAndChildren" presStyleCnt="0"/>
      <dgm:spPr/>
    </dgm:pt>
    <dgm:pt modelId="{6679C54E-D9B3-42D4-8579-0F059BE402E7}" type="pres">
      <dgm:prSet presAssocID="{5D7624BE-F238-4C3B-897B-9536540A45EC}" presName="parentTextArrow" presStyleLbl="node1" presStyleIdx="1" presStyleCnt="5"/>
      <dgm:spPr/>
    </dgm:pt>
    <dgm:pt modelId="{9EEDCD11-2912-410C-BF8F-FB8C0E08B1DE}" type="pres">
      <dgm:prSet presAssocID="{CFB66835-E5CB-4D8A-B6C8-1B3B8DF01259}" presName="sp" presStyleCnt="0"/>
      <dgm:spPr/>
    </dgm:pt>
    <dgm:pt modelId="{67F4FDC1-DDD2-4281-BAE2-FB77EAC45D98}" type="pres">
      <dgm:prSet presAssocID="{A7B258C5-DA38-4321-BB19-D9CB5619264C}" presName="arrowAndChildren" presStyleCnt="0"/>
      <dgm:spPr/>
    </dgm:pt>
    <dgm:pt modelId="{1286EBB1-156A-4900-80F5-B7DA82846AFD}" type="pres">
      <dgm:prSet presAssocID="{A7B258C5-DA38-4321-BB19-D9CB5619264C}" presName="parentTextArrow" presStyleLbl="node1" presStyleIdx="2" presStyleCnt="5"/>
      <dgm:spPr/>
    </dgm:pt>
    <dgm:pt modelId="{E5FC2BC1-7FA9-42C4-A969-06EE33CAE6B9}" type="pres">
      <dgm:prSet presAssocID="{7A6195CC-C5B6-499B-8C5A-C59F05E11EE6}" presName="sp" presStyleCnt="0"/>
      <dgm:spPr/>
    </dgm:pt>
    <dgm:pt modelId="{1B190E91-BA0B-443D-8EBB-2D0FBA24695A}" type="pres">
      <dgm:prSet presAssocID="{7D320D05-8BC7-49AB-93E1-F512A65ADBB4}" presName="arrowAndChildren" presStyleCnt="0"/>
      <dgm:spPr/>
    </dgm:pt>
    <dgm:pt modelId="{EC9EF89E-2EC9-4197-83CE-6F0E9635859A}" type="pres">
      <dgm:prSet presAssocID="{7D320D05-8BC7-49AB-93E1-F512A65ADBB4}" presName="parentTextArrow" presStyleLbl="node1" presStyleIdx="3" presStyleCnt="5"/>
      <dgm:spPr/>
    </dgm:pt>
    <dgm:pt modelId="{5FA7D69C-ADC5-4D3E-A63E-3177E18C39D9}" type="pres">
      <dgm:prSet presAssocID="{1E17B9C2-D2AB-4D01-8569-00D12B23D4C7}" presName="sp" presStyleCnt="0"/>
      <dgm:spPr/>
    </dgm:pt>
    <dgm:pt modelId="{9C5F784D-3A5B-40B8-BC6E-96C4885D6DD5}" type="pres">
      <dgm:prSet presAssocID="{4BC2FB94-54C5-4AA4-8613-4ABB9F2FB0D5}" presName="arrowAndChildren" presStyleCnt="0"/>
      <dgm:spPr/>
    </dgm:pt>
    <dgm:pt modelId="{449265AB-55D8-4494-95A0-FB133CF562A6}" type="pres">
      <dgm:prSet presAssocID="{4BC2FB94-54C5-4AA4-8613-4ABB9F2FB0D5}" presName="parentTextArrow" presStyleLbl="node1" presStyleIdx="4" presStyleCnt="5"/>
      <dgm:spPr/>
    </dgm:pt>
  </dgm:ptLst>
  <dgm:cxnLst>
    <dgm:cxn modelId="{D6404C00-BB8F-47F6-A3E0-E9AE5168B69E}" srcId="{4790C58F-1623-4B30-8E09-2CA0F33BB139}" destId="{7D320D05-8BC7-49AB-93E1-F512A65ADBB4}" srcOrd="1" destOrd="0" parTransId="{76729AB0-F7FB-43B8-8268-2879B72FF758}" sibTransId="{7A6195CC-C5B6-499B-8C5A-C59F05E11EE6}"/>
    <dgm:cxn modelId="{DC654E60-F4C9-4839-B9F7-FF7CD85FC243}" type="presOf" srcId="{4790C58F-1623-4B30-8E09-2CA0F33BB139}" destId="{E3D2F466-9D2B-489B-8FD7-00A269198811}" srcOrd="0" destOrd="0" presId="urn:microsoft.com/office/officeart/2005/8/layout/process4"/>
    <dgm:cxn modelId="{9CD98B73-AB6F-4E84-90D8-47F6FFBAC76D}" type="presOf" srcId="{F5835A2A-6EED-4CF0-AD6D-9C43F08E8106}" destId="{BF4415FE-1BEA-4AAF-8504-EF442423F26C}" srcOrd="0" destOrd="0" presId="urn:microsoft.com/office/officeart/2005/8/layout/process4"/>
    <dgm:cxn modelId="{BA2A9C55-DAE0-4FAA-B51F-3227B1490E8B}" type="presOf" srcId="{4BC2FB94-54C5-4AA4-8613-4ABB9F2FB0D5}" destId="{449265AB-55D8-4494-95A0-FB133CF562A6}" srcOrd="0" destOrd="0" presId="urn:microsoft.com/office/officeart/2005/8/layout/process4"/>
    <dgm:cxn modelId="{D548CB56-4B7F-4832-B855-6F1B2D31D122}" srcId="{4790C58F-1623-4B30-8E09-2CA0F33BB139}" destId="{5D7624BE-F238-4C3B-897B-9536540A45EC}" srcOrd="3" destOrd="0" parTransId="{DE3ECAEC-D217-4ACD-8F26-7D253DBBBB46}" sibTransId="{312170D2-ED7B-4054-82B8-1D60C8F68B7F}"/>
    <dgm:cxn modelId="{E5EFFFA0-A070-4C0A-9F9B-56FFA56576C5}" type="presOf" srcId="{5D7624BE-F238-4C3B-897B-9536540A45EC}" destId="{6679C54E-D9B3-42D4-8579-0F059BE402E7}" srcOrd="0" destOrd="0" presId="urn:microsoft.com/office/officeart/2005/8/layout/process4"/>
    <dgm:cxn modelId="{601BA4A4-5D6C-40ED-8F48-667E9AF2836A}" srcId="{4790C58F-1623-4B30-8E09-2CA0F33BB139}" destId="{A7B258C5-DA38-4321-BB19-D9CB5619264C}" srcOrd="2" destOrd="0" parTransId="{203A4A45-D67F-4111-8115-F39D8B161CDD}" sibTransId="{CFB66835-E5CB-4D8A-B6C8-1B3B8DF01259}"/>
    <dgm:cxn modelId="{02F270AA-4ABA-474A-B88D-AF4118A95DC5}" srcId="{4790C58F-1623-4B30-8E09-2CA0F33BB139}" destId="{F5835A2A-6EED-4CF0-AD6D-9C43F08E8106}" srcOrd="4" destOrd="0" parTransId="{3B3A9903-4669-470D-9A03-4D8FCA8E328C}" sibTransId="{687F42B4-C2AD-4C27-B6FA-0BF9E906535E}"/>
    <dgm:cxn modelId="{262235C1-EFC5-4940-8DEA-0CA0F4B91211}" type="presOf" srcId="{A7B258C5-DA38-4321-BB19-D9CB5619264C}" destId="{1286EBB1-156A-4900-80F5-B7DA82846AFD}" srcOrd="0" destOrd="0" presId="urn:microsoft.com/office/officeart/2005/8/layout/process4"/>
    <dgm:cxn modelId="{481E6ECA-7582-476F-9F6F-F6D456E97373}" type="presOf" srcId="{7D320D05-8BC7-49AB-93E1-F512A65ADBB4}" destId="{EC9EF89E-2EC9-4197-83CE-6F0E9635859A}" srcOrd="0" destOrd="0" presId="urn:microsoft.com/office/officeart/2005/8/layout/process4"/>
    <dgm:cxn modelId="{BFFBDADC-868D-420E-9208-8F65BF16916D}" srcId="{4790C58F-1623-4B30-8E09-2CA0F33BB139}" destId="{4BC2FB94-54C5-4AA4-8613-4ABB9F2FB0D5}" srcOrd="0" destOrd="0" parTransId="{81142ADE-1E42-4CE9-83A4-2B0D9F638559}" sibTransId="{1E17B9C2-D2AB-4D01-8569-00D12B23D4C7}"/>
    <dgm:cxn modelId="{5C85148E-5CCC-4A95-8B36-C6A100D3BF1C}" type="presParOf" srcId="{E3D2F466-9D2B-489B-8FD7-00A269198811}" destId="{088EA719-2472-4684-87F4-629B6808F521}" srcOrd="0" destOrd="0" presId="urn:microsoft.com/office/officeart/2005/8/layout/process4"/>
    <dgm:cxn modelId="{0BC62B70-DEC5-4EC3-899B-9B33A2D8EEC6}" type="presParOf" srcId="{088EA719-2472-4684-87F4-629B6808F521}" destId="{BF4415FE-1BEA-4AAF-8504-EF442423F26C}" srcOrd="0" destOrd="0" presId="urn:microsoft.com/office/officeart/2005/8/layout/process4"/>
    <dgm:cxn modelId="{FC75D633-9762-46D5-A2F4-24F65D3B523D}" type="presParOf" srcId="{E3D2F466-9D2B-489B-8FD7-00A269198811}" destId="{089D2F7B-F14C-4A92-BB3A-DAA08CAE5848}" srcOrd="1" destOrd="0" presId="urn:microsoft.com/office/officeart/2005/8/layout/process4"/>
    <dgm:cxn modelId="{B93D662E-CE66-4059-BF0F-FCC54DD7B492}" type="presParOf" srcId="{E3D2F466-9D2B-489B-8FD7-00A269198811}" destId="{F9478C95-2D8F-4B5D-9198-EA05C72041D6}" srcOrd="2" destOrd="0" presId="urn:microsoft.com/office/officeart/2005/8/layout/process4"/>
    <dgm:cxn modelId="{E713E305-CD0A-4951-AF0B-3CD82D972D3C}" type="presParOf" srcId="{F9478C95-2D8F-4B5D-9198-EA05C72041D6}" destId="{6679C54E-D9B3-42D4-8579-0F059BE402E7}" srcOrd="0" destOrd="0" presId="urn:microsoft.com/office/officeart/2005/8/layout/process4"/>
    <dgm:cxn modelId="{9723B319-800F-4F9F-A081-17EE5046C0DD}" type="presParOf" srcId="{E3D2F466-9D2B-489B-8FD7-00A269198811}" destId="{9EEDCD11-2912-410C-BF8F-FB8C0E08B1DE}" srcOrd="3" destOrd="0" presId="urn:microsoft.com/office/officeart/2005/8/layout/process4"/>
    <dgm:cxn modelId="{2B5BF700-293F-431D-8048-AF1D14C5AC67}" type="presParOf" srcId="{E3D2F466-9D2B-489B-8FD7-00A269198811}" destId="{67F4FDC1-DDD2-4281-BAE2-FB77EAC45D98}" srcOrd="4" destOrd="0" presId="urn:microsoft.com/office/officeart/2005/8/layout/process4"/>
    <dgm:cxn modelId="{2729B8A6-53C7-460C-A50D-21285C79B0E2}" type="presParOf" srcId="{67F4FDC1-DDD2-4281-BAE2-FB77EAC45D98}" destId="{1286EBB1-156A-4900-80F5-B7DA82846AFD}" srcOrd="0" destOrd="0" presId="urn:microsoft.com/office/officeart/2005/8/layout/process4"/>
    <dgm:cxn modelId="{ABFF2785-B058-4AEA-AB3B-5018FCF77D1E}" type="presParOf" srcId="{E3D2F466-9D2B-489B-8FD7-00A269198811}" destId="{E5FC2BC1-7FA9-42C4-A969-06EE33CAE6B9}" srcOrd="5" destOrd="0" presId="urn:microsoft.com/office/officeart/2005/8/layout/process4"/>
    <dgm:cxn modelId="{12C57EE2-AB40-41F5-A1B2-289C3675A96F}" type="presParOf" srcId="{E3D2F466-9D2B-489B-8FD7-00A269198811}" destId="{1B190E91-BA0B-443D-8EBB-2D0FBA24695A}" srcOrd="6" destOrd="0" presId="urn:microsoft.com/office/officeart/2005/8/layout/process4"/>
    <dgm:cxn modelId="{05E3B187-F9C8-4F12-B9FB-6721722B836C}" type="presParOf" srcId="{1B190E91-BA0B-443D-8EBB-2D0FBA24695A}" destId="{EC9EF89E-2EC9-4197-83CE-6F0E9635859A}" srcOrd="0" destOrd="0" presId="urn:microsoft.com/office/officeart/2005/8/layout/process4"/>
    <dgm:cxn modelId="{A17624A7-2852-43C6-9EE1-61852C7708A8}" type="presParOf" srcId="{E3D2F466-9D2B-489B-8FD7-00A269198811}" destId="{5FA7D69C-ADC5-4D3E-A63E-3177E18C39D9}" srcOrd="7" destOrd="0" presId="urn:microsoft.com/office/officeart/2005/8/layout/process4"/>
    <dgm:cxn modelId="{79ED58EA-1F48-4978-ACA1-C59BFFD3E494}" type="presParOf" srcId="{E3D2F466-9D2B-489B-8FD7-00A269198811}" destId="{9C5F784D-3A5B-40B8-BC6E-96C4885D6DD5}" srcOrd="8" destOrd="0" presId="urn:microsoft.com/office/officeart/2005/8/layout/process4"/>
    <dgm:cxn modelId="{283B2D46-AE72-4B9F-A2F5-B9632C0247FA}" type="presParOf" srcId="{9C5F784D-3A5B-40B8-BC6E-96C4885D6DD5}" destId="{449265AB-55D8-4494-95A0-FB133CF562A6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8AFC2CC-272E-41C7-BFE3-402C8025BCAD}" type="doc">
      <dgm:prSet loTypeId="urn:microsoft.com/office/officeart/2005/8/layout/process4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IL"/>
        </a:p>
      </dgm:t>
    </dgm:pt>
    <dgm:pt modelId="{E1DB4969-C241-47FC-B362-D33B7566A7C1}">
      <dgm:prSet/>
      <dgm:spPr/>
      <dgm:t>
        <a:bodyPr/>
        <a:lstStyle/>
        <a:p>
          <a:r>
            <a:rPr lang="en-GB" dirty="0"/>
            <a:t>Node belongs to tightly connected group.</a:t>
          </a:r>
        </a:p>
      </dgm:t>
    </dgm:pt>
    <dgm:pt modelId="{33E3E7A2-0F5B-4428-AAA6-F11ED572BD3A}" type="parTrans" cxnId="{B587AE82-CBB6-43F0-8D75-88AF70AAB86E}">
      <dgm:prSet/>
      <dgm:spPr/>
      <dgm:t>
        <a:bodyPr/>
        <a:lstStyle/>
        <a:p>
          <a:endParaRPr lang="en-IL"/>
        </a:p>
      </dgm:t>
    </dgm:pt>
    <dgm:pt modelId="{EDDA025F-C4A6-4E68-A864-31D80BB865E6}" type="sibTrans" cxnId="{B587AE82-CBB6-43F0-8D75-88AF70AAB86E}">
      <dgm:prSet/>
      <dgm:spPr/>
      <dgm:t>
        <a:bodyPr/>
        <a:lstStyle/>
        <a:p>
          <a:endParaRPr lang="en-IL"/>
        </a:p>
      </dgm:t>
    </dgm:pt>
    <dgm:pt modelId="{1B5A5607-E945-4BE9-814D-B0EF59B1C430}">
      <dgm:prSet/>
      <dgm:spPr/>
      <dgm:t>
        <a:bodyPr/>
        <a:lstStyle/>
        <a:p>
          <a:r>
            <a:rPr lang="en-GB" dirty="0"/>
            <a:t>The node/author is suspected to be an IO drive.</a:t>
          </a:r>
          <a:endParaRPr lang="en-IL" dirty="0"/>
        </a:p>
      </dgm:t>
    </dgm:pt>
    <dgm:pt modelId="{DB69DBA9-156D-4A15-9B2E-C28CADCBDCB3}" type="parTrans" cxnId="{AF219688-CE54-47B6-B599-F97074769732}">
      <dgm:prSet/>
      <dgm:spPr/>
      <dgm:t>
        <a:bodyPr/>
        <a:lstStyle/>
        <a:p>
          <a:endParaRPr lang="en-IL"/>
        </a:p>
      </dgm:t>
    </dgm:pt>
    <dgm:pt modelId="{A67FF2E3-02ED-4648-A2B6-DC4F7E2CC307}" type="sibTrans" cxnId="{AF219688-CE54-47B6-B599-F97074769732}">
      <dgm:prSet/>
      <dgm:spPr/>
      <dgm:t>
        <a:bodyPr/>
        <a:lstStyle/>
        <a:p>
          <a:endParaRPr lang="en-IL"/>
        </a:p>
      </dgm:t>
    </dgm:pt>
    <dgm:pt modelId="{1D3C4817-7970-4B83-AF07-61B7E50C9996}">
      <dgm:prSet/>
      <dgm:spPr/>
      <dgm:t>
        <a:bodyPr/>
        <a:lstStyle/>
        <a:p>
          <a:r>
            <a:rPr lang="en-GB" dirty="0"/>
            <a:t>Node has higher core-number.</a:t>
          </a:r>
          <a:endParaRPr lang="en-IL" dirty="0"/>
        </a:p>
      </dgm:t>
    </dgm:pt>
    <dgm:pt modelId="{3EA88241-E0A1-43FA-B7B7-F715EBE467EC}" type="parTrans" cxnId="{6587C595-A3F4-4EB8-97BB-102DD6B18937}">
      <dgm:prSet/>
      <dgm:spPr/>
      <dgm:t>
        <a:bodyPr/>
        <a:lstStyle/>
        <a:p>
          <a:endParaRPr lang="en-IL"/>
        </a:p>
      </dgm:t>
    </dgm:pt>
    <dgm:pt modelId="{73DEDEEA-F614-422F-A1FA-F2DA54935A22}" type="sibTrans" cxnId="{6587C595-A3F4-4EB8-97BB-102DD6B18937}">
      <dgm:prSet/>
      <dgm:spPr/>
      <dgm:t>
        <a:bodyPr/>
        <a:lstStyle/>
        <a:p>
          <a:endParaRPr lang="en-IL"/>
        </a:p>
      </dgm:t>
    </dgm:pt>
    <dgm:pt modelId="{2BD634B8-DA83-49F5-9D02-0914F5E00507}" type="pres">
      <dgm:prSet presAssocID="{48AFC2CC-272E-41C7-BFE3-402C8025BCAD}" presName="Name0" presStyleCnt="0">
        <dgm:presLayoutVars>
          <dgm:dir/>
          <dgm:animLvl val="lvl"/>
          <dgm:resizeHandles val="exact"/>
        </dgm:presLayoutVars>
      </dgm:prSet>
      <dgm:spPr/>
    </dgm:pt>
    <dgm:pt modelId="{03B30CF2-AE31-4DED-84D9-3487159AD3E3}" type="pres">
      <dgm:prSet presAssocID="{1B5A5607-E945-4BE9-814D-B0EF59B1C430}" presName="boxAndChildren" presStyleCnt="0"/>
      <dgm:spPr/>
    </dgm:pt>
    <dgm:pt modelId="{75B552A5-6396-4106-9A4A-445AED3E3CC6}" type="pres">
      <dgm:prSet presAssocID="{1B5A5607-E945-4BE9-814D-B0EF59B1C430}" presName="parentTextBox" presStyleLbl="node1" presStyleIdx="0" presStyleCnt="3"/>
      <dgm:spPr/>
    </dgm:pt>
    <dgm:pt modelId="{F70F5C23-80D2-4CDF-B637-5C57A37CD123}" type="pres">
      <dgm:prSet presAssocID="{73DEDEEA-F614-422F-A1FA-F2DA54935A22}" presName="sp" presStyleCnt="0"/>
      <dgm:spPr/>
    </dgm:pt>
    <dgm:pt modelId="{CD00B53B-13EB-400D-88F7-193FA1084681}" type="pres">
      <dgm:prSet presAssocID="{1D3C4817-7970-4B83-AF07-61B7E50C9996}" presName="arrowAndChildren" presStyleCnt="0"/>
      <dgm:spPr/>
    </dgm:pt>
    <dgm:pt modelId="{3D88F0F6-5629-4C7E-A8D9-55126A1A5A1D}" type="pres">
      <dgm:prSet presAssocID="{1D3C4817-7970-4B83-AF07-61B7E50C9996}" presName="parentTextArrow" presStyleLbl="node1" presStyleIdx="1" presStyleCnt="3"/>
      <dgm:spPr/>
    </dgm:pt>
    <dgm:pt modelId="{ACD862B6-D655-498A-8FA6-1987A91783C3}" type="pres">
      <dgm:prSet presAssocID="{EDDA025F-C4A6-4E68-A864-31D80BB865E6}" presName="sp" presStyleCnt="0"/>
      <dgm:spPr/>
    </dgm:pt>
    <dgm:pt modelId="{2F84B48E-D500-42B4-9D8F-F46FB2AC86EF}" type="pres">
      <dgm:prSet presAssocID="{E1DB4969-C241-47FC-B362-D33B7566A7C1}" presName="arrowAndChildren" presStyleCnt="0"/>
      <dgm:spPr/>
    </dgm:pt>
    <dgm:pt modelId="{5E247E41-6DA2-446C-849F-383AA9AB749B}" type="pres">
      <dgm:prSet presAssocID="{E1DB4969-C241-47FC-B362-D33B7566A7C1}" presName="parentTextArrow" presStyleLbl="node1" presStyleIdx="2" presStyleCnt="3"/>
      <dgm:spPr/>
    </dgm:pt>
  </dgm:ptLst>
  <dgm:cxnLst>
    <dgm:cxn modelId="{D01A194B-4902-4AEB-984F-89B74A0CA810}" type="presOf" srcId="{1D3C4817-7970-4B83-AF07-61B7E50C9996}" destId="{3D88F0F6-5629-4C7E-A8D9-55126A1A5A1D}" srcOrd="0" destOrd="0" presId="urn:microsoft.com/office/officeart/2005/8/layout/process4"/>
    <dgm:cxn modelId="{06589951-9DEE-4002-8EB3-2A6687FE8434}" type="presOf" srcId="{E1DB4969-C241-47FC-B362-D33B7566A7C1}" destId="{5E247E41-6DA2-446C-849F-383AA9AB749B}" srcOrd="0" destOrd="0" presId="urn:microsoft.com/office/officeart/2005/8/layout/process4"/>
    <dgm:cxn modelId="{B587AE82-CBB6-43F0-8D75-88AF70AAB86E}" srcId="{48AFC2CC-272E-41C7-BFE3-402C8025BCAD}" destId="{E1DB4969-C241-47FC-B362-D33B7566A7C1}" srcOrd="0" destOrd="0" parTransId="{33E3E7A2-0F5B-4428-AAA6-F11ED572BD3A}" sibTransId="{EDDA025F-C4A6-4E68-A864-31D80BB865E6}"/>
    <dgm:cxn modelId="{AF219688-CE54-47B6-B599-F97074769732}" srcId="{48AFC2CC-272E-41C7-BFE3-402C8025BCAD}" destId="{1B5A5607-E945-4BE9-814D-B0EF59B1C430}" srcOrd="2" destOrd="0" parTransId="{DB69DBA9-156D-4A15-9B2E-C28CADCBDCB3}" sibTransId="{A67FF2E3-02ED-4648-A2B6-DC4F7E2CC307}"/>
    <dgm:cxn modelId="{6587C595-A3F4-4EB8-97BB-102DD6B18937}" srcId="{48AFC2CC-272E-41C7-BFE3-402C8025BCAD}" destId="{1D3C4817-7970-4B83-AF07-61B7E50C9996}" srcOrd="1" destOrd="0" parTransId="{3EA88241-E0A1-43FA-B7B7-F715EBE467EC}" sibTransId="{73DEDEEA-F614-422F-A1FA-F2DA54935A22}"/>
    <dgm:cxn modelId="{2EDE7EBC-03E1-4B2B-9628-91C115BBE909}" type="presOf" srcId="{48AFC2CC-272E-41C7-BFE3-402C8025BCAD}" destId="{2BD634B8-DA83-49F5-9D02-0914F5E00507}" srcOrd="0" destOrd="0" presId="urn:microsoft.com/office/officeart/2005/8/layout/process4"/>
    <dgm:cxn modelId="{D6D2B3FA-1ED9-49B5-B8F0-0D4F5075905A}" type="presOf" srcId="{1B5A5607-E945-4BE9-814D-B0EF59B1C430}" destId="{75B552A5-6396-4106-9A4A-445AED3E3CC6}" srcOrd="0" destOrd="0" presId="urn:microsoft.com/office/officeart/2005/8/layout/process4"/>
    <dgm:cxn modelId="{524811A3-ED31-4575-8340-647BFFE9B39F}" type="presParOf" srcId="{2BD634B8-DA83-49F5-9D02-0914F5E00507}" destId="{03B30CF2-AE31-4DED-84D9-3487159AD3E3}" srcOrd="0" destOrd="0" presId="urn:microsoft.com/office/officeart/2005/8/layout/process4"/>
    <dgm:cxn modelId="{0E485E5A-0BFB-44E3-91C8-C99EE7848A6A}" type="presParOf" srcId="{03B30CF2-AE31-4DED-84D9-3487159AD3E3}" destId="{75B552A5-6396-4106-9A4A-445AED3E3CC6}" srcOrd="0" destOrd="0" presId="urn:microsoft.com/office/officeart/2005/8/layout/process4"/>
    <dgm:cxn modelId="{4DD398C9-EA8F-4A43-88D9-5ECF6461BDF5}" type="presParOf" srcId="{2BD634B8-DA83-49F5-9D02-0914F5E00507}" destId="{F70F5C23-80D2-4CDF-B637-5C57A37CD123}" srcOrd="1" destOrd="0" presId="urn:microsoft.com/office/officeart/2005/8/layout/process4"/>
    <dgm:cxn modelId="{896EA0C7-4528-4DF7-9D51-8C03109F497C}" type="presParOf" srcId="{2BD634B8-DA83-49F5-9D02-0914F5E00507}" destId="{CD00B53B-13EB-400D-88F7-193FA1084681}" srcOrd="2" destOrd="0" presId="urn:microsoft.com/office/officeart/2005/8/layout/process4"/>
    <dgm:cxn modelId="{60B6883C-5FE5-4D3F-AEA7-F4621454E926}" type="presParOf" srcId="{CD00B53B-13EB-400D-88F7-193FA1084681}" destId="{3D88F0F6-5629-4C7E-A8D9-55126A1A5A1D}" srcOrd="0" destOrd="0" presId="urn:microsoft.com/office/officeart/2005/8/layout/process4"/>
    <dgm:cxn modelId="{C181981F-2F4E-4A88-8C42-009A0D018EC4}" type="presParOf" srcId="{2BD634B8-DA83-49F5-9D02-0914F5E00507}" destId="{ACD862B6-D655-498A-8FA6-1987A91783C3}" srcOrd="3" destOrd="0" presId="urn:microsoft.com/office/officeart/2005/8/layout/process4"/>
    <dgm:cxn modelId="{E7C5AD75-B35D-43EE-B5B9-33458A1E0BE1}" type="presParOf" srcId="{2BD634B8-DA83-49F5-9D02-0914F5E00507}" destId="{2F84B48E-D500-42B4-9D8F-F46FB2AC86EF}" srcOrd="4" destOrd="0" presId="urn:microsoft.com/office/officeart/2005/8/layout/process4"/>
    <dgm:cxn modelId="{A3A7EADA-DAB5-45EA-8BA4-34F5EEC1AE81}" type="presParOf" srcId="{2F84B48E-D500-42B4-9D8F-F46FB2AC86EF}" destId="{5E247E41-6DA2-446C-849F-383AA9AB749B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4415FE-1BEA-4AAF-8504-EF442423F26C}">
      <dsp:nvSpPr>
        <dsp:cNvPr id="0" name=""/>
        <dsp:cNvSpPr/>
      </dsp:nvSpPr>
      <dsp:spPr>
        <a:xfrm>
          <a:off x="0" y="4404986"/>
          <a:ext cx="7072620" cy="72267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rPr>
            <a:t>5) The feature vectors are used to determine if               an author is an IO driver.</a:t>
          </a:r>
          <a:endParaRPr lang="en-IL" sz="2400" b="1" kern="1200" dirty="0">
            <a:solidFill>
              <a:prstClr val="black"/>
            </a:solidFill>
            <a:latin typeface="Calibri" panose="020F0502020204030204"/>
            <a:ea typeface="+mn-ea"/>
            <a:cs typeface="+mn-cs"/>
          </a:endParaRPr>
        </a:p>
      </dsp:txBody>
      <dsp:txXfrm>
        <a:off x="0" y="4404986"/>
        <a:ext cx="7072620" cy="722674"/>
      </dsp:txXfrm>
    </dsp:sp>
    <dsp:sp modelId="{6679C54E-D9B3-42D4-8579-0F059BE402E7}">
      <dsp:nvSpPr>
        <dsp:cNvPr id="0" name=""/>
        <dsp:cNvSpPr/>
      </dsp:nvSpPr>
      <dsp:spPr>
        <a:xfrm rot="10800000">
          <a:off x="0" y="3304353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Calibri" panose="020F0502020204030204"/>
              <a:ea typeface="+mn-ea"/>
              <a:cs typeface="+mn-cs"/>
            </a:rPr>
            <a:t>4) Each user is represented by a feature vector.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sp:txBody>
      <dsp:txXfrm rot="10800000">
        <a:off x="0" y="3304353"/>
        <a:ext cx="7072620" cy="722202"/>
      </dsp:txXfrm>
    </dsp:sp>
    <dsp:sp modelId="{1286EBB1-156A-4900-80F5-B7DA82846AFD}">
      <dsp:nvSpPr>
        <dsp:cNvPr id="0" name=""/>
        <dsp:cNvSpPr/>
      </dsp:nvSpPr>
      <dsp:spPr>
        <a:xfrm rot="10800000">
          <a:off x="0" y="2203719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3) Graph-based indicators are used to measure     author’s embeddedness.</a:t>
          </a:r>
          <a:endParaRPr lang="en-IL" sz="2400" kern="1200" dirty="0"/>
        </a:p>
      </dsp:txBody>
      <dsp:txXfrm rot="10800000">
        <a:off x="0" y="2203719"/>
        <a:ext cx="7072620" cy="722202"/>
      </dsp:txXfrm>
    </dsp:sp>
    <dsp:sp modelId="{EC9EF89E-2EC9-4197-83CE-6F0E9635859A}">
      <dsp:nvSpPr>
        <dsp:cNvPr id="0" name=""/>
        <dsp:cNvSpPr/>
      </dsp:nvSpPr>
      <dsp:spPr>
        <a:xfrm rot="10800000">
          <a:off x="0" y="1103085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2) IO drivers tend to be embedded in dense communities.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sp:txBody>
      <dsp:txXfrm rot="10800000">
        <a:off x="0" y="1103085"/>
        <a:ext cx="7072620" cy="722202"/>
      </dsp:txXfrm>
    </dsp:sp>
    <dsp:sp modelId="{449265AB-55D8-4494-95A0-FB133CF562A6}">
      <dsp:nvSpPr>
        <dsp:cNvPr id="0" name=""/>
        <dsp:cNvSpPr/>
      </dsp:nvSpPr>
      <dsp:spPr>
        <a:xfrm rot="10800000">
          <a:off x="0" y="2452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1) Co-actions graph represents author similarity.</a:t>
          </a:r>
          <a:endParaRPr lang="en-IL" sz="2400" kern="1200" dirty="0"/>
        </a:p>
      </dsp:txBody>
      <dsp:txXfrm rot="10800000">
        <a:off x="0" y="2452"/>
        <a:ext cx="7072620" cy="72220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B552A5-6396-4106-9A4A-445AED3E3CC6}">
      <dsp:nvSpPr>
        <dsp:cNvPr id="0" name=""/>
        <dsp:cNvSpPr/>
      </dsp:nvSpPr>
      <dsp:spPr>
        <a:xfrm>
          <a:off x="0" y="3290500"/>
          <a:ext cx="10582656" cy="1080015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0256" tIns="270256" rIns="270256" bIns="27025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800" kern="1200" dirty="0"/>
            <a:t>The node/author is suspected to be an IO drive.</a:t>
          </a:r>
          <a:endParaRPr lang="en-IL" sz="3800" kern="1200" dirty="0"/>
        </a:p>
      </dsp:txBody>
      <dsp:txXfrm>
        <a:off x="0" y="3290500"/>
        <a:ext cx="10582656" cy="1080015"/>
      </dsp:txXfrm>
    </dsp:sp>
    <dsp:sp modelId="{3D88F0F6-5629-4C7E-A8D9-55126A1A5A1D}">
      <dsp:nvSpPr>
        <dsp:cNvPr id="0" name=""/>
        <dsp:cNvSpPr/>
      </dsp:nvSpPr>
      <dsp:spPr>
        <a:xfrm rot="10800000">
          <a:off x="0" y="1645636"/>
          <a:ext cx="10582656" cy="1661064"/>
        </a:xfrm>
        <a:prstGeom prst="upArrowCallou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0256" tIns="270256" rIns="270256" bIns="27025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800" kern="1200" dirty="0"/>
            <a:t>Node has higher core-number.</a:t>
          </a:r>
          <a:endParaRPr lang="en-IL" sz="3800" kern="1200" dirty="0"/>
        </a:p>
      </dsp:txBody>
      <dsp:txXfrm rot="10800000">
        <a:off x="0" y="1645636"/>
        <a:ext cx="10582656" cy="1079310"/>
      </dsp:txXfrm>
    </dsp:sp>
    <dsp:sp modelId="{5E247E41-6DA2-446C-849F-383AA9AB749B}">
      <dsp:nvSpPr>
        <dsp:cNvPr id="0" name=""/>
        <dsp:cNvSpPr/>
      </dsp:nvSpPr>
      <dsp:spPr>
        <a:xfrm rot="10800000">
          <a:off x="0" y="772"/>
          <a:ext cx="10582656" cy="1661064"/>
        </a:xfrm>
        <a:prstGeom prst="upArrowCallou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0256" tIns="270256" rIns="270256" bIns="27025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800" kern="1200" dirty="0"/>
            <a:t>Node belongs to tightly connected group.</a:t>
          </a:r>
        </a:p>
      </dsp:txBody>
      <dsp:txXfrm rot="10800000">
        <a:off x="0" y="772"/>
        <a:ext cx="10582656" cy="10793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כ'/תמוז/תשפ"ו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760-78DB-D18D-FBB8-239E0A7E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EC71B-5AA6-886B-0231-A74B41DE5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997CC-4715-39C7-93DD-C967C3080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57815-7BE0-C4B1-B3D0-083C2D02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87258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F24A3-5AB0-B990-8B34-7C16850BB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0D2F89-77A2-E54F-43DE-3263EEB6A8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41827B-D9ED-5722-8D12-ED705CF99F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39E24-56EB-6A14-E837-DEAFD62215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8052223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[1]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Seckin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O. C., Pote, M.,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Nwala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A. C., Yin, L.,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Flammini, A., &amp; Menczer, F. (2025, June). Labeled datasets for research on information operations.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Proceedings of the International AAAI Conference on Web and Social Media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(Vol. 19, pp. 2567-2574).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Balasubramanian, A., Zou, V., Narayana, H., You, C.,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&amp; Ferrara, E. (2024). A public dataset tracking social media discourse about the 2024 us presidential election on twitter/x.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preprint arXiv:2411.00376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120918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05 יולי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buFont typeface="Courier New" panose="02070309020205020404" pitchFamily="49" charset="0"/>
              <a:buChar char="o"/>
              <a:defRPr sz="2000"/>
            </a:lvl2pPr>
            <a:lvl3pPr>
              <a:buFont typeface="Wingdings" panose="05000000000000000000" pitchFamily="2" charset="2"/>
              <a:buChar char="Ø"/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05 יולי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05 יולי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05 יולי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05 יולי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05 יולי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05 יולי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05 יולי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05 יולי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05 יולי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05 יולי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05 יולי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7" name="Picture 6" descr="A document with text on it&#10;&#10;AI-generated content may be incorrect.">
            <a:extLst>
              <a:ext uri="{FF2B5EF4-FFF2-40B4-BE49-F238E27FC236}">
                <a16:creationId xmlns:a16="http://schemas.microsoft.com/office/drawing/2014/main" id="{221434F7-1295-8CB3-5E53-891A52C3D7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06" t="8664" r="8034" b="78094"/>
          <a:stretch>
            <a:fillRect/>
          </a:stretch>
        </p:blipFill>
        <p:spPr>
          <a:xfrm>
            <a:off x="1038256" y="2478278"/>
            <a:ext cx="10821413" cy="229428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05 יולי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7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14189193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e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956582"/>
            <a:ext cx="5395912" cy="172481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Backbone Graph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36132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2</a:t>
            </a:r>
            <a:r>
              <a:rPr lang="he-IL" b="1" dirty="0">
                <a:solidFill>
                  <a:prstClr val="white"/>
                </a:solidFill>
              </a:rPr>
              <a:t>7</a:t>
            </a:r>
            <a:r>
              <a:rPr lang="en-US" b="1" dirty="0">
                <a:solidFill>
                  <a:prstClr val="white"/>
                </a:solidFill>
              </a:rPr>
              <a:t>.05.2026</a:t>
            </a:r>
          </a:p>
          <a:p>
            <a:r>
              <a:rPr lang="en-US" dirty="0"/>
              <a:t>Amit Ner Gaon, Noa Tal, Idan </a:t>
            </a:r>
            <a:r>
              <a:rPr lang="en-GB" dirty="0"/>
              <a:t>Muallem</a:t>
            </a:r>
            <a:endParaRPr lang="en-US" dirty="0"/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AF6C1-AB65-35BD-8133-F3F29DB9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Concepts </a:t>
            </a:r>
            <a:r>
              <a:rPr lang="en-US" dirty="0"/>
              <a:t>- IO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1FA6F-2F61-214E-F20E-E15E3A7E9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Information Operation (IO):</a:t>
            </a:r>
            <a:r>
              <a:rPr lang="en-GB" dirty="0"/>
              <a:t> A collection of publications by coordinated actors pursuing a shared intent while misleading others.</a:t>
            </a:r>
          </a:p>
          <a:p>
            <a:pPr fontAlgn="base"/>
            <a:r>
              <a:rPr lang="en-GB" b="1" dirty="0"/>
              <a:t>IO Driver:</a:t>
            </a:r>
            <a:r>
              <a:rPr lang="en-GB" dirty="0"/>
              <a:t> An account that promotes one or more IO.</a:t>
            </a:r>
          </a:p>
          <a:p>
            <a:pPr fontAlgn="base"/>
            <a:r>
              <a:rPr lang="en-GB" b="1" dirty="0"/>
              <a:t>Author ‘s IO Label:</a:t>
            </a:r>
            <a:r>
              <a:rPr lang="en-GB" dirty="0"/>
              <a:t> label =  1 if the author is a IO Driver and label = 0 if not.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42458-50C9-BF06-3967-CE25C3C30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</a:t>
            </a:fld>
            <a:endParaRPr lang="he-I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4F7C4-ED55-F4E3-0283-87653B6C11C0}"/>
              </a:ext>
            </a:extLst>
          </p:cNvPr>
          <p:cNvSpPr txBox="1"/>
          <p:nvPr/>
        </p:nvSpPr>
        <p:spPr>
          <a:xfrm>
            <a:off x="1926771" y="4215842"/>
            <a:ext cx="8573756" cy="1200329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 lvl="0" rtl="0"/>
            <a:r>
              <a:rPr lang="en-GB" sz="2400" b="1" dirty="0"/>
              <a:t>Goal:</a:t>
            </a:r>
          </a:p>
          <a:p>
            <a:pPr lvl="0" rtl="0"/>
            <a:r>
              <a:rPr lang="en-GB" sz="2400" dirty="0"/>
              <a:t>Calculation of graph-based indicators (e.g., centralities) to </a:t>
            </a:r>
            <a:r>
              <a:rPr lang="en-GB" sz="2400" b="1" dirty="0"/>
              <a:t>identify authors that are IO drivers</a:t>
            </a:r>
            <a:r>
              <a:rPr lang="en-GB" sz="2400" dirty="0"/>
              <a:t> in social network.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92892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E27CD-C8FF-B185-45D8-666A78A6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98079-07AB-1011-721B-DDEB4687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Co-Actions Graph 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FF6C3-80E1-C75C-69F0-3A7FFA1D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b="1" dirty="0"/>
              <a:t>Nodes:</a:t>
            </a:r>
            <a:r>
              <a:rPr lang="en-GB" sz="2800" dirty="0"/>
              <a:t> authors in the discourse.</a:t>
            </a:r>
          </a:p>
          <a:p>
            <a:r>
              <a:rPr lang="en-GB" sz="2800" b="1" dirty="0"/>
              <a:t>Edges: </a:t>
            </a:r>
            <a:r>
              <a:rPr lang="en-GB" sz="2800" dirty="0"/>
              <a:t>co-action relations between pair of authors (e.g., posting same hashtag). Represents </a:t>
            </a:r>
            <a:r>
              <a:rPr lang="en-US" sz="2800" b="1" dirty="0"/>
              <a:t>behavioral similar</a:t>
            </a:r>
            <a:r>
              <a:rPr lang="en-GB" sz="2800" b="1" dirty="0"/>
              <a:t>arty </a:t>
            </a:r>
            <a:r>
              <a:rPr lang="en-GB" sz="2800" dirty="0"/>
              <a:t>between the authors.</a:t>
            </a:r>
          </a:p>
          <a:p>
            <a:r>
              <a:rPr lang="en-GB" sz="2800" b="1" dirty="0"/>
              <a:t>Purpose</a:t>
            </a:r>
            <a:r>
              <a:rPr lang="en-GB" sz="2800" dirty="0"/>
              <a:t>: expose coordinated behaviour for IO detection.</a:t>
            </a:r>
          </a:p>
          <a:p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E3158-F388-D9C9-D303-42FD2F68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4F46E8E-95AB-4D82-04F7-80C932FEC2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062" b="10900"/>
          <a:stretch>
            <a:fillRect/>
          </a:stretch>
        </p:blipFill>
        <p:spPr bwMode="auto">
          <a:xfrm>
            <a:off x="1243087" y="4439118"/>
            <a:ext cx="9585434" cy="2123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1122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CB815-DA17-3CBD-4DA5-D200F3944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82981-4578-9DFA-9B78-6D536D89C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Backbone Graph &amp; IO Indicators</a:t>
            </a:r>
            <a:endParaRPr lang="en-IL" dirty="0"/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76A4B38D-F573-2F95-62F3-8BE9BF72A1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7489130"/>
              </p:ext>
            </p:extLst>
          </p:nvPr>
        </p:nvGraphicFramePr>
        <p:xfrm>
          <a:off x="1243087" y="1575486"/>
          <a:ext cx="7072620" cy="51301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5605A-34FF-F4E0-D05D-D1E5A6286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4</a:t>
            </a:fld>
            <a:endParaRPr lang="he-I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B7E417-6A10-8FF5-D4F4-A584AA7918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0740" y="2295759"/>
            <a:ext cx="3639113" cy="360033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CF1AD01-0DDD-F198-381B-E9E6678A1994}"/>
              </a:ext>
            </a:extLst>
          </p:cNvPr>
          <p:cNvSpPr txBox="1"/>
          <p:nvPr/>
        </p:nvSpPr>
        <p:spPr>
          <a:xfrm>
            <a:off x="8420740" y="1952370"/>
            <a:ext cx="363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Author</a:t>
            </a:r>
            <a:r>
              <a:rPr lang="en-US" dirty="0"/>
              <a:t> </a:t>
            </a:r>
            <a:r>
              <a:rPr lang="en-GB" dirty="0">
                <a:solidFill>
                  <a:prstClr val="black"/>
                </a:solidFill>
              </a:rPr>
              <a:t>feature vector 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206619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8559D-D4AB-1189-6DD0-329C59230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092BBF2-9CA9-26C8-3306-0EF5D22F5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Core-Number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4D75CCD-7268-1EC4-7323-66B1D9D4D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453DD-F810-AEB1-6C45-0A9E4E593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51655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6B20B-572C-EA3E-CBFD-11BAC61AA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21181-6B71-F107-01AF-62434DE6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Definition</a:t>
            </a:r>
            <a:endParaRPr lang="en-I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6E9C04-4BA0-19E7-9D46-B7C42E213C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43087" y="1825625"/>
                <a:ext cx="10582656" cy="476972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GB" sz="3600" b="1" dirty="0"/>
                  <a:t>Node</a:t>
                </a:r>
                <a:r>
                  <a:rPr lang="en-GB" sz="3600" dirty="0"/>
                  <a:t> - a single actor/account in the graph. </a:t>
                </a:r>
              </a:p>
              <a:p>
                <a:r>
                  <a:rPr lang="en-GB" sz="3600" b="1" dirty="0"/>
                  <a:t>Subgraph</a:t>
                </a:r>
                <a:r>
                  <a:rPr lang="en-GB" sz="3600" dirty="0"/>
                  <a:t> - a smaller graph made from a subset of nodes and edges from the full graph. </a:t>
                </a:r>
              </a:p>
              <a:p>
                <a:r>
                  <a:rPr lang="en-GB" sz="3600" b="1" dirty="0"/>
                  <a:t>Neighbours</a:t>
                </a:r>
                <a:r>
                  <a:rPr lang="en-GB" sz="3600" dirty="0"/>
                  <a:t> - the nodes directly connected to a given node by an edge.</a:t>
                </a:r>
              </a:p>
              <a:p>
                <a:endParaRPr lang="en-GB" sz="3600" dirty="0"/>
              </a:p>
              <a:p>
                <a:r>
                  <a:rPr lang="en-GB" sz="3600" b="1" dirty="0"/>
                  <a:t>Core-number</a:t>
                </a:r>
                <a:r>
                  <a:rPr lang="en-GB" sz="3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3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600" dirty="0"/>
                  <a:t> </a:t>
                </a:r>
                <a:r>
                  <a:rPr lang="en-GB" sz="3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3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3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600" dirty="0"/>
                  <a:t>neighbours </a:t>
                </a:r>
                <a:r>
                  <a:rPr lang="en-GB" sz="3600" u="sng" dirty="0"/>
                  <a:t>within</a:t>
                </a:r>
                <a:r>
                  <a:rPr lang="en-GB" sz="3600" dirty="0"/>
                  <a:t> that subgraph.</a:t>
                </a:r>
                <a:endParaRPr lang="en-IL" sz="3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6E9C04-4BA0-19E7-9D46-B7C42E213C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43087" y="1825625"/>
                <a:ext cx="10582656" cy="4769728"/>
              </a:xfrm>
              <a:blipFill>
                <a:blip r:embed="rId2"/>
                <a:stretch>
                  <a:fillRect l="-1613" t="-3959" b="-383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812F0-E54C-4F7D-05DA-1110FB275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86094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717E5-7468-9878-38B1-12643AA86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B8CBB-063A-985D-F9B5-D4BB2CE22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Intuition</a:t>
            </a:r>
            <a:endParaRPr lang="en-IL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240B9B19-14B9-7F86-B47B-5767028649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5380268"/>
              </p:ext>
            </p:extLst>
          </p:nvPr>
        </p:nvGraphicFramePr>
        <p:xfrm>
          <a:off x="1243087" y="1825625"/>
          <a:ext cx="10582656" cy="43712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4E7D3-5764-C737-E79D-E110112B0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324895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18447-0015-D6D2-C229-D211C270F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F829A-4CDE-DD43-6803-D86C1C992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H1 (Dense Community Hypothesis)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A1276-3E86-0A50-539A-805A6ACFD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r>
              <a:rPr lang="en-GB" b="1" dirty="0"/>
              <a:t>H1 (Dense Community Hypothesis):</a:t>
            </a:r>
          </a:p>
          <a:p>
            <a:pPr lvl="1"/>
            <a:r>
              <a:rPr lang="en-GB" sz="1800" dirty="0"/>
              <a:t>IO drivers are more likely to appear in densely connected regions of the co-action graph.</a:t>
            </a:r>
          </a:p>
          <a:p>
            <a:pPr lvl="1"/>
            <a:r>
              <a:rPr lang="en-GB" sz="1800" dirty="0"/>
              <a:t>Evaluation: Compare IO driver probability across core-number values.</a:t>
            </a:r>
          </a:p>
          <a:p>
            <a:pPr lvl="1"/>
            <a:r>
              <a:rPr lang="en-GB" sz="1800" dirty="0"/>
              <a:t>Statistical test: Binomial Logistic Regression (Wald test on coefficient).</a:t>
            </a:r>
          </a:p>
          <a:p>
            <a:pPr lvl="2"/>
            <a:r>
              <a:rPr lang="en-GB" sz="1600" dirty="0"/>
              <a:t>Dependent variable: IO status (categorical, 0/1).</a:t>
            </a:r>
          </a:p>
          <a:p>
            <a:pPr lvl="2"/>
            <a:r>
              <a:rPr lang="en-GB" sz="1600" dirty="0"/>
              <a:t>Independent variable:  nodes’ core-number values (numeric, discrete non-negative).</a:t>
            </a:r>
          </a:p>
          <a:p>
            <a:pPr marL="914400" lvl="2" indent="0">
              <a:buNone/>
            </a:pPr>
            <a:endParaRPr lang="en-GB" sz="2000" dirty="0"/>
          </a:p>
          <a:p>
            <a:r>
              <a:rPr lang="en-GB" sz="2000" dirty="0"/>
              <a:t>H1 (Embedding Hypothesis) tests whether users who are more deeply embedded in dense regions of the co-action graph are more likely to be IO drivers. </a:t>
            </a:r>
          </a:p>
          <a:p>
            <a:r>
              <a:rPr lang="en-GB" sz="2000" dirty="0"/>
              <a:t>The intuition is that IO actors often rely on repeated coordination and mutual amplification, which necessarily</a:t>
            </a:r>
            <a:r>
              <a:rPr lang="he-IL" sz="2000" dirty="0"/>
              <a:t> </a:t>
            </a:r>
            <a:r>
              <a:rPr lang="en-GB" sz="2000" dirty="0"/>
              <a:t>places them inside tightly connected groups rather than at the network’s periphery.</a:t>
            </a:r>
          </a:p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2DE9CA-C86F-BA6D-A5C2-2D13844B6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36308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D0CD4-237B-A18E-225C-DA81BCE4A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k-Core of a graph">
            <a:extLst>
              <a:ext uri="{FF2B5EF4-FFF2-40B4-BE49-F238E27FC236}">
                <a16:creationId xmlns:a16="http://schemas.microsoft.com/office/drawing/2014/main" id="{6A7322DC-BDB5-C7DF-6D19-D87272075D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3" y="1867838"/>
            <a:ext cx="10174718" cy="41070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3EA5D4-BA54-7766-173E-6E68CBB46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Example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54E82-21BE-2246-4FD9-B871B02B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9</a:t>
            </a:fld>
            <a:endParaRPr lang="he-IL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22E6458-FB44-D848-C297-3E389CB74448}"/>
              </a:ext>
            </a:extLst>
          </p:cNvPr>
          <p:cNvSpPr/>
          <p:nvPr/>
        </p:nvSpPr>
        <p:spPr>
          <a:xfrm>
            <a:off x="3379573" y="1970902"/>
            <a:ext cx="914400" cy="809368"/>
          </a:xfrm>
          <a:prstGeom prst="ellipse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3F288F3-6E75-0EF1-A0FB-BAEDBAE5B33D}"/>
              </a:ext>
            </a:extLst>
          </p:cNvPr>
          <p:cNvSpPr/>
          <p:nvPr/>
        </p:nvSpPr>
        <p:spPr>
          <a:xfrm>
            <a:off x="3379573" y="5165541"/>
            <a:ext cx="914400" cy="809368"/>
          </a:xfrm>
          <a:prstGeom prst="ellipse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E971999-22E2-3C7E-9D88-2C4B8D162DFF}"/>
              </a:ext>
            </a:extLst>
          </p:cNvPr>
          <p:cNvSpPr/>
          <p:nvPr/>
        </p:nvSpPr>
        <p:spPr>
          <a:xfrm>
            <a:off x="5824152" y="5309685"/>
            <a:ext cx="914400" cy="809368"/>
          </a:xfrm>
          <a:prstGeom prst="ellipse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7C33DE0-46FA-342F-6031-A19FA0235924}"/>
              </a:ext>
            </a:extLst>
          </p:cNvPr>
          <p:cNvSpPr/>
          <p:nvPr/>
        </p:nvSpPr>
        <p:spPr>
          <a:xfrm>
            <a:off x="10709190" y="1723694"/>
            <a:ext cx="914400" cy="809368"/>
          </a:xfrm>
          <a:prstGeom prst="ellipse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F162ED-2B1A-37D6-FF8C-012A4D9BFABF}"/>
              </a:ext>
            </a:extLst>
          </p:cNvPr>
          <p:cNvSpPr txBox="1"/>
          <p:nvPr/>
        </p:nvSpPr>
        <p:spPr>
          <a:xfrm>
            <a:off x="1339721" y="6183443"/>
            <a:ext cx="4756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Because of how core number is calculated, the minimum possible core number for a node is 1.</a:t>
            </a:r>
            <a:endParaRPr lang="en-I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ADEF659-BAE2-96C0-B763-891FD7DA5BF2}"/>
                  </a:ext>
                </a:extLst>
              </p:cNvPr>
              <p:cNvSpPr txBox="1"/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600" b="1" dirty="0"/>
                  <a:t>Core-number</a:t>
                </a:r>
                <a:r>
                  <a:rPr lang="en-GB" sz="1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GB" sz="1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1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/>
                  <a:t>neighbours </a:t>
                </a:r>
                <a:r>
                  <a:rPr lang="en-GB" sz="1600" u="sng" dirty="0"/>
                  <a:t>within</a:t>
                </a:r>
                <a:r>
                  <a:rPr lang="en-GB" sz="1600" dirty="0"/>
                  <a:t> that subgraph.</a:t>
                </a:r>
                <a:endParaRPr lang="en-IL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ADEF659-BAE2-96C0-B763-891FD7DA5B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blipFill>
                <a:blip r:embed="rId3"/>
                <a:stretch>
                  <a:fillRect l="-1435" t="-1167" b="-428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8522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2A1E5-1A40-9B29-56ED-4EF0FC5FF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5A8DD-8C2B-246F-6BDC-1C5EB3025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Example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96228-A242-0C11-9305-21D049DE7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10</a:t>
            </a:fld>
            <a:endParaRPr lang="he-IL"/>
          </a:p>
        </p:txBody>
      </p:sp>
      <p:pic>
        <p:nvPicPr>
          <p:cNvPr id="3" name="Picture 2" descr="k-Core of a graph">
            <a:extLst>
              <a:ext uri="{FF2B5EF4-FFF2-40B4-BE49-F238E27FC236}">
                <a16:creationId xmlns:a16="http://schemas.microsoft.com/office/drawing/2014/main" id="{B874BE68-6AEB-E2E2-0611-D89752ADB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3" y="1867838"/>
            <a:ext cx="10174718" cy="4107071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B0292CF9-32B3-0B9B-2F36-37F600712B40}"/>
              </a:ext>
            </a:extLst>
          </p:cNvPr>
          <p:cNvSpPr/>
          <p:nvPr/>
        </p:nvSpPr>
        <p:spPr>
          <a:xfrm>
            <a:off x="3849130" y="2038864"/>
            <a:ext cx="3076832" cy="2835877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glow rad="101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48ADDD7-8F8B-EFA0-2E09-375C862D9095}"/>
              </a:ext>
            </a:extLst>
          </p:cNvPr>
          <p:cNvSpPr/>
          <p:nvPr/>
        </p:nvSpPr>
        <p:spPr>
          <a:xfrm>
            <a:off x="8091616" y="1810265"/>
            <a:ext cx="3076832" cy="289559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glow rad="101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FCDF619-768F-62F5-DB82-34EB25F9E50A}"/>
              </a:ext>
            </a:extLst>
          </p:cNvPr>
          <p:cNvSpPr/>
          <p:nvPr/>
        </p:nvSpPr>
        <p:spPr>
          <a:xfrm rot="1713836">
            <a:off x="5895425" y="3317931"/>
            <a:ext cx="3960340" cy="2697952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glow rad="101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75087-B2FB-770E-38BE-71684AABEDEE}"/>
              </a:ext>
            </a:extLst>
          </p:cNvPr>
          <p:cNvSpPr txBox="1"/>
          <p:nvPr/>
        </p:nvSpPr>
        <p:spPr>
          <a:xfrm>
            <a:off x="1339721" y="6456363"/>
            <a:ext cx="5969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Each node in the blue subgraphs has at least 2 neighbours.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47286A-8938-7A20-574D-E9961582F9A2}"/>
                  </a:ext>
                </a:extLst>
              </p:cNvPr>
              <p:cNvSpPr txBox="1"/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600" b="1" dirty="0"/>
                  <a:t>Core-number</a:t>
                </a:r>
                <a:r>
                  <a:rPr lang="en-GB" sz="1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GB" sz="1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1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/>
                  <a:t>neighbours </a:t>
                </a:r>
                <a:r>
                  <a:rPr lang="en-GB" sz="1600" u="sng" dirty="0"/>
                  <a:t>within</a:t>
                </a:r>
                <a:r>
                  <a:rPr lang="en-GB" sz="1600" dirty="0"/>
                  <a:t> that subgraph.</a:t>
                </a:r>
                <a:endParaRPr lang="en-IL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47286A-8938-7A20-574D-E9961582F9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blipFill>
                <a:blip r:embed="rId3"/>
                <a:stretch>
                  <a:fillRect l="-1435" t="-1167" b="-428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92072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54EAD-172A-69E5-D50A-DA55010E5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76462-C181-6D3A-4337-AFE90268F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Example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DDCF9D-6440-6D00-23B9-F9C36CBA2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11</a:t>
            </a:fld>
            <a:endParaRPr lang="he-IL"/>
          </a:p>
        </p:txBody>
      </p:sp>
      <p:pic>
        <p:nvPicPr>
          <p:cNvPr id="3" name="Picture 2" descr="k-Core of a graph">
            <a:extLst>
              <a:ext uri="{FF2B5EF4-FFF2-40B4-BE49-F238E27FC236}">
                <a16:creationId xmlns:a16="http://schemas.microsoft.com/office/drawing/2014/main" id="{D6A5EE98-DE9A-59F4-0332-AF74E49CB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3" y="1867838"/>
            <a:ext cx="10174718" cy="4107071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5229B72F-53E9-FFEC-DB26-89B45631CA5A}"/>
              </a:ext>
            </a:extLst>
          </p:cNvPr>
          <p:cNvSpPr/>
          <p:nvPr/>
        </p:nvSpPr>
        <p:spPr>
          <a:xfrm>
            <a:off x="4917256" y="1612557"/>
            <a:ext cx="4646874" cy="3323967"/>
          </a:xfrm>
          <a:prstGeom prst="ellipse">
            <a:avLst/>
          </a:prstGeom>
          <a:noFill/>
          <a:ln w="28575">
            <a:solidFill>
              <a:srgbClr val="C00000"/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86FB4B-3148-A38C-9F14-14503196929D}"/>
              </a:ext>
            </a:extLst>
          </p:cNvPr>
          <p:cNvSpPr txBox="1"/>
          <p:nvPr/>
        </p:nvSpPr>
        <p:spPr>
          <a:xfrm>
            <a:off x="1339721" y="6456363"/>
            <a:ext cx="5969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Each node in the red subgraphs has at least 3 neighbours.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8AF99A-9348-D20C-2BBA-A2BEDBC9AD6F}"/>
                  </a:ext>
                </a:extLst>
              </p:cNvPr>
              <p:cNvSpPr txBox="1"/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600" b="1" dirty="0"/>
                  <a:t>Core-number</a:t>
                </a:r>
                <a:r>
                  <a:rPr lang="en-GB" sz="1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GB" sz="1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1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/>
                  <a:t>neighbours </a:t>
                </a:r>
                <a:r>
                  <a:rPr lang="en-GB" sz="1600" u="sng" dirty="0"/>
                  <a:t>within</a:t>
                </a:r>
                <a:r>
                  <a:rPr lang="en-GB" sz="1600" dirty="0"/>
                  <a:t> that subgraph.</a:t>
                </a:r>
                <a:endParaRPr lang="en-IL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8AF99A-9348-D20C-2BBA-A2BEDBC9AD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blipFill>
                <a:blip r:embed="rId3"/>
                <a:stretch>
                  <a:fillRect l="-1435" t="-1167" b="-428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04381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0E16B-4CEC-E000-5392-3B951AB32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1FFE4-F2E6-ADEC-8660-58B6BA3E6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Co-Actions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A02D5-EE9F-4942-C853-D3C959E14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b="1" dirty="0"/>
              <a:t>Nodes:</a:t>
            </a:r>
            <a:r>
              <a:rPr lang="en-GB" sz="2800" dirty="0"/>
              <a:t> authors in the discourse.</a:t>
            </a:r>
          </a:p>
          <a:p>
            <a:r>
              <a:rPr lang="en-GB" sz="2800" b="1" dirty="0"/>
              <a:t>Edges: </a:t>
            </a:r>
            <a:r>
              <a:rPr lang="en-GB" sz="2800" dirty="0"/>
              <a:t>co-action relations between author pairs (e.g., co-mention, co-entity, co-topic). Represents </a:t>
            </a:r>
            <a:r>
              <a:rPr lang="en-US" sz="2800" b="1" dirty="0"/>
              <a:t>behavioral similar</a:t>
            </a:r>
            <a:r>
              <a:rPr lang="en-GB" sz="2800" b="1" dirty="0"/>
              <a:t>arty </a:t>
            </a:r>
            <a:r>
              <a:rPr lang="en-GB" sz="2800" dirty="0"/>
              <a:t>between the authors.</a:t>
            </a:r>
          </a:p>
          <a:p>
            <a:r>
              <a:rPr lang="en-GB" sz="2800" b="1" dirty="0"/>
              <a:t>Purpose</a:t>
            </a:r>
            <a:r>
              <a:rPr lang="en-GB" sz="2800" dirty="0"/>
              <a:t>: expose coordinated behaviour for IO detection.</a:t>
            </a:r>
          </a:p>
          <a:p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EF89B6-CB4E-2461-C640-6AF449DE3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12</a:t>
            </a:fld>
            <a:endParaRPr lang="he-IL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6C0C9577-2E1E-4106-7D69-C62A21EE76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062" b="10900"/>
          <a:stretch>
            <a:fillRect/>
          </a:stretch>
        </p:blipFill>
        <p:spPr bwMode="auto">
          <a:xfrm>
            <a:off x="1243087" y="4727402"/>
            <a:ext cx="9585434" cy="2123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12606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1E3BC-962E-008E-4A26-C2135A4B2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3E1A7-B397-F9BA-7ECB-4DA1358CD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Example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1681F-8D0E-063B-E5F8-8C7C1145E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13</a:t>
            </a:fld>
            <a:endParaRPr lang="he-IL"/>
          </a:p>
        </p:txBody>
      </p:sp>
      <p:pic>
        <p:nvPicPr>
          <p:cNvPr id="3" name="Picture 2" descr="k-Core of a graph">
            <a:extLst>
              <a:ext uri="{FF2B5EF4-FFF2-40B4-BE49-F238E27FC236}">
                <a16:creationId xmlns:a16="http://schemas.microsoft.com/office/drawing/2014/main" id="{3160D834-E7C4-9080-3DC5-CB154A8A5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3" y="1867838"/>
            <a:ext cx="10174718" cy="41070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502E69-603F-AF94-7CF7-D27C2F884842}"/>
              </a:ext>
            </a:extLst>
          </p:cNvPr>
          <p:cNvSpPr txBox="1"/>
          <p:nvPr/>
        </p:nvSpPr>
        <p:spPr>
          <a:xfrm rot="21258625">
            <a:off x="6110596" y="1919799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2A0732-50ED-1AFC-32AA-3F7B95710760}"/>
              </a:ext>
            </a:extLst>
          </p:cNvPr>
          <p:cNvSpPr txBox="1"/>
          <p:nvPr/>
        </p:nvSpPr>
        <p:spPr>
          <a:xfrm rot="4810671">
            <a:off x="5646712" y="314919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CD94E7-365A-A4A6-5838-0EF7D67EF462}"/>
              </a:ext>
            </a:extLst>
          </p:cNvPr>
          <p:cNvSpPr txBox="1"/>
          <p:nvPr/>
        </p:nvSpPr>
        <p:spPr>
          <a:xfrm>
            <a:off x="6742558" y="3771025"/>
            <a:ext cx="14773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#TruthExposed</a:t>
            </a:r>
            <a:endParaRPr lang="en-IL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AEAFB6-CF99-FD38-EFA5-9E066A7D1940}"/>
              </a:ext>
            </a:extLst>
          </p:cNvPr>
          <p:cNvSpPr txBox="1"/>
          <p:nvPr/>
        </p:nvSpPr>
        <p:spPr>
          <a:xfrm rot="4119364">
            <a:off x="7794291" y="2828263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EDC16A-3C4E-B233-A738-0736FE8DA8F5}"/>
              </a:ext>
            </a:extLst>
          </p:cNvPr>
          <p:cNvSpPr txBox="1"/>
          <p:nvPr/>
        </p:nvSpPr>
        <p:spPr>
          <a:xfrm rot="1762880">
            <a:off x="7204790" y="3201896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4E0D75-2DDB-A370-7E53-455AEB5ABECD}"/>
              </a:ext>
            </a:extLst>
          </p:cNvPr>
          <p:cNvSpPr txBox="1"/>
          <p:nvPr/>
        </p:nvSpPr>
        <p:spPr>
          <a:xfrm rot="18366777">
            <a:off x="6630407" y="249058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#True</a:t>
            </a:r>
            <a:endParaRPr lang="en-IL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DBF434-BC13-F47A-9E0A-990355917FA9}"/>
              </a:ext>
            </a:extLst>
          </p:cNvPr>
          <p:cNvSpPr txBox="1"/>
          <p:nvPr/>
        </p:nvSpPr>
        <p:spPr>
          <a:xfrm>
            <a:off x="4618686" y="3805712"/>
            <a:ext cx="14773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#Trending</a:t>
            </a:r>
            <a:endParaRPr lang="en-IL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2FEE4E-9909-A2EA-D4C0-7C567C0D81B3}"/>
              </a:ext>
            </a:extLst>
          </p:cNvPr>
          <p:cNvSpPr txBox="1"/>
          <p:nvPr/>
        </p:nvSpPr>
        <p:spPr>
          <a:xfrm rot="3114557">
            <a:off x="9656857" y="2508597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#Music</a:t>
            </a:r>
            <a:endParaRPr lang="en-IL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17E1FF-92A9-A019-1A6C-4BE0291EDC76}"/>
              </a:ext>
            </a:extLst>
          </p:cNvPr>
          <p:cNvSpPr txBox="1"/>
          <p:nvPr/>
        </p:nvSpPr>
        <p:spPr>
          <a:xfrm rot="17535076">
            <a:off x="8457906" y="2864984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1BF22E-50BE-4ECE-923D-B4BF2FC677C0}"/>
              </a:ext>
            </a:extLst>
          </p:cNvPr>
          <p:cNvSpPr txBox="1"/>
          <p:nvPr/>
        </p:nvSpPr>
        <p:spPr>
          <a:xfrm>
            <a:off x="9656856" y="1791741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#Music</a:t>
            </a:r>
            <a:endParaRPr lang="en-IL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E9EBA8-814F-F059-2FF1-53ED509537FF}"/>
              </a:ext>
            </a:extLst>
          </p:cNvPr>
          <p:cNvSpPr txBox="1"/>
          <p:nvPr/>
        </p:nvSpPr>
        <p:spPr>
          <a:xfrm rot="18686069">
            <a:off x="9036591" y="4390791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#Eurovision</a:t>
            </a:r>
            <a:endParaRPr lang="en-IL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117F96-65E5-BA1F-C866-9E834A2624AC}"/>
              </a:ext>
            </a:extLst>
          </p:cNvPr>
          <p:cNvSpPr txBox="1"/>
          <p:nvPr/>
        </p:nvSpPr>
        <p:spPr>
          <a:xfrm rot="20634719">
            <a:off x="9166637" y="3480230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 Media</a:t>
            </a:r>
            <a:endParaRPr lang="en-IL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4A7900-1718-9498-D12B-BF6EFF07BB99}"/>
              </a:ext>
            </a:extLst>
          </p:cNvPr>
          <p:cNvSpPr txBox="1"/>
          <p:nvPr/>
        </p:nvSpPr>
        <p:spPr>
          <a:xfrm rot="15751676">
            <a:off x="8165907" y="4724186"/>
            <a:ext cx="1377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#</a:t>
            </a:r>
            <a:r>
              <a:rPr lang="en-GB" sz="1600" dirty="0"/>
              <a:t>DeepState</a:t>
            </a:r>
            <a:endParaRPr lang="en-IL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E119A9-EA7D-D216-1015-8751196133B7}"/>
              </a:ext>
            </a:extLst>
          </p:cNvPr>
          <p:cNvSpPr txBox="1"/>
          <p:nvPr/>
        </p:nvSpPr>
        <p:spPr>
          <a:xfrm rot="5187585">
            <a:off x="5916302" y="478872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#True</a:t>
            </a:r>
            <a:endParaRPr lang="en-IL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530366B-B9BA-ED1C-15BE-7915DA9DF1F3}"/>
              </a:ext>
            </a:extLst>
          </p:cNvPr>
          <p:cNvSpPr txBox="1"/>
          <p:nvPr/>
        </p:nvSpPr>
        <p:spPr>
          <a:xfrm rot="18445421">
            <a:off x="4377158" y="2864983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57D533-B730-0F94-C987-C8468DA9FC9F}"/>
              </a:ext>
            </a:extLst>
          </p:cNvPr>
          <p:cNvSpPr txBox="1"/>
          <p:nvPr/>
        </p:nvSpPr>
        <p:spPr>
          <a:xfrm rot="4499005">
            <a:off x="3739807" y="2936281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21E3F1-3775-B1D3-C89B-6A19DF5C7C01}"/>
              </a:ext>
            </a:extLst>
          </p:cNvPr>
          <p:cNvSpPr txBox="1"/>
          <p:nvPr/>
        </p:nvSpPr>
        <p:spPr>
          <a:xfrm rot="17463090">
            <a:off x="3407513" y="4683885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9AD731-D0B0-5AFB-2AB3-95826840118E}"/>
              </a:ext>
            </a:extLst>
          </p:cNvPr>
          <p:cNvSpPr txBox="1"/>
          <p:nvPr/>
        </p:nvSpPr>
        <p:spPr>
          <a:xfrm rot="1702415">
            <a:off x="7159342" y="4609927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 Media</a:t>
            </a:r>
            <a:endParaRPr lang="en-IL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6CDF49-B5C0-7A24-5BEF-7B8F9F013FCC}"/>
              </a:ext>
            </a:extLst>
          </p:cNvPr>
          <p:cNvSpPr txBox="1"/>
          <p:nvPr/>
        </p:nvSpPr>
        <p:spPr>
          <a:xfrm>
            <a:off x="9351225" y="1113054"/>
            <a:ext cx="19530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Co-Action Graph</a:t>
            </a:r>
            <a:endParaRPr lang="en-I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87BEC40-89A0-7D49-4542-0559D0A6CC0F}"/>
                  </a:ext>
                </a:extLst>
              </p:cNvPr>
              <p:cNvSpPr txBox="1"/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600" b="1" dirty="0"/>
                  <a:t>Core-number</a:t>
                </a:r>
                <a:r>
                  <a:rPr lang="en-GB" sz="1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GB" sz="1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1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/>
                  <a:t>neighbours </a:t>
                </a:r>
                <a:r>
                  <a:rPr lang="en-GB" sz="1600" u="sng" dirty="0"/>
                  <a:t>within</a:t>
                </a:r>
                <a:r>
                  <a:rPr lang="en-GB" sz="1600" dirty="0"/>
                  <a:t> that subgraph.</a:t>
                </a:r>
                <a:endParaRPr lang="en-IL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87BEC40-89A0-7D49-4542-0559D0A6CC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blipFill>
                <a:blip r:embed="rId3"/>
                <a:stretch>
                  <a:fillRect l="-1435" t="-1167" b="-428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012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FBF81-1759-7631-FCCD-C2B86D71F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C4968-7120-1977-C518-F3D19EEF9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Example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E09368-FDF4-B047-F86D-A7F727C5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14</a:t>
            </a:fld>
            <a:endParaRPr lang="he-IL"/>
          </a:p>
        </p:txBody>
      </p:sp>
      <p:pic>
        <p:nvPicPr>
          <p:cNvPr id="3" name="Picture 2" descr="k-Core of a graph">
            <a:extLst>
              <a:ext uri="{FF2B5EF4-FFF2-40B4-BE49-F238E27FC236}">
                <a16:creationId xmlns:a16="http://schemas.microsoft.com/office/drawing/2014/main" id="{A1EFBBA8-CA30-26B6-612F-F894F3E62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3" y="1867838"/>
            <a:ext cx="10174718" cy="41070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26D91F2-615E-8B2A-5BF3-DD43C863C4DE}"/>
              </a:ext>
            </a:extLst>
          </p:cNvPr>
          <p:cNvSpPr txBox="1"/>
          <p:nvPr/>
        </p:nvSpPr>
        <p:spPr>
          <a:xfrm rot="21258625">
            <a:off x="6110596" y="1919799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2F4669-9508-4E5A-B24C-22B002FCE751}"/>
              </a:ext>
            </a:extLst>
          </p:cNvPr>
          <p:cNvSpPr txBox="1"/>
          <p:nvPr/>
        </p:nvSpPr>
        <p:spPr>
          <a:xfrm rot="4810671">
            <a:off x="5646712" y="314919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FC3455-0162-56A7-9F57-73B53C64B549}"/>
              </a:ext>
            </a:extLst>
          </p:cNvPr>
          <p:cNvSpPr txBox="1"/>
          <p:nvPr/>
        </p:nvSpPr>
        <p:spPr>
          <a:xfrm>
            <a:off x="6742558" y="3771025"/>
            <a:ext cx="14773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#TruthExposed</a:t>
            </a:r>
            <a:endParaRPr lang="en-IL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C6232-205D-E057-9D18-19CA5F579B02}"/>
              </a:ext>
            </a:extLst>
          </p:cNvPr>
          <p:cNvSpPr txBox="1"/>
          <p:nvPr/>
        </p:nvSpPr>
        <p:spPr>
          <a:xfrm rot="4119364">
            <a:off x="7794291" y="2828263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F02B8-F58B-B4F9-7B80-6387A4DDABE5}"/>
              </a:ext>
            </a:extLst>
          </p:cNvPr>
          <p:cNvSpPr txBox="1"/>
          <p:nvPr/>
        </p:nvSpPr>
        <p:spPr>
          <a:xfrm rot="1762880">
            <a:off x="7204790" y="3201896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CEDCF-E414-D5DE-B87D-F89D5BA52BA9}"/>
              </a:ext>
            </a:extLst>
          </p:cNvPr>
          <p:cNvSpPr txBox="1"/>
          <p:nvPr/>
        </p:nvSpPr>
        <p:spPr>
          <a:xfrm rot="18366777">
            <a:off x="6630407" y="249058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#True</a:t>
            </a:r>
            <a:endParaRPr lang="en-IL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09B6A0-DF6A-5CD7-996A-C3A01D11C97C}"/>
              </a:ext>
            </a:extLst>
          </p:cNvPr>
          <p:cNvSpPr txBox="1"/>
          <p:nvPr/>
        </p:nvSpPr>
        <p:spPr>
          <a:xfrm>
            <a:off x="4618686" y="3805712"/>
            <a:ext cx="14773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#Trending</a:t>
            </a:r>
            <a:endParaRPr lang="en-IL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4517A-9D8A-70EB-41D1-4C5261EC4380}"/>
              </a:ext>
            </a:extLst>
          </p:cNvPr>
          <p:cNvSpPr txBox="1"/>
          <p:nvPr/>
        </p:nvSpPr>
        <p:spPr>
          <a:xfrm rot="3114557">
            <a:off x="9656857" y="2508597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#Music</a:t>
            </a:r>
            <a:endParaRPr lang="en-IL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7A3518-5695-0E32-90BD-476955BA4AA6}"/>
              </a:ext>
            </a:extLst>
          </p:cNvPr>
          <p:cNvSpPr txBox="1"/>
          <p:nvPr/>
        </p:nvSpPr>
        <p:spPr>
          <a:xfrm rot="17535076">
            <a:off x="8457906" y="2864984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712921-5011-08A5-CC00-D27AEBF9BD05}"/>
              </a:ext>
            </a:extLst>
          </p:cNvPr>
          <p:cNvSpPr txBox="1"/>
          <p:nvPr/>
        </p:nvSpPr>
        <p:spPr>
          <a:xfrm>
            <a:off x="9656856" y="1791741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#Music</a:t>
            </a:r>
            <a:endParaRPr lang="en-IL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D82200-163E-4905-F370-F28EA4FFE151}"/>
              </a:ext>
            </a:extLst>
          </p:cNvPr>
          <p:cNvSpPr txBox="1"/>
          <p:nvPr/>
        </p:nvSpPr>
        <p:spPr>
          <a:xfrm rot="20634719">
            <a:off x="9166637" y="3480230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 Media</a:t>
            </a:r>
            <a:endParaRPr lang="en-IL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1EFE46-D669-1079-661B-A318F9253973}"/>
              </a:ext>
            </a:extLst>
          </p:cNvPr>
          <p:cNvSpPr txBox="1"/>
          <p:nvPr/>
        </p:nvSpPr>
        <p:spPr>
          <a:xfrm rot="15751676">
            <a:off x="8165907" y="4724186"/>
            <a:ext cx="1377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#</a:t>
            </a:r>
            <a:r>
              <a:rPr lang="en-GB" sz="1600" dirty="0"/>
              <a:t>DeepState</a:t>
            </a:r>
            <a:endParaRPr lang="en-IL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315AFAB-8E07-193A-F7ED-27FDDE52CFB0}"/>
              </a:ext>
            </a:extLst>
          </p:cNvPr>
          <p:cNvSpPr txBox="1"/>
          <p:nvPr/>
        </p:nvSpPr>
        <p:spPr>
          <a:xfrm rot="5187585">
            <a:off x="5916302" y="478872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#True</a:t>
            </a:r>
            <a:endParaRPr lang="en-IL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5B10CE-B78B-A560-406C-D455F3F371B9}"/>
              </a:ext>
            </a:extLst>
          </p:cNvPr>
          <p:cNvSpPr txBox="1"/>
          <p:nvPr/>
        </p:nvSpPr>
        <p:spPr>
          <a:xfrm rot="18445421">
            <a:off x="4377158" y="2864983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E5B288-8DC3-D387-AF1E-D3C58F4750E5}"/>
              </a:ext>
            </a:extLst>
          </p:cNvPr>
          <p:cNvSpPr txBox="1"/>
          <p:nvPr/>
        </p:nvSpPr>
        <p:spPr>
          <a:xfrm rot="4499005">
            <a:off x="3739807" y="2936281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88BDCC-3776-9674-10AE-CAE67CA8BC28}"/>
              </a:ext>
            </a:extLst>
          </p:cNvPr>
          <p:cNvSpPr txBox="1"/>
          <p:nvPr/>
        </p:nvSpPr>
        <p:spPr>
          <a:xfrm rot="17463090">
            <a:off x="3407513" y="4683885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1DC1E2-CFB8-6380-452E-71770B27D50A}"/>
              </a:ext>
            </a:extLst>
          </p:cNvPr>
          <p:cNvSpPr txBox="1"/>
          <p:nvPr/>
        </p:nvSpPr>
        <p:spPr>
          <a:xfrm rot="1702415">
            <a:off x="7159342" y="4609927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 Media</a:t>
            </a:r>
            <a:endParaRPr lang="en-IL" sz="16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D3B6211-C6E4-1BBA-7030-3820BC8F64FF}"/>
              </a:ext>
            </a:extLst>
          </p:cNvPr>
          <p:cNvSpPr/>
          <p:nvPr/>
        </p:nvSpPr>
        <p:spPr>
          <a:xfrm rot="1340853">
            <a:off x="5185122" y="1691846"/>
            <a:ext cx="4186974" cy="3126336"/>
          </a:xfrm>
          <a:prstGeom prst="ellipse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8576B8-144B-9F99-5CCF-A278CDAFF407}"/>
              </a:ext>
            </a:extLst>
          </p:cNvPr>
          <p:cNvSpPr txBox="1"/>
          <p:nvPr/>
        </p:nvSpPr>
        <p:spPr>
          <a:xfrm rot="1676257">
            <a:off x="7596847" y="1699407"/>
            <a:ext cx="2104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2">
                    <a:lumMod val="75000"/>
                  </a:schemeClr>
                </a:solidFill>
              </a:rPr>
              <a:t>IO Drivers</a:t>
            </a:r>
            <a:endParaRPr lang="en-IL" sz="28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8FB36E-45DE-CDBF-18E4-24798133D1EE}"/>
              </a:ext>
            </a:extLst>
          </p:cNvPr>
          <p:cNvSpPr txBox="1"/>
          <p:nvPr/>
        </p:nvSpPr>
        <p:spPr>
          <a:xfrm>
            <a:off x="9351225" y="1113054"/>
            <a:ext cx="19530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Co-Action Graph</a:t>
            </a:r>
            <a:endParaRPr lang="en-IL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038791-A184-B391-560C-F39DCF16C891}"/>
              </a:ext>
            </a:extLst>
          </p:cNvPr>
          <p:cNvSpPr txBox="1"/>
          <p:nvPr/>
        </p:nvSpPr>
        <p:spPr>
          <a:xfrm rot="18686069">
            <a:off x="9036591" y="4390791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#Eurovision</a:t>
            </a:r>
            <a:endParaRPr lang="en-IL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B168A8F-FFA2-DA9C-4FE8-2D9B65841E59}"/>
                  </a:ext>
                </a:extLst>
              </p:cNvPr>
              <p:cNvSpPr txBox="1"/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600" b="1" dirty="0"/>
                  <a:t>Core-number</a:t>
                </a:r>
                <a:r>
                  <a:rPr lang="en-GB" sz="1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GB" sz="1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1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/>
                  <a:t>neighbours </a:t>
                </a:r>
                <a:r>
                  <a:rPr lang="en-GB" sz="1600" u="sng" dirty="0"/>
                  <a:t>within</a:t>
                </a:r>
                <a:r>
                  <a:rPr lang="en-GB" sz="1600" dirty="0"/>
                  <a:t> that subgraph.</a:t>
                </a:r>
                <a:endParaRPr lang="en-IL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B168A8F-FFA2-DA9C-4FE8-2D9B65841E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blipFill>
                <a:blip r:embed="rId3"/>
                <a:stretch>
                  <a:fillRect l="-1435" t="-1167" b="-428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6332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51D72-4134-AB7E-1B0A-64CFD080E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5590" y="398183"/>
            <a:ext cx="8753475" cy="1325563"/>
          </a:xfrm>
        </p:spPr>
        <p:txBody>
          <a:bodyPr>
            <a:normAutofit/>
          </a:bodyPr>
          <a:lstStyle/>
          <a:p>
            <a:r>
              <a:rPr lang="en-US" dirty="0"/>
              <a:t>Datasets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544F5D-1213-B7D4-11B6-681FD5C86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15</a:t>
            </a:fld>
            <a:endParaRPr lang="he-I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CB54C2-7A31-3765-2BD6-58614883BFB8}"/>
              </a:ext>
            </a:extLst>
          </p:cNvPr>
          <p:cNvGraphicFramePr>
            <a:graphicFrameLocks noGrp="1"/>
          </p:cNvGraphicFramePr>
          <p:nvPr/>
        </p:nvGraphicFramePr>
        <p:xfrm>
          <a:off x="1296561" y="1594306"/>
          <a:ext cx="10601378" cy="4404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00689">
                  <a:extLst>
                    <a:ext uri="{9D8B030D-6E8A-4147-A177-3AD203B41FA5}">
                      <a16:colId xmlns:a16="http://schemas.microsoft.com/office/drawing/2014/main" val="2664862571"/>
                    </a:ext>
                  </a:extLst>
                </a:gridCol>
                <a:gridCol w="5300689">
                  <a:extLst>
                    <a:ext uri="{9D8B030D-6E8A-4147-A177-3AD203B41FA5}">
                      <a16:colId xmlns:a16="http://schemas.microsoft.com/office/drawing/2014/main" val="2429324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L" sz="2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Labeled </a:t>
                      </a: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IO Corpus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Collection of 26 information operations (IO).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Campaigns from multiple countries.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Fully labeled (IO vs. Control accounts).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hlinkClick r:id="rId3"/>
                        </a:rPr>
                        <a:t>https://zenodo.org/records/14189193</a:t>
                      </a:r>
                      <a:endParaRPr lang="en-US" sz="2000" b="0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endParaRPr lang="en-US" b="1" u="sng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000" b="1" u="none" dirty="0">
                          <a:solidFill>
                            <a:schemeClr val="tx1"/>
                          </a:solidFill>
                        </a:rPr>
                        <a:t>Ecuador Campaign Subset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787 IO accounts | 21,138 Control accounts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700K IO tweets | 770K Control tweets</a:t>
                      </a:r>
                      <a:endParaRPr lang="en-US" sz="20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987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5155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BFB06-31E1-F12E-61E2-AD9CFD94A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F6BC6AE-4687-A2A7-935B-0F2E9F915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46" y="1580010"/>
            <a:ext cx="4893567" cy="22973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2AE667-C784-0DA7-5A0E-CB08BA36F6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8609" y="1559914"/>
            <a:ext cx="4920610" cy="23100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BDCE7F-99C3-9474-F9E6-66CB34E19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Core Number</a:t>
            </a:r>
            <a:endParaRPr lang="en-IL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2D5A9-A078-1290-ACCC-0C6203E31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A23E22-B25F-6C61-B14B-75EEE667A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16</a:t>
            </a:fld>
            <a:endParaRPr lang="he-I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D85B4F-AF7F-749F-77C1-315E6E06566E}"/>
              </a:ext>
            </a:extLst>
          </p:cNvPr>
          <p:cNvSpPr txBox="1"/>
          <p:nvPr/>
        </p:nvSpPr>
        <p:spPr>
          <a:xfrm>
            <a:off x="6659873" y="1186618"/>
            <a:ext cx="221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Ecuador </a:t>
            </a:r>
            <a:r>
              <a:rPr lang="en-GB" dirty="0"/>
              <a:t>Campaign</a:t>
            </a:r>
            <a:endParaRPr lang="en-IL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3E0586-5C53-F6ED-1E5A-96C49F4642C9}"/>
              </a:ext>
            </a:extLst>
          </p:cNvPr>
          <p:cNvSpPr txBox="1"/>
          <p:nvPr/>
        </p:nvSpPr>
        <p:spPr>
          <a:xfrm>
            <a:off x="1440246" y="6223634"/>
            <a:ext cx="69238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Cumulative distribution: proportion of IO drivers by Core Number threshold (≤ / ≥)</a:t>
            </a:r>
            <a:endParaRPr lang="en-IL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D8B88D7-4ED4-985E-8371-C40F0673F8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939" y="3917576"/>
            <a:ext cx="4893567" cy="22526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EFBE902-A18C-18D2-66ED-BC4E7994D2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6984" y="3953617"/>
            <a:ext cx="4863860" cy="2323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5460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0D55C6-8230-78F4-5131-0398681BE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03FEF-FC6E-2EC1-2DBE-E6478AE88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</a:t>
            </a:r>
            <a:endParaRPr lang="en-I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4E66D5-01BB-56A4-60BC-1BD00931D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933" y="1725312"/>
            <a:ext cx="5341739" cy="26023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C25D265-B48E-851D-BF69-5A59DD144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964" y="1725311"/>
            <a:ext cx="5341739" cy="260238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820F3-6572-568B-529E-11CD9881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01A7EE-753D-7385-B49F-C29C01852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17</a:t>
            </a:fld>
            <a:endParaRPr lang="he-IL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3A05329-78D2-E602-93AC-21B4C5C260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3366" y="4327698"/>
            <a:ext cx="4891351" cy="243230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47E65D1-9455-7F88-C76F-7532BA5410CB}"/>
              </a:ext>
            </a:extLst>
          </p:cNvPr>
          <p:cNvSpPr/>
          <p:nvPr/>
        </p:nvSpPr>
        <p:spPr>
          <a:xfrm>
            <a:off x="6899024" y="6456649"/>
            <a:ext cx="408562" cy="1307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919F0E-957E-FFBC-107B-FCA691ED9B3B}"/>
              </a:ext>
            </a:extLst>
          </p:cNvPr>
          <p:cNvSpPr/>
          <p:nvPr/>
        </p:nvSpPr>
        <p:spPr>
          <a:xfrm>
            <a:off x="4952834" y="6463135"/>
            <a:ext cx="408562" cy="1307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63FB1B-74F3-1C00-2449-2CF07892F0A9}"/>
              </a:ext>
            </a:extLst>
          </p:cNvPr>
          <p:cNvSpPr txBox="1"/>
          <p:nvPr/>
        </p:nvSpPr>
        <p:spPr>
          <a:xfrm>
            <a:off x="1627148" y="4553473"/>
            <a:ext cx="20914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Using binomial logistic regression with a Wald test on the coefficient.</a:t>
            </a:r>
          </a:p>
          <a:p>
            <a:endParaRPr lang="en-GB" dirty="0"/>
          </a:p>
          <a:p>
            <a:r>
              <a:rPr lang="en-GB" dirty="0"/>
              <a:t>the relationship is highly statistically significant.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D238A3-5BCE-312A-C503-22294C26B8F8}"/>
              </a:ext>
            </a:extLst>
          </p:cNvPr>
          <p:cNvSpPr txBox="1"/>
          <p:nvPr/>
        </p:nvSpPr>
        <p:spPr>
          <a:xfrm>
            <a:off x="5157115" y="1456291"/>
            <a:ext cx="221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Ecuador </a:t>
            </a:r>
            <a:r>
              <a:rPr lang="en-GB" dirty="0"/>
              <a:t>Campaign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0264400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B87DE-9387-5208-FA8C-271F74C04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4C16C750-F1A2-8863-6A02-C932074344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933" y="1725310"/>
            <a:ext cx="5341739" cy="26023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5D89449-53CB-3A0D-7EB2-ADE4835E4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</a:t>
            </a:r>
            <a:endParaRPr lang="en-IL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33B688C-DACC-6BD8-C44C-2E2EBA5136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5130" y="4288829"/>
            <a:ext cx="5341739" cy="254094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CDC8E-58AC-62C4-2916-77A9E007BA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6C6D92-A1D5-0EE9-DC53-1C5697EE8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18</a:t>
            </a:fld>
            <a:endParaRPr lang="he-I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5CB54B-9068-F061-4A78-BC831067A937}"/>
              </a:ext>
            </a:extLst>
          </p:cNvPr>
          <p:cNvSpPr txBox="1"/>
          <p:nvPr/>
        </p:nvSpPr>
        <p:spPr>
          <a:xfrm>
            <a:off x="5157115" y="1413045"/>
            <a:ext cx="2380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Bangladesh  </a:t>
            </a:r>
            <a:r>
              <a:rPr lang="en-GB" dirty="0"/>
              <a:t>Campaign</a:t>
            </a:r>
            <a:endParaRPr lang="en-IL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3C943D8-19EE-9A02-8355-CA9A9EDADB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6964" y="1725310"/>
            <a:ext cx="5341739" cy="2563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3397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26D25-36D7-61FB-800F-D666E5C3B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B8062A9-4019-21A8-C181-3F8265302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Indicators Comparison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AD05960-A975-BAF2-22A6-3B1434A4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6E229-8963-0D55-F98F-4CC7A796E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9792561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225D8-EDFA-0591-872A-E0075FF02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DED4E-07D6-5029-1267-13E254619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9" y="401637"/>
            <a:ext cx="6108802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Indicators Comparison</a:t>
            </a:r>
            <a:r>
              <a:rPr lang="en-US" dirty="0"/>
              <a:t>- Information Gain  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F5E0B-95E2-EC2F-17CF-478A39DF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20</a:t>
            </a:fld>
            <a:endParaRPr lang="he-I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694049-9AAF-FF1E-EB69-93619E1D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721" y="1727200"/>
            <a:ext cx="8753475" cy="42754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88E7DED-7C45-6E37-6290-93FB4487F981}"/>
              </a:ext>
            </a:extLst>
          </p:cNvPr>
          <p:cNvSpPr txBox="1"/>
          <p:nvPr/>
        </p:nvSpPr>
        <p:spPr>
          <a:xfrm>
            <a:off x="1490383" y="6141483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L" dirty="0">
                <a:solidFill>
                  <a:schemeClr val="bg1">
                    <a:lumMod val="50000"/>
                  </a:schemeClr>
                </a:solidFill>
              </a:rPr>
              <a:t>Information Gain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is a statistical method </a:t>
            </a:r>
            <a:r>
              <a:rPr lang="en-IL" dirty="0">
                <a:solidFill>
                  <a:schemeClr val="bg1">
                    <a:lumMod val="50000"/>
                  </a:schemeClr>
                </a:solidFill>
              </a:rPr>
              <a:t>used to measure how much knowledge one variable provides about another.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3CE284-809A-A65C-BDD2-3AC44719FA4E}"/>
              </a:ext>
            </a:extLst>
          </p:cNvPr>
          <p:cNvSpPr/>
          <p:nvPr/>
        </p:nvSpPr>
        <p:spPr>
          <a:xfrm rot="8053005">
            <a:off x="2398790" y="4289898"/>
            <a:ext cx="1550640" cy="32101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4CB437-4137-2CDD-001F-7C3EEC1128F7}"/>
              </a:ext>
            </a:extLst>
          </p:cNvPr>
          <p:cNvSpPr txBox="1"/>
          <p:nvPr/>
        </p:nvSpPr>
        <p:spPr>
          <a:xfrm>
            <a:off x="9510668" y="1727200"/>
            <a:ext cx="26813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On Ecuador Campaign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6585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D6A4D-7568-BAE4-62D1-881293F2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3C420-F8E3-F707-0927-1E9D7AECA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Indicators Comparison</a:t>
            </a:r>
            <a:r>
              <a:rPr lang="en-US" dirty="0"/>
              <a:t>- SHAP 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2290A-7BF2-C0BD-9A9F-A26B3BAEB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21</a:t>
            </a:fld>
            <a:endParaRPr lang="he-IL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2B9DBD-9D06-F91D-D64B-D21C4568C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179" y="2340414"/>
            <a:ext cx="5911564" cy="34295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DDFF08-7A2E-6395-8B4C-1B8FB250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870" y="2368126"/>
            <a:ext cx="5162180" cy="34018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97C5E1-5F57-35AD-F9CE-6328C30BB91A}"/>
              </a:ext>
            </a:extLst>
          </p:cNvPr>
          <p:cNvSpPr txBox="1"/>
          <p:nvPr/>
        </p:nvSpPr>
        <p:spPr>
          <a:xfrm>
            <a:off x="0" y="1729419"/>
            <a:ext cx="12180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SHAP analysis on </a:t>
            </a:r>
            <a:r>
              <a:rPr lang="en-US" dirty="0" err="1"/>
              <a:t>XGBoost</a:t>
            </a:r>
            <a:r>
              <a:rPr lang="en-US" dirty="0"/>
              <a:t> model on Ecuador Campaign</a:t>
            </a:r>
            <a:endParaRPr lang="en-I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65D321-D39B-4DBC-6CB1-32D4550FBD1C}"/>
              </a:ext>
            </a:extLst>
          </p:cNvPr>
          <p:cNvSpPr txBox="1"/>
          <p:nvPr/>
        </p:nvSpPr>
        <p:spPr>
          <a:xfrm>
            <a:off x="1490383" y="6141483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SHAP explains how much each feature contributes to a model’s prediction.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239BF7-A475-CC65-7EE7-9930284821BC}"/>
              </a:ext>
            </a:extLst>
          </p:cNvPr>
          <p:cNvSpPr/>
          <p:nvPr/>
        </p:nvSpPr>
        <p:spPr>
          <a:xfrm>
            <a:off x="945292" y="2829161"/>
            <a:ext cx="844358" cy="23832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61CCB-ED27-8FB9-F58E-5F2C97748B71}"/>
              </a:ext>
            </a:extLst>
          </p:cNvPr>
          <p:cNvSpPr/>
          <p:nvPr/>
        </p:nvSpPr>
        <p:spPr>
          <a:xfrm>
            <a:off x="6484869" y="2848617"/>
            <a:ext cx="1079771" cy="23832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314280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886FA-D75D-B1C5-1F7F-3DABFBBA9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27740-856C-1F50-2CE0-9C9EB10B9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Indicators Comparison</a:t>
            </a:r>
            <a:r>
              <a:rPr lang="en-US" dirty="0"/>
              <a:t>- Box Plots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BE0A4-B226-D34F-31D7-E7C7F3842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22</a:t>
            </a:fld>
            <a:endParaRPr lang="he-I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2BD76C-B5E7-A4FA-A547-8B412A840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94" y="1366591"/>
            <a:ext cx="10784541" cy="483764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97FDBF-A5FC-FDF5-3FD4-894FDF6407A7}"/>
              </a:ext>
            </a:extLst>
          </p:cNvPr>
          <p:cNvSpPr txBox="1"/>
          <p:nvPr/>
        </p:nvSpPr>
        <p:spPr>
          <a:xfrm>
            <a:off x="1490383" y="6204236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A box plot is a method for demonstrating graphically the distribution of numerical data across different groups.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7B0DE0-0245-FCF7-8302-426BA59A6F77}"/>
              </a:ext>
            </a:extLst>
          </p:cNvPr>
          <p:cNvSpPr/>
          <p:nvPr/>
        </p:nvSpPr>
        <p:spPr>
          <a:xfrm>
            <a:off x="664369" y="3212757"/>
            <a:ext cx="2140616" cy="149021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38D4A9-7D91-7E62-1ABD-EBAE0049AC95}"/>
              </a:ext>
            </a:extLst>
          </p:cNvPr>
          <p:cNvSpPr txBox="1"/>
          <p:nvPr/>
        </p:nvSpPr>
        <p:spPr>
          <a:xfrm>
            <a:off x="9895563" y="1357868"/>
            <a:ext cx="2559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Ecuador Campaign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42580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082C62-FC90-C2AA-1EC6-F67BC4756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34A89-F787-41E8-0F6F-9DAFAD7BC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Core Number </a:t>
            </a:r>
            <a:r>
              <a:rPr lang="en-US" dirty="0"/>
              <a:t>- CDF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5DB81-B2F7-9236-CF39-0248F3253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23</a:t>
            </a:fld>
            <a:endParaRPr lang="he-I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E83DCE-2B5E-8FBD-3EE3-FC0F0735819B}"/>
              </a:ext>
            </a:extLst>
          </p:cNvPr>
          <p:cNvSpPr txBox="1"/>
          <p:nvPr/>
        </p:nvSpPr>
        <p:spPr>
          <a:xfrm>
            <a:off x="1490383" y="6204236"/>
            <a:ext cx="72353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The Cumulative Distribution Function (CDF) show the probability that the variable will take a value less than or equal to a particular value in X-axis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.</a:t>
            </a:r>
            <a:endParaRPr lang="en-GB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00D400-F22C-22D5-36E1-B3314FA17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45" b="51197"/>
          <a:stretch>
            <a:fillRect/>
          </a:stretch>
        </p:blipFill>
        <p:spPr>
          <a:xfrm>
            <a:off x="1056503" y="2452816"/>
            <a:ext cx="10129491" cy="2520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9AB0E1F-1A7B-E1FC-E190-FB8659D91ADA}"/>
              </a:ext>
            </a:extLst>
          </p:cNvPr>
          <p:cNvSpPr txBox="1"/>
          <p:nvPr/>
        </p:nvSpPr>
        <p:spPr>
          <a:xfrm>
            <a:off x="9906181" y="1720676"/>
            <a:ext cx="2559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Ecuador Campaign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3222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15625</TotalTime>
  <Words>1121</Words>
  <Application>Microsoft Office PowerPoint</Application>
  <PresentationFormat>Widescreen</PresentationFormat>
  <Paragraphs>165</Paragraphs>
  <Slides>23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Backbone Graph</vt:lpstr>
      <vt:lpstr>Core Concepts - IO</vt:lpstr>
      <vt:lpstr>Co-Actions Graph </vt:lpstr>
      <vt:lpstr>Backbone Graph &amp; IO Indicators</vt:lpstr>
      <vt:lpstr>Core-Number</vt:lpstr>
      <vt:lpstr>Core Number - Definition</vt:lpstr>
      <vt:lpstr>Core Number - Intuition</vt:lpstr>
      <vt:lpstr>H1 (Dense Community Hypothesis)</vt:lpstr>
      <vt:lpstr>Core Number - Example</vt:lpstr>
      <vt:lpstr>Core Number - Example</vt:lpstr>
      <vt:lpstr>Core Number - Example</vt:lpstr>
      <vt:lpstr>Co-Actions Graph</vt:lpstr>
      <vt:lpstr>Core Number - Example</vt:lpstr>
      <vt:lpstr>Core Number - Example</vt:lpstr>
      <vt:lpstr>Datasets</vt:lpstr>
      <vt:lpstr>Core Number</vt:lpstr>
      <vt:lpstr>Core Number</vt:lpstr>
      <vt:lpstr>Core Number</vt:lpstr>
      <vt:lpstr>Indicators Comparison</vt:lpstr>
      <vt:lpstr>Indicators Comparison- Information Gain  </vt:lpstr>
      <vt:lpstr>Indicators Comparison- SHAP </vt:lpstr>
      <vt:lpstr>Indicators Comparison- Box Plots</vt:lpstr>
      <vt:lpstr>Core Number - CDF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545</cp:revision>
  <dcterms:created xsi:type="dcterms:W3CDTF">2021-05-04T15:24:24Z</dcterms:created>
  <dcterms:modified xsi:type="dcterms:W3CDTF">2026-07-05T11:15:01Z</dcterms:modified>
</cp:coreProperties>
</file>