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1574" r:id="rId2"/>
    <p:sldId id="1577" r:id="rId3"/>
    <p:sldId id="1591" r:id="rId4"/>
    <p:sldId id="1649" r:id="rId5"/>
    <p:sldId id="1740" r:id="rId6"/>
    <p:sldId id="1739" r:id="rId7"/>
    <p:sldId id="1738" r:id="rId8"/>
    <p:sldId id="1752" r:id="rId9"/>
    <p:sldId id="1753" r:id="rId10"/>
    <p:sldId id="1754" r:id="rId11"/>
    <p:sldId id="1760" r:id="rId12"/>
    <p:sldId id="1719" r:id="rId13"/>
    <p:sldId id="1749" r:id="rId14"/>
    <p:sldId id="1757" r:id="rId15"/>
    <p:sldId id="1759" r:id="rId16"/>
    <p:sldId id="1761" r:id="rId17"/>
    <p:sldId id="1678" r:id="rId18"/>
    <p:sldId id="1729" r:id="rId19"/>
    <p:sldId id="1730" r:id="rId20"/>
    <p:sldId id="1687" r:id="rId21"/>
    <p:sldId id="1756" r:id="rId2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77"/>
            <p14:sldId id="1591"/>
            <p14:sldId id="1649"/>
          </p14:sldIdLst>
        </p14:section>
        <p14:section name="Core-Number" id="{2F1E73D5-870F-4091-9492-A1102BE33EA1}">
          <p14:sldIdLst>
            <p14:sldId id="1740"/>
            <p14:sldId id="1739"/>
            <p14:sldId id="1738"/>
            <p14:sldId id="1752"/>
            <p14:sldId id="1753"/>
            <p14:sldId id="1754"/>
            <p14:sldId id="1760"/>
            <p14:sldId id="1719"/>
            <p14:sldId id="1749"/>
            <p14:sldId id="1757"/>
            <p14:sldId id="1759"/>
            <p14:sldId id="1761"/>
            <p14:sldId id="1678"/>
            <p14:sldId id="1729"/>
            <p14:sldId id="1730"/>
            <p14:sldId id="1687"/>
            <p14:sldId id="17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120"/>
    <a:srgbClr val="FE0101"/>
    <a:srgbClr val="F58377"/>
    <a:srgbClr val="FF4343"/>
    <a:srgbClr val="548235"/>
    <a:srgbClr val="009DBB"/>
    <a:srgbClr val="0688BA"/>
    <a:srgbClr val="005488"/>
    <a:srgbClr val="006189"/>
    <a:srgbClr val="5D5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70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Co-actions graph represents author similarity.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Each user is represented by a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The feature vectors are used to determine if               an author is an IO driver.</a:t>
          </a:r>
          <a:endParaRPr lang="en-IL" sz="2400" b="1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/>
      <dgm:spPr/>
      <dgm:t>
        <a:bodyPr/>
        <a:lstStyle/>
        <a:p>
          <a:r>
            <a:rPr lang="en-GB" dirty="0"/>
            <a:t>Node belongs to tightly connected group.</a:t>
          </a:r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/>
      <dgm:spPr/>
      <dgm:t>
        <a:bodyPr/>
        <a:lstStyle/>
        <a:p>
          <a:r>
            <a:rPr lang="en-GB" dirty="0"/>
            <a:t>The node/author is suspected to be an IO drive.</a:t>
          </a:r>
          <a:endParaRPr lang="en-IL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/>
      <dgm:spPr/>
      <dgm:t>
        <a:bodyPr/>
        <a:lstStyle/>
        <a:p>
          <a:r>
            <a:rPr lang="en-GB" dirty="0"/>
            <a:t>Node has higher core-number.</a:t>
          </a:r>
          <a:endParaRPr lang="en-IL" dirty="0"/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3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3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3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0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2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1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The feature vectors are used to determine if               an author is an IO driver.</a:t>
          </a:r>
          <a:endParaRPr lang="en-IL" sz="2400" b="1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Each user is represented by a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Co-actions graph represents author similarity.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290500"/>
          <a:ext cx="10582656" cy="108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The node/author is suspected to be an IO drive.</a:t>
          </a:r>
          <a:endParaRPr lang="en-IL" sz="3800" kern="1200" dirty="0"/>
        </a:p>
      </dsp:txBody>
      <dsp:txXfrm>
        <a:off x="0" y="3290500"/>
        <a:ext cx="10582656" cy="1080015"/>
      </dsp:txXfrm>
    </dsp:sp>
    <dsp:sp modelId="{3D88F0F6-5629-4C7E-A8D9-55126A1A5A1D}">
      <dsp:nvSpPr>
        <dsp:cNvPr id="0" name=""/>
        <dsp:cNvSpPr/>
      </dsp:nvSpPr>
      <dsp:spPr>
        <a:xfrm rot="10800000">
          <a:off x="0" y="1645636"/>
          <a:ext cx="10582656" cy="1661064"/>
        </a:xfrm>
        <a:prstGeom prst="upArrowCallou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Node has higher core-number.</a:t>
          </a:r>
          <a:endParaRPr lang="en-IL" sz="3800" kern="1200" dirty="0"/>
        </a:p>
      </dsp:txBody>
      <dsp:txXfrm rot="10800000">
        <a:off x="0" y="1645636"/>
        <a:ext cx="10582656" cy="1079310"/>
      </dsp:txXfrm>
    </dsp:sp>
    <dsp:sp modelId="{5E247E41-6DA2-446C-849F-383AA9AB749B}">
      <dsp:nvSpPr>
        <dsp:cNvPr id="0" name=""/>
        <dsp:cNvSpPr/>
      </dsp:nvSpPr>
      <dsp:spPr>
        <a:xfrm rot="10800000">
          <a:off x="0" y="772"/>
          <a:ext cx="10582656" cy="1661064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Node belongs to tightly connected group.</a:t>
          </a:r>
        </a:p>
      </dsp:txBody>
      <dsp:txXfrm rot="10800000">
        <a:off x="0" y="772"/>
        <a:ext cx="10582656" cy="107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24A3-5AB0-B990-8B34-7C16850B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D2F89-77A2-E54F-43DE-3263EEB6A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1827B-D9ED-5722-8D12-ED705CF99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9E24-56EB-6A14-E837-DEAFD6221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522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27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27 מאי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27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27 מאי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27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27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27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2</a:t>
            </a:r>
            <a:r>
              <a:rPr lang="he-IL" b="1" dirty="0">
                <a:solidFill>
                  <a:prstClr val="white"/>
                </a:solidFill>
              </a:rPr>
              <a:t>7</a:t>
            </a:r>
            <a:r>
              <a:rPr lang="en-US" b="1" dirty="0">
                <a:solidFill>
                  <a:prstClr val="white"/>
                </a:solidFill>
              </a:rPr>
              <a:t>.05.2026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 </a:t>
            </a:r>
            <a:r>
              <a:rPr lang="en-US" dirty="0"/>
              <a:t>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Information Operation (IO):</a:t>
            </a:r>
            <a:r>
              <a:rPr lang="en-GB" dirty="0"/>
              <a:t> A collection of publications by coordinated actors pursuing a shared intent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4F7C4-ED55-F4E3-0283-87653B6C11C0}"/>
              </a:ext>
            </a:extLst>
          </p:cNvPr>
          <p:cNvSpPr txBox="1"/>
          <p:nvPr/>
        </p:nvSpPr>
        <p:spPr>
          <a:xfrm>
            <a:off x="1926771" y="4215842"/>
            <a:ext cx="8573756" cy="1200329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 rtl="0"/>
            <a:r>
              <a:rPr lang="en-GB" sz="2400" b="1" dirty="0"/>
              <a:t>Goal:</a:t>
            </a:r>
          </a:p>
          <a:p>
            <a:pPr lvl="0" rtl="0"/>
            <a:r>
              <a:rPr lang="en-GB" sz="2400" dirty="0"/>
              <a:t>Calculation of graph-based indicators (e.g., centralities) to </a:t>
            </a:r>
            <a:r>
              <a:rPr lang="en-GB" sz="2400" b="1" dirty="0"/>
              <a:t>identify authors that are IO drivers</a:t>
            </a:r>
            <a:r>
              <a:rPr lang="en-GB" sz="2400" dirty="0"/>
              <a:t> in social network.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Co-Actions Graph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pair of authors (e.g., posting same hashtag). Represents </a:t>
            </a:r>
            <a:r>
              <a:rPr lang="en-US" sz="2800" b="1" dirty="0"/>
              <a:t>behavioral similar</a:t>
            </a:r>
            <a:r>
              <a:rPr lang="en-GB" sz="2800" b="1" dirty="0"/>
              <a:t>arty </a:t>
            </a:r>
            <a:r>
              <a:rPr lang="en-GB" sz="2800" dirty="0"/>
              <a:t>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Backbone Graph &amp; IO Indicators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6A4B38D-F573-2F95-62F3-8BE9BF72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489130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1AD01-0DDD-F198-381B-E9E6678A1994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559D-D4AB-1189-6DD0-329C5923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2BBF2-9CA9-26C8-3306-0EF5D22F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Core-Number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75CCD-7268-1EC4-7323-66B1D9D4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53DD-F810-AEB1-6C45-0A9E4E5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65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17E5-7468-9878-38B1-12643AA8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8CBB-063A-985D-F9B5-D4BB2CE2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Intuition</a:t>
            </a:r>
            <a:endParaRPr lang="en-I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0B9B19-14B9-7F86-B47B-576702864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380268"/>
              </p:ext>
            </p:extLst>
          </p:nvPr>
        </p:nvGraphicFramePr>
        <p:xfrm>
          <a:off x="1243087" y="1825625"/>
          <a:ext cx="10582656" cy="4371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4E7D3-5764-C737-E79D-E110112B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248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Definition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/>
                  <a:t>neighbours </a:t>
                </a:r>
                <a:r>
                  <a:rPr lang="en-GB" sz="3600" u="sng" dirty="0"/>
                  <a:t>within</a:t>
                </a:r>
                <a:r>
                  <a:rPr lang="en-GB" sz="3600" dirty="0"/>
                  <a:t> that subgraph.</a:t>
                </a:r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613" t="-3959" b="-3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0CD4-237B-A18E-225C-DA81BCE4A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6A7322DC-BDB5-C7DF-6D19-D87272075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3EA5D4-BA54-7766-173E-6E68CBB4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54E82-21BE-2246-4FD9-B871B02B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2E6458-FB44-D848-C297-3E389CB74448}"/>
              </a:ext>
            </a:extLst>
          </p:cNvPr>
          <p:cNvSpPr/>
          <p:nvPr/>
        </p:nvSpPr>
        <p:spPr>
          <a:xfrm>
            <a:off x="3379573" y="1970902"/>
            <a:ext cx="914400" cy="809368"/>
          </a:xfrm>
          <a:prstGeom prst="ellips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F288F3-6E75-0EF1-A0FB-BAEDBAE5B33D}"/>
              </a:ext>
            </a:extLst>
          </p:cNvPr>
          <p:cNvSpPr/>
          <p:nvPr/>
        </p:nvSpPr>
        <p:spPr>
          <a:xfrm>
            <a:off x="3379573" y="5165541"/>
            <a:ext cx="914400" cy="809368"/>
          </a:xfrm>
          <a:prstGeom prst="ellips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971999-22E2-3C7E-9D88-2C4B8D162DFF}"/>
              </a:ext>
            </a:extLst>
          </p:cNvPr>
          <p:cNvSpPr/>
          <p:nvPr/>
        </p:nvSpPr>
        <p:spPr>
          <a:xfrm>
            <a:off x="5824152" y="5309685"/>
            <a:ext cx="914400" cy="809368"/>
          </a:xfrm>
          <a:prstGeom prst="ellips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C33DE0-46FA-342F-6031-A19FA0235924}"/>
              </a:ext>
            </a:extLst>
          </p:cNvPr>
          <p:cNvSpPr/>
          <p:nvPr/>
        </p:nvSpPr>
        <p:spPr>
          <a:xfrm>
            <a:off x="10709190" y="1723694"/>
            <a:ext cx="914400" cy="809368"/>
          </a:xfrm>
          <a:prstGeom prst="ellips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162ED-2B1A-37D6-FF8C-012A4D9BFABF}"/>
              </a:ext>
            </a:extLst>
          </p:cNvPr>
          <p:cNvSpPr txBox="1"/>
          <p:nvPr/>
        </p:nvSpPr>
        <p:spPr>
          <a:xfrm>
            <a:off x="1339721" y="6183443"/>
            <a:ext cx="4756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 of how core number is calculated, the minimum possible core number for a node is 1.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DEF659-BAE2-96C0-B763-891FD7DA5BF2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DEF659-BAE2-96C0-B763-891FD7DA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52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A1E5-1A40-9B29-56ED-4EF0FC5F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A8DD-8C2B-246F-6BDC-1C5EB302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96228-A242-0C11-9305-21D049DE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B874BE68-6AEB-E2E2-0611-D89752ADB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0292CF9-32B3-0B9B-2F36-37F600712B40}"/>
              </a:ext>
            </a:extLst>
          </p:cNvPr>
          <p:cNvSpPr/>
          <p:nvPr/>
        </p:nvSpPr>
        <p:spPr>
          <a:xfrm>
            <a:off x="3849130" y="2038864"/>
            <a:ext cx="3076832" cy="2835877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8ADDD7-8F8B-EFA0-2E09-375C862D9095}"/>
              </a:ext>
            </a:extLst>
          </p:cNvPr>
          <p:cNvSpPr/>
          <p:nvPr/>
        </p:nvSpPr>
        <p:spPr>
          <a:xfrm>
            <a:off x="8091616" y="1810265"/>
            <a:ext cx="3076832" cy="289559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CDF619-768F-62F5-DB82-34EB25F9E50A}"/>
              </a:ext>
            </a:extLst>
          </p:cNvPr>
          <p:cNvSpPr/>
          <p:nvPr/>
        </p:nvSpPr>
        <p:spPr>
          <a:xfrm rot="1713836">
            <a:off x="5895425" y="3317931"/>
            <a:ext cx="3960340" cy="2697952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75087-B2FB-770E-38BE-71684AABEDEE}"/>
              </a:ext>
            </a:extLst>
          </p:cNvPr>
          <p:cNvSpPr txBox="1"/>
          <p:nvPr/>
        </p:nvSpPr>
        <p:spPr>
          <a:xfrm>
            <a:off x="1339721" y="6456363"/>
            <a:ext cx="596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Each node in the blue subgraphs has at least 2 neighbours.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47286A-8938-7A20-574D-E9961582F9A2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47286A-8938-7A20-574D-E9961582F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207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4EAD-172A-69E5-D50A-DA55010E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6462-C181-6D3A-4337-AFE90268F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DCF9D-6440-6D00-23B9-F9C36CBA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D6A5EE98-DE9A-59F4-0332-AF74E49CB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229B72F-53E9-FFEC-DB26-89B45631CA5A}"/>
              </a:ext>
            </a:extLst>
          </p:cNvPr>
          <p:cNvSpPr/>
          <p:nvPr/>
        </p:nvSpPr>
        <p:spPr>
          <a:xfrm>
            <a:off x="4917256" y="1612557"/>
            <a:ext cx="4646874" cy="3323967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6FB4B-3148-A38C-9F14-14503196929D}"/>
              </a:ext>
            </a:extLst>
          </p:cNvPr>
          <p:cNvSpPr txBox="1"/>
          <p:nvPr/>
        </p:nvSpPr>
        <p:spPr>
          <a:xfrm>
            <a:off x="1339721" y="6456363"/>
            <a:ext cx="596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Each node in the red subgraphs has at least 3 neighbours.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8AF99A-9348-D20C-2BBA-A2BEDBC9AD6F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8AF99A-9348-D20C-2BBA-A2BEDBC9A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43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0E16B-4CEC-E000-5392-3B951AB3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FFE4-F2E6-ADEC-8660-58B6BA3E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Co-Actions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02D5-EE9F-4942-C853-D3C959E14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author pairs (e.g., co-mention, co-entity, co-topic). Represents </a:t>
            </a:r>
            <a:r>
              <a:rPr lang="en-US" sz="2800" b="1" dirty="0"/>
              <a:t>behavioral similar</a:t>
            </a:r>
            <a:r>
              <a:rPr lang="en-GB" sz="2800" b="1" dirty="0"/>
              <a:t>arty </a:t>
            </a:r>
            <a:r>
              <a:rPr lang="en-GB" sz="2800" dirty="0"/>
              <a:t>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F89B6-CB4E-2461-C640-6AF449DE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C0C9577-2E1E-4106-7D69-C62A21EE76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727402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260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E3BC-962E-008E-4A26-C2135A4B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1A7-B397-F9BA-7ECB-4DA1358C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1681F-8D0E-063B-E5F8-8C7C1145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3160D834-E7C4-9080-3DC5-CB154A8A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502E69-603F-AF94-7CF7-D27C2F884842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A0732-50ED-1AFC-32AA-3F7B95710760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CD94E7-365A-A4A6-5838-0EF7D67EF462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EAFB6-CF99-FD38-EFA5-9E066A7D1940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DC16A-3C4E-B233-A738-0736FE8DA8F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E0D75-2DDB-A370-7E53-455AEB5ABECD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DBF434-BC13-F47A-9E0A-990355917FA9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2FEE4E-9909-A2EA-D4C0-7C567C0D81B3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17E1FF-92A9-A019-1A6C-4BE0291EDC7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BF22E-50BE-4ECE-923D-B4BF2FC677C0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E9EBA8-814F-F059-2FF1-53ED509537FF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117F96-65E5-BA1F-C866-9E834A2624AC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4A7900-1718-9498-D12B-BF6EFF07BB99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119A9-EA7D-D216-1015-8751196133B7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0366B-B9BA-ED1C-15BE-7915DA9DF1F3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57D533-B730-0F94-C987-C8468DA9FC9F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21E3F1-3775-B1D3-C89B-6A19DF5C7C01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9AD731-D0B0-5AFB-2AB3-95826840118E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CDF49-B5C0-7A24-5BEF-7B8F9F013FCC}"/>
              </a:ext>
            </a:extLst>
          </p:cNvPr>
          <p:cNvSpPr txBox="1"/>
          <p:nvPr/>
        </p:nvSpPr>
        <p:spPr>
          <a:xfrm>
            <a:off x="9351225" y="11130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7BEC40-89A0-7D49-4542-0559D0A6CC0F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7BEC40-89A0-7D49-4542-0559D0A6C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127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1130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FB06-31E1-F12E-61E2-AD9CFD94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6BC6AE-4687-A2A7-935B-0F2E9F91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46" y="1580010"/>
            <a:ext cx="4893567" cy="229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AE667-C784-0DA7-5A0E-CB08BA36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609" y="1559914"/>
            <a:ext cx="4920610" cy="23100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DCE7F-99C3-9474-F9E6-66CB34E1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Number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2D5A9-A078-1290-ACCC-0C6203E3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3E22-B25F-6C61-B14B-75EEE667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5B4F-AF7F-749F-77C1-315E6E06566E}"/>
              </a:ext>
            </a:extLst>
          </p:cNvPr>
          <p:cNvSpPr txBox="1"/>
          <p:nvPr/>
        </p:nvSpPr>
        <p:spPr>
          <a:xfrm>
            <a:off x="6659873" y="1186618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E0586-5C53-F6ED-1E5A-96C49F4642C9}"/>
              </a:ext>
            </a:extLst>
          </p:cNvPr>
          <p:cNvSpPr txBox="1"/>
          <p:nvPr/>
        </p:nvSpPr>
        <p:spPr>
          <a:xfrm>
            <a:off x="1440246" y="6223634"/>
            <a:ext cx="692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Cumulative distribution: proportion of IO drivers by Core Number threshold (≤ / ≥)</a:t>
            </a:r>
            <a:endParaRPr lang="en-IL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8B88D7-4ED4-985E-8371-C40F0673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939" y="3917576"/>
            <a:ext cx="4893567" cy="2252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FBE902-A18C-18D2-66ED-BC4E7994D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984" y="3953617"/>
            <a:ext cx="4863860" cy="232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46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0D55C6-8230-78F4-5131-0398681B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3FEF-FC6E-2EC1-2DBE-E6478AE8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4E66D5-01BB-56A4-60BC-1BD00931D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3" y="1725312"/>
            <a:ext cx="5341739" cy="2602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25D265-B48E-851D-BF69-5A59DD144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964" y="1725311"/>
            <a:ext cx="5341739" cy="26023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20F3-6572-568B-529E-11CD9881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A7EE-753D-7385-B49F-C29C0185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A05329-78D2-E602-93AC-21B4C5C26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366" y="4327698"/>
            <a:ext cx="4891351" cy="243230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47E65D1-9455-7F88-C76F-7532BA5410CB}"/>
              </a:ext>
            </a:extLst>
          </p:cNvPr>
          <p:cNvSpPr/>
          <p:nvPr/>
        </p:nvSpPr>
        <p:spPr>
          <a:xfrm>
            <a:off x="6899024" y="6456649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19F0E-957E-FFBC-107B-FCA691ED9B3B}"/>
              </a:ext>
            </a:extLst>
          </p:cNvPr>
          <p:cNvSpPr/>
          <p:nvPr/>
        </p:nvSpPr>
        <p:spPr>
          <a:xfrm>
            <a:off x="4952834" y="6463135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3FB1B-74F3-1C00-2449-2CF07892F0A9}"/>
              </a:ext>
            </a:extLst>
          </p:cNvPr>
          <p:cNvSpPr txBox="1"/>
          <p:nvPr/>
        </p:nvSpPr>
        <p:spPr>
          <a:xfrm>
            <a:off x="1627148" y="4553473"/>
            <a:ext cx="2091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binomial logistic regression with a Wald test on the coefficient.</a:t>
            </a:r>
          </a:p>
          <a:p>
            <a:endParaRPr lang="en-GB" dirty="0"/>
          </a:p>
          <a:p>
            <a:r>
              <a:rPr lang="en-GB" dirty="0"/>
              <a:t>the relationship is highly statistically significant.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238A3-5BCE-312A-C503-22294C26B8F8}"/>
              </a:ext>
            </a:extLst>
          </p:cNvPr>
          <p:cNvSpPr txBox="1"/>
          <p:nvPr/>
        </p:nvSpPr>
        <p:spPr>
          <a:xfrm>
            <a:off x="5157115" y="1456291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26440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87DE-9387-5208-FA8C-271F74C0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C16C750-F1A2-8863-6A02-C93207434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3" y="1725310"/>
            <a:ext cx="5341739" cy="2602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D89449-53CB-3A0D-7EB2-ADE4835E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</a:t>
            </a:r>
            <a:endParaRPr lang="en-IL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3B688C-DACC-6BD8-C44C-2E2EBA513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130" y="4288829"/>
            <a:ext cx="5341739" cy="25409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CDC8E-58AC-62C4-2916-77A9E007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C6D92-A1D5-0EE9-DC53-1C5697EE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16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CB54B-9068-F061-4A78-BC831067A937}"/>
              </a:ext>
            </a:extLst>
          </p:cNvPr>
          <p:cNvSpPr txBox="1"/>
          <p:nvPr/>
        </p:nvSpPr>
        <p:spPr>
          <a:xfrm>
            <a:off x="5157115" y="1413045"/>
            <a:ext cx="238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Bangladesh  </a:t>
            </a:r>
            <a:r>
              <a:rPr lang="en-GB" dirty="0"/>
              <a:t>Campaign</a:t>
            </a:r>
            <a:endParaRPr lang="en-IL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C943D8-19EE-9A02-8355-CA9A9EDAD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64" y="1725310"/>
            <a:ext cx="5341739" cy="256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39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6D25-36D7-61FB-800F-D666E5C3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8062A9-4019-21A8-C181-3F826530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Indicators Comparison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D05960-A975-BAF2-22A6-3B1434A4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6E229-8963-0D55-F98F-4CC7A796E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9256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9" y="401637"/>
            <a:ext cx="6108802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Indicators Comparison</a:t>
            </a:r>
            <a:r>
              <a:rPr lang="en-US" dirty="0"/>
              <a:t>- Information Gain 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18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a statistical method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CE284-809A-A65C-BDD2-3AC44719FA4E}"/>
              </a:ext>
            </a:extLst>
          </p:cNvPr>
          <p:cNvSpPr/>
          <p:nvPr/>
        </p:nvSpPr>
        <p:spPr>
          <a:xfrm rot="8053005">
            <a:off x="2398790" y="4289898"/>
            <a:ext cx="1550640" cy="321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CB437-4137-2CDD-001F-7C3EEC1128F7}"/>
              </a:ext>
            </a:extLst>
          </p:cNvPr>
          <p:cNvSpPr txBox="1"/>
          <p:nvPr/>
        </p:nvSpPr>
        <p:spPr>
          <a:xfrm>
            <a:off x="9510668" y="1727200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85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Indicators Comparison</a:t>
            </a:r>
            <a:r>
              <a:rPr lang="en-US" dirty="0"/>
              <a:t>- SHAP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19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 on Ecuador Campaign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945292" y="2829161"/>
            <a:ext cx="844358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428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86FA-D75D-B1C5-1F7F-3DABFBB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7740-856C-1F50-2CE0-9C9EB10B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Indicators Comparison</a:t>
            </a:r>
            <a:r>
              <a:rPr lang="en-US" dirty="0"/>
              <a:t>- Box Plots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E0A4-B226-D34F-31D7-E7C7F384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20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BD76C-B5E7-A4FA-A547-8B412A84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" y="1366591"/>
            <a:ext cx="10784541" cy="48376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97FDBF-A5FC-FDF5-3FD4-894FDF6407A7}"/>
              </a:ext>
            </a:extLst>
          </p:cNvPr>
          <p:cNvSpPr txBox="1"/>
          <p:nvPr/>
        </p:nvSpPr>
        <p:spPr>
          <a:xfrm>
            <a:off x="1490383" y="6204236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box plot is a method for demonstrating graphically the distribution of numerical data across different groups.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7B0DE0-0245-FCF7-8302-426BA59A6F77}"/>
              </a:ext>
            </a:extLst>
          </p:cNvPr>
          <p:cNvSpPr/>
          <p:nvPr/>
        </p:nvSpPr>
        <p:spPr>
          <a:xfrm>
            <a:off x="664369" y="3212757"/>
            <a:ext cx="2140616" cy="14902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8D4A9-7D91-7E62-1ABD-EBAE0049AC95}"/>
              </a:ext>
            </a:extLst>
          </p:cNvPr>
          <p:cNvSpPr txBox="1"/>
          <p:nvPr/>
        </p:nvSpPr>
        <p:spPr>
          <a:xfrm>
            <a:off x="9895563" y="1357868"/>
            <a:ext cx="255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258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082C62-FC90-C2AA-1EC6-F67BC475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4A89-F787-41E8-0F6F-9DAFAD7B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Core Number </a:t>
            </a:r>
            <a:r>
              <a:rPr lang="en-US" dirty="0"/>
              <a:t>- CDF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5DB81-B2F7-9236-CF39-0248F325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21</a:t>
            </a:fld>
            <a:endParaRPr lang="he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83DCE-2B5E-8FBD-3EE3-FC0F0735819B}"/>
              </a:ext>
            </a:extLst>
          </p:cNvPr>
          <p:cNvSpPr txBox="1"/>
          <p:nvPr/>
        </p:nvSpPr>
        <p:spPr>
          <a:xfrm>
            <a:off x="1490383" y="6204236"/>
            <a:ext cx="7235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 Cumulative Distribution Function (CDF) show the probability that the variable will take a value less than or equal to a particular value in X-axis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0D400-F22C-22D5-36E1-B3314FA17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5" b="51197"/>
          <a:stretch>
            <a:fillRect/>
          </a:stretch>
        </p:blipFill>
        <p:spPr>
          <a:xfrm>
            <a:off x="1056503" y="2452816"/>
            <a:ext cx="10129491" cy="2520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AB0E1F-1A7B-E1FC-E190-FB8659D91ADA}"/>
              </a:ext>
            </a:extLst>
          </p:cNvPr>
          <p:cNvSpPr txBox="1"/>
          <p:nvPr/>
        </p:nvSpPr>
        <p:spPr>
          <a:xfrm>
            <a:off x="9906181" y="1720676"/>
            <a:ext cx="255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322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15609</TotalTime>
  <Words>809</Words>
  <Application>Microsoft Office PowerPoint</Application>
  <PresentationFormat>Widescreen</PresentationFormat>
  <Paragraphs>139</Paragraphs>
  <Slides>21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Backbone Graph</vt:lpstr>
      <vt:lpstr>Core Concepts - IO</vt:lpstr>
      <vt:lpstr>Co-Actions Graph </vt:lpstr>
      <vt:lpstr>Backbone Graph &amp; IO Indicators</vt:lpstr>
      <vt:lpstr>Core-Number</vt:lpstr>
      <vt:lpstr>Core Number - Intuition</vt:lpstr>
      <vt:lpstr>Core Number - Definition</vt:lpstr>
      <vt:lpstr>Core Number - Example</vt:lpstr>
      <vt:lpstr>Core Number - Example</vt:lpstr>
      <vt:lpstr>Core Number - Example</vt:lpstr>
      <vt:lpstr>Co-Actions Graph</vt:lpstr>
      <vt:lpstr>Core Number - Example</vt:lpstr>
      <vt:lpstr>Core Number - Example</vt:lpstr>
      <vt:lpstr>Core Number</vt:lpstr>
      <vt:lpstr>Core Number</vt:lpstr>
      <vt:lpstr>Core Number</vt:lpstr>
      <vt:lpstr>Indicators Comparison</vt:lpstr>
      <vt:lpstr>Indicators Comparison- Information Gain  </vt:lpstr>
      <vt:lpstr>Indicators Comparison- SHAP </vt:lpstr>
      <vt:lpstr>Indicators Comparison- Box Plots</vt:lpstr>
      <vt:lpstr>Core Number - CDF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544</cp:revision>
  <dcterms:created xsi:type="dcterms:W3CDTF">2021-05-04T15:24:24Z</dcterms:created>
  <dcterms:modified xsi:type="dcterms:W3CDTF">2026-05-27T07:56:04Z</dcterms:modified>
</cp:coreProperties>
</file>