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1577" r:id="rId2"/>
    <p:sldId id="1591" r:id="rId3"/>
    <p:sldId id="1649" r:id="rId4"/>
    <p:sldId id="1739" r:id="rId5"/>
    <p:sldId id="1738" r:id="rId6"/>
    <p:sldId id="1749" r:id="rId7"/>
    <p:sldId id="1757" r:id="rId8"/>
    <p:sldId id="1730" r:id="rId9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84E6CC-2EA2-4553-A6A4-DAF877036261}">
          <p14:sldIdLst>
            <p14:sldId id="1577"/>
            <p14:sldId id="1591"/>
            <p14:sldId id="1649"/>
          </p14:sldIdLst>
        </p14:section>
        <p14:section name="Core-Number" id="{2F1E73D5-870F-4091-9492-A1102BE33EA1}">
          <p14:sldIdLst>
            <p14:sldId id="1739"/>
            <p14:sldId id="1738"/>
            <p14:sldId id="1749"/>
            <p14:sldId id="1757"/>
            <p14:sldId id="173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120"/>
    <a:srgbClr val="FE0101"/>
    <a:srgbClr val="F58377"/>
    <a:srgbClr val="FF4343"/>
    <a:srgbClr val="548235"/>
    <a:srgbClr val="009DBB"/>
    <a:srgbClr val="0688BA"/>
    <a:srgbClr val="005488"/>
    <a:srgbClr val="006189"/>
    <a:srgbClr val="5D5D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E72004-61F2-4D6D-B395-3F69B2DB77B9}" v="6" dt="2026-02-22T11:40:56.8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2"/>
    <p:restoredTop sz="95033" autoAdjust="0"/>
  </p:normalViewPr>
  <p:slideViewPr>
    <p:cSldViewPr snapToGrid="0">
      <p:cViewPr varScale="1">
        <p:scale>
          <a:sx n="107" d="100"/>
          <a:sy n="107" d="100"/>
        </p:scale>
        <p:origin x="702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i Puzis (BGU)" userId="15455a32-cfa8-4f75-8502-2ebc95aecdb5" providerId="ADAL" clId="{4604D058-1A9B-4964-A759-971FC0161111}"/>
    <pc:docChg chg="custSel modSld">
      <pc:chgData name="Rami Puzis (BGU)" userId="15455a32-cfa8-4f75-8502-2ebc95aecdb5" providerId="ADAL" clId="{4604D058-1A9B-4964-A759-971FC0161111}" dt="2026-02-22T11:42:08.251" v="89" actId="20577"/>
      <pc:docMkLst>
        <pc:docMk/>
      </pc:docMkLst>
      <pc:sldChg chg="modSp mod">
        <pc:chgData name="Rami Puzis (BGU)" userId="15455a32-cfa8-4f75-8502-2ebc95aecdb5" providerId="ADAL" clId="{4604D058-1A9B-4964-A759-971FC0161111}" dt="2026-02-22T11:42:08.251" v="89" actId="20577"/>
        <pc:sldMkLst>
          <pc:docMk/>
          <pc:sldMk cId="2564283967" sldId="1581"/>
        </pc:sldMkLst>
        <pc:graphicFrameChg chg="mod modGraphic">
          <ac:chgData name="Rami Puzis (BGU)" userId="15455a32-cfa8-4f75-8502-2ebc95aecdb5" providerId="ADAL" clId="{4604D058-1A9B-4964-A759-971FC0161111}" dt="2026-02-22T11:42:08.251" v="89" actId="20577"/>
          <ac:graphicFrameMkLst>
            <pc:docMk/>
            <pc:sldMk cId="2564283967" sldId="1581"/>
            <ac:graphicFrameMk id="6" creationId="{B16D549A-CC57-1C2C-A976-5DA7CC5B8247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90C58F-1623-4B30-8E09-2CA0F33BB139}" type="doc">
      <dgm:prSet loTypeId="urn:microsoft.com/office/officeart/2005/8/layout/process4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L"/>
        </a:p>
      </dgm:t>
    </dgm:pt>
    <dgm:pt modelId="{4BC2FB94-54C5-4AA4-8613-4ABB9F2FB0D5}">
      <dgm:prSet custT="1"/>
      <dgm:spPr/>
      <dgm:t>
        <a:bodyPr/>
        <a:lstStyle/>
        <a:p>
          <a:r>
            <a:rPr lang="en-GB" sz="2400" dirty="0"/>
            <a:t>1) Co-actions graph represents author similarity.</a:t>
          </a:r>
          <a:endParaRPr lang="en-IL" sz="2400" dirty="0"/>
        </a:p>
      </dgm:t>
    </dgm:pt>
    <dgm:pt modelId="{81142ADE-1E42-4CE9-83A4-2B0D9F638559}" type="parTrans" cxnId="{BFFBDADC-868D-420E-9208-8F65BF16916D}">
      <dgm:prSet/>
      <dgm:spPr/>
      <dgm:t>
        <a:bodyPr/>
        <a:lstStyle/>
        <a:p>
          <a:endParaRPr lang="en-IL"/>
        </a:p>
      </dgm:t>
    </dgm:pt>
    <dgm:pt modelId="{1E17B9C2-D2AB-4D01-8569-00D12B23D4C7}" type="sibTrans" cxnId="{BFFBDADC-868D-420E-9208-8F65BF16916D}">
      <dgm:prSet/>
      <dgm:spPr/>
      <dgm:t>
        <a:bodyPr/>
        <a:lstStyle/>
        <a:p>
          <a:endParaRPr lang="en-IL"/>
        </a:p>
      </dgm:t>
    </dgm:pt>
    <dgm:pt modelId="{7D320D05-8BC7-49AB-93E1-F512A65ADBB4}">
      <dgm:prSet custT="1"/>
      <dgm:spPr/>
      <dgm:t>
        <a:bodyPr/>
        <a:lstStyle/>
        <a:p>
          <a:r>
            <a:rPr lang="en-GB" sz="2400" kern="1200" dirty="0"/>
            <a:t>2) IO drivers tend to be embedded in dense communities.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gm:t>
    </dgm:pt>
    <dgm:pt modelId="{76729AB0-F7FB-43B8-8268-2879B72FF758}" type="parTrans" cxnId="{D6404C00-BB8F-47F6-A3E0-E9AE5168B69E}">
      <dgm:prSet/>
      <dgm:spPr/>
      <dgm:t>
        <a:bodyPr/>
        <a:lstStyle/>
        <a:p>
          <a:endParaRPr lang="en-IL"/>
        </a:p>
      </dgm:t>
    </dgm:pt>
    <dgm:pt modelId="{7A6195CC-C5B6-499B-8C5A-C59F05E11EE6}" type="sibTrans" cxnId="{D6404C00-BB8F-47F6-A3E0-E9AE5168B69E}">
      <dgm:prSet/>
      <dgm:spPr/>
      <dgm:t>
        <a:bodyPr/>
        <a:lstStyle/>
        <a:p>
          <a:endParaRPr lang="en-IL"/>
        </a:p>
      </dgm:t>
    </dgm:pt>
    <dgm:pt modelId="{A7B258C5-DA38-4321-BB19-D9CB5619264C}">
      <dgm:prSet custT="1"/>
      <dgm:spPr/>
      <dgm:t>
        <a:bodyPr/>
        <a:lstStyle/>
        <a:p>
          <a:r>
            <a:rPr lang="en-GB" sz="2400" dirty="0"/>
            <a:t>3) Graph-based indicators are used to measure     author’s embeddedness.</a:t>
          </a:r>
          <a:endParaRPr lang="en-IL" sz="2400" dirty="0"/>
        </a:p>
      </dgm:t>
    </dgm:pt>
    <dgm:pt modelId="{203A4A45-D67F-4111-8115-F39D8B161CDD}" type="parTrans" cxnId="{601BA4A4-5D6C-40ED-8F48-667E9AF2836A}">
      <dgm:prSet/>
      <dgm:spPr/>
      <dgm:t>
        <a:bodyPr/>
        <a:lstStyle/>
        <a:p>
          <a:endParaRPr lang="en-IL"/>
        </a:p>
      </dgm:t>
    </dgm:pt>
    <dgm:pt modelId="{CFB66835-E5CB-4D8A-B6C8-1B3B8DF01259}" type="sibTrans" cxnId="{601BA4A4-5D6C-40ED-8F48-667E9AF2836A}">
      <dgm:prSet/>
      <dgm:spPr/>
      <dgm:t>
        <a:bodyPr/>
        <a:lstStyle/>
        <a:p>
          <a:endParaRPr lang="en-IL"/>
        </a:p>
      </dgm:t>
    </dgm:pt>
    <dgm:pt modelId="{5D7624BE-F238-4C3B-897B-9536540A45EC}">
      <dgm:prSet custT="1"/>
      <dgm:spPr/>
      <dgm:t>
        <a:bodyPr/>
        <a:lstStyle/>
        <a:p>
          <a:r>
            <a:rPr lang="en-GB" sz="2400" kern="1200" dirty="0">
              <a:latin typeface="Calibri" panose="020F0502020204030204"/>
              <a:ea typeface="+mn-ea"/>
              <a:cs typeface="+mn-cs"/>
            </a:rPr>
            <a:t>4) Each user is represented by a feature vector.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gm:t>
    </dgm:pt>
    <dgm:pt modelId="{DE3ECAEC-D217-4ACD-8F26-7D253DBBBB46}" type="parTrans" cxnId="{D548CB56-4B7F-4832-B855-6F1B2D31D122}">
      <dgm:prSet/>
      <dgm:spPr/>
      <dgm:t>
        <a:bodyPr/>
        <a:lstStyle/>
        <a:p>
          <a:endParaRPr lang="en-IL"/>
        </a:p>
      </dgm:t>
    </dgm:pt>
    <dgm:pt modelId="{312170D2-ED7B-4054-82B8-1D60C8F68B7F}" type="sibTrans" cxnId="{D548CB56-4B7F-4832-B855-6F1B2D31D122}">
      <dgm:prSet/>
      <dgm:spPr/>
      <dgm:t>
        <a:bodyPr/>
        <a:lstStyle/>
        <a:p>
          <a:endParaRPr lang="en-IL"/>
        </a:p>
      </dgm:t>
    </dgm:pt>
    <dgm:pt modelId="{F5835A2A-6EED-4CF0-AD6D-9C43F08E8106}">
      <dgm:prSet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5) The feature vectors are used to determine if               an author is an IO driver.</a:t>
          </a:r>
          <a:endParaRPr lang="en-IL" sz="2400" b="1" kern="1200" dirty="0">
            <a:solidFill>
              <a:prstClr val="black"/>
            </a:solidFill>
            <a:latin typeface="Calibri" panose="020F0502020204030204"/>
            <a:ea typeface="+mn-ea"/>
            <a:cs typeface="+mn-cs"/>
          </a:endParaRPr>
        </a:p>
      </dgm:t>
    </dgm:pt>
    <dgm:pt modelId="{3B3A9903-4669-470D-9A03-4D8FCA8E328C}" type="parTrans" cxnId="{02F270AA-4ABA-474A-B88D-AF4118A95DC5}">
      <dgm:prSet/>
      <dgm:spPr/>
      <dgm:t>
        <a:bodyPr/>
        <a:lstStyle/>
        <a:p>
          <a:endParaRPr lang="en-IL"/>
        </a:p>
      </dgm:t>
    </dgm:pt>
    <dgm:pt modelId="{687F42B4-C2AD-4C27-B6FA-0BF9E906535E}" type="sibTrans" cxnId="{02F270AA-4ABA-474A-B88D-AF4118A95DC5}">
      <dgm:prSet/>
      <dgm:spPr/>
      <dgm:t>
        <a:bodyPr/>
        <a:lstStyle/>
        <a:p>
          <a:endParaRPr lang="en-IL"/>
        </a:p>
      </dgm:t>
    </dgm:pt>
    <dgm:pt modelId="{E3D2F466-9D2B-489B-8FD7-00A269198811}" type="pres">
      <dgm:prSet presAssocID="{4790C58F-1623-4B30-8E09-2CA0F33BB139}" presName="Name0" presStyleCnt="0">
        <dgm:presLayoutVars>
          <dgm:dir/>
          <dgm:animLvl val="lvl"/>
          <dgm:resizeHandles val="exact"/>
        </dgm:presLayoutVars>
      </dgm:prSet>
      <dgm:spPr/>
    </dgm:pt>
    <dgm:pt modelId="{088EA719-2472-4684-87F4-629B6808F521}" type="pres">
      <dgm:prSet presAssocID="{F5835A2A-6EED-4CF0-AD6D-9C43F08E8106}" presName="boxAndChildren" presStyleCnt="0"/>
      <dgm:spPr/>
    </dgm:pt>
    <dgm:pt modelId="{BF4415FE-1BEA-4AAF-8504-EF442423F26C}" type="pres">
      <dgm:prSet presAssocID="{F5835A2A-6EED-4CF0-AD6D-9C43F08E8106}" presName="parentTextBox" presStyleLbl="node1" presStyleIdx="0" presStyleCnt="5" custLinFactNeighborX="-4106"/>
      <dgm:spPr/>
    </dgm:pt>
    <dgm:pt modelId="{089D2F7B-F14C-4A92-BB3A-DAA08CAE5848}" type="pres">
      <dgm:prSet presAssocID="{312170D2-ED7B-4054-82B8-1D60C8F68B7F}" presName="sp" presStyleCnt="0"/>
      <dgm:spPr/>
    </dgm:pt>
    <dgm:pt modelId="{F9478C95-2D8F-4B5D-9198-EA05C72041D6}" type="pres">
      <dgm:prSet presAssocID="{5D7624BE-F238-4C3B-897B-9536540A45EC}" presName="arrowAndChildren" presStyleCnt="0"/>
      <dgm:spPr/>
    </dgm:pt>
    <dgm:pt modelId="{6679C54E-D9B3-42D4-8579-0F059BE402E7}" type="pres">
      <dgm:prSet presAssocID="{5D7624BE-F238-4C3B-897B-9536540A45EC}" presName="parentTextArrow" presStyleLbl="node1" presStyleIdx="1" presStyleCnt="5"/>
      <dgm:spPr/>
    </dgm:pt>
    <dgm:pt modelId="{9EEDCD11-2912-410C-BF8F-FB8C0E08B1DE}" type="pres">
      <dgm:prSet presAssocID="{CFB66835-E5CB-4D8A-B6C8-1B3B8DF01259}" presName="sp" presStyleCnt="0"/>
      <dgm:spPr/>
    </dgm:pt>
    <dgm:pt modelId="{67F4FDC1-DDD2-4281-BAE2-FB77EAC45D98}" type="pres">
      <dgm:prSet presAssocID="{A7B258C5-DA38-4321-BB19-D9CB5619264C}" presName="arrowAndChildren" presStyleCnt="0"/>
      <dgm:spPr/>
    </dgm:pt>
    <dgm:pt modelId="{1286EBB1-156A-4900-80F5-B7DA82846AFD}" type="pres">
      <dgm:prSet presAssocID="{A7B258C5-DA38-4321-BB19-D9CB5619264C}" presName="parentTextArrow" presStyleLbl="node1" presStyleIdx="2" presStyleCnt="5"/>
      <dgm:spPr/>
    </dgm:pt>
    <dgm:pt modelId="{E5FC2BC1-7FA9-42C4-A969-06EE33CAE6B9}" type="pres">
      <dgm:prSet presAssocID="{7A6195CC-C5B6-499B-8C5A-C59F05E11EE6}" presName="sp" presStyleCnt="0"/>
      <dgm:spPr/>
    </dgm:pt>
    <dgm:pt modelId="{1B190E91-BA0B-443D-8EBB-2D0FBA24695A}" type="pres">
      <dgm:prSet presAssocID="{7D320D05-8BC7-49AB-93E1-F512A65ADBB4}" presName="arrowAndChildren" presStyleCnt="0"/>
      <dgm:spPr/>
    </dgm:pt>
    <dgm:pt modelId="{EC9EF89E-2EC9-4197-83CE-6F0E9635859A}" type="pres">
      <dgm:prSet presAssocID="{7D320D05-8BC7-49AB-93E1-F512A65ADBB4}" presName="parentTextArrow" presStyleLbl="node1" presStyleIdx="3" presStyleCnt="5"/>
      <dgm:spPr/>
    </dgm:pt>
    <dgm:pt modelId="{5FA7D69C-ADC5-4D3E-A63E-3177E18C39D9}" type="pres">
      <dgm:prSet presAssocID="{1E17B9C2-D2AB-4D01-8569-00D12B23D4C7}" presName="sp" presStyleCnt="0"/>
      <dgm:spPr/>
    </dgm:pt>
    <dgm:pt modelId="{9C5F784D-3A5B-40B8-BC6E-96C4885D6DD5}" type="pres">
      <dgm:prSet presAssocID="{4BC2FB94-54C5-4AA4-8613-4ABB9F2FB0D5}" presName="arrowAndChildren" presStyleCnt="0"/>
      <dgm:spPr/>
    </dgm:pt>
    <dgm:pt modelId="{449265AB-55D8-4494-95A0-FB133CF562A6}" type="pres">
      <dgm:prSet presAssocID="{4BC2FB94-54C5-4AA4-8613-4ABB9F2FB0D5}" presName="parentTextArrow" presStyleLbl="node1" presStyleIdx="4" presStyleCnt="5"/>
      <dgm:spPr/>
    </dgm:pt>
  </dgm:ptLst>
  <dgm:cxnLst>
    <dgm:cxn modelId="{D6404C00-BB8F-47F6-A3E0-E9AE5168B69E}" srcId="{4790C58F-1623-4B30-8E09-2CA0F33BB139}" destId="{7D320D05-8BC7-49AB-93E1-F512A65ADBB4}" srcOrd="1" destOrd="0" parTransId="{76729AB0-F7FB-43B8-8268-2879B72FF758}" sibTransId="{7A6195CC-C5B6-499B-8C5A-C59F05E11EE6}"/>
    <dgm:cxn modelId="{DC654E60-F4C9-4839-B9F7-FF7CD85FC243}" type="presOf" srcId="{4790C58F-1623-4B30-8E09-2CA0F33BB139}" destId="{E3D2F466-9D2B-489B-8FD7-00A269198811}" srcOrd="0" destOrd="0" presId="urn:microsoft.com/office/officeart/2005/8/layout/process4"/>
    <dgm:cxn modelId="{9CD98B73-AB6F-4E84-90D8-47F6FFBAC76D}" type="presOf" srcId="{F5835A2A-6EED-4CF0-AD6D-9C43F08E8106}" destId="{BF4415FE-1BEA-4AAF-8504-EF442423F26C}" srcOrd="0" destOrd="0" presId="urn:microsoft.com/office/officeart/2005/8/layout/process4"/>
    <dgm:cxn modelId="{BA2A9C55-DAE0-4FAA-B51F-3227B1490E8B}" type="presOf" srcId="{4BC2FB94-54C5-4AA4-8613-4ABB9F2FB0D5}" destId="{449265AB-55D8-4494-95A0-FB133CF562A6}" srcOrd="0" destOrd="0" presId="urn:microsoft.com/office/officeart/2005/8/layout/process4"/>
    <dgm:cxn modelId="{D548CB56-4B7F-4832-B855-6F1B2D31D122}" srcId="{4790C58F-1623-4B30-8E09-2CA0F33BB139}" destId="{5D7624BE-F238-4C3B-897B-9536540A45EC}" srcOrd="3" destOrd="0" parTransId="{DE3ECAEC-D217-4ACD-8F26-7D253DBBBB46}" sibTransId="{312170D2-ED7B-4054-82B8-1D60C8F68B7F}"/>
    <dgm:cxn modelId="{E5EFFFA0-A070-4C0A-9F9B-56FFA56576C5}" type="presOf" srcId="{5D7624BE-F238-4C3B-897B-9536540A45EC}" destId="{6679C54E-D9B3-42D4-8579-0F059BE402E7}" srcOrd="0" destOrd="0" presId="urn:microsoft.com/office/officeart/2005/8/layout/process4"/>
    <dgm:cxn modelId="{601BA4A4-5D6C-40ED-8F48-667E9AF2836A}" srcId="{4790C58F-1623-4B30-8E09-2CA0F33BB139}" destId="{A7B258C5-DA38-4321-BB19-D9CB5619264C}" srcOrd="2" destOrd="0" parTransId="{203A4A45-D67F-4111-8115-F39D8B161CDD}" sibTransId="{CFB66835-E5CB-4D8A-B6C8-1B3B8DF01259}"/>
    <dgm:cxn modelId="{02F270AA-4ABA-474A-B88D-AF4118A95DC5}" srcId="{4790C58F-1623-4B30-8E09-2CA0F33BB139}" destId="{F5835A2A-6EED-4CF0-AD6D-9C43F08E8106}" srcOrd="4" destOrd="0" parTransId="{3B3A9903-4669-470D-9A03-4D8FCA8E328C}" sibTransId="{687F42B4-C2AD-4C27-B6FA-0BF9E906535E}"/>
    <dgm:cxn modelId="{262235C1-EFC5-4940-8DEA-0CA0F4B91211}" type="presOf" srcId="{A7B258C5-DA38-4321-BB19-D9CB5619264C}" destId="{1286EBB1-156A-4900-80F5-B7DA82846AFD}" srcOrd="0" destOrd="0" presId="urn:microsoft.com/office/officeart/2005/8/layout/process4"/>
    <dgm:cxn modelId="{481E6ECA-7582-476F-9F6F-F6D456E97373}" type="presOf" srcId="{7D320D05-8BC7-49AB-93E1-F512A65ADBB4}" destId="{EC9EF89E-2EC9-4197-83CE-6F0E9635859A}" srcOrd="0" destOrd="0" presId="urn:microsoft.com/office/officeart/2005/8/layout/process4"/>
    <dgm:cxn modelId="{BFFBDADC-868D-420E-9208-8F65BF16916D}" srcId="{4790C58F-1623-4B30-8E09-2CA0F33BB139}" destId="{4BC2FB94-54C5-4AA4-8613-4ABB9F2FB0D5}" srcOrd="0" destOrd="0" parTransId="{81142ADE-1E42-4CE9-83A4-2B0D9F638559}" sibTransId="{1E17B9C2-D2AB-4D01-8569-00D12B23D4C7}"/>
    <dgm:cxn modelId="{5C85148E-5CCC-4A95-8B36-C6A100D3BF1C}" type="presParOf" srcId="{E3D2F466-9D2B-489B-8FD7-00A269198811}" destId="{088EA719-2472-4684-87F4-629B6808F521}" srcOrd="0" destOrd="0" presId="urn:microsoft.com/office/officeart/2005/8/layout/process4"/>
    <dgm:cxn modelId="{0BC62B70-DEC5-4EC3-899B-9B33A2D8EEC6}" type="presParOf" srcId="{088EA719-2472-4684-87F4-629B6808F521}" destId="{BF4415FE-1BEA-4AAF-8504-EF442423F26C}" srcOrd="0" destOrd="0" presId="urn:microsoft.com/office/officeart/2005/8/layout/process4"/>
    <dgm:cxn modelId="{FC75D633-9762-46D5-A2F4-24F65D3B523D}" type="presParOf" srcId="{E3D2F466-9D2B-489B-8FD7-00A269198811}" destId="{089D2F7B-F14C-4A92-BB3A-DAA08CAE5848}" srcOrd="1" destOrd="0" presId="urn:microsoft.com/office/officeart/2005/8/layout/process4"/>
    <dgm:cxn modelId="{B93D662E-CE66-4059-BF0F-FCC54DD7B492}" type="presParOf" srcId="{E3D2F466-9D2B-489B-8FD7-00A269198811}" destId="{F9478C95-2D8F-4B5D-9198-EA05C72041D6}" srcOrd="2" destOrd="0" presId="urn:microsoft.com/office/officeart/2005/8/layout/process4"/>
    <dgm:cxn modelId="{E713E305-CD0A-4951-AF0B-3CD82D972D3C}" type="presParOf" srcId="{F9478C95-2D8F-4B5D-9198-EA05C72041D6}" destId="{6679C54E-D9B3-42D4-8579-0F059BE402E7}" srcOrd="0" destOrd="0" presId="urn:microsoft.com/office/officeart/2005/8/layout/process4"/>
    <dgm:cxn modelId="{9723B319-800F-4F9F-A081-17EE5046C0DD}" type="presParOf" srcId="{E3D2F466-9D2B-489B-8FD7-00A269198811}" destId="{9EEDCD11-2912-410C-BF8F-FB8C0E08B1DE}" srcOrd="3" destOrd="0" presId="urn:microsoft.com/office/officeart/2005/8/layout/process4"/>
    <dgm:cxn modelId="{2B5BF700-293F-431D-8048-AF1D14C5AC67}" type="presParOf" srcId="{E3D2F466-9D2B-489B-8FD7-00A269198811}" destId="{67F4FDC1-DDD2-4281-BAE2-FB77EAC45D98}" srcOrd="4" destOrd="0" presId="urn:microsoft.com/office/officeart/2005/8/layout/process4"/>
    <dgm:cxn modelId="{2729B8A6-53C7-460C-A50D-21285C79B0E2}" type="presParOf" srcId="{67F4FDC1-DDD2-4281-BAE2-FB77EAC45D98}" destId="{1286EBB1-156A-4900-80F5-B7DA82846AFD}" srcOrd="0" destOrd="0" presId="urn:microsoft.com/office/officeart/2005/8/layout/process4"/>
    <dgm:cxn modelId="{ABFF2785-B058-4AEA-AB3B-5018FCF77D1E}" type="presParOf" srcId="{E3D2F466-9D2B-489B-8FD7-00A269198811}" destId="{E5FC2BC1-7FA9-42C4-A969-06EE33CAE6B9}" srcOrd="5" destOrd="0" presId="urn:microsoft.com/office/officeart/2005/8/layout/process4"/>
    <dgm:cxn modelId="{12C57EE2-AB40-41F5-A1B2-289C3675A96F}" type="presParOf" srcId="{E3D2F466-9D2B-489B-8FD7-00A269198811}" destId="{1B190E91-BA0B-443D-8EBB-2D0FBA24695A}" srcOrd="6" destOrd="0" presId="urn:microsoft.com/office/officeart/2005/8/layout/process4"/>
    <dgm:cxn modelId="{05E3B187-F9C8-4F12-B9FB-6721722B836C}" type="presParOf" srcId="{1B190E91-BA0B-443D-8EBB-2D0FBA24695A}" destId="{EC9EF89E-2EC9-4197-83CE-6F0E9635859A}" srcOrd="0" destOrd="0" presId="urn:microsoft.com/office/officeart/2005/8/layout/process4"/>
    <dgm:cxn modelId="{A17624A7-2852-43C6-9EE1-61852C7708A8}" type="presParOf" srcId="{E3D2F466-9D2B-489B-8FD7-00A269198811}" destId="{5FA7D69C-ADC5-4D3E-A63E-3177E18C39D9}" srcOrd="7" destOrd="0" presId="urn:microsoft.com/office/officeart/2005/8/layout/process4"/>
    <dgm:cxn modelId="{79ED58EA-1F48-4978-ACA1-C59BFFD3E494}" type="presParOf" srcId="{E3D2F466-9D2B-489B-8FD7-00A269198811}" destId="{9C5F784D-3A5B-40B8-BC6E-96C4885D6DD5}" srcOrd="8" destOrd="0" presId="urn:microsoft.com/office/officeart/2005/8/layout/process4"/>
    <dgm:cxn modelId="{283B2D46-AE72-4B9F-A2F5-B9632C0247FA}" type="presParOf" srcId="{9C5F784D-3A5B-40B8-BC6E-96C4885D6DD5}" destId="{449265AB-55D8-4494-95A0-FB133CF562A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AFC2CC-272E-41C7-BFE3-402C8025BCAD}" type="doc">
      <dgm:prSet loTypeId="urn:microsoft.com/office/officeart/2005/8/layout/process4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L"/>
        </a:p>
      </dgm:t>
    </dgm:pt>
    <dgm:pt modelId="{E1DB4969-C241-47FC-B362-D33B7566A7C1}">
      <dgm:prSet/>
      <dgm:spPr/>
      <dgm:t>
        <a:bodyPr/>
        <a:lstStyle/>
        <a:p>
          <a:r>
            <a:rPr lang="en-GB" dirty="0"/>
            <a:t>Node belongs to tightly connected group.</a:t>
          </a:r>
        </a:p>
      </dgm:t>
    </dgm:pt>
    <dgm:pt modelId="{33E3E7A2-0F5B-4428-AAA6-F11ED572BD3A}" type="parTrans" cxnId="{B587AE82-CBB6-43F0-8D75-88AF70AAB86E}">
      <dgm:prSet/>
      <dgm:spPr/>
      <dgm:t>
        <a:bodyPr/>
        <a:lstStyle/>
        <a:p>
          <a:endParaRPr lang="en-IL"/>
        </a:p>
      </dgm:t>
    </dgm:pt>
    <dgm:pt modelId="{EDDA025F-C4A6-4E68-A864-31D80BB865E6}" type="sibTrans" cxnId="{B587AE82-CBB6-43F0-8D75-88AF70AAB86E}">
      <dgm:prSet/>
      <dgm:spPr/>
      <dgm:t>
        <a:bodyPr/>
        <a:lstStyle/>
        <a:p>
          <a:endParaRPr lang="en-IL"/>
        </a:p>
      </dgm:t>
    </dgm:pt>
    <dgm:pt modelId="{1B5A5607-E945-4BE9-814D-B0EF59B1C430}">
      <dgm:prSet/>
      <dgm:spPr/>
      <dgm:t>
        <a:bodyPr/>
        <a:lstStyle/>
        <a:p>
          <a:r>
            <a:rPr lang="en-GB" dirty="0"/>
            <a:t>The node/author is suspected to be an IO drive.</a:t>
          </a:r>
          <a:endParaRPr lang="en-IL" dirty="0"/>
        </a:p>
      </dgm:t>
    </dgm:pt>
    <dgm:pt modelId="{DB69DBA9-156D-4A15-9B2E-C28CADCBDCB3}" type="parTrans" cxnId="{AF219688-CE54-47B6-B599-F97074769732}">
      <dgm:prSet/>
      <dgm:spPr/>
      <dgm:t>
        <a:bodyPr/>
        <a:lstStyle/>
        <a:p>
          <a:endParaRPr lang="en-IL"/>
        </a:p>
      </dgm:t>
    </dgm:pt>
    <dgm:pt modelId="{A67FF2E3-02ED-4648-A2B6-DC4F7E2CC307}" type="sibTrans" cxnId="{AF219688-CE54-47B6-B599-F97074769732}">
      <dgm:prSet/>
      <dgm:spPr/>
      <dgm:t>
        <a:bodyPr/>
        <a:lstStyle/>
        <a:p>
          <a:endParaRPr lang="en-IL"/>
        </a:p>
      </dgm:t>
    </dgm:pt>
    <dgm:pt modelId="{1D3C4817-7970-4B83-AF07-61B7E50C9996}">
      <dgm:prSet/>
      <dgm:spPr/>
      <dgm:t>
        <a:bodyPr/>
        <a:lstStyle/>
        <a:p>
          <a:r>
            <a:rPr lang="en-GB" dirty="0"/>
            <a:t>Node has higher core-number.</a:t>
          </a:r>
          <a:endParaRPr lang="en-IL" dirty="0"/>
        </a:p>
      </dgm:t>
    </dgm:pt>
    <dgm:pt modelId="{3EA88241-E0A1-43FA-B7B7-F715EBE467EC}" type="parTrans" cxnId="{6587C595-A3F4-4EB8-97BB-102DD6B18937}">
      <dgm:prSet/>
      <dgm:spPr/>
      <dgm:t>
        <a:bodyPr/>
        <a:lstStyle/>
        <a:p>
          <a:endParaRPr lang="en-IL"/>
        </a:p>
      </dgm:t>
    </dgm:pt>
    <dgm:pt modelId="{73DEDEEA-F614-422F-A1FA-F2DA54935A22}" type="sibTrans" cxnId="{6587C595-A3F4-4EB8-97BB-102DD6B18937}">
      <dgm:prSet/>
      <dgm:spPr/>
      <dgm:t>
        <a:bodyPr/>
        <a:lstStyle/>
        <a:p>
          <a:endParaRPr lang="en-IL"/>
        </a:p>
      </dgm:t>
    </dgm:pt>
    <dgm:pt modelId="{2BD634B8-DA83-49F5-9D02-0914F5E00507}" type="pres">
      <dgm:prSet presAssocID="{48AFC2CC-272E-41C7-BFE3-402C8025BCAD}" presName="Name0" presStyleCnt="0">
        <dgm:presLayoutVars>
          <dgm:dir/>
          <dgm:animLvl val="lvl"/>
          <dgm:resizeHandles val="exact"/>
        </dgm:presLayoutVars>
      </dgm:prSet>
      <dgm:spPr/>
    </dgm:pt>
    <dgm:pt modelId="{03B30CF2-AE31-4DED-84D9-3487159AD3E3}" type="pres">
      <dgm:prSet presAssocID="{1B5A5607-E945-4BE9-814D-B0EF59B1C430}" presName="boxAndChildren" presStyleCnt="0"/>
      <dgm:spPr/>
    </dgm:pt>
    <dgm:pt modelId="{75B552A5-6396-4106-9A4A-445AED3E3CC6}" type="pres">
      <dgm:prSet presAssocID="{1B5A5607-E945-4BE9-814D-B0EF59B1C430}" presName="parentTextBox" presStyleLbl="node1" presStyleIdx="0" presStyleCnt="3"/>
      <dgm:spPr/>
    </dgm:pt>
    <dgm:pt modelId="{F70F5C23-80D2-4CDF-B637-5C57A37CD123}" type="pres">
      <dgm:prSet presAssocID="{73DEDEEA-F614-422F-A1FA-F2DA54935A22}" presName="sp" presStyleCnt="0"/>
      <dgm:spPr/>
    </dgm:pt>
    <dgm:pt modelId="{CD00B53B-13EB-400D-88F7-193FA1084681}" type="pres">
      <dgm:prSet presAssocID="{1D3C4817-7970-4B83-AF07-61B7E50C9996}" presName="arrowAndChildren" presStyleCnt="0"/>
      <dgm:spPr/>
    </dgm:pt>
    <dgm:pt modelId="{3D88F0F6-5629-4C7E-A8D9-55126A1A5A1D}" type="pres">
      <dgm:prSet presAssocID="{1D3C4817-7970-4B83-AF07-61B7E50C9996}" presName="parentTextArrow" presStyleLbl="node1" presStyleIdx="1" presStyleCnt="3"/>
      <dgm:spPr/>
    </dgm:pt>
    <dgm:pt modelId="{ACD862B6-D655-498A-8FA6-1987A91783C3}" type="pres">
      <dgm:prSet presAssocID="{EDDA025F-C4A6-4E68-A864-31D80BB865E6}" presName="sp" presStyleCnt="0"/>
      <dgm:spPr/>
    </dgm:pt>
    <dgm:pt modelId="{2F84B48E-D500-42B4-9D8F-F46FB2AC86EF}" type="pres">
      <dgm:prSet presAssocID="{E1DB4969-C241-47FC-B362-D33B7566A7C1}" presName="arrowAndChildren" presStyleCnt="0"/>
      <dgm:spPr/>
    </dgm:pt>
    <dgm:pt modelId="{5E247E41-6DA2-446C-849F-383AA9AB749B}" type="pres">
      <dgm:prSet presAssocID="{E1DB4969-C241-47FC-B362-D33B7566A7C1}" presName="parentTextArrow" presStyleLbl="node1" presStyleIdx="2" presStyleCnt="3"/>
      <dgm:spPr/>
    </dgm:pt>
  </dgm:ptLst>
  <dgm:cxnLst>
    <dgm:cxn modelId="{D01A194B-4902-4AEB-984F-89B74A0CA810}" type="presOf" srcId="{1D3C4817-7970-4B83-AF07-61B7E50C9996}" destId="{3D88F0F6-5629-4C7E-A8D9-55126A1A5A1D}" srcOrd="0" destOrd="0" presId="urn:microsoft.com/office/officeart/2005/8/layout/process4"/>
    <dgm:cxn modelId="{06589951-9DEE-4002-8EB3-2A6687FE8434}" type="presOf" srcId="{E1DB4969-C241-47FC-B362-D33B7566A7C1}" destId="{5E247E41-6DA2-446C-849F-383AA9AB749B}" srcOrd="0" destOrd="0" presId="urn:microsoft.com/office/officeart/2005/8/layout/process4"/>
    <dgm:cxn modelId="{B587AE82-CBB6-43F0-8D75-88AF70AAB86E}" srcId="{48AFC2CC-272E-41C7-BFE3-402C8025BCAD}" destId="{E1DB4969-C241-47FC-B362-D33B7566A7C1}" srcOrd="0" destOrd="0" parTransId="{33E3E7A2-0F5B-4428-AAA6-F11ED572BD3A}" sibTransId="{EDDA025F-C4A6-4E68-A864-31D80BB865E6}"/>
    <dgm:cxn modelId="{AF219688-CE54-47B6-B599-F97074769732}" srcId="{48AFC2CC-272E-41C7-BFE3-402C8025BCAD}" destId="{1B5A5607-E945-4BE9-814D-B0EF59B1C430}" srcOrd="2" destOrd="0" parTransId="{DB69DBA9-156D-4A15-9B2E-C28CADCBDCB3}" sibTransId="{A67FF2E3-02ED-4648-A2B6-DC4F7E2CC307}"/>
    <dgm:cxn modelId="{6587C595-A3F4-4EB8-97BB-102DD6B18937}" srcId="{48AFC2CC-272E-41C7-BFE3-402C8025BCAD}" destId="{1D3C4817-7970-4B83-AF07-61B7E50C9996}" srcOrd="1" destOrd="0" parTransId="{3EA88241-E0A1-43FA-B7B7-F715EBE467EC}" sibTransId="{73DEDEEA-F614-422F-A1FA-F2DA54935A22}"/>
    <dgm:cxn modelId="{2EDE7EBC-03E1-4B2B-9628-91C115BBE909}" type="presOf" srcId="{48AFC2CC-272E-41C7-BFE3-402C8025BCAD}" destId="{2BD634B8-DA83-49F5-9D02-0914F5E00507}" srcOrd="0" destOrd="0" presId="urn:microsoft.com/office/officeart/2005/8/layout/process4"/>
    <dgm:cxn modelId="{D6D2B3FA-1ED9-49B5-B8F0-0D4F5075905A}" type="presOf" srcId="{1B5A5607-E945-4BE9-814D-B0EF59B1C430}" destId="{75B552A5-6396-4106-9A4A-445AED3E3CC6}" srcOrd="0" destOrd="0" presId="urn:microsoft.com/office/officeart/2005/8/layout/process4"/>
    <dgm:cxn modelId="{524811A3-ED31-4575-8340-647BFFE9B39F}" type="presParOf" srcId="{2BD634B8-DA83-49F5-9D02-0914F5E00507}" destId="{03B30CF2-AE31-4DED-84D9-3487159AD3E3}" srcOrd="0" destOrd="0" presId="urn:microsoft.com/office/officeart/2005/8/layout/process4"/>
    <dgm:cxn modelId="{0E485E5A-0BFB-44E3-91C8-C99EE7848A6A}" type="presParOf" srcId="{03B30CF2-AE31-4DED-84D9-3487159AD3E3}" destId="{75B552A5-6396-4106-9A4A-445AED3E3CC6}" srcOrd="0" destOrd="0" presId="urn:microsoft.com/office/officeart/2005/8/layout/process4"/>
    <dgm:cxn modelId="{4DD398C9-EA8F-4A43-88D9-5ECF6461BDF5}" type="presParOf" srcId="{2BD634B8-DA83-49F5-9D02-0914F5E00507}" destId="{F70F5C23-80D2-4CDF-B637-5C57A37CD123}" srcOrd="1" destOrd="0" presId="urn:microsoft.com/office/officeart/2005/8/layout/process4"/>
    <dgm:cxn modelId="{896EA0C7-4528-4DF7-9D51-8C03109F497C}" type="presParOf" srcId="{2BD634B8-DA83-49F5-9D02-0914F5E00507}" destId="{CD00B53B-13EB-400D-88F7-193FA1084681}" srcOrd="2" destOrd="0" presId="urn:microsoft.com/office/officeart/2005/8/layout/process4"/>
    <dgm:cxn modelId="{60B6883C-5FE5-4D3F-AEA7-F4621454E926}" type="presParOf" srcId="{CD00B53B-13EB-400D-88F7-193FA1084681}" destId="{3D88F0F6-5629-4C7E-A8D9-55126A1A5A1D}" srcOrd="0" destOrd="0" presId="urn:microsoft.com/office/officeart/2005/8/layout/process4"/>
    <dgm:cxn modelId="{C181981F-2F4E-4A88-8C42-009A0D018EC4}" type="presParOf" srcId="{2BD634B8-DA83-49F5-9D02-0914F5E00507}" destId="{ACD862B6-D655-498A-8FA6-1987A91783C3}" srcOrd="3" destOrd="0" presId="urn:microsoft.com/office/officeart/2005/8/layout/process4"/>
    <dgm:cxn modelId="{E7C5AD75-B35D-43EE-B5B9-33458A1E0BE1}" type="presParOf" srcId="{2BD634B8-DA83-49F5-9D02-0914F5E00507}" destId="{2F84B48E-D500-42B4-9D8F-F46FB2AC86EF}" srcOrd="4" destOrd="0" presId="urn:microsoft.com/office/officeart/2005/8/layout/process4"/>
    <dgm:cxn modelId="{A3A7EADA-DAB5-45EA-8BA4-34F5EEC1AE81}" type="presParOf" srcId="{2F84B48E-D500-42B4-9D8F-F46FB2AC86EF}" destId="{5E247E41-6DA2-446C-849F-383AA9AB749B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415FE-1BEA-4AAF-8504-EF442423F26C}">
      <dsp:nvSpPr>
        <dsp:cNvPr id="0" name=""/>
        <dsp:cNvSpPr/>
      </dsp:nvSpPr>
      <dsp:spPr>
        <a:xfrm>
          <a:off x="0" y="4404986"/>
          <a:ext cx="7072620" cy="7226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5) The feature vectors are used to determine if               an author is an IO driver.</a:t>
          </a:r>
          <a:endParaRPr lang="en-IL" sz="2400" b="1" kern="1200" dirty="0">
            <a:solidFill>
              <a:prstClr val="black"/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4404986"/>
        <a:ext cx="7072620" cy="722674"/>
      </dsp:txXfrm>
    </dsp:sp>
    <dsp:sp modelId="{6679C54E-D9B3-42D4-8579-0F059BE402E7}">
      <dsp:nvSpPr>
        <dsp:cNvPr id="0" name=""/>
        <dsp:cNvSpPr/>
      </dsp:nvSpPr>
      <dsp:spPr>
        <a:xfrm rot="10800000">
          <a:off x="0" y="3304353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Calibri" panose="020F0502020204030204"/>
              <a:ea typeface="+mn-ea"/>
              <a:cs typeface="+mn-cs"/>
            </a:rPr>
            <a:t>4) Each user is represented by a feature vector.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sp:txBody>
      <dsp:txXfrm rot="10800000">
        <a:off x="0" y="3304353"/>
        <a:ext cx="7072620" cy="722202"/>
      </dsp:txXfrm>
    </dsp:sp>
    <dsp:sp modelId="{1286EBB1-156A-4900-80F5-B7DA82846AFD}">
      <dsp:nvSpPr>
        <dsp:cNvPr id="0" name=""/>
        <dsp:cNvSpPr/>
      </dsp:nvSpPr>
      <dsp:spPr>
        <a:xfrm rot="10800000">
          <a:off x="0" y="2203719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3) Graph-based indicators are used to measure     author’s embeddedness.</a:t>
          </a:r>
          <a:endParaRPr lang="en-IL" sz="2400" kern="1200" dirty="0"/>
        </a:p>
      </dsp:txBody>
      <dsp:txXfrm rot="10800000">
        <a:off x="0" y="2203719"/>
        <a:ext cx="7072620" cy="722202"/>
      </dsp:txXfrm>
    </dsp:sp>
    <dsp:sp modelId="{EC9EF89E-2EC9-4197-83CE-6F0E9635859A}">
      <dsp:nvSpPr>
        <dsp:cNvPr id="0" name=""/>
        <dsp:cNvSpPr/>
      </dsp:nvSpPr>
      <dsp:spPr>
        <a:xfrm rot="10800000">
          <a:off x="0" y="1103085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2) IO drivers tend to be embedded in dense communities.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sp:txBody>
      <dsp:txXfrm rot="10800000">
        <a:off x="0" y="1103085"/>
        <a:ext cx="7072620" cy="722202"/>
      </dsp:txXfrm>
    </dsp:sp>
    <dsp:sp modelId="{449265AB-55D8-4494-95A0-FB133CF562A6}">
      <dsp:nvSpPr>
        <dsp:cNvPr id="0" name=""/>
        <dsp:cNvSpPr/>
      </dsp:nvSpPr>
      <dsp:spPr>
        <a:xfrm rot="10800000">
          <a:off x="0" y="2452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1) Co-actions graph represents author similarity.</a:t>
          </a:r>
          <a:endParaRPr lang="en-IL" sz="2400" kern="1200" dirty="0"/>
        </a:p>
      </dsp:txBody>
      <dsp:txXfrm rot="10800000">
        <a:off x="0" y="2452"/>
        <a:ext cx="7072620" cy="7222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B552A5-6396-4106-9A4A-445AED3E3CC6}">
      <dsp:nvSpPr>
        <dsp:cNvPr id="0" name=""/>
        <dsp:cNvSpPr/>
      </dsp:nvSpPr>
      <dsp:spPr>
        <a:xfrm>
          <a:off x="0" y="3290500"/>
          <a:ext cx="10582656" cy="10800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270256" rIns="270256" bIns="27025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 dirty="0"/>
            <a:t>The node/author is suspected to be an IO drive.</a:t>
          </a:r>
          <a:endParaRPr lang="en-IL" sz="3800" kern="1200" dirty="0"/>
        </a:p>
      </dsp:txBody>
      <dsp:txXfrm>
        <a:off x="0" y="3290500"/>
        <a:ext cx="10582656" cy="1080015"/>
      </dsp:txXfrm>
    </dsp:sp>
    <dsp:sp modelId="{3D88F0F6-5629-4C7E-A8D9-55126A1A5A1D}">
      <dsp:nvSpPr>
        <dsp:cNvPr id="0" name=""/>
        <dsp:cNvSpPr/>
      </dsp:nvSpPr>
      <dsp:spPr>
        <a:xfrm rot="10800000">
          <a:off x="0" y="1645636"/>
          <a:ext cx="10582656" cy="1661064"/>
        </a:xfrm>
        <a:prstGeom prst="upArrowCallou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270256" rIns="270256" bIns="27025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 dirty="0"/>
            <a:t>Node has higher core-number.</a:t>
          </a:r>
          <a:endParaRPr lang="en-IL" sz="3800" kern="1200" dirty="0"/>
        </a:p>
      </dsp:txBody>
      <dsp:txXfrm rot="10800000">
        <a:off x="0" y="1645636"/>
        <a:ext cx="10582656" cy="1079310"/>
      </dsp:txXfrm>
    </dsp:sp>
    <dsp:sp modelId="{5E247E41-6DA2-446C-849F-383AA9AB749B}">
      <dsp:nvSpPr>
        <dsp:cNvPr id="0" name=""/>
        <dsp:cNvSpPr/>
      </dsp:nvSpPr>
      <dsp:spPr>
        <a:xfrm rot="10800000">
          <a:off x="0" y="772"/>
          <a:ext cx="10582656" cy="1661064"/>
        </a:xfrm>
        <a:prstGeom prst="upArrowCallou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270256" rIns="270256" bIns="27025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 dirty="0"/>
            <a:t>Node belongs to tightly connected group.</a:t>
          </a:r>
        </a:p>
      </dsp:txBody>
      <dsp:txXfrm rot="10800000">
        <a:off x="0" y="772"/>
        <a:ext cx="10582656" cy="1079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915196C-CDBC-4DEE-A220-849C85FC22AC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7F6CD5E7-A5BE-4430-AD67-E129D63AAC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382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D1760-78DB-D18D-FBB8-239E0A7E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EC71B-5AA6-886B-0231-A74B41DE5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997CC-4715-39C7-93DD-C967C3080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57815-7BE0-C4B1-B3D0-083C2D02F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8725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83E6-A85C-4E94-BAD4-349975C5C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5376" y="1354011"/>
            <a:ext cx="9144000" cy="2387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3D7B5-5BE4-46C1-BA83-AEDFF303D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5376" y="4218431"/>
            <a:ext cx="9144000" cy="1374013"/>
          </a:xfrm>
        </p:spPr>
        <p:txBody>
          <a:bodyPr>
            <a:normAutofit/>
          </a:bodyPr>
          <a:lstStyle>
            <a:lvl1pPr marL="0" indent="0" algn="l">
              <a:buNone/>
              <a:defRPr lang="he-IL" sz="2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subtitle style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03C65-1526-4474-93EA-92201F97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B3A86-AB79-4388-8CA5-9FC4B834779B}" type="datetime8">
              <a:rPr lang="he-IL" smtClean="0"/>
              <a:t>27 מאי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A285-90E9-4F27-9CCA-0A2DBEB4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19B0E-8F10-4832-ADC3-EA2B0C45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617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65C3A-1C12-429A-B672-CB062EE3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2D984-D254-42A5-88FD-71A5B8FF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buFont typeface="Courier New" panose="02070309020205020404" pitchFamily="49" charset="0"/>
              <a:buChar char="o"/>
              <a:defRPr sz="2000"/>
            </a:lvl2pPr>
            <a:lvl3pPr>
              <a:buFont typeface="Wingdings" panose="05000000000000000000" pitchFamily="2" charset="2"/>
              <a:buChar char="Ø"/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C169-3299-4F42-91D0-7AF77E39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CBFB-2532-48BA-BAE2-ADD925390740}" type="datetime8">
              <a:rPr lang="he-IL" smtClean="0"/>
              <a:t>27 מאי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2A088-F9A8-4123-A1D2-FE112503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A253D-F657-44F9-AA3F-37F3CF17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1454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E174-92FD-46FC-9A31-EF351510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50" y="1709738"/>
            <a:ext cx="7852146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61C8F-4A58-4042-B898-A57C837DF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95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B49A7-5C76-42AD-8811-4CADE044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C1FDD-37C4-4A6B-BF31-779943CE32CF}" type="datetime8">
              <a:rPr lang="he-IL" smtClean="0"/>
              <a:t>27 מאי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F3F55-C2A3-4A87-96C0-A01E9BCA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976F6-B98E-4B7D-839A-27BF9494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90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5C3C-CE9E-4F7A-B728-9A335B51FB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48EB9-480D-4A31-8BC3-B899B4AAB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AF003-9AC3-4B4C-A1AA-89972395A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9E07C-7B13-4A7C-AEAC-814BACFD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C226C-A76A-4927-8F1D-1BD4AC033ABB}" type="datetime8">
              <a:rPr lang="he-IL" smtClean="0"/>
              <a:t>27 מאי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6D24B-DA20-4CC6-87E7-866505B0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E9C41-8689-47B3-A905-63422020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729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D0EE-D523-4780-A9CF-B6EE518C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117" y="355600"/>
            <a:ext cx="8743124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6447D-A16E-4B99-8F74-2BA51BF54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3148" y="1717419"/>
            <a:ext cx="5157787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B268A-D31A-4C35-948F-BF312EE59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3148" y="2511171"/>
            <a:ext cx="5157787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0F3C6-09D4-4383-99DD-32F9053AC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41752" y="1717419"/>
            <a:ext cx="5183188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1A8D3-C002-4BA1-96FF-375F70D21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41752" y="2517267"/>
            <a:ext cx="5183188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CAC5E-E4EB-4131-AAEF-73C34796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DF2BF-D428-43E9-B36B-6DD16CF93579}" type="datetime8">
              <a:rPr lang="he-IL" smtClean="0"/>
              <a:t>27 מאי 26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C57A3-285F-4D36-851E-593C5F28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F8AB8-B698-4176-96F8-B833FE01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256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BF78-4DF0-407A-8E5A-BEF1E0D8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A3A88-6914-48FB-BE6F-948C3C66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9136-4922-4C74-B05C-12CD0951E601}" type="datetime8">
              <a:rPr lang="he-IL" smtClean="0"/>
              <a:t>27 מאי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0A1D4-4FBF-400A-B2CE-30A42EF7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B1F93-B2D0-4E42-B3CE-E85D6FC9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52457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850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13734-3C5F-473D-9DD6-0C484ADF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3CA8-2E63-412C-AA06-0D760EBE5965}" type="datetime8">
              <a:rPr lang="he-IL" smtClean="0"/>
              <a:t>27 מאי 26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48D2E8-A18C-4B06-AF11-07B4F9C5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7CBE2-2F2D-43B9-8BC3-25BA1DDA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865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0516-8B4A-495E-BFE5-33BF2DA50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684" y="98132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53460-117E-457C-9F0F-1AA7B34F2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804" y="987425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E485A-1FF8-4FDD-A659-6ACC79989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12684" y="2581529"/>
            <a:ext cx="3932237" cy="329514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78A4-064B-49BB-9360-FC686D8B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7B867-AA4A-4FF3-AD8B-0AD0F18EE595}" type="datetime8">
              <a:rPr lang="he-IL" smtClean="0"/>
              <a:t>27 מאי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0114A-6704-44C0-BCAE-EAB756E6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98D20-B7C4-4CE0-812C-9B6976E0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465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81F6-3528-4A38-B435-490FC2AF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173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7A6AE1-0DCE-4A5A-AC24-95C331B15D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987425"/>
            <a:ext cx="5259387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D3E13-E71C-4EE3-BA14-54D61F729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7173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A2D14-BF1B-420A-B0DF-91CD6E77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EBD3-88E8-46DB-BD3B-F935B7013014}" type="datetime8">
              <a:rPr lang="he-IL" smtClean="0"/>
              <a:t>27 מאי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27BD5-73FD-47B4-BCDF-92BB6EA1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5EAC3-6043-41F9-B8D4-7F41DABB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240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A57A-6715-4A64-AF19-74F32284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19522-954F-44AB-A8B2-881237A98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7FD09-CBF4-4ADA-B2BB-979C1F74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6BC8-8E7D-4896-9980-77BC87FB8E3E}" type="datetime8">
              <a:rPr lang="he-IL" smtClean="0"/>
              <a:t>27 מאי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DEA1C-6A3E-4E8A-94C4-85129424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897DB-9E67-41A9-B2B3-D6E61334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100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7D7B8-0F66-43EC-B9A2-C261F37BC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B89D3-E69A-49EE-8D8C-EAC8400E3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10142" y="365125"/>
            <a:ext cx="7262357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A9B41-D269-4701-B27C-CDDBCF20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27C8-CB36-417E-834B-544633ADCE63}" type="datetime8">
              <a:rPr lang="he-IL" smtClean="0"/>
              <a:t>27 מאי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D14E7-5E00-4D30-9BDD-9B32BEA0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1914F-9592-4EB2-998B-B922F8A2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5556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2684E-6693-F58C-BC24-150353E8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5D1C-C98B-44F5-AB2A-FEE3E85D0A94}" type="datetime8">
              <a:rPr lang="he-IL" smtClean="0"/>
              <a:t>27 מאי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C0620-C9BE-4C99-2D6C-A02A9A67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8F728-5692-0756-E6BD-FFB67E1A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7" name="Picture 6" descr="A document with text on it&#10;&#10;AI-generated content may be incorrect.">
            <a:extLst>
              <a:ext uri="{FF2B5EF4-FFF2-40B4-BE49-F238E27FC236}">
                <a16:creationId xmlns:a16="http://schemas.microsoft.com/office/drawing/2014/main" id="{221434F7-1295-8CB3-5E53-891A52C3D7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6" t="8664" r="8034" b="78094"/>
          <a:stretch>
            <a:fillRect/>
          </a:stretch>
        </p:blipFill>
        <p:spPr>
          <a:xfrm>
            <a:off x="1038256" y="2478278"/>
            <a:ext cx="10821413" cy="22942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FF33BC-21D6-16B0-C505-3CEE5CDF6D13}"/>
              </a:ext>
            </a:extLst>
          </p:cNvPr>
          <p:cNvSpPr txBox="1"/>
          <p:nvPr userDrawn="1"/>
        </p:nvSpPr>
        <p:spPr>
          <a:xfrm>
            <a:off x="3072268" y="679697"/>
            <a:ext cx="8753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0" kern="1200" dirty="0">
                <a:solidFill>
                  <a:srgbClr val="009DBB"/>
                </a:solidFill>
                <a:latin typeface="+mj-lt"/>
                <a:ea typeface="+mj-ea"/>
                <a:cs typeface="+mj-cs"/>
              </a:rPr>
              <a:t>Workflow</a:t>
            </a:r>
            <a:endParaRPr lang="en-IL" sz="4400" b="0" kern="1200" dirty="0">
              <a:solidFill>
                <a:srgbClr val="009DBB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238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EDABD8-1012-46AD-89C2-C8E4E06DB9B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75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9C71F-AAAB-425C-B1EA-7A7182DF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FA75E-5AAA-412B-BAE0-CF5F86B37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014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198C1-7EB5-4CA4-98A0-2833A18F3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101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65D1C-C98B-44F5-AB2A-FEE3E85D0A94}" type="datetime8">
              <a:rPr lang="he-IL" smtClean="0"/>
              <a:t>27 מאי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97CC5-2317-4D8E-8C89-E7B89F4BE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1054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048FF-C291-43F3-A9DD-3B48AE56F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704" y="6476841"/>
            <a:ext cx="4522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1D43D3-8C77-B77A-1D9D-8CDC43D8429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957" y="6139952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5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9DB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F6C1-AB65-35BD-8133-F3F29DB90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Concepts </a:t>
            </a:r>
            <a:r>
              <a:rPr lang="en-US" dirty="0"/>
              <a:t>- IO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1FA6F-2F61-214E-F20E-E15E3A7E9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Information Operation (IO):</a:t>
            </a:r>
            <a:r>
              <a:rPr lang="en-GB" dirty="0"/>
              <a:t> A collection of publications by coordinated actors pursuing a shared intent while misleading others.</a:t>
            </a:r>
          </a:p>
          <a:p>
            <a:pPr fontAlgn="base"/>
            <a:r>
              <a:rPr lang="en-GB" b="1" dirty="0"/>
              <a:t>IO Driver:</a:t>
            </a:r>
            <a:r>
              <a:rPr lang="en-GB" dirty="0"/>
              <a:t> An account that promotes one or more IO.</a:t>
            </a:r>
          </a:p>
          <a:p>
            <a:pPr fontAlgn="base"/>
            <a:r>
              <a:rPr lang="en-GB" b="1" dirty="0"/>
              <a:t>Author ‘s IO Label:</a:t>
            </a:r>
            <a:r>
              <a:rPr lang="en-GB" dirty="0"/>
              <a:t> label =  1 if the author is a IO Driver and label = 0 if not.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42458-50C9-BF06-3967-CE25C3C30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</a:t>
            </a:fld>
            <a:endParaRPr lang="he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4F7C4-ED55-F4E3-0283-87653B6C11C0}"/>
              </a:ext>
            </a:extLst>
          </p:cNvPr>
          <p:cNvSpPr txBox="1"/>
          <p:nvPr/>
        </p:nvSpPr>
        <p:spPr>
          <a:xfrm>
            <a:off x="1926771" y="4215842"/>
            <a:ext cx="8573756" cy="1200329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lvl="0" rtl="0"/>
            <a:r>
              <a:rPr lang="en-GB" sz="2400" b="1" dirty="0"/>
              <a:t>Goal:</a:t>
            </a:r>
          </a:p>
          <a:p>
            <a:pPr lvl="0" rtl="0"/>
            <a:r>
              <a:rPr lang="en-GB" sz="2400" dirty="0"/>
              <a:t>Calculation of graph-based indicators (e.g., centralities) to </a:t>
            </a:r>
            <a:r>
              <a:rPr lang="en-GB" sz="2400" b="1" dirty="0"/>
              <a:t>identify authors that are IO drivers</a:t>
            </a:r>
            <a:r>
              <a:rPr lang="en-GB" sz="2400" dirty="0"/>
              <a:t> in social network.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92892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E27CD-C8FF-B185-45D8-666A78A6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98079-07AB-1011-721B-DDEB4687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GB" dirty="0"/>
              <a:t>Co-Actions Graph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F6C3-80E1-C75C-69F0-3A7FFA1D1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441825"/>
          </a:xfrm>
        </p:spPr>
        <p:txBody>
          <a:bodyPr>
            <a:normAutofit/>
          </a:bodyPr>
          <a:lstStyle/>
          <a:p>
            <a:r>
              <a:rPr lang="en-GB" sz="2800" b="1" dirty="0"/>
              <a:t>Nodes:</a:t>
            </a:r>
            <a:r>
              <a:rPr lang="en-GB" sz="2800" dirty="0"/>
              <a:t> authors in the discourse.</a:t>
            </a:r>
          </a:p>
          <a:p>
            <a:r>
              <a:rPr lang="en-GB" sz="2800" b="1" dirty="0"/>
              <a:t>Edges: </a:t>
            </a:r>
            <a:r>
              <a:rPr lang="en-GB" sz="2800" dirty="0"/>
              <a:t>co-action relations between pair of authors (e.g., posting same hashtag). Represents </a:t>
            </a:r>
            <a:r>
              <a:rPr lang="en-US" sz="2800" b="1" dirty="0"/>
              <a:t>behavioral similar</a:t>
            </a:r>
            <a:r>
              <a:rPr lang="en-GB" sz="2800" b="1" dirty="0"/>
              <a:t>arty </a:t>
            </a:r>
            <a:r>
              <a:rPr lang="en-GB" sz="2800" dirty="0"/>
              <a:t>between the authors.</a:t>
            </a:r>
          </a:p>
          <a:p>
            <a:r>
              <a:rPr lang="en-GB" sz="2800" b="1" dirty="0"/>
              <a:t>Purpose</a:t>
            </a:r>
            <a:r>
              <a:rPr lang="en-GB" sz="2800" dirty="0"/>
              <a:t>: expose coordinated behaviour for IO detection.</a:t>
            </a:r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sz="3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E3158-F388-D9C9-D303-42FD2F68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</a:t>
            </a:fld>
            <a:endParaRPr lang="he-IL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4F46E8E-95AB-4D82-04F7-80C932FEC2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062" b="10900"/>
          <a:stretch>
            <a:fillRect/>
          </a:stretch>
        </p:blipFill>
        <p:spPr bwMode="auto">
          <a:xfrm>
            <a:off x="1243087" y="4439118"/>
            <a:ext cx="9585434" cy="2123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122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CB815-DA17-3CBD-4DA5-D200F3944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2981-4578-9DFA-9B78-6D536D89C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Backbone Graph &amp; IO Indicators</a:t>
            </a:r>
            <a:endParaRPr lang="en-IL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76A4B38D-F573-2F95-62F3-8BE9BF72A1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7489130"/>
              </p:ext>
            </p:extLst>
          </p:nvPr>
        </p:nvGraphicFramePr>
        <p:xfrm>
          <a:off x="1243087" y="1575486"/>
          <a:ext cx="7072620" cy="5130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5605A-34FF-F4E0-D05D-D1E5A6286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3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B7E417-6A10-8FF5-D4F4-A584AA7918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0740" y="2295759"/>
            <a:ext cx="3639113" cy="36003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F1AD01-0DDD-F198-381B-E9E6678A1994}"/>
              </a:ext>
            </a:extLst>
          </p:cNvPr>
          <p:cNvSpPr txBox="1"/>
          <p:nvPr/>
        </p:nvSpPr>
        <p:spPr>
          <a:xfrm>
            <a:off x="8420740" y="1952370"/>
            <a:ext cx="363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Author</a:t>
            </a:r>
            <a:r>
              <a:rPr lang="en-US" dirty="0"/>
              <a:t> </a:t>
            </a:r>
            <a:r>
              <a:rPr lang="en-GB" dirty="0">
                <a:solidFill>
                  <a:prstClr val="black"/>
                </a:solidFill>
              </a:rPr>
              <a:t>feature vector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06619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717E5-7468-9878-38B1-12643AA86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B8CBB-063A-985D-F9B5-D4BB2CE22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Number - Intuition</a:t>
            </a:r>
            <a:endParaRPr lang="en-IL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0B9B19-14B9-7F86-B47B-5767028649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5380268"/>
              </p:ext>
            </p:extLst>
          </p:nvPr>
        </p:nvGraphicFramePr>
        <p:xfrm>
          <a:off x="1243087" y="1825625"/>
          <a:ext cx="10582656" cy="4371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4E7D3-5764-C737-E79D-E110112B0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32489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6B20B-572C-EA3E-CBFD-11BAC61AA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21181-6B71-F107-01AF-62434DE69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Number - Definition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6E9C04-4BA0-19E7-9D46-B7C42E213C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43087" y="1825625"/>
                <a:ext cx="10582656" cy="476972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sz="3600" b="1" dirty="0"/>
                  <a:t>Node</a:t>
                </a:r>
                <a:r>
                  <a:rPr lang="en-GB" sz="3600" dirty="0"/>
                  <a:t> - a single actor/account in the graph. </a:t>
                </a:r>
              </a:p>
              <a:p>
                <a:r>
                  <a:rPr lang="en-GB" sz="3600" b="1" dirty="0"/>
                  <a:t>Subgraph</a:t>
                </a:r>
                <a:r>
                  <a:rPr lang="en-GB" sz="3600" dirty="0"/>
                  <a:t> - a smaller graph made from a subset of nodes and edges from the full graph. </a:t>
                </a:r>
              </a:p>
              <a:p>
                <a:r>
                  <a:rPr lang="en-GB" sz="3600" b="1" dirty="0"/>
                  <a:t>Neighbours</a:t>
                </a:r>
                <a:r>
                  <a:rPr lang="en-GB" sz="3600" dirty="0"/>
                  <a:t> - the nodes directly connected to a given node by an edge.</a:t>
                </a:r>
              </a:p>
              <a:p>
                <a:endParaRPr lang="en-GB" sz="3600" dirty="0"/>
              </a:p>
              <a:p>
                <a:r>
                  <a:rPr lang="en-GB" sz="3600" b="1" dirty="0"/>
                  <a:t>Core-number</a:t>
                </a:r>
                <a:r>
                  <a:rPr lang="en-GB" sz="3600" dirty="0"/>
                  <a:t> - the largest number </a:t>
                </a:r>
                <a14:m>
                  <m:oMath xmlns:m="http://schemas.openxmlformats.org/officeDocument/2006/math">
                    <m:r>
                      <a:rPr lang="en-GB" sz="36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600" dirty="0"/>
                  <a:t> </a:t>
                </a:r>
                <a:r>
                  <a:rPr lang="en-GB" sz="3600" dirty="0"/>
                  <a:t>such that the node belongs to a subgraph where every node has at least </a:t>
                </a:r>
                <a14:m>
                  <m:oMath xmlns:m="http://schemas.openxmlformats.org/officeDocument/2006/math">
                    <m:r>
                      <a:rPr lang="en-GB" sz="36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3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3600" dirty="0"/>
                  <a:t>neighbours </a:t>
                </a:r>
                <a:r>
                  <a:rPr lang="en-GB" sz="3600" u="sng" dirty="0"/>
                  <a:t>within</a:t>
                </a:r>
                <a:r>
                  <a:rPr lang="en-GB" sz="3600" dirty="0"/>
                  <a:t> that subgraph.</a:t>
                </a:r>
                <a:endParaRPr lang="en-IL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6E9C04-4BA0-19E7-9D46-B7C42E213C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3087" y="1825625"/>
                <a:ext cx="10582656" cy="4769728"/>
              </a:xfrm>
              <a:blipFill>
                <a:blip r:embed="rId2"/>
                <a:stretch>
                  <a:fillRect l="-1613" t="-3959" b="-38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812F0-E54C-4F7D-05DA-1110FB27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6094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FBF81-1759-7631-FCCD-C2B86D71F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C4968-7120-1977-C518-F3D19EEF9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Number - Example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09368-FDF4-B047-F86D-A7F727C5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6</a:t>
            </a:fld>
            <a:endParaRPr lang="he-IL"/>
          </a:p>
        </p:txBody>
      </p:sp>
      <p:pic>
        <p:nvPicPr>
          <p:cNvPr id="3" name="Picture 2" descr="k-Core of a graph">
            <a:extLst>
              <a:ext uri="{FF2B5EF4-FFF2-40B4-BE49-F238E27FC236}">
                <a16:creationId xmlns:a16="http://schemas.microsoft.com/office/drawing/2014/main" id="{A1EFBBA8-CA30-26B6-612F-F894F3E62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283" y="1867838"/>
            <a:ext cx="10174718" cy="41070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6D91F2-615E-8B2A-5BF3-DD43C863C4DE}"/>
              </a:ext>
            </a:extLst>
          </p:cNvPr>
          <p:cNvSpPr txBox="1"/>
          <p:nvPr/>
        </p:nvSpPr>
        <p:spPr>
          <a:xfrm rot="21258625">
            <a:off x="6110596" y="1919799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F4669-9508-4E5A-B24C-22B002FCE751}"/>
              </a:ext>
            </a:extLst>
          </p:cNvPr>
          <p:cNvSpPr txBox="1"/>
          <p:nvPr/>
        </p:nvSpPr>
        <p:spPr>
          <a:xfrm rot="4810671">
            <a:off x="5646712" y="314919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FC3455-0162-56A7-9F57-73B53C64B549}"/>
              </a:ext>
            </a:extLst>
          </p:cNvPr>
          <p:cNvSpPr txBox="1"/>
          <p:nvPr/>
        </p:nvSpPr>
        <p:spPr>
          <a:xfrm>
            <a:off x="6742558" y="3771025"/>
            <a:ext cx="1477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#TruthExposed</a:t>
            </a:r>
            <a:endParaRPr lang="en-IL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AC6232-205D-E057-9D18-19CA5F579B02}"/>
              </a:ext>
            </a:extLst>
          </p:cNvPr>
          <p:cNvSpPr txBox="1"/>
          <p:nvPr/>
        </p:nvSpPr>
        <p:spPr>
          <a:xfrm rot="4119364">
            <a:off x="7794291" y="2828263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CF02B8-F58B-B4F9-7B80-6387A4DDABE5}"/>
              </a:ext>
            </a:extLst>
          </p:cNvPr>
          <p:cNvSpPr txBox="1"/>
          <p:nvPr/>
        </p:nvSpPr>
        <p:spPr>
          <a:xfrm rot="1762880">
            <a:off x="7204790" y="3201896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CEDCF-E414-D5DE-B87D-F89D5BA52BA9}"/>
              </a:ext>
            </a:extLst>
          </p:cNvPr>
          <p:cNvSpPr txBox="1"/>
          <p:nvPr/>
        </p:nvSpPr>
        <p:spPr>
          <a:xfrm rot="18366777">
            <a:off x="6630407" y="249058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#True</a:t>
            </a:r>
            <a:endParaRPr lang="en-IL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9B6A0-DF6A-5CD7-996A-C3A01D11C97C}"/>
              </a:ext>
            </a:extLst>
          </p:cNvPr>
          <p:cNvSpPr txBox="1"/>
          <p:nvPr/>
        </p:nvSpPr>
        <p:spPr>
          <a:xfrm>
            <a:off x="4618686" y="3805712"/>
            <a:ext cx="1477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#Trending</a:t>
            </a:r>
            <a:endParaRPr lang="en-IL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54517A-9D8A-70EB-41D1-4C5261EC4380}"/>
              </a:ext>
            </a:extLst>
          </p:cNvPr>
          <p:cNvSpPr txBox="1"/>
          <p:nvPr/>
        </p:nvSpPr>
        <p:spPr>
          <a:xfrm rot="3114557">
            <a:off x="9656857" y="2508597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#Music</a:t>
            </a:r>
            <a:endParaRPr lang="en-IL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7A3518-5695-0E32-90BD-476955BA4AA6}"/>
              </a:ext>
            </a:extLst>
          </p:cNvPr>
          <p:cNvSpPr txBox="1"/>
          <p:nvPr/>
        </p:nvSpPr>
        <p:spPr>
          <a:xfrm rot="17535076">
            <a:off x="8457906" y="2864984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712921-5011-08A5-CC00-D27AEBF9BD05}"/>
              </a:ext>
            </a:extLst>
          </p:cNvPr>
          <p:cNvSpPr txBox="1"/>
          <p:nvPr/>
        </p:nvSpPr>
        <p:spPr>
          <a:xfrm>
            <a:off x="9656856" y="1791741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#Music</a:t>
            </a:r>
            <a:endParaRPr lang="en-IL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D82200-163E-4905-F370-F28EA4FFE151}"/>
              </a:ext>
            </a:extLst>
          </p:cNvPr>
          <p:cNvSpPr txBox="1"/>
          <p:nvPr/>
        </p:nvSpPr>
        <p:spPr>
          <a:xfrm rot="20634719">
            <a:off x="9166637" y="3480230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 Media</a:t>
            </a:r>
            <a:endParaRPr lang="en-IL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1EFE46-D669-1079-661B-A318F9253973}"/>
              </a:ext>
            </a:extLst>
          </p:cNvPr>
          <p:cNvSpPr txBox="1"/>
          <p:nvPr/>
        </p:nvSpPr>
        <p:spPr>
          <a:xfrm rot="15751676">
            <a:off x="8165907" y="4724186"/>
            <a:ext cx="1377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#</a:t>
            </a:r>
            <a:r>
              <a:rPr lang="en-GB" sz="1600" dirty="0"/>
              <a:t>DeepState</a:t>
            </a:r>
            <a:endParaRPr lang="en-IL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15AFAB-8E07-193A-F7ED-27FDDE52CFB0}"/>
              </a:ext>
            </a:extLst>
          </p:cNvPr>
          <p:cNvSpPr txBox="1"/>
          <p:nvPr/>
        </p:nvSpPr>
        <p:spPr>
          <a:xfrm rot="5187585">
            <a:off x="5916302" y="478872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#True</a:t>
            </a:r>
            <a:endParaRPr lang="en-IL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5B10CE-B78B-A560-406C-D455F3F371B9}"/>
              </a:ext>
            </a:extLst>
          </p:cNvPr>
          <p:cNvSpPr txBox="1"/>
          <p:nvPr/>
        </p:nvSpPr>
        <p:spPr>
          <a:xfrm rot="18445421">
            <a:off x="4377158" y="2864983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E5B288-8DC3-D387-AF1E-D3C58F4750E5}"/>
              </a:ext>
            </a:extLst>
          </p:cNvPr>
          <p:cNvSpPr txBox="1"/>
          <p:nvPr/>
        </p:nvSpPr>
        <p:spPr>
          <a:xfrm rot="4499005">
            <a:off x="3739807" y="2936281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88BDCC-3776-9674-10AE-CAE67CA8BC28}"/>
              </a:ext>
            </a:extLst>
          </p:cNvPr>
          <p:cNvSpPr txBox="1"/>
          <p:nvPr/>
        </p:nvSpPr>
        <p:spPr>
          <a:xfrm rot="17463090">
            <a:off x="3407513" y="4683885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1DC1E2-CFB8-6380-452E-71770B27D50A}"/>
              </a:ext>
            </a:extLst>
          </p:cNvPr>
          <p:cNvSpPr txBox="1"/>
          <p:nvPr/>
        </p:nvSpPr>
        <p:spPr>
          <a:xfrm rot="1702415">
            <a:off x="7159342" y="4609927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 Media</a:t>
            </a:r>
            <a:endParaRPr lang="en-IL" sz="16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D3B6211-C6E4-1BBA-7030-3820BC8F64FF}"/>
              </a:ext>
            </a:extLst>
          </p:cNvPr>
          <p:cNvSpPr/>
          <p:nvPr/>
        </p:nvSpPr>
        <p:spPr>
          <a:xfrm rot="1340853">
            <a:off x="5185122" y="1691846"/>
            <a:ext cx="4186974" cy="3126336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8576B8-144B-9F99-5CCF-A278CDAFF407}"/>
              </a:ext>
            </a:extLst>
          </p:cNvPr>
          <p:cNvSpPr txBox="1"/>
          <p:nvPr/>
        </p:nvSpPr>
        <p:spPr>
          <a:xfrm rot="1676257">
            <a:off x="7596847" y="1699407"/>
            <a:ext cx="2104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IO Drivers</a:t>
            </a:r>
            <a:endParaRPr lang="en-IL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8FB36E-45DE-CDBF-18E4-24798133D1EE}"/>
              </a:ext>
            </a:extLst>
          </p:cNvPr>
          <p:cNvSpPr txBox="1"/>
          <p:nvPr/>
        </p:nvSpPr>
        <p:spPr>
          <a:xfrm>
            <a:off x="9351225" y="1113054"/>
            <a:ext cx="1953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Co-Action Graph</a:t>
            </a:r>
            <a:endParaRPr lang="en-I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038791-A184-B391-560C-F39DCF16C891}"/>
              </a:ext>
            </a:extLst>
          </p:cNvPr>
          <p:cNvSpPr txBox="1"/>
          <p:nvPr/>
        </p:nvSpPr>
        <p:spPr>
          <a:xfrm rot="18686069">
            <a:off x="9036591" y="4390791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#Eurovision</a:t>
            </a:r>
            <a:endParaRPr lang="en-IL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168A8F-FFA2-DA9C-4FE8-2D9B65841E59}"/>
                  </a:ext>
                </a:extLst>
              </p:cNvPr>
              <p:cNvSpPr txBox="1"/>
              <p:nvPr/>
            </p:nvSpPr>
            <p:spPr>
              <a:xfrm>
                <a:off x="9660367" y="4785395"/>
                <a:ext cx="2552699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600" b="1" dirty="0"/>
                  <a:t>Core-number</a:t>
                </a:r>
                <a:r>
                  <a:rPr lang="en-GB" sz="1600" dirty="0"/>
                  <a:t> - the largest number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GB" sz="1600" dirty="0"/>
                  <a:t>such that the node belongs to a subgraph where every node has at least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600" dirty="0"/>
                  <a:t>neighbours </a:t>
                </a:r>
                <a:r>
                  <a:rPr lang="en-GB" sz="1600" u="sng" dirty="0"/>
                  <a:t>within</a:t>
                </a:r>
                <a:r>
                  <a:rPr lang="en-GB" sz="1600" dirty="0"/>
                  <a:t> that subgraph.</a:t>
                </a:r>
                <a:endParaRPr lang="en-IL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168A8F-FFA2-DA9C-4FE8-2D9B65841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367" y="4785395"/>
                <a:ext cx="2552699" cy="1569660"/>
              </a:xfrm>
              <a:prstGeom prst="rect">
                <a:avLst/>
              </a:prstGeom>
              <a:blipFill>
                <a:blip r:embed="rId3"/>
                <a:stretch>
                  <a:fillRect l="-1435" t="-1167" b="-428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6332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BFB06-31E1-F12E-61E2-AD9CFD94A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6BC6AE-4687-A2A7-935B-0F2E9F915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246" y="1580010"/>
            <a:ext cx="4893567" cy="22973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2AE667-C784-0DA7-5A0E-CB08BA36F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609" y="1559914"/>
            <a:ext cx="4920610" cy="23100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BDCE7F-99C3-9474-F9E6-66CB34E19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Core Number</a:t>
            </a:r>
            <a:endParaRPr lang="en-IL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2D5A9-A078-1290-ACCC-0C6203E31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6" y="1825624"/>
            <a:ext cx="10850301" cy="50041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000" b="1" dirty="0"/>
          </a:p>
          <a:p>
            <a:pPr lvl="2"/>
            <a:endParaRPr lang="en-GB" sz="1500" dirty="0"/>
          </a:p>
          <a:p>
            <a:pPr marL="914400" lvl="2" indent="0">
              <a:buNone/>
            </a:pPr>
            <a:endParaRPr lang="en-GB" sz="1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23E22-B25F-6C61-B14B-75EEE667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7</a:t>
            </a:fld>
            <a:endParaRPr lang="he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D85B4F-AF7F-749F-77C1-315E6E06566E}"/>
              </a:ext>
            </a:extLst>
          </p:cNvPr>
          <p:cNvSpPr txBox="1"/>
          <p:nvPr/>
        </p:nvSpPr>
        <p:spPr>
          <a:xfrm>
            <a:off x="6659873" y="1186618"/>
            <a:ext cx="221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Ecuador </a:t>
            </a:r>
            <a:r>
              <a:rPr lang="en-GB" dirty="0"/>
              <a:t>Campaign</a:t>
            </a: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3E0586-5C53-F6ED-1E5A-96C49F4642C9}"/>
              </a:ext>
            </a:extLst>
          </p:cNvPr>
          <p:cNvSpPr txBox="1"/>
          <p:nvPr/>
        </p:nvSpPr>
        <p:spPr>
          <a:xfrm>
            <a:off x="1440246" y="6223634"/>
            <a:ext cx="6923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Cumulative distribution: proportion of IO drivers by Core Number threshold (≤ / ≥)</a:t>
            </a:r>
            <a:endParaRPr lang="en-IL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D8B88D7-4ED4-985E-8371-C40F0673F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939" y="3917576"/>
            <a:ext cx="4893567" cy="22526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FBE902-A18C-18D2-66ED-BC4E7994D2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6984" y="3953617"/>
            <a:ext cx="4863860" cy="232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546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D6A4D-7568-BAE4-62D1-881293F2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3C420-F8E3-F707-0927-1E9D7AECA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Indicators Comparison</a:t>
            </a:r>
            <a:r>
              <a:rPr lang="en-US" dirty="0"/>
              <a:t>- SHAP 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2290A-7BF2-C0BD-9A9F-A26B3BAE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8</a:t>
            </a:fld>
            <a:endParaRPr lang="he-I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2B9DBD-9D06-F91D-D64B-D21C4568C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179" y="2340414"/>
            <a:ext cx="5911564" cy="34295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DDFF08-7A2E-6395-8B4C-1B8FB2507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70" y="2368126"/>
            <a:ext cx="5162180" cy="34018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97C5E1-5F57-35AD-F9CE-6328C30BB91A}"/>
              </a:ext>
            </a:extLst>
          </p:cNvPr>
          <p:cNvSpPr txBox="1"/>
          <p:nvPr/>
        </p:nvSpPr>
        <p:spPr>
          <a:xfrm>
            <a:off x="0" y="1729419"/>
            <a:ext cx="12180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SHAP analysis on </a:t>
            </a:r>
            <a:r>
              <a:rPr lang="en-US" dirty="0" err="1"/>
              <a:t>XGBoost</a:t>
            </a:r>
            <a:r>
              <a:rPr lang="en-US" dirty="0"/>
              <a:t> model on Ecuador Campaign</a:t>
            </a:r>
            <a:endParaRPr lang="en-I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65D321-D39B-4DBC-6CB1-32D4550FBD1C}"/>
              </a:ext>
            </a:extLst>
          </p:cNvPr>
          <p:cNvSpPr txBox="1"/>
          <p:nvPr/>
        </p:nvSpPr>
        <p:spPr>
          <a:xfrm>
            <a:off x="1490383" y="6141483"/>
            <a:ext cx="6261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SHAP explains how much each feature contributes to a model’s prediction.</a:t>
            </a:r>
            <a:endParaRPr lang="en-IL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239BF7-A475-CC65-7EE7-9930284821BC}"/>
              </a:ext>
            </a:extLst>
          </p:cNvPr>
          <p:cNvSpPr/>
          <p:nvPr/>
        </p:nvSpPr>
        <p:spPr>
          <a:xfrm>
            <a:off x="945292" y="2829161"/>
            <a:ext cx="844358" cy="2383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361CCB-ED27-8FB9-F58E-5F2C97748B71}"/>
              </a:ext>
            </a:extLst>
          </p:cNvPr>
          <p:cNvSpPr/>
          <p:nvPr/>
        </p:nvSpPr>
        <p:spPr>
          <a:xfrm>
            <a:off x="6484869" y="2848617"/>
            <a:ext cx="1079771" cy="2383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31428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15610</TotalTime>
  <Words>417</Words>
  <Application>Microsoft Office PowerPoint</Application>
  <PresentationFormat>Widescreen</PresentationFormat>
  <Paragraphs>66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Core Concepts - IO</vt:lpstr>
      <vt:lpstr>Co-Actions Graph </vt:lpstr>
      <vt:lpstr>Backbone Graph &amp; IO Indicators</vt:lpstr>
      <vt:lpstr>Core Number - Intuition</vt:lpstr>
      <vt:lpstr>Core Number - Definition</vt:lpstr>
      <vt:lpstr>Core Number - Example</vt:lpstr>
      <vt:lpstr>Core Number</vt:lpstr>
      <vt:lpstr>Indicators Comparison- SHAP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Edita Grolman</dc:creator>
  <cp:lastModifiedBy>Amit Ner Gaon</cp:lastModifiedBy>
  <cp:revision>546</cp:revision>
  <dcterms:created xsi:type="dcterms:W3CDTF">2021-05-04T15:24:24Z</dcterms:created>
  <dcterms:modified xsi:type="dcterms:W3CDTF">2026-05-27T09:09:37Z</dcterms:modified>
</cp:coreProperties>
</file>