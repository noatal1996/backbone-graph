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1574" r:id="rId2"/>
    <p:sldId id="1762" r:id="rId3"/>
    <p:sldId id="1763" r:id="rId4"/>
    <p:sldId id="1764" r:id="rId5"/>
    <p:sldId id="1649" r:id="rId6"/>
    <p:sldId id="1591" r:id="rId7"/>
    <p:sldId id="1740" r:id="rId8"/>
    <p:sldId id="1738" r:id="rId9"/>
    <p:sldId id="1769" r:id="rId10"/>
    <p:sldId id="1739" r:id="rId11"/>
    <p:sldId id="1749" r:id="rId12"/>
    <p:sldId id="1772" r:id="rId13"/>
    <p:sldId id="1768" r:id="rId14"/>
    <p:sldId id="1770" r:id="rId15"/>
    <p:sldId id="1757" r:id="rId16"/>
    <p:sldId id="1773" r:id="rId17"/>
    <p:sldId id="1776" r:id="rId18"/>
    <p:sldId id="1775" r:id="rId19"/>
    <p:sldId id="1777" r:id="rId20"/>
    <p:sldId id="1778" r:id="rId21"/>
    <p:sldId id="1779" r:id="rId22"/>
    <p:sldId id="1774" r:id="rId23"/>
    <p:sldId id="1729" r:id="rId24"/>
    <p:sldId id="1730" r:id="rId25"/>
    <p:sldId id="1767" r:id="rId26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762"/>
            <p14:sldId id="1763"/>
            <p14:sldId id="1764"/>
            <p14:sldId id="1649"/>
            <p14:sldId id="1591"/>
          </p14:sldIdLst>
        </p14:section>
        <p14:section name="Core-Number" id="{2F1E73D5-870F-4091-9492-A1102BE33EA1}">
          <p14:sldIdLst>
            <p14:sldId id="1740"/>
            <p14:sldId id="1738"/>
            <p14:sldId id="1769"/>
            <p14:sldId id="1739"/>
            <p14:sldId id="1749"/>
            <p14:sldId id="1772"/>
            <p14:sldId id="1768"/>
            <p14:sldId id="1770"/>
            <p14:sldId id="1757"/>
            <p14:sldId id="1773"/>
            <p14:sldId id="1776"/>
            <p14:sldId id="1775"/>
            <p14:sldId id="1777"/>
            <p14:sldId id="1778"/>
            <p14:sldId id="1779"/>
            <p14:sldId id="1774"/>
            <p14:sldId id="1729"/>
            <p14:sldId id="1730"/>
            <p14:sldId id="176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A0808"/>
    <a:srgbClr val="800000"/>
    <a:srgbClr val="F59120"/>
    <a:srgbClr val="FE0101"/>
    <a:srgbClr val="F58377"/>
    <a:srgbClr val="FF4343"/>
    <a:srgbClr val="548235"/>
    <a:srgbClr val="009DBB"/>
    <a:srgbClr val="0688BA"/>
    <a:srgbClr val="005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5033" autoAdjust="0"/>
  </p:normalViewPr>
  <p:slideViewPr>
    <p:cSldViewPr snapToGrid="0">
      <p:cViewPr varScale="1">
        <p:scale>
          <a:sx n="155" d="100"/>
          <a:sy n="155" d="100"/>
        </p:scale>
        <p:origin x="50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90C58F-1623-4B30-8E09-2CA0F33BB139}" type="doc">
      <dgm:prSet loTypeId="urn:microsoft.com/office/officeart/2005/8/layout/process4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IL"/>
        </a:p>
      </dgm:t>
    </dgm:pt>
    <dgm:pt modelId="{4BC2FB94-54C5-4AA4-8613-4ABB9F2FB0D5}">
      <dgm:prSet custT="1"/>
      <dgm:spPr/>
      <dgm:t>
        <a:bodyPr/>
        <a:lstStyle/>
        <a:p>
          <a:r>
            <a:rPr lang="en-GB" sz="2400" dirty="0"/>
            <a:t>1) Building a co-action graph represents author similarity.</a:t>
          </a:r>
          <a:endParaRPr lang="en-IL" sz="2400" dirty="0"/>
        </a:p>
      </dgm:t>
    </dgm:pt>
    <dgm:pt modelId="{81142ADE-1E42-4CE9-83A4-2B0D9F638559}" type="parTrans" cxnId="{BFFBDADC-868D-420E-9208-8F65BF16916D}">
      <dgm:prSet/>
      <dgm:spPr/>
      <dgm:t>
        <a:bodyPr/>
        <a:lstStyle/>
        <a:p>
          <a:endParaRPr lang="en-IL"/>
        </a:p>
      </dgm:t>
    </dgm:pt>
    <dgm:pt modelId="{1E17B9C2-D2AB-4D01-8569-00D12B23D4C7}" type="sibTrans" cxnId="{BFFBDADC-868D-420E-9208-8F65BF16916D}">
      <dgm:prSet/>
      <dgm:spPr/>
      <dgm:t>
        <a:bodyPr/>
        <a:lstStyle/>
        <a:p>
          <a:endParaRPr lang="en-IL"/>
        </a:p>
      </dgm:t>
    </dgm:pt>
    <dgm:pt modelId="{7D320D05-8BC7-49AB-93E1-F512A65ADBB4}">
      <dgm:prSet custT="1"/>
      <dgm:spPr/>
      <dgm:t>
        <a:bodyPr/>
        <a:lstStyle/>
        <a:p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76729AB0-F7FB-43B8-8268-2879B72FF758}" type="parTrans" cxnId="{D6404C00-BB8F-47F6-A3E0-E9AE5168B69E}">
      <dgm:prSet/>
      <dgm:spPr/>
      <dgm:t>
        <a:bodyPr/>
        <a:lstStyle/>
        <a:p>
          <a:endParaRPr lang="en-IL"/>
        </a:p>
      </dgm:t>
    </dgm:pt>
    <dgm:pt modelId="{7A6195CC-C5B6-499B-8C5A-C59F05E11EE6}" type="sibTrans" cxnId="{D6404C00-BB8F-47F6-A3E0-E9AE5168B69E}">
      <dgm:prSet/>
      <dgm:spPr/>
      <dgm:t>
        <a:bodyPr/>
        <a:lstStyle/>
        <a:p>
          <a:endParaRPr lang="en-IL"/>
        </a:p>
      </dgm:t>
    </dgm:pt>
    <dgm:pt modelId="{A7B258C5-DA38-4321-BB19-D9CB5619264C}">
      <dgm:prSet custT="1"/>
      <dgm:spPr/>
      <dgm:t>
        <a:bodyPr/>
        <a:lstStyle/>
        <a:p>
          <a:r>
            <a:rPr lang="en-GB" sz="2400" dirty="0"/>
            <a:t>3) Graph-based indicators are used to measure     author’s embeddedness.</a:t>
          </a:r>
          <a:endParaRPr lang="en-IL" sz="2400" dirty="0"/>
        </a:p>
      </dgm:t>
    </dgm:pt>
    <dgm:pt modelId="{203A4A45-D67F-4111-8115-F39D8B161CDD}" type="parTrans" cxnId="{601BA4A4-5D6C-40ED-8F48-667E9AF2836A}">
      <dgm:prSet/>
      <dgm:spPr/>
      <dgm:t>
        <a:bodyPr/>
        <a:lstStyle/>
        <a:p>
          <a:endParaRPr lang="en-IL"/>
        </a:p>
      </dgm:t>
    </dgm:pt>
    <dgm:pt modelId="{CFB66835-E5CB-4D8A-B6C8-1B3B8DF01259}" type="sibTrans" cxnId="{601BA4A4-5D6C-40ED-8F48-667E9AF2836A}">
      <dgm:prSet/>
      <dgm:spPr/>
      <dgm:t>
        <a:bodyPr/>
        <a:lstStyle/>
        <a:p>
          <a:endParaRPr lang="en-IL"/>
        </a:p>
      </dgm:t>
    </dgm:pt>
    <dgm:pt modelId="{5D7624BE-F238-4C3B-897B-9536540A45EC}">
      <dgm:prSet custT="1"/>
      <dgm:spPr/>
      <dgm:t>
        <a:bodyPr/>
        <a:lstStyle/>
        <a:p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DE3ECAEC-D217-4ACD-8F26-7D253DBBBB46}" type="parTrans" cxnId="{D548CB56-4B7F-4832-B855-6F1B2D31D122}">
      <dgm:prSet/>
      <dgm:spPr/>
      <dgm:t>
        <a:bodyPr/>
        <a:lstStyle/>
        <a:p>
          <a:endParaRPr lang="en-IL"/>
        </a:p>
      </dgm:t>
    </dgm:pt>
    <dgm:pt modelId="{312170D2-ED7B-4054-82B8-1D60C8F68B7F}" type="sibTrans" cxnId="{D548CB56-4B7F-4832-B855-6F1B2D31D122}">
      <dgm:prSet/>
      <dgm:spPr/>
      <dgm:t>
        <a:bodyPr/>
        <a:lstStyle/>
        <a:p>
          <a:endParaRPr lang="en-IL"/>
        </a:p>
      </dgm:t>
    </dgm:pt>
    <dgm:pt modelId="{F5835A2A-6EED-4CF0-AD6D-9C43F08E8106}">
      <dgm:prSet custT="1"/>
      <dgm:spPr/>
      <dgm:t>
        <a:bodyPr/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gm:t>
    </dgm:pt>
    <dgm:pt modelId="{3B3A9903-4669-470D-9A03-4D8FCA8E328C}" type="parTrans" cxnId="{02F270AA-4ABA-474A-B88D-AF4118A95DC5}">
      <dgm:prSet/>
      <dgm:spPr/>
      <dgm:t>
        <a:bodyPr/>
        <a:lstStyle/>
        <a:p>
          <a:endParaRPr lang="en-IL"/>
        </a:p>
      </dgm:t>
    </dgm:pt>
    <dgm:pt modelId="{687F42B4-C2AD-4C27-B6FA-0BF9E906535E}" type="sibTrans" cxnId="{02F270AA-4ABA-474A-B88D-AF4118A95DC5}">
      <dgm:prSet/>
      <dgm:spPr/>
      <dgm:t>
        <a:bodyPr/>
        <a:lstStyle/>
        <a:p>
          <a:endParaRPr lang="en-IL"/>
        </a:p>
      </dgm:t>
    </dgm:pt>
    <dgm:pt modelId="{E3D2F466-9D2B-489B-8FD7-00A269198811}" type="pres">
      <dgm:prSet presAssocID="{4790C58F-1623-4B30-8E09-2CA0F33BB139}" presName="Name0" presStyleCnt="0">
        <dgm:presLayoutVars>
          <dgm:dir/>
          <dgm:animLvl val="lvl"/>
          <dgm:resizeHandles val="exact"/>
        </dgm:presLayoutVars>
      </dgm:prSet>
      <dgm:spPr/>
    </dgm:pt>
    <dgm:pt modelId="{088EA719-2472-4684-87F4-629B6808F521}" type="pres">
      <dgm:prSet presAssocID="{F5835A2A-6EED-4CF0-AD6D-9C43F08E8106}" presName="boxAndChildren" presStyleCnt="0"/>
      <dgm:spPr/>
    </dgm:pt>
    <dgm:pt modelId="{BF4415FE-1BEA-4AAF-8504-EF442423F26C}" type="pres">
      <dgm:prSet presAssocID="{F5835A2A-6EED-4CF0-AD6D-9C43F08E8106}" presName="parentTextBox" presStyleLbl="node1" presStyleIdx="0" presStyleCnt="5" custLinFactNeighborX="-4106"/>
      <dgm:spPr/>
    </dgm:pt>
    <dgm:pt modelId="{089D2F7B-F14C-4A92-BB3A-DAA08CAE5848}" type="pres">
      <dgm:prSet presAssocID="{312170D2-ED7B-4054-82B8-1D60C8F68B7F}" presName="sp" presStyleCnt="0"/>
      <dgm:spPr/>
    </dgm:pt>
    <dgm:pt modelId="{F9478C95-2D8F-4B5D-9198-EA05C72041D6}" type="pres">
      <dgm:prSet presAssocID="{5D7624BE-F238-4C3B-897B-9536540A45EC}" presName="arrowAndChildren" presStyleCnt="0"/>
      <dgm:spPr/>
    </dgm:pt>
    <dgm:pt modelId="{6679C54E-D9B3-42D4-8579-0F059BE402E7}" type="pres">
      <dgm:prSet presAssocID="{5D7624BE-F238-4C3B-897B-9536540A45EC}" presName="parentTextArrow" presStyleLbl="node1" presStyleIdx="1" presStyleCnt="5"/>
      <dgm:spPr/>
    </dgm:pt>
    <dgm:pt modelId="{9EEDCD11-2912-410C-BF8F-FB8C0E08B1DE}" type="pres">
      <dgm:prSet presAssocID="{CFB66835-E5CB-4D8A-B6C8-1B3B8DF01259}" presName="sp" presStyleCnt="0"/>
      <dgm:spPr/>
    </dgm:pt>
    <dgm:pt modelId="{67F4FDC1-DDD2-4281-BAE2-FB77EAC45D98}" type="pres">
      <dgm:prSet presAssocID="{A7B258C5-DA38-4321-BB19-D9CB5619264C}" presName="arrowAndChildren" presStyleCnt="0"/>
      <dgm:spPr/>
    </dgm:pt>
    <dgm:pt modelId="{1286EBB1-156A-4900-80F5-B7DA82846AFD}" type="pres">
      <dgm:prSet presAssocID="{A7B258C5-DA38-4321-BB19-D9CB5619264C}" presName="parentTextArrow" presStyleLbl="node1" presStyleIdx="2" presStyleCnt="5"/>
      <dgm:spPr/>
    </dgm:pt>
    <dgm:pt modelId="{E5FC2BC1-7FA9-42C4-A969-06EE33CAE6B9}" type="pres">
      <dgm:prSet presAssocID="{7A6195CC-C5B6-499B-8C5A-C59F05E11EE6}" presName="sp" presStyleCnt="0"/>
      <dgm:spPr/>
    </dgm:pt>
    <dgm:pt modelId="{1B190E91-BA0B-443D-8EBB-2D0FBA24695A}" type="pres">
      <dgm:prSet presAssocID="{7D320D05-8BC7-49AB-93E1-F512A65ADBB4}" presName="arrowAndChildren" presStyleCnt="0"/>
      <dgm:spPr/>
    </dgm:pt>
    <dgm:pt modelId="{EC9EF89E-2EC9-4197-83CE-6F0E9635859A}" type="pres">
      <dgm:prSet presAssocID="{7D320D05-8BC7-49AB-93E1-F512A65ADBB4}" presName="parentTextArrow" presStyleLbl="node1" presStyleIdx="3" presStyleCnt="5"/>
      <dgm:spPr/>
    </dgm:pt>
    <dgm:pt modelId="{5FA7D69C-ADC5-4D3E-A63E-3177E18C39D9}" type="pres">
      <dgm:prSet presAssocID="{1E17B9C2-D2AB-4D01-8569-00D12B23D4C7}" presName="sp" presStyleCnt="0"/>
      <dgm:spPr/>
    </dgm:pt>
    <dgm:pt modelId="{9C5F784D-3A5B-40B8-BC6E-96C4885D6DD5}" type="pres">
      <dgm:prSet presAssocID="{4BC2FB94-54C5-4AA4-8613-4ABB9F2FB0D5}" presName="arrowAndChildren" presStyleCnt="0"/>
      <dgm:spPr/>
    </dgm:pt>
    <dgm:pt modelId="{449265AB-55D8-4494-95A0-FB133CF562A6}" type="pres">
      <dgm:prSet presAssocID="{4BC2FB94-54C5-4AA4-8613-4ABB9F2FB0D5}" presName="parentTextArrow" presStyleLbl="node1" presStyleIdx="4" presStyleCnt="5"/>
      <dgm:spPr/>
    </dgm:pt>
  </dgm:ptLst>
  <dgm:cxnLst>
    <dgm:cxn modelId="{D6404C00-BB8F-47F6-A3E0-E9AE5168B69E}" srcId="{4790C58F-1623-4B30-8E09-2CA0F33BB139}" destId="{7D320D05-8BC7-49AB-93E1-F512A65ADBB4}" srcOrd="1" destOrd="0" parTransId="{76729AB0-F7FB-43B8-8268-2879B72FF758}" sibTransId="{7A6195CC-C5B6-499B-8C5A-C59F05E11EE6}"/>
    <dgm:cxn modelId="{DC654E60-F4C9-4839-B9F7-FF7CD85FC243}" type="presOf" srcId="{4790C58F-1623-4B30-8E09-2CA0F33BB139}" destId="{E3D2F466-9D2B-489B-8FD7-00A269198811}" srcOrd="0" destOrd="0" presId="urn:microsoft.com/office/officeart/2005/8/layout/process4"/>
    <dgm:cxn modelId="{9CD98B73-AB6F-4E84-90D8-47F6FFBAC76D}" type="presOf" srcId="{F5835A2A-6EED-4CF0-AD6D-9C43F08E8106}" destId="{BF4415FE-1BEA-4AAF-8504-EF442423F26C}" srcOrd="0" destOrd="0" presId="urn:microsoft.com/office/officeart/2005/8/layout/process4"/>
    <dgm:cxn modelId="{BA2A9C55-DAE0-4FAA-B51F-3227B1490E8B}" type="presOf" srcId="{4BC2FB94-54C5-4AA4-8613-4ABB9F2FB0D5}" destId="{449265AB-55D8-4494-95A0-FB133CF562A6}" srcOrd="0" destOrd="0" presId="urn:microsoft.com/office/officeart/2005/8/layout/process4"/>
    <dgm:cxn modelId="{D548CB56-4B7F-4832-B855-6F1B2D31D122}" srcId="{4790C58F-1623-4B30-8E09-2CA0F33BB139}" destId="{5D7624BE-F238-4C3B-897B-9536540A45EC}" srcOrd="3" destOrd="0" parTransId="{DE3ECAEC-D217-4ACD-8F26-7D253DBBBB46}" sibTransId="{312170D2-ED7B-4054-82B8-1D60C8F68B7F}"/>
    <dgm:cxn modelId="{E5EFFFA0-A070-4C0A-9F9B-56FFA56576C5}" type="presOf" srcId="{5D7624BE-F238-4C3B-897B-9536540A45EC}" destId="{6679C54E-D9B3-42D4-8579-0F059BE402E7}" srcOrd="0" destOrd="0" presId="urn:microsoft.com/office/officeart/2005/8/layout/process4"/>
    <dgm:cxn modelId="{601BA4A4-5D6C-40ED-8F48-667E9AF2836A}" srcId="{4790C58F-1623-4B30-8E09-2CA0F33BB139}" destId="{A7B258C5-DA38-4321-BB19-D9CB5619264C}" srcOrd="2" destOrd="0" parTransId="{203A4A45-D67F-4111-8115-F39D8B161CDD}" sibTransId="{CFB66835-E5CB-4D8A-B6C8-1B3B8DF01259}"/>
    <dgm:cxn modelId="{02F270AA-4ABA-474A-B88D-AF4118A95DC5}" srcId="{4790C58F-1623-4B30-8E09-2CA0F33BB139}" destId="{F5835A2A-6EED-4CF0-AD6D-9C43F08E8106}" srcOrd="4" destOrd="0" parTransId="{3B3A9903-4669-470D-9A03-4D8FCA8E328C}" sibTransId="{687F42B4-C2AD-4C27-B6FA-0BF9E906535E}"/>
    <dgm:cxn modelId="{262235C1-EFC5-4940-8DEA-0CA0F4B91211}" type="presOf" srcId="{A7B258C5-DA38-4321-BB19-D9CB5619264C}" destId="{1286EBB1-156A-4900-80F5-B7DA82846AFD}" srcOrd="0" destOrd="0" presId="urn:microsoft.com/office/officeart/2005/8/layout/process4"/>
    <dgm:cxn modelId="{481E6ECA-7582-476F-9F6F-F6D456E97373}" type="presOf" srcId="{7D320D05-8BC7-49AB-93E1-F512A65ADBB4}" destId="{EC9EF89E-2EC9-4197-83CE-6F0E9635859A}" srcOrd="0" destOrd="0" presId="urn:microsoft.com/office/officeart/2005/8/layout/process4"/>
    <dgm:cxn modelId="{BFFBDADC-868D-420E-9208-8F65BF16916D}" srcId="{4790C58F-1623-4B30-8E09-2CA0F33BB139}" destId="{4BC2FB94-54C5-4AA4-8613-4ABB9F2FB0D5}" srcOrd="0" destOrd="0" parTransId="{81142ADE-1E42-4CE9-83A4-2B0D9F638559}" sibTransId="{1E17B9C2-D2AB-4D01-8569-00D12B23D4C7}"/>
    <dgm:cxn modelId="{5C85148E-5CCC-4A95-8B36-C6A100D3BF1C}" type="presParOf" srcId="{E3D2F466-9D2B-489B-8FD7-00A269198811}" destId="{088EA719-2472-4684-87F4-629B6808F521}" srcOrd="0" destOrd="0" presId="urn:microsoft.com/office/officeart/2005/8/layout/process4"/>
    <dgm:cxn modelId="{0BC62B70-DEC5-4EC3-899B-9B33A2D8EEC6}" type="presParOf" srcId="{088EA719-2472-4684-87F4-629B6808F521}" destId="{BF4415FE-1BEA-4AAF-8504-EF442423F26C}" srcOrd="0" destOrd="0" presId="urn:microsoft.com/office/officeart/2005/8/layout/process4"/>
    <dgm:cxn modelId="{FC75D633-9762-46D5-A2F4-24F65D3B523D}" type="presParOf" srcId="{E3D2F466-9D2B-489B-8FD7-00A269198811}" destId="{089D2F7B-F14C-4A92-BB3A-DAA08CAE5848}" srcOrd="1" destOrd="0" presId="urn:microsoft.com/office/officeart/2005/8/layout/process4"/>
    <dgm:cxn modelId="{B93D662E-CE66-4059-BF0F-FCC54DD7B492}" type="presParOf" srcId="{E3D2F466-9D2B-489B-8FD7-00A269198811}" destId="{F9478C95-2D8F-4B5D-9198-EA05C72041D6}" srcOrd="2" destOrd="0" presId="urn:microsoft.com/office/officeart/2005/8/layout/process4"/>
    <dgm:cxn modelId="{E713E305-CD0A-4951-AF0B-3CD82D972D3C}" type="presParOf" srcId="{F9478C95-2D8F-4B5D-9198-EA05C72041D6}" destId="{6679C54E-D9B3-42D4-8579-0F059BE402E7}" srcOrd="0" destOrd="0" presId="urn:microsoft.com/office/officeart/2005/8/layout/process4"/>
    <dgm:cxn modelId="{9723B319-800F-4F9F-A081-17EE5046C0DD}" type="presParOf" srcId="{E3D2F466-9D2B-489B-8FD7-00A269198811}" destId="{9EEDCD11-2912-410C-BF8F-FB8C0E08B1DE}" srcOrd="3" destOrd="0" presId="urn:microsoft.com/office/officeart/2005/8/layout/process4"/>
    <dgm:cxn modelId="{2B5BF700-293F-431D-8048-AF1D14C5AC67}" type="presParOf" srcId="{E3D2F466-9D2B-489B-8FD7-00A269198811}" destId="{67F4FDC1-DDD2-4281-BAE2-FB77EAC45D98}" srcOrd="4" destOrd="0" presId="urn:microsoft.com/office/officeart/2005/8/layout/process4"/>
    <dgm:cxn modelId="{2729B8A6-53C7-460C-A50D-21285C79B0E2}" type="presParOf" srcId="{67F4FDC1-DDD2-4281-BAE2-FB77EAC45D98}" destId="{1286EBB1-156A-4900-80F5-B7DA82846AFD}" srcOrd="0" destOrd="0" presId="urn:microsoft.com/office/officeart/2005/8/layout/process4"/>
    <dgm:cxn modelId="{ABFF2785-B058-4AEA-AB3B-5018FCF77D1E}" type="presParOf" srcId="{E3D2F466-9D2B-489B-8FD7-00A269198811}" destId="{E5FC2BC1-7FA9-42C4-A969-06EE33CAE6B9}" srcOrd="5" destOrd="0" presId="urn:microsoft.com/office/officeart/2005/8/layout/process4"/>
    <dgm:cxn modelId="{12C57EE2-AB40-41F5-A1B2-289C3675A96F}" type="presParOf" srcId="{E3D2F466-9D2B-489B-8FD7-00A269198811}" destId="{1B190E91-BA0B-443D-8EBB-2D0FBA24695A}" srcOrd="6" destOrd="0" presId="urn:microsoft.com/office/officeart/2005/8/layout/process4"/>
    <dgm:cxn modelId="{05E3B187-F9C8-4F12-B9FB-6721722B836C}" type="presParOf" srcId="{1B190E91-BA0B-443D-8EBB-2D0FBA24695A}" destId="{EC9EF89E-2EC9-4197-83CE-6F0E9635859A}" srcOrd="0" destOrd="0" presId="urn:microsoft.com/office/officeart/2005/8/layout/process4"/>
    <dgm:cxn modelId="{A17624A7-2852-43C6-9EE1-61852C7708A8}" type="presParOf" srcId="{E3D2F466-9D2B-489B-8FD7-00A269198811}" destId="{5FA7D69C-ADC5-4D3E-A63E-3177E18C39D9}" srcOrd="7" destOrd="0" presId="urn:microsoft.com/office/officeart/2005/8/layout/process4"/>
    <dgm:cxn modelId="{79ED58EA-1F48-4978-ACA1-C59BFFD3E494}" type="presParOf" srcId="{E3D2F466-9D2B-489B-8FD7-00A269198811}" destId="{9C5F784D-3A5B-40B8-BC6E-96C4885D6DD5}" srcOrd="8" destOrd="0" presId="urn:microsoft.com/office/officeart/2005/8/layout/process4"/>
    <dgm:cxn modelId="{283B2D46-AE72-4B9F-A2F5-B9632C0247FA}" type="presParOf" srcId="{9C5F784D-3A5B-40B8-BC6E-96C4885D6DD5}" destId="{449265AB-55D8-4494-95A0-FB133CF562A6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AFC2CC-272E-41C7-BFE3-402C8025BCAD}" type="doc">
      <dgm:prSet loTypeId="urn:microsoft.com/office/officeart/2005/8/layout/process4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L"/>
        </a:p>
      </dgm:t>
    </dgm:pt>
    <dgm:pt modelId="{E1DB4969-C241-47FC-B362-D33B7566A7C1}">
      <dgm:prSet/>
      <dgm:spPr/>
      <dgm:t>
        <a:bodyPr/>
        <a:lstStyle/>
        <a:p>
          <a:r>
            <a:rPr lang="en-GB" dirty="0"/>
            <a:t>Node belongs to tightly connected group.</a:t>
          </a:r>
        </a:p>
      </dgm:t>
    </dgm:pt>
    <dgm:pt modelId="{33E3E7A2-0F5B-4428-AAA6-F11ED572BD3A}" type="parTrans" cxnId="{B587AE82-CBB6-43F0-8D75-88AF70AAB86E}">
      <dgm:prSet/>
      <dgm:spPr/>
      <dgm:t>
        <a:bodyPr/>
        <a:lstStyle/>
        <a:p>
          <a:endParaRPr lang="en-IL"/>
        </a:p>
      </dgm:t>
    </dgm:pt>
    <dgm:pt modelId="{EDDA025F-C4A6-4E68-A864-31D80BB865E6}" type="sibTrans" cxnId="{B587AE82-CBB6-43F0-8D75-88AF70AAB86E}">
      <dgm:prSet/>
      <dgm:spPr/>
      <dgm:t>
        <a:bodyPr/>
        <a:lstStyle/>
        <a:p>
          <a:endParaRPr lang="en-IL"/>
        </a:p>
      </dgm:t>
    </dgm:pt>
    <dgm:pt modelId="{1B5A5607-E945-4BE9-814D-B0EF59B1C430}">
      <dgm:prSet/>
      <dgm:spPr/>
      <dgm:t>
        <a:bodyPr/>
        <a:lstStyle/>
        <a:p>
          <a:r>
            <a:rPr lang="en-GB" dirty="0"/>
            <a:t>The node/author is suspected to be an IO drive.</a:t>
          </a:r>
          <a:endParaRPr lang="en-IL" dirty="0"/>
        </a:p>
      </dgm:t>
    </dgm:pt>
    <dgm:pt modelId="{DB69DBA9-156D-4A15-9B2E-C28CADCBDCB3}" type="parTrans" cxnId="{AF219688-CE54-47B6-B599-F97074769732}">
      <dgm:prSet/>
      <dgm:spPr/>
      <dgm:t>
        <a:bodyPr/>
        <a:lstStyle/>
        <a:p>
          <a:endParaRPr lang="en-IL"/>
        </a:p>
      </dgm:t>
    </dgm:pt>
    <dgm:pt modelId="{A67FF2E3-02ED-4648-A2B6-DC4F7E2CC307}" type="sibTrans" cxnId="{AF219688-CE54-47B6-B599-F97074769732}">
      <dgm:prSet/>
      <dgm:spPr/>
      <dgm:t>
        <a:bodyPr/>
        <a:lstStyle/>
        <a:p>
          <a:endParaRPr lang="en-IL"/>
        </a:p>
      </dgm:t>
    </dgm:pt>
    <dgm:pt modelId="{1D3C4817-7970-4B83-AF07-61B7E50C9996}">
      <dgm:prSet/>
      <dgm:spPr/>
      <dgm:t>
        <a:bodyPr/>
        <a:lstStyle/>
        <a:p>
          <a:r>
            <a:rPr lang="en-GB" dirty="0"/>
            <a:t>Node has higher core-number.</a:t>
          </a:r>
          <a:endParaRPr lang="en-IL" dirty="0"/>
        </a:p>
      </dgm:t>
    </dgm:pt>
    <dgm:pt modelId="{3EA88241-E0A1-43FA-B7B7-F715EBE467EC}" type="parTrans" cxnId="{6587C595-A3F4-4EB8-97BB-102DD6B18937}">
      <dgm:prSet/>
      <dgm:spPr/>
      <dgm:t>
        <a:bodyPr/>
        <a:lstStyle/>
        <a:p>
          <a:endParaRPr lang="en-IL"/>
        </a:p>
      </dgm:t>
    </dgm:pt>
    <dgm:pt modelId="{73DEDEEA-F614-422F-A1FA-F2DA54935A22}" type="sibTrans" cxnId="{6587C595-A3F4-4EB8-97BB-102DD6B18937}">
      <dgm:prSet/>
      <dgm:spPr/>
      <dgm:t>
        <a:bodyPr/>
        <a:lstStyle/>
        <a:p>
          <a:endParaRPr lang="en-IL"/>
        </a:p>
      </dgm:t>
    </dgm:pt>
    <dgm:pt modelId="{2BD634B8-DA83-49F5-9D02-0914F5E00507}" type="pres">
      <dgm:prSet presAssocID="{48AFC2CC-272E-41C7-BFE3-402C8025BCAD}" presName="Name0" presStyleCnt="0">
        <dgm:presLayoutVars>
          <dgm:dir/>
          <dgm:animLvl val="lvl"/>
          <dgm:resizeHandles val="exact"/>
        </dgm:presLayoutVars>
      </dgm:prSet>
      <dgm:spPr/>
    </dgm:pt>
    <dgm:pt modelId="{03B30CF2-AE31-4DED-84D9-3487159AD3E3}" type="pres">
      <dgm:prSet presAssocID="{1B5A5607-E945-4BE9-814D-B0EF59B1C430}" presName="boxAndChildren" presStyleCnt="0"/>
      <dgm:spPr/>
    </dgm:pt>
    <dgm:pt modelId="{75B552A5-6396-4106-9A4A-445AED3E3CC6}" type="pres">
      <dgm:prSet presAssocID="{1B5A5607-E945-4BE9-814D-B0EF59B1C430}" presName="parentTextBox" presStyleLbl="node1" presStyleIdx="0" presStyleCnt="3"/>
      <dgm:spPr/>
    </dgm:pt>
    <dgm:pt modelId="{F70F5C23-80D2-4CDF-B637-5C57A37CD123}" type="pres">
      <dgm:prSet presAssocID="{73DEDEEA-F614-422F-A1FA-F2DA54935A22}" presName="sp" presStyleCnt="0"/>
      <dgm:spPr/>
    </dgm:pt>
    <dgm:pt modelId="{CD00B53B-13EB-400D-88F7-193FA1084681}" type="pres">
      <dgm:prSet presAssocID="{1D3C4817-7970-4B83-AF07-61B7E50C9996}" presName="arrowAndChildren" presStyleCnt="0"/>
      <dgm:spPr/>
    </dgm:pt>
    <dgm:pt modelId="{3D88F0F6-5629-4C7E-A8D9-55126A1A5A1D}" type="pres">
      <dgm:prSet presAssocID="{1D3C4817-7970-4B83-AF07-61B7E50C9996}" presName="parentTextArrow" presStyleLbl="node1" presStyleIdx="1" presStyleCnt="3"/>
      <dgm:spPr/>
    </dgm:pt>
    <dgm:pt modelId="{ACD862B6-D655-498A-8FA6-1987A91783C3}" type="pres">
      <dgm:prSet presAssocID="{EDDA025F-C4A6-4E68-A864-31D80BB865E6}" presName="sp" presStyleCnt="0"/>
      <dgm:spPr/>
    </dgm:pt>
    <dgm:pt modelId="{2F84B48E-D500-42B4-9D8F-F46FB2AC86EF}" type="pres">
      <dgm:prSet presAssocID="{E1DB4969-C241-47FC-B362-D33B7566A7C1}" presName="arrowAndChildren" presStyleCnt="0"/>
      <dgm:spPr/>
    </dgm:pt>
    <dgm:pt modelId="{5E247E41-6DA2-446C-849F-383AA9AB749B}" type="pres">
      <dgm:prSet presAssocID="{E1DB4969-C241-47FC-B362-D33B7566A7C1}" presName="parentTextArrow" presStyleLbl="node1" presStyleIdx="2" presStyleCnt="3"/>
      <dgm:spPr/>
    </dgm:pt>
  </dgm:ptLst>
  <dgm:cxnLst>
    <dgm:cxn modelId="{D01A194B-4902-4AEB-984F-89B74A0CA810}" type="presOf" srcId="{1D3C4817-7970-4B83-AF07-61B7E50C9996}" destId="{3D88F0F6-5629-4C7E-A8D9-55126A1A5A1D}" srcOrd="0" destOrd="0" presId="urn:microsoft.com/office/officeart/2005/8/layout/process4"/>
    <dgm:cxn modelId="{06589951-9DEE-4002-8EB3-2A6687FE8434}" type="presOf" srcId="{E1DB4969-C241-47FC-B362-D33B7566A7C1}" destId="{5E247E41-6DA2-446C-849F-383AA9AB749B}" srcOrd="0" destOrd="0" presId="urn:microsoft.com/office/officeart/2005/8/layout/process4"/>
    <dgm:cxn modelId="{B587AE82-CBB6-43F0-8D75-88AF70AAB86E}" srcId="{48AFC2CC-272E-41C7-BFE3-402C8025BCAD}" destId="{E1DB4969-C241-47FC-B362-D33B7566A7C1}" srcOrd="0" destOrd="0" parTransId="{33E3E7A2-0F5B-4428-AAA6-F11ED572BD3A}" sibTransId="{EDDA025F-C4A6-4E68-A864-31D80BB865E6}"/>
    <dgm:cxn modelId="{AF219688-CE54-47B6-B599-F97074769732}" srcId="{48AFC2CC-272E-41C7-BFE3-402C8025BCAD}" destId="{1B5A5607-E945-4BE9-814D-B0EF59B1C430}" srcOrd="2" destOrd="0" parTransId="{DB69DBA9-156D-4A15-9B2E-C28CADCBDCB3}" sibTransId="{A67FF2E3-02ED-4648-A2B6-DC4F7E2CC307}"/>
    <dgm:cxn modelId="{6587C595-A3F4-4EB8-97BB-102DD6B18937}" srcId="{48AFC2CC-272E-41C7-BFE3-402C8025BCAD}" destId="{1D3C4817-7970-4B83-AF07-61B7E50C9996}" srcOrd="1" destOrd="0" parTransId="{3EA88241-E0A1-43FA-B7B7-F715EBE467EC}" sibTransId="{73DEDEEA-F614-422F-A1FA-F2DA54935A22}"/>
    <dgm:cxn modelId="{2EDE7EBC-03E1-4B2B-9628-91C115BBE909}" type="presOf" srcId="{48AFC2CC-272E-41C7-BFE3-402C8025BCAD}" destId="{2BD634B8-DA83-49F5-9D02-0914F5E00507}" srcOrd="0" destOrd="0" presId="urn:microsoft.com/office/officeart/2005/8/layout/process4"/>
    <dgm:cxn modelId="{D6D2B3FA-1ED9-49B5-B8F0-0D4F5075905A}" type="presOf" srcId="{1B5A5607-E945-4BE9-814D-B0EF59B1C430}" destId="{75B552A5-6396-4106-9A4A-445AED3E3CC6}" srcOrd="0" destOrd="0" presId="urn:microsoft.com/office/officeart/2005/8/layout/process4"/>
    <dgm:cxn modelId="{524811A3-ED31-4575-8340-647BFFE9B39F}" type="presParOf" srcId="{2BD634B8-DA83-49F5-9D02-0914F5E00507}" destId="{03B30CF2-AE31-4DED-84D9-3487159AD3E3}" srcOrd="0" destOrd="0" presId="urn:microsoft.com/office/officeart/2005/8/layout/process4"/>
    <dgm:cxn modelId="{0E485E5A-0BFB-44E3-91C8-C99EE7848A6A}" type="presParOf" srcId="{03B30CF2-AE31-4DED-84D9-3487159AD3E3}" destId="{75B552A5-6396-4106-9A4A-445AED3E3CC6}" srcOrd="0" destOrd="0" presId="urn:microsoft.com/office/officeart/2005/8/layout/process4"/>
    <dgm:cxn modelId="{4DD398C9-EA8F-4A43-88D9-5ECF6461BDF5}" type="presParOf" srcId="{2BD634B8-DA83-49F5-9D02-0914F5E00507}" destId="{F70F5C23-80D2-4CDF-B637-5C57A37CD123}" srcOrd="1" destOrd="0" presId="urn:microsoft.com/office/officeart/2005/8/layout/process4"/>
    <dgm:cxn modelId="{896EA0C7-4528-4DF7-9D51-8C03109F497C}" type="presParOf" srcId="{2BD634B8-DA83-49F5-9D02-0914F5E00507}" destId="{CD00B53B-13EB-400D-88F7-193FA1084681}" srcOrd="2" destOrd="0" presId="urn:microsoft.com/office/officeart/2005/8/layout/process4"/>
    <dgm:cxn modelId="{60B6883C-5FE5-4D3F-AEA7-F4621454E926}" type="presParOf" srcId="{CD00B53B-13EB-400D-88F7-193FA1084681}" destId="{3D88F0F6-5629-4C7E-A8D9-55126A1A5A1D}" srcOrd="0" destOrd="0" presId="urn:microsoft.com/office/officeart/2005/8/layout/process4"/>
    <dgm:cxn modelId="{C181981F-2F4E-4A88-8C42-009A0D018EC4}" type="presParOf" srcId="{2BD634B8-DA83-49F5-9D02-0914F5E00507}" destId="{ACD862B6-D655-498A-8FA6-1987A91783C3}" srcOrd="3" destOrd="0" presId="urn:microsoft.com/office/officeart/2005/8/layout/process4"/>
    <dgm:cxn modelId="{E7C5AD75-B35D-43EE-B5B9-33458A1E0BE1}" type="presParOf" srcId="{2BD634B8-DA83-49F5-9D02-0914F5E00507}" destId="{2F84B48E-D500-42B4-9D8F-F46FB2AC86EF}" srcOrd="4" destOrd="0" presId="urn:microsoft.com/office/officeart/2005/8/layout/process4"/>
    <dgm:cxn modelId="{A3A7EADA-DAB5-45EA-8BA4-34F5EEC1AE81}" type="presParOf" srcId="{2F84B48E-D500-42B4-9D8F-F46FB2AC86EF}" destId="{5E247E41-6DA2-446C-849F-383AA9AB749B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4415FE-1BEA-4AAF-8504-EF442423F26C}">
      <dsp:nvSpPr>
        <dsp:cNvPr id="0" name=""/>
        <dsp:cNvSpPr/>
      </dsp:nvSpPr>
      <dsp:spPr>
        <a:xfrm>
          <a:off x="0" y="4404986"/>
          <a:ext cx="7072620" cy="7226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</a:t>
          </a:r>
          <a:r>
            <a:rPr lang="en-IL" sz="2400" kern="1200" dirty="0"/>
            <a:t>The feature vectors are used by a machine-learning model to classify each author as an IO driver or </a:t>
          </a:r>
          <a:r>
            <a:rPr lang="en-US" sz="2400" kern="1200" dirty="0"/>
            <a:t>not.</a:t>
          </a:r>
          <a:endParaRPr lang="en-IL" sz="2400" b="0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sp:txBody>
      <dsp:txXfrm>
        <a:off x="0" y="4404986"/>
        <a:ext cx="7072620" cy="722674"/>
      </dsp:txXfrm>
    </dsp:sp>
    <dsp:sp modelId="{6679C54E-D9B3-42D4-8579-0F059BE402E7}">
      <dsp:nvSpPr>
        <dsp:cNvPr id="0" name=""/>
        <dsp:cNvSpPr/>
      </dsp:nvSpPr>
      <dsp:spPr>
        <a:xfrm rot="10800000">
          <a:off x="0" y="3304353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Calibri" panose="020F0502020204030204"/>
              <a:ea typeface="+mn-ea"/>
              <a:cs typeface="+mn-cs"/>
            </a:rPr>
            <a:t>4) </a:t>
          </a:r>
          <a:r>
            <a:rPr lang="en-IL" sz="2400" kern="1200" dirty="0"/>
            <a:t>Each user is represented by a human-readable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3304353"/>
        <a:ext cx="7072620" cy="722202"/>
      </dsp:txXfrm>
    </dsp:sp>
    <dsp:sp modelId="{1286EBB1-156A-4900-80F5-B7DA82846AFD}">
      <dsp:nvSpPr>
        <dsp:cNvPr id="0" name=""/>
        <dsp:cNvSpPr/>
      </dsp:nvSpPr>
      <dsp:spPr>
        <a:xfrm rot="10800000">
          <a:off x="0" y="2203719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3) Graph-based indicators are used to measure     author’s embeddedness.</a:t>
          </a:r>
          <a:endParaRPr lang="en-IL" sz="2400" kern="1200" dirty="0"/>
        </a:p>
      </dsp:txBody>
      <dsp:txXfrm rot="10800000">
        <a:off x="0" y="2203719"/>
        <a:ext cx="7072620" cy="722202"/>
      </dsp:txXfrm>
    </dsp:sp>
    <dsp:sp modelId="{EC9EF89E-2EC9-4197-83CE-6F0E9635859A}">
      <dsp:nvSpPr>
        <dsp:cNvPr id="0" name=""/>
        <dsp:cNvSpPr/>
      </dsp:nvSpPr>
      <dsp:spPr>
        <a:xfrm rot="10800000">
          <a:off x="0" y="1103085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1103085"/>
        <a:ext cx="7072620" cy="722202"/>
      </dsp:txXfrm>
    </dsp:sp>
    <dsp:sp modelId="{449265AB-55D8-4494-95A0-FB133CF562A6}">
      <dsp:nvSpPr>
        <dsp:cNvPr id="0" name=""/>
        <dsp:cNvSpPr/>
      </dsp:nvSpPr>
      <dsp:spPr>
        <a:xfrm rot="10800000">
          <a:off x="0" y="2452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1) Building a co-action graph represents author similarity.</a:t>
          </a:r>
          <a:endParaRPr lang="en-IL" sz="2400" kern="1200" dirty="0"/>
        </a:p>
      </dsp:txBody>
      <dsp:txXfrm rot="10800000">
        <a:off x="0" y="2452"/>
        <a:ext cx="7072620" cy="7222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B552A5-6396-4106-9A4A-445AED3E3CC6}">
      <dsp:nvSpPr>
        <dsp:cNvPr id="0" name=""/>
        <dsp:cNvSpPr/>
      </dsp:nvSpPr>
      <dsp:spPr>
        <a:xfrm>
          <a:off x="0" y="3290500"/>
          <a:ext cx="10582656" cy="108001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The node/author is suspected to be an IO drive.</a:t>
          </a:r>
          <a:endParaRPr lang="en-IL" sz="3800" kern="1200" dirty="0"/>
        </a:p>
      </dsp:txBody>
      <dsp:txXfrm>
        <a:off x="0" y="3290500"/>
        <a:ext cx="10582656" cy="1080015"/>
      </dsp:txXfrm>
    </dsp:sp>
    <dsp:sp modelId="{3D88F0F6-5629-4C7E-A8D9-55126A1A5A1D}">
      <dsp:nvSpPr>
        <dsp:cNvPr id="0" name=""/>
        <dsp:cNvSpPr/>
      </dsp:nvSpPr>
      <dsp:spPr>
        <a:xfrm rot="10800000">
          <a:off x="0" y="1645636"/>
          <a:ext cx="10582656" cy="1661064"/>
        </a:xfrm>
        <a:prstGeom prst="upArrowCallou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Node has higher core-number.</a:t>
          </a:r>
          <a:endParaRPr lang="en-IL" sz="3800" kern="1200" dirty="0"/>
        </a:p>
      </dsp:txBody>
      <dsp:txXfrm rot="10800000">
        <a:off x="0" y="1645636"/>
        <a:ext cx="10582656" cy="1079310"/>
      </dsp:txXfrm>
    </dsp:sp>
    <dsp:sp modelId="{5E247E41-6DA2-446C-849F-383AA9AB749B}">
      <dsp:nvSpPr>
        <dsp:cNvPr id="0" name=""/>
        <dsp:cNvSpPr/>
      </dsp:nvSpPr>
      <dsp:spPr>
        <a:xfrm rot="10800000">
          <a:off x="0" y="772"/>
          <a:ext cx="10582656" cy="1661064"/>
        </a:xfrm>
        <a:prstGeom prst="upArrowCallou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Node belongs to tightly connected group.</a:t>
          </a:r>
        </a:p>
      </dsp:txBody>
      <dsp:txXfrm rot="10800000">
        <a:off x="0" y="772"/>
        <a:ext cx="10582656" cy="1079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כ"ד/תמוז/תשפ"ו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09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09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09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09 יולי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09 יולי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09 יולי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09 יולי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09 יולי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09 יולי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09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09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09 יולי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09 יולי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zenodo.org/records/14189193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956582"/>
            <a:ext cx="6234954" cy="1724819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I Can See </a:t>
            </a:r>
            <a:r>
              <a:rPr lang="en-GB" sz="4000" b="1" dirty="0">
                <a:solidFill>
                  <a:srgbClr val="FF0000"/>
                </a:solidFill>
              </a:rPr>
              <a:t>U</a:t>
            </a:r>
            <a:r>
              <a:rPr lang="en-GB" sz="4000" b="1" dirty="0">
                <a:solidFill>
                  <a:schemeClr val="bg1"/>
                </a:solidFill>
              </a:rPr>
              <a:t>.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Indicator-Based Information Operation Detection and Topic-Aware Analysis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08.07.2026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5F04-2075-5640-5DEC-3A750362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07E5-B275-6452-62FB-2B98BD269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11588-A0A9-88D4-64DC-E215A71D5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5631057" cy="4749032"/>
          </a:xfrm>
        </p:spPr>
        <p:txBody>
          <a:bodyPr>
            <a:noAutofit/>
          </a:bodyPr>
          <a:lstStyle/>
          <a:p>
            <a:r>
              <a:rPr lang="en-IL" sz="3000" dirty="0"/>
              <a:t>Social media platforms have become central spaces for public discourse</a:t>
            </a:r>
            <a:r>
              <a:rPr lang="en-US" sz="3000" dirty="0"/>
              <a:t>.</a:t>
            </a:r>
            <a:endParaRPr lang="en-IL" sz="3000" dirty="0"/>
          </a:p>
          <a:p>
            <a:r>
              <a:rPr lang="en-US" sz="3000" dirty="0"/>
              <a:t>The </a:t>
            </a:r>
            <a:r>
              <a:rPr lang="en-IL" sz="3000" dirty="0"/>
              <a:t>platforms</a:t>
            </a:r>
            <a:r>
              <a:rPr lang="en-US" sz="3000" dirty="0"/>
              <a:t>’</a:t>
            </a:r>
            <a:r>
              <a:rPr lang="en-IL" sz="3000" dirty="0"/>
              <a:t> openness enables malicious actors</a:t>
            </a:r>
            <a:r>
              <a:rPr lang="en-US" sz="3000" dirty="0"/>
              <a:t> </a:t>
            </a:r>
            <a:r>
              <a:rPr lang="en-IL" sz="3000" dirty="0"/>
              <a:t>to manipulate online conversations.</a:t>
            </a:r>
          </a:p>
          <a:p>
            <a:r>
              <a:rPr lang="en-GB" sz="3000" dirty="0"/>
              <a:t>The </a:t>
            </a:r>
            <a:r>
              <a:rPr lang="en-IL" sz="3000" dirty="0"/>
              <a:t>malicious actors</a:t>
            </a:r>
            <a:r>
              <a:rPr lang="en-US" sz="3000" dirty="0"/>
              <a:t> </a:t>
            </a:r>
            <a:r>
              <a:rPr lang="en-GB" sz="3000" dirty="0"/>
              <a:t>preform</a:t>
            </a:r>
            <a:r>
              <a:rPr lang="en-IL" sz="3000" dirty="0"/>
              <a:t> </a:t>
            </a:r>
            <a:r>
              <a:rPr lang="en-GB" sz="3000" dirty="0"/>
              <a:t>information operations (IO)</a:t>
            </a:r>
            <a:r>
              <a:rPr lang="en-IL" sz="3000" dirty="0"/>
              <a:t> </a:t>
            </a:r>
            <a:r>
              <a:rPr lang="en-GB" sz="3000" dirty="0"/>
              <a:t>threatening </a:t>
            </a:r>
            <a:r>
              <a:rPr lang="en-IL" sz="3000" dirty="0"/>
              <a:t>democratic processes, public trust, and societal cohesion.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1C13A7-1923-2D9F-B551-824B61A98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47" y="1546558"/>
            <a:ext cx="5181600" cy="4657017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5F257-DB4A-FAD3-2097-E17D9C5B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889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52B6-F6A0-A5F8-3084-2EFDF779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83EA-9AD0-8D8C-EF0B-B6A71641A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 &amp; Coordination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55DA2-E1AA-6D41-1CC8-89FE07E75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2794501"/>
          </a:xfrm>
        </p:spPr>
        <p:txBody>
          <a:bodyPr>
            <a:normAutofit fontScale="92500" lnSpcReduction="10000"/>
          </a:bodyPr>
          <a:lstStyle/>
          <a:p>
            <a:r>
              <a:rPr lang="en-IL" sz="3200" dirty="0"/>
              <a:t>A single account has limited influence</a:t>
            </a:r>
            <a:r>
              <a:rPr lang="en-US" sz="3200" dirty="0"/>
              <a:t>.</a:t>
            </a:r>
            <a:endParaRPr lang="en-IL" sz="3200" dirty="0"/>
          </a:p>
          <a:p>
            <a:r>
              <a:rPr lang="en-IL" sz="3200" dirty="0"/>
              <a:t>IO</a:t>
            </a:r>
            <a:r>
              <a:rPr lang="en-GB" sz="3200" dirty="0"/>
              <a:t>’s</a:t>
            </a:r>
            <a:r>
              <a:rPr lang="en-IL" sz="3200" dirty="0"/>
              <a:t> rely on groups of accounts acting together</a:t>
            </a:r>
            <a:r>
              <a:rPr lang="en-GB" sz="3200" dirty="0"/>
              <a:t> in coordination</a:t>
            </a:r>
            <a:r>
              <a:rPr lang="en-IL" sz="3200" dirty="0"/>
              <a:t>.</a:t>
            </a:r>
          </a:p>
          <a:p>
            <a:r>
              <a:rPr lang="en-IL" sz="3200" dirty="0"/>
              <a:t>Accounts coordinate b</a:t>
            </a:r>
            <a:r>
              <a:rPr lang="en-US" sz="3200" dirty="0"/>
              <a:t>y</a:t>
            </a:r>
            <a:r>
              <a:rPr lang="en-IL" sz="3200" dirty="0"/>
              <a:t> sharing the same </a:t>
            </a:r>
            <a:r>
              <a:rPr lang="en-US" sz="3200" dirty="0"/>
              <a:t>entities (e.g., </a:t>
            </a:r>
            <a:r>
              <a:rPr lang="en-IL" sz="3200" dirty="0"/>
              <a:t>hashtags</a:t>
            </a:r>
            <a:r>
              <a:rPr lang="en-US" sz="3200" dirty="0"/>
              <a:t>, account mentions)</a:t>
            </a:r>
            <a:r>
              <a:rPr lang="en-IL" sz="3200" dirty="0"/>
              <a:t> </a:t>
            </a:r>
            <a:r>
              <a:rPr lang="en-US" sz="3200" dirty="0"/>
              <a:t>and</a:t>
            </a:r>
            <a:r>
              <a:rPr lang="en-IL" sz="3200" dirty="0"/>
              <a:t> </a:t>
            </a:r>
            <a:r>
              <a:rPr lang="en-US" sz="3200" dirty="0"/>
              <a:t>posts on the same topics</a:t>
            </a:r>
            <a:r>
              <a:rPr lang="en-IL" sz="3200" dirty="0"/>
              <a:t>.</a:t>
            </a:r>
          </a:p>
          <a:p>
            <a:r>
              <a:rPr lang="en-IL" sz="3200" dirty="0"/>
              <a:t>Therefore, identifying coordination is a key step toward detecting IO drivers.</a:t>
            </a:r>
          </a:p>
          <a:p>
            <a:endParaRPr lang="en-IL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023A7-90B0-501B-17AB-CF432067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D85EB279-80AA-7F93-2976-F7AAA96AF9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53" b="2865"/>
          <a:stretch>
            <a:fillRect/>
          </a:stretch>
        </p:blipFill>
        <p:spPr bwMode="auto">
          <a:xfrm>
            <a:off x="3603428" y="4273486"/>
            <a:ext cx="4985144" cy="2556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625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925B1-3CF4-8E9D-B717-3F99155A1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4515-512F-748F-F0F1-FE7A5562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B2338-DB07-7A9B-F0E9-C69CA320E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53035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L" sz="3200" b="1" dirty="0"/>
              <a:t>IO-Driver Detection Methods</a:t>
            </a:r>
            <a:r>
              <a:rPr lang="en-US" sz="3200" b="1" dirty="0"/>
              <a:t>:</a:t>
            </a:r>
          </a:p>
          <a:p>
            <a:r>
              <a:rPr lang="en-IL" sz="3200" dirty="0"/>
              <a:t>Node-Local Methods: </a:t>
            </a:r>
            <a:endParaRPr lang="en-US" sz="3200" dirty="0"/>
          </a:p>
          <a:p>
            <a:pPr lvl="1"/>
            <a:r>
              <a:rPr lang="en-IL" sz="2800" dirty="0"/>
              <a:t>Detect suspicious users </a:t>
            </a:r>
            <a:r>
              <a:rPr lang="en-GB" sz="2800" dirty="0"/>
              <a:t>based on their individual content, activity, and behaviour</a:t>
            </a:r>
            <a:r>
              <a:rPr lang="en-US" sz="2800" dirty="0"/>
              <a:t> </a:t>
            </a:r>
            <a:r>
              <a:rPr lang="en-IL" sz="1900" dirty="0"/>
              <a:t>(</a:t>
            </a:r>
            <a:r>
              <a:rPr lang="en-IL" sz="1900" dirty="0" err="1"/>
              <a:t>Tomaiuolo</a:t>
            </a:r>
            <a:r>
              <a:rPr lang="en-IL" sz="1900" dirty="0"/>
              <a:t> et al., “A Survey on Troll Detection,” 2020).</a:t>
            </a:r>
          </a:p>
          <a:p>
            <a:r>
              <a:rPr lang="en-IL" sz="3200" dirty="0"/>
              <a:t>Network-Based Methods: </a:t>
            </a:r>
            <a:endParaRPr lang="he-IL" sz="3200" dirty="0"/>
          </a:p>
          <a:p>
            <a:pPr lvl="1"/>
            <a:r>
              <a:rPr lang="en-IL" sz="2800" dirty="0"/>
              <a:t>Detect coordinated users from graph structure and behavioural similarity</a:t>
            </a:r>
            <a:r>
              <a:rPr lang="he-IL" sz="2800" dirty="0"/>
              <a:t> </a:t>
            </a:r>
            <a:r>
              <a:rPr lang="en-IL" sz="1900" dirty="0"/>
              <a:t>(Pacheco et al., “Uncovering Coordinated Networks on Social Media,” 2021).</a:t>
            </a:r>
            <a:endParaRPr lang="en-IL" sz="2800" dirty="0"/>
          </a:p>
          <a:p>
            <a:r>
              <a:rPr lang="en-IL" sz="3200" dirty="0"/>
              <a:t>Hybrid Methods</a:t>
            </a:r>
            <a:endParaRPr lang="en-US" sz="3200" dirty="0"/>
          </a:p>
          <a:p>
            <a:pPr lvl="1"/>
            <a:r>
              <a:rPr lang="en-IL" sz="3200" dirty="0"/>
              <a:t>Combine user content with network information </a:t>
            </a:r>
            <a:r>
              <a:rPr lang="en-US" sz="3200" dirty="0"/>
              <a:t>to detect IO drivers </a:t>
            </a:r>
            <a:r>
              <a:rPr lang="en-IL" sz="2400" dirty="0"/>
              <a:t>(</a:t>
            </a:r>
            <a:r>
              <a:rPr lang="en-IL" sz="2400" dirty="0" err="1"/>
              <a:t>Minici</a:t>
            </a:r>
            <a:r>
              <a:rPr lang="en-IL" sz="2400" dirty="0"/>
              <a:t> et al., “IOHunter: Graph Foundation Model to Uncover Online Information Operations,” 2025).</a:t>
            </a:r>
            <a:endParaRPr lang="en-US" sz="2400" dirty="0"/>
          </a:p>
          <a:p>
            <a:pPr marL="457200" lvl="1" indent="0">
              <a:buNone/>
            </a:pPr>
            <a:endParaRPr lang="en-US" sz="2800" dirty="0"/>
          </a:p>
          <a:p>
            <a:pPr marL="0" indent="0" algn="ctr">
              <a:buNone/>
            </a:pPr>
            <a:r>
              <a:rPr lang="en-IL" sz="3800" dirty="0"/>
              <a:t>Limitation: Many methods behave as </a:t>
            </a:r>
            <a:r>
              <a:rPr lang="en-IL" sz="3800" b="1" dirty="0"/>
              <a:t>black boxes</a:t>
            </a:r>
            <a:r>
              <a:rPr lang="en-IL" sz="3800" dirty="0"/>
              <a:t>, providing limited explanations for their</a:t>
            </a:r>
            <a:r>
              <a:rPr lang="en-US" sz="3800" dirty="0"/>
              <a:t> </a:t>
            </a:r>
            <a:r>
              <a:rPr lang="en-IL" sz="3800" dirty="0"/>
              <a:t>predictions.</a:t>
            </a:r>
            <a:endParaRPr lang="en-US" sz="3800" b="1" dirty="0"/>
          </a:p>
          <a:p>
            <a:pPr lvl="1"/>
            <a:endParaRPr lang="en-US" sz="1800" b="1" dirty="0"/>
          </a:p>
          <a:p>
            <a:pPr lvl="1"/>
            <a:endParaRPr lang="en-US" sz="1800" b="1" dirty="0"/>
          </a:p>
          <a:p>
            <a:pPr lvl="1"/>
            <a:endParaRPr lang="en-US" sz="1800" b="1" dirty="0"/>
          </a:p>
          <a:p>
            <a:endParaRPr lang="en-IL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8B0A1-1249-8531-140A-79FDF456D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8405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B815-DA17-3CBD-4DA5-D200F39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2981-4578-9DFA-9B78-6D536D89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Methods</a:t>
            </a:r>
            <a:endParaRPr lang="en-IL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76A4B38D-F573-2F95-62F3-8BE9BF72A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186858"/>
              </p:ext>
            </p:extLst>
          </p:nvPr>
        </p:nvGraphicFramePr>
        <p:xfrm>
          <a:off x="1243087" y="1575486"/>
          <a:ext cx="7072620" cy="5130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5605A-34FF-F4E0-D05D-D1E5A6286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E417-6A10-8FF5-D4F4-A584AA7918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0740" y="2295759"/>
            <a:ext cx="3639113" cy="36003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F1AD01-0DDD-F198-381B-E9E6678A1994}"/>
              </a:ext>
            </a:extLst>
          </p:cNvPr>
          <p:cNvSpPr txBox="1"/>
          <p:nvPr/>
        </p:nvSpPr>
        <p:spPr>
          <a:xfrm>
            <a:off x="8420740" y="1952370"/>
            <a:ext cx="363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Author</a:t>
            </a:r>
            <a:r>
              <a:rPr lang="en-US" dirty="0"/>
              <a:t> </a:t>
            </a:r>
            <a:r>
              <a:rPr lang="en-GB" dirty="0">
                <a:solidFill>
                  <a:prstClr val="black"/>
                </a:solidFill>
              </a:rPr>
              <a:t>feature vector (example)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Methods - Co-Actions Graph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 pair of authors (e.g., posting the same hashtag). Represents </a:t>
            </a:r>
            <a:r>
              <a:rPr lang="en-US" sz="2800" b="1" dirty="0"/>
              <a:t>behavioral similarity</a:t>
            </a:r>
            <a:r>
              <a:rPr lang="en-GB" sz="2800" b="1" dirty="0"/>
              <a:t>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39118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8559D-D4AB-1189-6DD0-329C5923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92BBF2-9CA9-26C8-3306-0EF5D22F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Core-Number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D75CCD-7268-1EC4-7323-66B1D9D4D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453DD-F810-AEB1-6C45-0A9E4E59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1655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20B-572C-EA3E-CBFD-11BAC61A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21181-6B71-F107-01AF-62434DE6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Definition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sz="3600" b="1" dirty="0"/>
                  <a:t>Node</a:t>
                </a:r>
                <a:r>
                  <a:rPr lang="en-GB" sz="3600" dirty="0"/>
                  <a:t> - a single actor/account in the graph. </a:t>
                </a:r>
              </a:p>
              <a:p>
                <a:r>
                  <a:rPr lang="en-GB" sz="3600" b="1" dirty="0"/>
                  <a:t>Subgraph</a:t>
                </a:r>
                <a:r>
                  <a:rPr lang="en-GB" sz="3600" dirty="0"/>
                  <a:t> - a smaller graph made from a subset of nodes and edges from the full graph. </a:t>
                </a:r>
              </a:p>
              <a:p>
                <a:r>
                  <a:rPr lang="en-GB" sz="3600" b="1" dirty="0"/>
                  <a:t>Neighbours</a:t>
                </a:r>
                <a:r>
                  <a:rPr lang="en-GB" sz="3600" dirty="0"/>
                  <a:t> - the nodes directly connected to a given node by an edge.</a:t>
                </a:r>
              </a:p>
              <a:p>
                <a:endParaRPr lang="en-GB" sz="3600" dirty="0"/>
              </a:p>
              <a:p>
                <a:r>
                  <a:rPr lang="en-GB" sz="3600" b="1" dirty="0"/>
                  <a:t>Core-number</a:t>
                </a:r>
                <a:r>
                  <a:rPr lang="en-GB" sz="3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GB" sz="3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3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600" dirty="0"/>
                  <a:t>neighbours </a:t>
                </a:r>
                <a:r>
                  <a:rPr lang="en-GB" sz="3600" u="sng" dirty="0"/>
                  <a:t>within</a:t>
                </a:r>
                <a:r>
                  <a:rPr lang="en-GB" sz="3600" dirty="0"/>
                  <a:t> that subgraph.</a:t>
                </a:r>
                <a:endParaRPr lang="en-IL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  <a:blipFill>
                <a:blip r:embed="rId2"/>
                <a:stretch>
                  <a:fillRect l="-1613" t="-3959" b="-38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812F0-E54C-4F7D-05DA-1110FB27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86094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7EBB-9ADD-4D81-20D6-6746201B9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B3CD8-080B-AA20-3306-2F83ED29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Motivation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9CE5C-A0DA-F3F6-800F-09B5FA1E5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lnSpcReduction="10000"/>
          </a:bodyPr>
          <a:lstStyle/>
          <a:p>
            <a:r>
              <a:rPr lang="en-IL" sz="3600" dirty="0"/>
              <a:t>Core number captures user </a:t>
            </a:r>
            <a:r>
              <a:rPr lang="en-GB" sz="3600" dirty="0"/>
              <a:t>affiliation</a:t>
            </a:r>
            <a:r>
              <a:rPr lang="en-IL" sz="3600" dirty="0"/>
              <a:t> to a </a:t>
            </a:r>
            <a:r>
              <a:rPr lang="en-IL" sz="3600" b="1" dirty="0"/>
              <a:t>densely coordinated group</a:t>
            </a:r>
            <a:r>
              <a:rPr lang="en-IL" sz="3600" dirty="0"/>
              <a:t>.</a:t>
            </a:r>
          </a:p>
          <a:p>
            <a:r>
              <a:rPr lang="en-US" sz="3600" dirty="0"/>
              <a:t>User’s similarity</a:t>
            </a:r>
            <a:r>
              <a:rPr lang="en-IL" sz="3600" dirty="0"/>
              <a:t> with only one or two users is</a:t>
            </a:r>
            <a:r>
              <a:rPr lang="en-US" sz="3600" dirty="0"/>
              <a:t> </a:t>
            </a:r>
            <a:r>
              <a:rPr lang="en-IL" sz="3600" dirty="0"/>
              <a:t>insufficient to produce a high core number.</a:t>
            </a:r>
            <a:endParaRPr lang="en-US" sz="3600" dirty="0"/>
          </a:p>
          <a:p>
            <a:r>
              <a:rPr lang="en-IL" sz="3600" dirty="0"/>
              <a:t>A user embedded in a network where many accounts coordinate with one another will have a high core number.</a:t>
            </a:r>
          </a:p>
          <a:p>
            <a:r>
              <a:rPr lang="en-IL" sz="3600" b="1" dirty="0"/>
              <a:t>Therefore, core number enables us to separate IO drivers from legitimate users.</a:t>
            </a:r>
            <a:endParaRPr lang="en-IL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24614-B785-3AAF-F357-019EEE242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971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717E5-7468-9878-38B1-12643AA86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B8CBB-063A-985D-F9B5-D4BB2CE22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Motivation</a:t>
            </a:r>
            <a:endParaRPr lang="en-IL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40B9B19-14B9-7F86-B47B-5767028649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5380268"/>
              </p:ext>
            </p:extLst>
          </p:nvPr>
        </p:nvGraphicFramePr>
        <p:xfrm>
          <a:off x="1243087" y="1825625"/>
          <a:ext cx="10582656" cy="43712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4E7D3-5764-C737-E79D-E110112B0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32489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F81-1759-7631-FCCD-C2B86D71F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C4968-7120-1977-C518-F3D19EEF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09368-FDF4-B047-F86D-A7F727C5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A1EFBBA8-CA30-26B6-612F-F894F3E62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6D91F2-615E-8B2A-5BF3-DD43C863C4DE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2F4669-9508-4E5A-B24C-22B002FCE751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C3455-0162-56A7-9F57-73B53C64B549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6232-205D-E057-9D18-19CA5F579B02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F02B8-F58B-B4F9-7B80-6387A4DDABE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CEDCF-E414-D5DE-B87D-F89D5BA52BA9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9B6A0-DF6A-5CD7-996A-C3A01D11C97C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4517A-9D8A-70EB-41D1-4C5261EC4380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A3518-5695-0E32-90BD-476955BA4AA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712921-5011-08A5-CC00-D27AEBF9BD05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D82200-163E-4905-F370-F28EA4FFE151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EFE46-D669-1079-661B-A318F9253973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15AFAB-8E07-193A-F7ED-27FDDE52CFB0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5B10CE-B78B-A560-406C-D455F3F371B9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5B288-8DC3-D387-AF1E-D3C58F4750E5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8BDCC-3776-9674-10AE-CAE67CA8BC28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1DC1E2-CFB8-6380-452E-71770B27D50A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3B6211-C6E4-1BBA-7030-3820BC8F64FF}"/>
              </a:ext>
            </a:extLst>
          </p:cNvPr>
          <p:cNvSpPr/>
          <p:nvPr/>
        </p:nvSpPr>
        <p:spPr>
          <a:xfrm rot="1340853">
            <a:off x="5185122" y="1691846"/>
            <a:ext cx="4186974" cy="3126336"/>
          </a:xfrm>
          <a:prstGeom prst="ellipse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76B8-144B-9F99-5CCF-A278CDAFF407}"/>
              </a:ext>
            </a:extLst>
          </p:cNvPr>
          <p:cNvSpPr txBox="1"/>
          <p:nvPr/>
        </p:nvSpPr>
        <p:spPr>
          <a:xfrm rot="1676257">
            <a:off x="7596847" y="1699407"/>
            <a:ext cx="2104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>
                    <a:lumMod val="75000"/>
                  </a:schemeClr>
                </a:solidFill>
              </a:rPr>
              <a:t>IO Drivers</a:t>
            </a:r>
            <a:endParaRPr lang="en-IL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FB36E-45DE-CDBF-18E4-24798133D1EE}"/>
              </a:ext>
            </a:extLst>
          </p:cNvPr>
          <p:cNvSpPr txBox="1"/>
          <p:nvPr/>
        </p:nvSpPr>
        <p:spPr>
          <a:xfrm>
            <a:off x="9351225" y="11130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038791-A184-B391-560C-F39DCF16C891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332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3CE6-E239-7F5C-75D5-0DA0D256C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3D7C8-8EE6-64E5-C5FB-C4CDA586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IL" dirty="0"/>
              <a:t>-</a:t>
            </a:r>
            <a:r>
              <a:rPr lang="en-GB" dirty="0"/>
              <a:t>C</a:t>
            </a:r>
            <a:r>
              <a:rPr lang="en-IL" dirty="0"/>
              <a:t>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9EBD1-1E19-2423-154E-97AC13DB5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600" dirty="0"/>
              <a:t>An IO driver is </a:t>
            </a:r>
            <a:r>
              <a:rPr lang="en-GB" sz="3600" dirty="0"/>
              <a:t>part of </a:t>
            </a:r>
            <a:r>
              <a:rPr lang="en-IL" sz="3600" dirty="0"/>
              <a:t>a network of accounts that </a:t>
            </a:r>
            <a:r>
              <a:rPr lang="en-GB" sz="3600" dirty="0"/>
              <a:t>coordinate</a:t>
            </a:r>
            <a:r>
              <a:rPr lang="en-IL" sz="3600" dirty="0"/>
              <a:t>.</a:t>
            </a:r>
          </a:p>
          <a:p>
            <a:r>
              <a:rPr lang="en-IL" sz="3600" dirty="0"/>
              <a:t>This coordinated group can be identified using the node’s </a:t>
            </a:r>
            <a:r>
              <a:rPr lang="en-IL" sz="3600" b="1" dirty="0"/>
              <a:t>k-core</a:t>
            </a:r>
            <a:r>
              <a:rPr lang="en-IL" sz="3600" dirty="0"/>
              <a:t> in the behavioural-similarity graph.</a:t>
            </a:r>
            <a:endParaRPr lang="en-GB" sz="3600" dirty="0"/>
          </a:p>
          <a:p>
            <a:r>
              <a:rPr lang="en-IL" sz="3600" dirty="0"/>
              <a:t>Investigating this k-core can help reveal the group’s shared objectives, IO motivations, and intended targets.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6F689-B7C2-3DDF-7C4B-0C0B1293B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EDFA0-1515-344B-4E0B-B4A18504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198" b="12173"/>
          <a:stretch>
            <a:fillRect/>
          </a:stretch>
        </p:blipFill>
        <p:spPr>
          <a:xfrm>
            <a:off x="3102000" y="5190136"/>
            <a:ext cx="5987999" cy="147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568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039E-B86D-D32C-4EF0-FA604B11E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D6560F-A6DA-C278-D8DD-8FC517515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Experiments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975D23-C7EF-CD33-D494-5CC3F0365E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402CA-E680-684E-0F51-51C82A1E2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1430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1771B-41D5-552B-1540-3E0FBF7D4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0B7CF-779B-1B9F-5240-902310B1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FA6AF-6A87-4F60-6C3F-FDCBD9A09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 fontScale="55000" lnSpcReduction="20000"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GB" sz="4400" b="1" dirty="0"/>
              <a:t>Labeled </a:t>
            </a:r>
            <a:r>
              <a:rPr lang="en-US" sz="4400" b="1" dirty="0"/>
              <a:t>IO Corpus</a:t>
            </a:r>
            <a:endParaRPr lang="en-US" sz="3600" b="1" dirty="0"/>
          </a:p>
          <a:p>
            <a:pPr marL="285750" indent="-285750">
              <a:lnSpc>
                <a:spcPct val="150000"/>
              </a:lnSpc>
            </a:pPr>
            <a:r>
              <a:rPr lang="en-US" sz="3600" dirty="0"/>
              <a:t>Collection of 26 information operations (IO).</a:t>
            </a:r>
          </a:p>
          <a:p>
            <a:pPr marL="285750" indent="-285750">
              <a:lnSpc>
                <a:spcPct val="150000"/>
              </a:lnSpc>
            </a:pPr>
            <a:r>
              <a:rPr lang="en-US" sz="3600" dirty="0"/>
              <a:t>Campaigns from multiple countries.</a:t>
            </a:r>
          </a:p>
          <a:p>
            <a:pPr marL="285750" indent="-285750">
              <a:lnSpc>
                <a:spcPct val="150000"/>
              </a:lnSpc>
            </a:pPr>
            <a:r>
              <a:rPr lang="en-US" sz="3600" dirty="0"/>
              <a:t>Fully labeled (IO vs. Control accounts).</a:t>
            </a:r>
          </a:p>
          <a:p>
            <a:pPr marL="285750" indent="-285750">
              <a:lnSpc>
                <a:spcPct val="150000"/>
              </a:lnSpc>
            </a:pPr>
            <a:r>
              <a:rPr lang="en-US" sz="3600" dirty="0">
                <a:hlinkClick r:id="rId2"/>
              </a:rPr>
              <a:t>https://zenodo.org/records/14189193</a:t>
            </a:r>
            <a:endParaRPr lang="en-US" sz="3600" dirty="0"/>
          </a:p>
          <a:p>
            <a:pPr>
              <a:lnSpc>
                <a:spcPct val="150000"/>
              </a:lnSpc>
            </a:pPr>
            <a:endParaRPr lang="en-US" sz="3600" b="1" u="sng" dirty="0"/>
          </a:p>
          <a:p>
            <a:pPr>
              <a:lnSpc>
                <a:spcPct val="150000"/>
              </a:lnSpc>
            </a:pPr>
            <a:r>
              <a:rPr lang="en-US" sz="3600" b="1" dirty="0"/>
              <a:t>Ecuador Campaign Dataset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3600" dirty="0"/>
              <a:t>787 IO accounts | 21,138 Control accounts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3600" dirty="0"/>
              <a:t>700K IO tweets | 770K Control tweets</a:t>
            </a:r>
            <a:endParaRPr lang="en-IL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0A2CA-B76F-0291-5272-E2DE4859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991573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FB06-31E1-F12E-61E2-AD9CFD94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6BC6AE-4687-A2A7-935B-0F2E9F915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46" y="1580010"/>
            <a:ext cx="4893567" cy="22973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2AE667-C784-0DA7-5A0E-CB08BA36F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8609" y="1559914"/>
            <a:ext cx="4920610" cy="23100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BDCE7F-99C3-9474-F9E6-66CB34E19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Core Number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2D5A9-A078-1290-ACCC-0C6203E31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23E22-B25F-6C61-B14B-75EEE667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D85B4F-AF7F-749F-77C1-315E6E06566E}"/>
              </a:ext>
            </a:extLst>
          </p:cNvPr>
          <p:cNvSpPr txBox="1"/>
          <p:nvPr/>
        </p:nvSpPr>
        <p:spPr>
          <a:xfrm>
            <a:off x="6659873" y="1186618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E0586-5C53-F6ED-1E5A-96C49F4642C9}"/>
              </a:ext>
            </a:extLst>
          </p:cNvPr>
          <p:cNvSpPr txBox="1"/>
          <p:nvPr/>
        </p:nvSpPr>
        <p:spPr>
          <a:xfrm>
            <a:off x="1440246" y="6223634"/>
            <a:ext cx="6923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Cumulative distribution: proportion of IO drivers by Core Number threshold (≤ / ≥)</a:t>
            </a:r>
            <a:endParaRPr lang="en-IL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D8B88D7-4ED4-985E-8371-C40F0673F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939" y="3917576"/>
            <a:ext cx="4893567" cy="2252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FBE902-A18C-18D2-66ED-BC4E7994D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6984" y="3953617"/>
            <a:ext cx="4863860" cy="232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546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F4426-938D-DED9-F61F-1488E4F33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24EFC-3943-4271-DC87-8F6DA52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F4872-7C96-34B8-BFB5-C94EB1871B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5710657" cy="4749032"/>
          </a:xfrm>
        </p:spPr>
        <p:txBody>
          <a:bodyPr>
            <a:noAutofit/>
          </a:bodyPr>
          <a:lstStyle/>
          <a:p>
            <a:r>
              <a:rPr lang="en-IL" sz="3200" dirty="0"/>
              <a:t>One of the authors with the highest core number was selected</a:t>
            </a:r>
            <a:r>
              <a:rPr lang="en-GB" sz="3200" dirty="0"/>
              <a:t>:</a:t>
            </a:r>
          </a:p>
          <a:p>
            <a:pPr lvl="1"/>
            <a:r>
              <a:rPr lang="en-IL" sz="1500" dirty="0"/>
              <a:t>Account ID:</a:t>
            </a:r>
            <a:r>
              <a:rPr lang="en-GB" sz="1500" dirty="0"/>
              <a:t> </a:t>
            </a:r>
            <a:r>
              <a:rPr lang="en-IL" sz="1500" dirty="0"/>
              <a:t>71cc57155d061d447c2c65756c7dfd6873e403a097</a:t>
            </a:r>
            <a:endParaRPr lang="en-GB" sz="1500" dirty="0"/>
          </a:p>
          <a:p>
            <a:pPr lvl="1"/>
            <a:r>
              <a:rPr lang="en-IL" sz="1500" dirty="0"/>
              <a:t>Core number: 106 </a:t>
            </a:r>
            <a:endParaRPr lang="en-GB" sz="1500" dirty="0"/>
          </a:p>
          <a:p>
            <a:r>
              <a:rPr lang="en-IL" sz="3200" dirty="0"/>
              <a:t>The corresponding </a:t>
            </a:r>
            <a:r>
              <a:rPr lang="en-IL" sz="3200" b="1" dirty="0"/>
              <a:t>k-core</a:t>
            </a:r>
            <a:r>
              <a:rPr lang="en-IL" sz="3200" dirty="0"/>
              <a:t> was extracted. </a:t>
            </a:r>
            <a:endParaRPr lang="en-GB" sz="3200" dirty="0"/>
          </a:p>
          <a:p>
            <a:r>
              <a:rPr lang="en-IL" sz="3200" dirty="0"/>
              <a:t>The k-core contains </a:t>
            </a:r>
            <a:r>
              <a:rPr lang="en-IL" sz="3200" b="1" dirty="0"/>
              <a:t>107 nodes</a:t>
            </a:r>
            <a:r>
              <a:rPr lang="en-IL" sz="3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72417-CA92-53AF-A865-04034A0FF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16</a:t>
            </a:fld>
            <a:endParaRPr lang="he-IL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90FD3490-4134-E81B-C98D-2210844729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36" t="8037" r="8100" b="7627"/>
          <a:stretch>
            <a:fillRect/>
          </a:stretch>
        </p:blipFill>
        <p:spPr>
          <a:xfrm>
            <a:off x="6841153" y="1727200"/>
            <a:ext cx="5181600" cy="4360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827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5A739-4D45-99F4-2BC9-75A9F3306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04ED6-11D7-12A9-2265-F75A40934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8AA8F-DD88-0598-AD39-6E3410D8DA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9215857" cy="4749032"/>
          </a:xfrm>
        </p:spPr>
        <p:txBody>
          <a:bodyPr>
            <a:noAutofit/>
          </a:bodyPr>
          <a:lstStyle/>
          <a:p>
            <a:r>
              <a:rPr lang="en-GB" sz="3200" dirty="0"/>
              <a:t>Three</a:t>
            </a:r>
            <a:r>
              <a:rPr lang="en-IL" sz="3200" dirty="0"/>
              <a:t> </a:t>
            </a:r>
            <a:r>
              <a:rPr lang="en-GB" sz="3200" dirty="0"/>
              <a:t>accounts/nodes</a:t>
            </a:r>
            <a:r>
              <a:rPr lang="en-IL" sz="3200" dirty="0"/>
              <a:t> from the same k-core were selected</a:t>
            </a:r>
            <a:r>
              <a:rPr lang="en-GB" sz="3200" dirty="0"/>
              <a:t> at random</a:t>
            </a:r>
            <a:r>
              <a:rPr lang="en-IL" sz="3200" dirty="0"/>
              <a:t> for </a:t>
            </a:r>
            <a:r>
              <a:rPr lang="en-GB" sz="3200" dirty="0"/>
              <a:t>deep analysis:</a:t>
            </a:r>
          </a:p>
          <a:p>
            <a:pPr lvl="1"/>
            <a:r>
              <a:rPr lang="en-GB" sz="2400" dirty="0"/>
              <a:t>Account: </a:t>
            </a:r>
            <a:r>
              <a:rPr lang="en-IL" sz="2400" dirty="0"/>
              <a:t>71cc57155d061d447c2c65756c7dfd6873e403a097</a:t>
            </a:r>
            <a:r>
              <a:rPr lang="en-GB" sz="2400" dirty="0"/>
              <a:t> </a:t>
            </a:r>
          </a:p>
          <a:p>
            <a:pPr lvl="1"/>
            <a:r>
              <a:rPr lang="en-GB" sz="2400" dirty="0"/>
              <a:t>Account: </a:t>
            </a:r>
            <a:r>
              <a:rPr lang="en-IL" sz="2400" dirty="0"/>
              <a:t>4356e554e26d3b89f45ecfdee41cc2bd57a86bf2bb</a:t>
            </a:r>
            <a:endParaRPr lang="en-GB" sz="2400" dirty="0"/>
          </a:p>
          <a:p>
            <a:pPr lvl="1"/>
            <a:r>
              <a:rPr lang="en-GB" sz="2400" dirty="0"/>
              <a:t>Account: </a:t>
            </a:r>
            <a:r>
              <a:rPr lang="en-IL" sz="2400" dirty="0"/>
              <a:t>712125a6c1b43b2c54bfbc73386d54d6d35a3f9d0f</a:t>
            </a:r>
            <a:endParaRPr lang="en-GB" sz="2400" dirty="0"/>
          </a:p>
          <a:p>
            <a:pPr lvl="1"/>
            <a:endParaRPr lang="en-GB" dirty="0"/>
          </a:p>
          <a:p>
            <a:pPr lvl="1"/>
            <a:endParaRPr lang="en-GB" sz="3000" dirty="0"/>
          </a:p>
          <a:p>
            <a:endParaRPr lang="en-IL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6E8B1-AD2D-D7D9-1B06-A1BEC7EC9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36239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7A97E-3EEF-22AD-3195-B7C3B735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87371-0D0D-5C34-DBC3-9AD34ACFB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462" y="-55282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 - Word Cloud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44270-F2B8-1F26-07D1-8CFF4D03A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18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6B63D4-DBEB-D4C9-9C41-EA06F53EB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326" y="3883018"/>
            <a:ext cx="4664931" cy="252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65D565B-4429-F136-7A4F-077C66991C54}"/>
              </a:ext>
            </a:extLst>
          </p:cNvPr>
          <p:cNvSpPr txBox="1"/>
          <p:nvPr/>
        </p:nvSpPr>
        <p:spPr>
          <a:xfrm>
            <a:off x="1529326" y="6403018"/>
            <a:ext cx="4566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dirty="0"/>
              <a:t>Account: </a:t>
            </a:r>
            <a:r>
              <a:rPr lang="en-IL" sz="1400" dirty="0"/>
              <a:t>4356e554e26d3b89f45ecfdee41cc2bd57a86bf2bb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6A9B18-3112-DC1E-E49B-B42498155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199" y="2502945"/>
            <a:ext cx="4664932" cy="252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A3FB6A-80C6-BE5D-4AE3-989114FE7CB2}"/>
              </a:ext>
            </a:extLst>
          </p:cNvPr>
          <p:cNvSpPr txBox="1"/>
          <p:nvPr/>
        </p:nvSpPr>
        <p:spPr>
          <a:xfrm>
            <a:off x="7109012" y="4981435"/>
            <a:ext cx="45611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dirty="0"/>
              <a:t>Account: </a:t>
            </a:r>
            <a:r>
              <a:rPr lang="en-IL" sz="1400" dirty="0"/>
              <a:t>71cc57155d061d447c2c65756c7dfd6873e403a097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CB8A62-3788-74C2-C02D-A15EE6DA3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326" y="909000"/>
            <a:ext cx="4664931" cy="252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479A7F8-7A03-F3B0-6624-B225A91D0D7C}"/>
              </a:ext>
            </a:extLst>
          </p:cNvPr>
          <p:cNvSpPr txBox="1"/>
          <p:nvPr/>
        </p:nvSpPr>
        <p:spPr>
          <a:xfrm>
            <a:off x="1529326" y="3382717"/>
            <a:ext cx="46649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dirty="0"/>
              <a:t>Account: </a:t>
            </a:r>
            <a:r>
              <a:rPr lang="en-IL" sz="1400" dirty="0"/>
              <a:t>712125a6c1b43b2c54bfbc73386d54d6d35a3f9d0f</a:t>
            </a:r>
          </a:p>
        </p:txBody>
      </p:sp>
    </p:spTree>
    <p:extLst>
      <p:ext uri="{BB962C8B-B14F-4D97-AF65-F5344CB8AC3E}">
        <p14:creationId xmlns:p14="http://schemas.microsoft.com/office/powerpoint/2010/main" val="1084040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F1D631C-0474-31A2-8F4A-253AE6BB3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3302A-DA36-40AE-FEB5-58196BE76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462" y="-55282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 – Top Posts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7C468-10F2-3E81-3E4F-33E979828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19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5A9A0-E4E7-9D8E-1B78-578AEA1FA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567" y="931251"/>
            <a:ext cx="8941869" cy="530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473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4F1B31F-78F0-7858-AE46-3A6AB43B7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DE87F-7930-4BE1-329A-4F3A5152B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462" y="-55282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 – Top Posts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F2D2A-63D8-B77A-FF2E-BBC8A572A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20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FA35B5-148A-4935-0918-A1F0A7625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849" y="870615"/>
            <a:ext cx="10588302" cy="546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335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C57CEC8-F28B-AF96-D25C-C5077F7AD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77C7-2976-BAF7-7BC0-B94298F56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7462" y="-55282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 – Top Posts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CD51B-F403-C5B4-93EF-0481AFDB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21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02696E-EA6C-CB4E-05BF-C2B2F127F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064" y="1925054"/>
            <a:ext cx="11083755" cy="35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302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42A-F510-7C65-32F1-A544A746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BB102-22E0-0E06-AC02-410F9C668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K-Core Example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BA1CA-6FD8-B53B-BA40-ABEF486382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0" y="1821101"/>
            <a:ext cx="10381269" cy="47490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L" sz="2600" dirty="0"/>
              <a:t>An LLM</a:t>
            </a:r>
            <a:r>
              <a:rPr lang="en-GB" sz="2600" dirty="0"/>
              <a:t> </a:t>
            </a:r>
            <a:r>
              <a:rPr lang="en-GB" sz="1800" dirty="0"/>
              <a:t>(</a:t>
            </a:r>
            <a:r>
              <a:rPr lang="en-IL" sz="1800" dirty="0"/>
              <a:t>OpenAI ChatGPT web interface</a:t>
            </a:r>
            <a:r>
              <a:rPr lang="en-GB" sz="1800" dirty="0"/>
              <a:t>)</a:t>
            </a:r>
            <a:r>
              <a:rPr lang="en-IL" sz="1800" dirty="0"/>
              <a:t> </a:t>
            </a:r>
            <a:r>
              <a:rPr lang="en-IL" sz="2600" dirty="0"/>
              <a:t>was provided with the top 10 posts from each account, ranked by TF-IDF score. The </a:t>
            </a:r>
            <a:r>
              <a:rPr lang="en-GB" sz="2600" dirty="0"/>
              <a:t>model</a:t>
            </a:r>
            <a:r>
              <a:rPr lang="en-IL" sz="2600" dirty="0"/>
              <a:t> identified the following patterns:</a:t>
            </a:r>
            <a:endParaRPr lang="en-GB" sz="2600" dirty="0"/>
          </a:p>
          <a:p>
            <a:pPr marL="514350" indent="-514350">
              <a:buAutoNum type="arabicPeriod"/>
            </a:pPr>
            <a:r>
              <a:rPr lang="en-IL" sz="2600" dirty="0"/>
              <a:t>Promotion of the Ecuadorian president and government policies.</a:t>
            </a:r>
            <a:endParaRPr lang="en-GB" sz="2600" dirty="0"/>
          </a:p>
          <a:p>
            <a:pPr marL="514350" indent="-514350">
              <a:buAutoNum type="arabicPeriod"/>
            </a:pPr>
            <a:r>
              <a:rPr lang="en-IL" sz="2600" dirty="0"/>
              <a:t>Emphasis on social programs, security, democracy, and government achievements.</a:t>
            </a:r>
            <a:endParaRPr lang="en-GB" sz="2600" dirty="0"/>
          </a:p>
          <a:p>
            <a:pPr marL="514350" indent="-514350">
              <a:buAutoNum type="arabicPeriod"/>
            </a:pPr>
            <a:r>
              <a:rPr lang="en-IL" sz="2600" dirty="0"/>
              <a:t>Reuse of similar supportive language across accounts.</a:t>
            </a:r>
            <a:endParaRPr lang="en-GB" sz="2600" dirty="0"/>
          </a:p>
          <a:p>
            <a:pPr marL="514350" indent="-514350">
              <a:buAutoNum type="arabicPeriod"/>
            </a:pPr>
            <a:r>
              <a:rPr lang="en-IL" sz="2600" dirty="0"/>
              <a:t>Unusually repetitive references to EU legal and institutional content.</a:t>
            </a:r>
            <a:endParaRPr lang="en-GB" sz="2600" dirty="0"/>
          </a:p>
          <a:p>
            <a:pPr marL="514350" indent="-514350">
              <a:buAutoNum type="arabicPeriod"/>
            </a:pPr>
            <a:r>
              <a:rPr lang="en-IL" sz="2600" b="1" dirty="0"/>
              <a:t>Shared narratives that may indicate coordinated or automated activity.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6EB3C-4883-D0C2-5697-AD8345913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02338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9" y="401637"/>
            <a:ext cx="6108802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Information Gain 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23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a statistical method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CE284-809A-A65C-BDD2-3AC44719FA4E}"/>
              </a:ext>
            </a:extLst>
          </p:cNvPr>
          <p:cNvSpPr/>
          <p:nvPr/>
        </p:nvSpPr>
        <p:spPr>
          <a:xfrm rot="8053005">
            <a:off x="2398790" y="4289898"/>
            <a:ext cx="1550640" cy="3210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CB437-4137-2CDD-001F-7C3EEC1128F7}"/>
              </a:ext>
            </a:extLst>
          </p:cNvPr>
          <p:cNvSpPr txBox="1"/>
          <p:nvPr/>
        </p:nvSpPr>
        <p:spPr>
          <a:xfrm>
            <a:off x="9510668" y="1727200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65858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SHAP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24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179" y="2340414"/>
            <a:ext cx="5911564" cy="342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70" y="2368126"/>
            <a:ext cx="5162180" cy="34018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 on Ecuador Campaign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239BF7-A475-CC65-7EE7-9930284821BC}"/>
              </a:ext>
            </a:extLst>
          </p:cNvPr>
          <p:cNvSpPr/>
          <p:nvPr/>
        </p:nvSpPr>
        <p:spPr>
          <a:xfrm>
            <a:off x="945292" y="2829161"/>
            <a:ext cx="844358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61CCB-ED27-8FB9-F58E-5F2C97748B71}"/>
              </a:ext>
            </a:extLst>
          </p:cNvPr>
          <p:cNvSpPr/>
          <p:nvPr/>
        </p:nvSpPr>
        <p:spPr>
          <a:xfrm>
            <a:off x="6484869" y="2848617"/>
            <a:ext cx="1079771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31428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2F9F7-41B1-94DB-DF22-F55ACB08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2BBF9-0E3C-681A-3988-D94249FD1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Indicators Comparison &amp; </a:t>
            </a:r>
            <a:br>
              <a:rPr lang="en-GB" dirty="0"/>
            </a:br>
            <a:r>
              <a:rPr lang="en-GB" dirty="0"/>
              <a:t>Core Number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04AFD-E726-8FE1-E44A-02D120D0E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769728"/>
          </a:xfrm>
        </p:spPr>
        <p:txBody>
          <a:bodyPr>
            <a:normAutofit/>
          </a:bodyPr>
          <a:lstStyle/>
          <a:p>
            <a:r>
              <a:rPr lang="en-IL" sz="3600" dirty="0"/>
              <a:t>Core number alone achieves </a:t>
            </a:r>
            <a:r>
              <a:rPr lang="en-US" sz="3600" dirty="0"/>
              <a:t>high</a:t>
            </a:r>
            <a:r>
              <a:rPr lang="en-IL" sz="3600" dirty="0"/>
              <a:t> AUC </a:t>
            </a:r>
            <a:r>
              <a:rPr lang="en-US" sz="3600" dirty="0"/>
              <a:t>and </a:t>
            </a:r>
            <a:r>
              <a:rPr lang="en-IL" sz="3600" dirty="0"/>
              <a:t>F1.</a:t>
            </a:r>
            <a:endParaRPr lang="en-US" sz="3600" dirty="0"/>
          </a:p>
          <a:p>
            <a:r>
              <a:rPr lang="en-IL" sz="3600" dirty="0"/>
              <a:t>Other indicators add little improvement.</a:t>
            </a:r>
            <a:endParaRPr lang="en-US" sz="3600" dirty="0"/>
          </a:p>
          <a:p>
            <a:r>
              <a:rPr lang="en-IL" sz="3600" dirty="0"/>
              <a:t>Core number captures most of the IO detection signal.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7B375-87F2-AAA2-0C4B-54AE2279C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8BF298-48E5-891C-4401-BCFF53042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268" y="3704712"/>
            <a:ext cx="4459733" cy="26394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BA0C29-7F98-2C0E-EE97-275D417FA6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04711"/>
            <a:ext cx="4459733" cy="26394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1DF53D-BE27-EA0D-B62E-B1D692635A63}"/>
              </a:ext>
            </a:extLst>
          </p:cNvPr>
          <p:cNvSpPr txBox="1"/>
          <p:nvPr/>
        </p:nvSpPr>
        <p:spPr>
          <a:xfrm>
            <a:off x="4840489" y="6250457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242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15898</TotalTime>
  <Words>1005</Words>
  <Application>Microsoft Office PowerPoint</Application>
  <PresentationFormat>Widescreen</PresentationFormat>
  <Paragraphs>157</Paragraphs>
  <Slides>25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I Can See U. Indicator-Based Information Operation Detection and Topic-Aware Analysis</vt:lpstr>
      <vt:lpstr>Motivation</vt:lpstr>
      <vt:lpstr>IO &amp; Coordination</vt:lpstr>
      <vt:lpstr>Related Work</vt:lpstr>
      <vt:lpstr>Methods</vt:lpstr>
      <vt:lpstr>Methods - Co-Actions Graph </vt:lpstr>
      <vt:lpstr>Core-Number</vt:lpstr>
      <vt:lpstr>Core Number - Definition</vt:lpstr>
      <vt:lpstr>Core Number - Motivation</vt:lpstr>
      <vt:lpstr>Core Number - Motivation</vt:lpstr>
      <vt:lpstr>Core Number - Example</vt:lpstr>
      <vt:lpstr>K-Core</vt:lpstr>
      <vt:lpstr>Experiments</vt:lpstr>
      <vt:lpstr>Datasets</vt:lpstr>
      <vt:lpstr>Core Number</vt:lpstr>
      <vt:lpstr>K-Core Example</vt:lpstr>
      <vt:lpstr>K-Core Example</vt:lpstr>
      <vt:lpstr>K-Core Example - Word Cloud</vt:lpstr>
      <vt:lpstr>K-Core Example – Top Posts</vt:lpstr>
      <vt:lpstr>K-Core Example – Top Posts</vt:lpstr>
      <vt:lpstr>K-Core Example – Top Posts</vt:lpstr>
      <vt:lpstr>K-Core Example</vt:lpstr>
      <vt:lpstr>Indicators Comparison- Information Gain  </vt:lpstr>
      <vt:lpstr>Indicators Comparison- SHAP </vt:lpstr>
      <vt:lpstr>Indicators Comparison &amp;  Core Number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552</cp:revision>
  <dcterms:created xsi:type="dcterms:W3CDTF">2021-05-04T15:24:24Z</dcterms:created>
  <dcterms:modified xsi:type="dcterms:W3CDTF">2026-07-09T10:02:25Z</dcterms:modified>
</cp:coreProperties>
</file>