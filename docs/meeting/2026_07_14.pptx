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1574" r:id="rId2"/>
    <p:sldId id="1762" r:id="rId3"/>
    <p:sldId id="1763" r:id="rId4"/>
    <p:sldId id="1764" r:id="rId5"/>
    <p:sldId id="1780" r:id="rId6"/>
    <p:sldId id="1591" r:id="rId7"/>
    <p:sldId id="1740" r:id="rId8"/>
    <p:sldId id="1738" r:id="rId9"/>
    <p:sldId id="1783" r:id="rId10"/>
    <p:sldId id="1749" r:id="rId11"/>
    <p:sldId id="1772" r:id="rId12"/>
    <p:sldId id="1649" r:id="rId13"/>
    <p:sldId id="1768" r:id="rId14"/>
    <p:sldId id="1770" r:id="rId15"/>
    <p:sldId id="1757" r:id="rId16"/>
    <p:sldId id="1773" r:id="rId17"/>
    <p:sldId id="1775" r:id="rId18"/>
    <p:sldId id="1774" r:id="rId19"/>
    <p:sldId id="1729" r:id="rId20"/>
    <p:sldId id="1730" r:id="rId21"/>
    <p:sldId id="1767" r:id="rId22"/>
    <p:sldId id="1782" r:id="rId23"/>
    <p:sldId id="1777" r:id="rId24"/>
    <p:sldId id="1778" r:id="rId25"/>
    <p:sldId id="1779" r:id="rId26"/>
  </p:sldIdLst>
  <p:sldSz cx="12192000" cy="6858000"/>
  <p:notesSz cx="6858000" cy="9144000"/>
  <p:defaultTextStyle>
    <a:defPPr>
      <a:defRPr lang="he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A84E6CC-2EA2-4553-A6A4-DAF877036261}">
          <p14:sldIdLst>
            <p14:sldId id="1574"/>
            <p14:sldId id="1762"/>
            <p14:sldId id="1763"/>
            <p14:sldId id="1764"/>
            <p14:sldId id="1780"/>
            <p14:sldId id="1591"/>
          </p14:sldIdLst>
        </p14:section>
        <p14:section name="Core-Number" id="{2F1E73D5-870F-4091-9492-A1102BE33EA1}">
          <p14:sldIdLst>
            <p14:sldId id="1740"/>
            <p14:sldId id="1738"/>
            <p14:sldId id="1783"/>
            <p14:sldId id="1749"/>
            <p14:sldId id="1772"/>
            <p14:sldId id="1649"/>
            <p14:sldId id="1768"/>
            <p14:sldId id="1770"/>
            <p14:sldId id="1757"/>
            <p14:sldId id="1773"/>
            <p14:sldId id="1775"/>
            <p14:sldId id="1774"/>
            <p14:sldId id="1729"/>
            <p14:sldId id="1730"/>
            <p14:sldId id="1767"/>
            <p14:sldId id="1782"/>
            <p14:sldId id="1777"/>
            <p14:sldId id="1778"/>
            <p14:sldId id="177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A0808"/>
    <a:srgbClr val="800000"/>
    <a:srgbClr val="F59120"/>
    <a:srgbClr val="FE0101"/>
    <a:srgbClr val="F58377"/>
    <a:srgbClr val="FF4343"/>
    <a:srgbClr val="548235"/>
    <a:srgbClr val="009DBB"/>
    <a:srgbClr val="0688BA"/>
    <a:srgbClr val="0054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7C22B0-1B1F-4096-9F31-E1A514B5F88D}" v="1" dt="2026-07-09T16:17:02.34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386"/>
    <p:restoredTop sz="95000" autoAdjust="0"/>
  </p:normalViewPr>
  <p:slideViewPr>
    <p:cSldViewPr snapToGrid="0">
      <p:cViewPr varScale="1">
        <p:scale>
          <a:sx n="120" d="100"/>
          <a:sy n="120" d="100"/>
        </p:scale>
        <p:origin x="936" y="19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389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mi Puzis (BGU)" userId="15455a32-cfa8-4f75-8502-2ebc95aecdb5" providerId="ADAL" clId="{4265CB22-AB32-4CA3-BC7A-725B25B9B1D8}"/>
    <pc:docChg chg="undo custSel modSld">
      <pc:chgData name="Rami Puzis (BGU)" userId="15455a32-cfa8-4f75-8502-2ebc95aecdb5" providerId="ADAL" clId="{4265CB22-AB32-4CA3-BC7A-725B25B9B1D8}" dt="2026-07-09T16:20:10.394" v="123" actId="207"/>
      <pc:docMkLst>
        <pc:docMk/>
      </pc:docMkLst>
      <pc:sldChg chg="modSp mod">
        <pc:chgData name="Rami Puzis (BGU)" userId="15455a32-cfa8-4f75-8502-2ebc95aecdb5" providerId="ADAL" clId="{4265CB22-AB32-4CA3-BC7A-725B25B9B1D8}" dt="2026-07-09T16:17:53.445" v="79" actId="20577"/>
        <pc:sldMkLst>
          <pc:docMk/>
          <pc:sldMk cId="3988943813" sldId="1762"/>
        </pc:sldMkLst>
        <pc:spChg chg="mod">
          <ac:chgData name="Rami Puzis (BGU)" userId="15455a32-cfa8-4f75-8502-2ebc95aecdb5" providerId="ADAL" clId="{4265CB22-AB32-4CA3-BC7A-725B25B9B1D8}" dt="2026-07-09T16:17:53.445" v="79" actId="20577"/>
          <ac:spMkLst>
            <pc:docMk/>
            <pc:sldMk cId="3988943813" sldId="1762"/>
            <ac:spMk id="3" creationId="{DFC11588-A0A9-88D4-64DC-E215A71D589A}"/>
          </ac:spMkLst>
        </pc:spChg>
      </pc:sldChg>
      <pc:sldChg chg="modSp mod">
        <pc:chgData name="Rami Puzis (BGU)" userId="15455a32-cfa8-4f75-8502-2ebc95aecdb5" providerId="ADAL" clId="{4265CB22-AB32-4CA3-BC7A-725B25B9B1D8}" dt="2026-07-09T16:20:10.394" v="123" actId="207"/>
        <pc:sldMkLst>
          <pc:docMk/>
          <pc:sldMk cId="3369625186" sldId="1763"/>
        </pc:sldMkLst>
        <pc:spChg chg="mod">
          <ac:chgData name="Rami Puzis (BGU)" userId="15455a32-cfa8-4f75-8502-2ebc95aecdb5" providerId="ADAL" clId="{4265CB22-AB32-4CA3-BC7A-725B25B9B1D8}" dt="2026-07-09T16:20:10.394" v="123" actId="207"/>
          <ac:spMkLst>
            <pc:docMk/>
            <pc:sldMk cId="3369625186" sldId="1763"/>
            <ac:spMk id="3" creationId="{05C55DA2-E1AA-6D41-1CC8-89FE07E7563E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8AFC2CC-272E-41C7-BFE3-402C8025BCAD}" type="doc">
      <dgm:prSet loTypeId="urn:microsoft.com/office/officeart/2005/8/layout/process4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IL"/>
        </a:p>
      </dgm:t>
    </dgm:pt>
    <dgm:pt modelId="{E1DB4969-C241-47FC-B362-D33B7566A7C1}">
      <dgm:prSet/>
      <dgm:spPr/>
      <dgm:t>
        <a:bodyPr/>
        <a:lstStyle/>
        <a:p>
          <a:r>
            <a:rPr lang="en-GB" dirty="0"/>
            <a:t>Account is embedded in a large, tightly coordinated group.</a:t>
          </a:r>
        </a:p>
      </dgm:t>
    </dgm:pt>
    <dgm:pt modelId="{33E3E7A2-0F5B-4428-AAA6-F11ED572BD3A}" type="parTrans" cxnId="{B587AE82-CBB6-43F0-8D75-88AF70AAB86E}">
      <dgm:prSet/>
      <dgm:spPr/>
      <dgm:t>
        <a:bodyPr/>
        <a:lstStyle/>
        <a:p>
          <a:endParaRPr lang="en-IL"/>
        </a:p>
      </dgm:t>
    </dgm:pt>
    <dgm:pt modelId="{EDDA025F-C4A6-4E68-A864-31D80BB865E6}" type="sibTrans" cxnId="{B587AE82-CBB6-43F0-8D75-88AF70AAB86E}">
      <dgm:prSet/>
      <dgm:spPr/>
      <dgm:t>
        <a:bodyPr/>
        <a:lstStyle/>
        <a:p>
          <a:endParaRPr lang="en-IL"/>
        </a:p>
      </dgm:t>
    </dgm:pt>
    <dgm:pt modelId="{1B5A5607-E945-4BE9-814D-B0EF59B1C430}">
      <dgm:prSet/>
      <dgm:spPr/>
      <dgm:t>
        <a:bodyPr/>
        <a:lstStyle/>
        <a:p>
          <a:r>
            <a:rPr lang="en-GB" dirty="0"/>
            <a:t>The account is suspected to be an IO driver.</a:t>
          </a:r>
          <a:endParaRPr lang="en-IL" dirty="0"/>
        </a:p>
      </dgm:t>
    </dgm:pt>
    <dgm:pt modelId="{DB69DBA9-156D-4A15-9B2E-C28CADCBDCB3}" type="parTrans" cxnId="{AF219688-CE54-47B6-B599-F97074769732}">
      <dgm:prSet/>
      <dgm:spPr/>
      <dgm:t>
        <a:bodyPr/>
        <a:lstStyle/>
        <a:p>
          <a:endParaRPr lang="en-IL"/>
        </a:p>
      </dgm:t>
    </dgm:pt>
    <dgm:pt modelId="{A67FF2E3-02ED-4648-A2B6-DC4F7E2CC307}" type="sibTrans" cxnId="{AF219688-CE54-47B6-B599-F97074769732}">
      <dgm:prSet/>
      <dgm:spPr/>
      <dgm:t>
        <a:bodyPr/>
        <a:lstStyle/>
        <a:p>
          <a:endParaRPr lang="en-IL"/>
        </a:p>
      </dgm:t>
    </dgm:pt>
    <dgm:pt modelId="{1D3C4817-7970-4B83-AF07-61B7E50C9996}">
      <dgm:prSet/>
      <dgm:spPr/>
      <dgm:t>
        <a:bodyPr/>
        <a:lstStyle/>
        <a:p>
          <a:r>
            <a:rPr lang="en-GB" dirty="0"/>
            <a:t>The account gets a high core number.</a:t>
          </a:r>
          <a:endParaRPr lang="en-IL" dirty="0"/>
        </a:p>
      </dgm:t>
    </dgm:pt>
    <dgm:pt modelId="{3EA88241-E0A1-43FA-B7B7-F715EBE467EC}" type="parTrans" cxnId="{6587C595-A3F4-4EB8-97BB-102DD6B18937}">
      <dgm:prSet/>
      <dgm:spPr/>
      <dgm:t>
        <a:bodyPr/>
        <a:lstStyle/>
        <a:p>
          <a:endParaRPr lang="en-IL"/>
        </a:p>
      </dgm:t>
    </dgm:pt>
    <dgm:pt modelId="{73DEDEEA-F614-422F-A1FA-F2DA54935A22}" type="sibTrans" cxnId="{6587C595-A3F4-4EB8-97BB-102DD6B18937}">
      <dgm:prSet/>
      <dgm:spPr/>
      <dgm:t>
        <a:bodyPr/>
        <a:lstStyle/>
        <a:p>
          <a:endParaRPr lang="en-IL"/>
        </a:p>
      </dgm:t>
    </dgm:pt>
    <dgm:pt modelId="{2BD634B8-DA83-49F5-9D02-0914F5E00507}" type="pres">
      <dgm:prSet presAssocID="{48AFC2CC-272E-41C7-BFE3-402C8025BCAD}" presName="Name0" presStyleCnt="0">
        <dgm:presLayoutVars>
          <dgm:dir/>
          <dgm:animLvl val="lvl"/>
          <dgm:resizeHandles val="exact"/>
        </dgm:presLayoutVars>
      </dgm:prSet>
      <dgm:spPr/>
    </dgm:pt>
    <dgm:pt modelId="{03B30CF2-AE31-4DED-84D9-3487159AD3E3}" type="pres">
      <dgm:prSet presAssocID="{1B5A5607-E945-4BE9-814D-B0EF59B1C430}" presName="boxAndChildren" presStyleCnt="0"/>
      <dgm:spPr/>
    </dgm:pt>
    <dgm:pt modelId="{75B552A5-6396-4106-9A4A-445AED3E3CC6}" type="pres">
      <dgm:prSet presAssocID="{1B5A5607-E945-4BE9-814D-B0EF59B1C430}" presName="parentTextBox" presStyleLbl="node1" presStyleIdx="0" presStyleCnt="3"/>
      <dgm:spPr/>
    </dgm:pt>
    <dgm:pt modelId="{F70F5C23-80D2-4CDF-B637-5C57A37CD123}" type="pres">
      <dgm:prSet presAssocID="{73DEDEEA-F614-422F-A1FA-F2DA54935A22}" presName="sp" presStyleCnt="0"/>
      <dgm:spPr/>
    </dgm:pt>
    <dgm:pt modelId="{CD00B53B-13EB-400D-88F7-193FA1084681}" type="pres">
      <dgm:prSet presAssocID="{1D3C4817-7970-4B83-AF07-61B7E50C9996}" presName="arrowAndChildren" presStyleCnt="0"/>
      <dgm:spPr/>
    </dgm:pt>
    <dgm:pt modelId="{3D88F0F6-5629-4C7E-A8D9-55126A1A5A1D}" type="pres">
      <dgm:prSet presAssocID="{1D3C4817-7970-4B83-AF07-61B7E50C9996}" presName="parentTextArrow" presStyleLbl="node1" presStyleIdx="1" presStyleCnt="3"/>
      <dgm:spPr/>
    </dgm:pt>
    <dgm:pt modelId="{ACD862B6-D655-498A-8FA6-1987A91783C3}" type="pres">
      <dgm:prSet presAssocID="{EDDA025F-C4A6-4E68-A864-31D80BB865E6}" presName="sp" presStyleCnt="0"/>
      <dgm:spPr/>
    </dgm:pt>
    <dgm:pt modelId="{2F84B48E-D500-42B4-9D8F-F46FB2AC86EF}" type="pres">
      <dgm:prSet presAssocID="{E1DB4969-C241-47FC-B362-D33B7566A7C1}" presName="arrowAndChildren" presStyleCnt="0"/>
      <dgm:spPr/>
    </dgm:pt>
    <dgm:pt modelId="{5E247E41-6DA2-446C-849F-383AA9AB749B}" type="pres">
      <dgm:prSet presAssocID="{E1DB4969-C241-47FC-B362-D33B7566A7C1}" presName="parentTextArrow" presStyleLbl="node1" presStyleIdx="2" presStyleCnt="3"/>
      <dgm:spPr/>
    </dgm:pt>
  </dgm:ptLst>
  <dgm:cxnLst>
    <dgm:cxn modelId="{D01A194B-4902-4AEB-984F-89B74A0CA810}" type="presOf" srcId="{1D3C4817-7970-4B83-AF07-61B7E50C9996}" destId="{3D88F0F6-5629-4C7E-A8D9-55126A1A5A1D}" srcOrd="0" destOrd="0" presId="urn:microsoft.com/office/officeart/2005/8/layout/process4"/>
    <dgm:cxn modelId="{06589951-9DEE-4002-8EB3-2A6687FE8434}" type="presOf" srcId="{E1DB4969-C241-47FC-B362-D33B7566A7C1}" destId="{5E247E41-6DA2-446C-849F-383AA9AB749B}" srcOrd="0" destOrd="0" presId="urn:microsoft.com/office/officeart/2005/8/layout/process4"/>
    <dgm:cxn modelId="{B587AE82-CBB6-43F0-8D75-88AF70AAB86E}" srcId="{48AFC2CC-272E-41C7-BFE3-402C8025BCAD}" destId="{E1DB4969-C241-47FC-B362-D33B7566A7C1}" srcOrd="0" destOrd="0" parTransId="{33E3E7A2-0F5B-4428-AAA6-F11ED572BD3A}" sibTransId="{EDDA025F-C4A6-4E68-A864-31D80BB865E6}"/>
    <dgm:cxn modelId="{AF219688-CE54-47B6-B599-F97074769732}" srcId="{48AFC2CC-272E-41C7-BFE3-402C8025BCAD}" destId="{1B5A5607-E945-4BE9-814D-B0EF59B1C430}" srcOrd="2" destOrd="0" parTransId="{DB69DBA9-156D-4A15-9B2E-C28CADCBDCB3}" sibTransId="{A67FF2E3-02ED-4648-A2B6-DC4F7E2CC307}"/>
    <dgm:cxn modelId="{6587C595-A3F4-4EB8-97BB-102DD6B18937}" srcId="{48AFC2CC-272E-41C7-BFE3-402C8025BCAD}" destId="{1D3C4817-7970-4B83-AF07-61B7E50C9996}" srcOrd="1" destOrd="0" parTransId="{3EA88241-E0A1-43FA-B7B7-F715EBE467EC}" sibTransId="{73DEDEEA-F614-422F-A1FA-F2DA54935A22}"/>
    <dgm:cxn modelId="{2EDE7EBC-03E1-4B2B-9628-91C115BBE909}" type="presOf" srcId="{48AFC2CC-272E-41C7-BFE3-402C8025BCAD}" destId="{2BD634B8-DA83-49F5-9D02-0914F5E00507}" srcOrd="0" destOrd="0" presId="urn:microsoft.com/office/officeart/2005/8/layout/process4"/>
    <dgm:cxn modelId="{D6D2B3FA-1ED9-49B5-B8F0-0D4F5075905A}" type="presOf" srcId="{1B5A5607-E945-4BE9-814D-B0EF59B1C430}" destId="{75B552A5-6396-4106-9A4A-445AED3E3CC6}" srcOrd="0" destOrd="0" presId="urn:microsoft.com/office/officeart/2005/8/layout/process4"/>
    <dgm:cxn modelId="{524811A3-ED31-4575-8340-647BFFE9B39F}" type="presParOf" srcId="{2BD634B8-DA83-49F5-9D02-0914F5E00507}" destId="{03B30CF2-AE31-4DED-84D9-3487159AD3E3}" srcOrd="0" destOrd="0" presId="urn:microsoft.com/office/officeart/2005/8/layout/process4"/>
    <dgm:cxn modelId="{0E485E5A-0BFB-44E3-91C8-C99EE7848A6A}" type="presParOf" srcId="{03B30CF2-AE31-4DED-84D9-3487159AD3E3}" destId="{75B552A5-6396-4106-9A4A-445AED3E3CC6}" srcOrd="0" destOrd="0" presId="urn:microsoft.com/office/officeart/2005/8/layout/process4"/>
    <dgm:cxn modelId="{4DD398C9-EA8F-4A43-88D9-5ECF6461BDF5}" type="presParOf" srcId="{2BD634B8-DA83-49F5-9D02-0914F5E00507}" destId="{F70F5C23-80D2-4CDF-B637-5C57A37CD123}" srcOrd="1" destOrd="0" presId="urn:microsoft.com/office/officeart/2005/8/layout/process4"/>
    <dgm:cxn modelId="{896EA0C7-4528-4DF7-9D51-8C03109F497C}" type="presParOf" srcId="{2BD634B8-DA83-49F5-9D02-0914F5E00507}" destId="{CD00B53B-13EB-400D-88F7-193FA1084681}" srcOrd="2" destOrd="0" presId="urn:microsoft.com/office/officeart/2005/8/layout/process4"/>
    <dgm:cxn modelId="{60B6883C-5FE5-4D3F-AEA7-F4621454E926}" type="presParOf" srcId="{CD00B53B-13EB-400D-88F7-193FA1084681}" destId="{3D88F0F6-5629-4C7E-A8D9-55126A1A5A1D}" srcOrd="0" destOrd="0" presId="urn:microsoft.com/office/officeart/2005/8/layout/process4"/>
    <dgm:cxn modelId="{C181981F-2F4E-4A88-8C42-009A0D018EC4}" type="presParOf" srcId="{2BD634B8-DA83-49F5-9D02-0914F5E00507}" destId="{ACD862B6-D655-498A-8FA6-1987A91783C3}" srcOrd="3" destOrd="0" presId="urn:microsoft.com/office/officeart/2005/8/layout/process4"/>
    <dgm:cxn modelId="{E7C5AD75-B35D-43EE-B5B9-33458A1E0BE1}" type="presParOf" srcId="{2BD634B8-DA83-49F5-9D02-0914F5E00507}" destId="{2F84B48E-D500-42B4-9D8F-F46FB2AC86EF}" srcOrd="4" destOrd="0" presId="urn:microsoft.com/office/officeart/2005/8/layout/process4"/>
    <dgm:cxn modelId="{A3A7EADA-DAB5-45EA-8BA4-34F5EEC1AE81}" type="presParOf" srcId="{2F84B48E-D500-42B4-9D8F-F46FB2AC86EF}" destId="{5E247E41-6DA2-446C-849F-383AA9AB749B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790C58F-1623-4B30-8E09-2CA0F33BB139}" type="doc">
      <dgm:prSet loTypeId="urn:microsoft.com/office/officeart/2005/8/layout/process4" loCatId="list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IL"/>
        </a:p>
      </dgm:t>
    </dgm:pt>
    <dgm:pt modelId="{4BC2FB94-54C5-4AA4-8613-4ABB9F2FB0D5}">
      <dgm:prSet custT="1"/>
      <dgm:spPr/>
      <dgm:t>
        <a:bodyPr/>
        <a:lstStyle/>
        <a:p>
          <a:r>
            <a:rPr lang="en-GB" sz="2400" dirty="0"/>
            <a:t>1) Building a co-action graph represents author similarity.</a:t>
          </a:r>
          <a:endParaRPr lang="en-IL" sz="2400" dirty="0"/>
        </a:p>
      </dgm:t>
    </dgm:pt>
    <dgm:pt modelId="{81142ADE-1E42-4CE9-83A4-2B0D9F638559}" type="parTrans" cxnId="{BFFBDADC-868D-420E-9208-8F65BF16916D}">
      <dgm:prSet/>
      <dgm:spPr/>
      <dgm:t>
        <a:bodyPr/>
        <a:lstStyle/>
        <a:p>
          <a:endParaRPr lang="en-IL"/>
        </a:p>
      </dgm:t>
    </dgm:pt>
    <dgm:pt modelId="{1E17B9C2-D2AB-4D01-8569-00D12B23D4C7}" type="sibTrans" cxnId="{BFFBDADC-868D-420E-9208-8F65BF16916D}">
      <dgm:prSet/>
      <dgm:spPr/>
      <dgm:t>
        <a:bodyPr/>
        <a:lstStyle/>
        <a:p>
          <a:endParaRPr lang="en-IL"/>
        </a:p>
      </dgm:t>
    </dgm:pt>
    <dgm:pt modelId="{7D320D05-8BC7-49AB-93E1-F512A65ADBB4}">
      <dgm:prSet custT="1"/>
      <dgm:spPr/>
      <dgm:t>
        <a:bodyPr/>
        <a:lstStyle/>
        <a:p>
          <a:r>
            <a:rPr lang="en-GB" sz="2400" kern="1200" dirty="0"/>
            <a:t>2) IO drivers tend to be embedded in dense communities.</a:t>
          </a:r>
          <a:endParaRPr lang="en-IL" sz="2400" kern="1200" dirty="0">
            <a:latin typeface="Calibri" panose="020F0502020204030204"/>
            <a:ea typeface="+mn-ea"/>
            <a:cs typeface="+mn-cs"/>
          </a:endParaRPr>
        </a:p>
      </dgm:t>
    </dgm:pt>
    <dgm:pt modelId="{76729AB0-F7FB-43B8-8268-2879B72FF758}" type="parTrans" cxnId="{D6404C00-BB8F-47F6-A3E0-E9AE5168B69E}">
      <dgm:prSet/>
      <dgm:spPr/>
      <dgm:t>
        <a:bodyPr/>
        <a:lstStyle/>
        <a:p>
          <a:endParaRPr lang="en-IL"/>
        </a:p>
      </dgm:t>
    </dgm:pt>
    <dgm:pt modelId="{7A6195CC-C5B6-499B-8C5A-C59F05E11EE6}" type="sibTrans" cxnId="{D6404C00-BB8F-47F6-A3E0-E9AE5168B69E}">
      <dgm:prSet/>
      <dgm:spPr/>
      <dgm:t>
        <a:bodyPr/>
        <a:lstStyle/>
        <a:p>
          <a:endParaRPr lang="en-IL"/>
        </a:p>
      </dgm:t>
    </dgm:pt>
    <dgm:pt modelId="{A7B258C5-DA38-4321-BB19-D9CB5619264C}">
      <dgm:prSet custT="1"/>
      <dgm:spPr/>
      <dgm:t>
        <a:bodyPr/>
        <a:lstStyle/>
        <a:p>
          <a:r>
            <a:rPr lang="en-GB" sz="2400" dirty="0"/>
            <a:t>3) Graph-based indicators are used to measure     author’s embeddedness.</a:t>
          </a:r>
          <a:endParaRPr lang="en-IL" sz="2400" dirty="0"/>
        </a:p>
      </dgm:t>
    </dgm:pt>
    <dgm:pt modelId="{203A4A45-D67F-4111-8115-F39D8B161CDD}" type="parTrans" cxnId="{601BA4A4-5D6C-40ED-8F48-667E9AF2836A}">
      <dgm:prSet/>
      <dgm:spPr/>
      <dgm:t>
        <a:bodyPr/>
        <a:lstStyle/>
        <a:p>
          <a:endParaRPr lang="en-IL"/>
        </a:p>
      </dgm:t>
    </dgm:pt>
    <dgm:pt modelId="{CFB66835-E5CB-4D8A-B6C8-1B3B8DF01259}" type="sibTrans" cxnId="{601BA4A4-5D6C-40ED-8F48-667E9AF2836A}">
      <dgm:prSet/>
      <dgm:spPr/>
      <dgm:t>
        <a:bodyPr/>
        <a:lstStyle/>
        <a:p>
          <a:endParaRPr lang="en-IL"/>
        </a:p>
      </dgm:t>
    </dgm:pt>
    <dgm:pt modelId="{5D7624BE-F238-4C3B-897B-9536540A45EC}">
      <dgm:prSet custT="1"/>
      <dgm:spPr/>
      <dgm:t>
        <a:bodyPr/>
        <a:lstStyle/>
        <a:p>
          <a:r>
            <a:rPr lang="en-GB" sz="2400" kern="1200" dirty="0">
              <a:latin typeface="Calibri" panose="020F0502020204030204"/>
              <a:ea typeface="+mn-ea"/>
              <a:cs typeface="+mn-cs"/>
            </a:rPr>
            <a:t>4) </a:t>
          </a:r>
          <a:r>
            <a:rPr lang="en-IL" sz="2400" kern="1200" dirty="0"/>
            <a:t>Each user is represented by a human-readable feature vector.</a:t>
          </a:r>
          <a:endParaRPr lang="en-IL" sz="2400" kern="1200" dirty="0">
            <a:latin typeface="Calibri" panose="020F0502020204030204"/>
            <a:ea typeface="+mn-ea"/>
            <a:cs typeface="+mn-cs"/>
          </a:endParaRPr>
        </a:p>
      </dgm:t>
    </dgm:pt>
    <dgm:pt modelId="{DE3ECAEC-D217-4ACD-8F26-7D253DBBBB46}" type="parTrans" cxnId="{D548CB56-4B7F-4832-B855-6F1B2D31D122}">
      <dgm:prSet/>
      <dgm:spPr/>
      <dgm:t>
        <a:bodyPr/>
        <a:lstStyle/>
        <a:p>
          <a:endParaRPr lang="en-IL"/>
        </a:p>
      </dgm:t>
    </dgm:pt>
    <dgm:pt modelId="{312170D2-ED7B-4054-82B8-1D60C8F68B7F}" type="sibTrans" cxnId="{D548CB56-4B7F-4832-B855-6F1B2D31D122}">
      <dgm:prSet/>
      <dgm:spPr/>
      <dgm:t>
        <a:bodyPr/>
        <a:lstStyle/>
        <a:p>
          <a:endParaRPr lang="en-IL"/>
        </a:p>
      </dgm:t>
    </dgm:pt>
    <dgm:pt modelId="{F5835A2A-6EED-4CF0-AD6D-9C43F08E8106}">
      <dgm:prSet custT="1"/>
      <dgm:spPr/>
      <dgm:t>
        <a:bodyPr/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rPr>
            <a:t>5) </a:t>
          </a:r>
          <a:r>
            <a:rPr lang="en-IL" sz="2400" kern="1200" dirty="0"/>
            <a:t>The feature vectors are used by a machine-learning model to classify each author as an IO driver or </a:t>
          </a:r>
          <a:r>
            <a:rPr lang="en-US" sz="2400" kern="1200" dirty="0"/>
            <a:t>not.</a:t>
          </a:r>
          <a:endParaRPr lang="en-IL" sz="2400" b="0" kern="1200" dirty="0">
            <a:solidFill>
              <a:prstClr val="black"/>
            </a:solidFill>
            <a:latin typeface="Calibri" panose="020F0502020204030204"/>
            <a:ea typeface="+mn-ea"/>
            <a:cs typeface="+mn-cs"/>
          </a:endParaRPr>
        </a:p>
      </dgm:t>
    </dgm:pt>
    <dgm:pt modelId="{3B3A9903-4669-470D-9A03-4D8FCA8E328C}" type="parTrans" cxnId="{02F270AA-4ABA-474A-B88D-AF4118A95DC5}">
      <dgm:prSet/>
      <dgm:spPr/>
      <dgm:t>
        <a:bodyPr/>
        <a:lstStyle/>
        <a:p>
          <a:endParaRPr lang="en-IL"/>
        </a:p>
      </dgm:t>
    </dgm:pt>
    <dgm:pt modelId="{687F42B4-C2AD-4C27-B6FA-0BF9E906535E}" type="sibTrans" cxnId="{02F270AA-4ABA-474A-B88D-AF4118A95DC5}">
      <dgm:prSet/>
      <dgm:spPr/>
      <dgm:t>
        <a:bodyPr/>
        <a:lstStyle/>
        <a:p>
          <a:endParaRPr lang="en-IL"/>
        </a:p>
      </dgm:t>
    </dgm:pt>
    <dgm:pt modelId="{E3D2F466-9D2B-489B-8FD7-00A269198811}" type="pres">
      <dgm:prSet presAssocID="{4790C58F-1623-4B30-8E09-2CA0F33BB139}" presName="Name0" presStyleCnt="0">
        <dgm:presLayoutVars>
          <dgm:dir/>
          <dgm:animLvl val="lvl"/>
          <dgm:resizeHandles val="exact"/>
        </dgm:presLayoutVars>
      </dgm:prSet>
      <dgm:spPr/>
    </dgm:pt>
    <dgm:pt modelId="{088EA719-2472-4684-87F4-629B6808F521}" type="pres">
      <dgm:prSet presAssocID="{F5835A2A-6EED-4CF0-AD6D-9C43F08E8106}" presName="boxAndChildren" presStyleCnt="0"/>
      <dgm:spPr/>
    </dgm:pt>
    <dgm:pt modelId="{BF4415FE-1BEA-4AAF-8504-EF442423F26C}" type="pres">
      <dgm:prSet presAssocID="{F5835A2A-6EED-4CF0-AD6D-9C43F08E8106}" presName="parentTextBox" presStyleLbl="node1" presStyleIdx="0" presStyleCnt="5" custLinFactNeighborX="-4106"/>
      <dgm:spPr/>
    </dgm:pt>
    <dgm:pt modelId="{089D2F7B-F14C-4A92-BB3A-DAA08CAE5848}" type="pres">
      <dgm:prSet presAssocID="{312170D2-ED7B-4054-82B8-1D60C8F68B7F}" presName="sp" presStyleCnt="0"/>
      <dgm:spPr/>
    </dgm:pt>
    <dgm:pt modelId="{F9478C95-2D8F-4B5D-9198-EA05C72041D6}" type="pres">
      <dgm:prSet presAssocID="{5D7624BE-F238-4C3B-897B-9536540A45EC}" presName="arrowAndChildren" presStyleCnt="0"/>
      <dgm:spPr/>
    </dgm:pt>
    <dgm:pt modelId="{6679C54E-D9B3-42D4-8579-0F059BE402E7}" type="pres">
      <dgm:prSet presAssocID="{5D7624BE-F238-4C3B-897B-9536540A45EC}" presName="parentTextArrow" presStyleLbl="node1" presStyleIdx="1" presStyleCnt="5"/>
      <dgm:spPr/>
    </dgm:pt>
    <dgm:pt modelId="{9EEDCD11-2912-410C-BF8F-FB8C0E08B1DE}" type="pres">
      <dgm:prSet presAssocID="{CFB66835-E5CB-4D8A-B6C8-1B3B8DF01259}" presName="sp" presStyleCnt="0"/>
      <dgm:spPr/>
    </dgm:pt>
    <dgm:pt modelId="{67F4FDC1-DDD2-4281-BAE2-FB77EAC45D98}" type="pres">
      <dgm:prSet presAssocID="{A7B258C5-DA38-4321-BB19-D9CB5619264C}" presName="arrowAndChildren" presStyleCnt="0"/>
      <dgm:spPr/>
    </dgm:pt>
    <dgm:pt modelId="{1286EBB1-156A-4900-80F5-B7DA82846AFD}" type="pres">
      <dgm:prSet presAssocID="{A7B258C5-DA38-4321-BB19-D9CB5619264C}" presName="parentTextArrow" presStyleLbl="node1" presStyleIdx="2" presStyleCnt="5"/>
      <dgm:spPr/>
    </dgm:pt>
    <dgm:pt modelId="{E5FC2BC1-7FA9-42C4-A969-06EE33CAE6B9}" type="pres">
      <dgm:prSet presAssocID="{7A6195CC-C5B6-499B-8C5A-C59F05E11EE6}" presName="sp" presStyleCnt="0"/>
      <dgm:spPr/>
    </dgm:pt>
    <dgm:pt modelId="{1B190E91-BA0B-443D-8EBB-2D0FBA24695A}" type="pres">
      <dgm:prSet presAssocID="{7D320D05-8BC7-49AB-93E1-F512A65ADBB4}" presName="arrowAndChildren" presStyleCnt="0"/>
      <dgm:spPr/>
    </dgm:pt>
    <dgm:pt modelId="{EC9EF89E-2EC9-4197-83CE-6F0E9635859A}" type="pres">
      <dgm:prSet presAssocID="{7D320D05-8BC7-49AB-93E1-F512A65ADBB4}" presName="parentTextArrow" presStyleLbl="node1" presStyleIdx="3" presStyleCnt="5"/>
      <dgm:spPr/>
    </dgm:pt>
    <dgm:pt modelId="{5FA7D69C-ADC5-4D3E-A63E-3177E18C39D9}" type="pres">
      <dgm:prSet presAssocID="{1E17B9C2-D2AB-4D01-8569-00D12B23D4C7}" presName="sp" presStyleCnt="0"/>
      <dgm:spPr/>
    </dgm:pt>
    <dgm:pt modelId="{9C5F784D-3A5B-40B8-BC6E-96C4885D6DD5}" type="pres">
      <dgm:prSet presAssocID="{4BC2FB94-54C5-4AA4-8613-4ABB9F2FB0D5}" presName="arrowAndChildren" presStyleCnt="0"/>
      <dgm:spPr/>
    </dgm:pt>
    <dgm:pt modelId="{449265AB-55D8-4494-95A0-FB133CF562A6}" type="pres">
      <dgm:prSet presAssocID="{4BC2FB94-54C5-4AA4-8613-4ABB9F2FB0D5}" presName="parentTextArrow" presStyleLbl="node1" presStyleIdx="4" presStyleCnt="5"/>
      <dgm:spPr/>
    </dgm:pt>
  </dgm:ptLst>
  <dgm:cxnLst>
    <dgm:cxn modelId="{D6404C00-BB8F-47F6-A3E0-E9AE5168B69E}" srcId="{4790C58F-1623-4B30-8E09-2CA0F33BB139}" destId="{7D320D05-8BC7-49AB-93E1-F512A65ADBB4}" srcOrd="1" destOrd="0" parTransId="{76729AB0-F7FB-43B8-8268-2879B72FF758}" sibTransId="{7A6195CC-C5B6-499B-8C5A-C59F05E11EE6}"/>
    <dgm:cxn modelId="{BA2A9C55-DAE0-4FAA-B51F-3227B1490E8B}" type="presOf" srcId="{4BC2FB94-54C5-4AA4-8613-4ABB9F2FB0D5}" destId="{449265AB-55D8-4494-95A0-FB133CF562A6}" srcOrd="0" destOrd="0" presId="urn:microsoft.com/office/officeart/2005/8/layout/process4"/>
    <dgm:cxn modelId="{D548CB56-4B7F-4832-B855-6F1B2D31D122}" srcId="{4790C58F-1623-4B30-8E09-2CA0F33BB139}" destId="{5D7624BE-F238-4C3B-897B-9536540A45EC}" srcOrd="3" destOrd="0" parTransId="{DE3ECAEC-D217-4ACD-8F26-7D253DBBBB46}" sibTransId="{312170D2-ED7B-4054-82B8-1D60C8F68B7F}"/>
    <dgm:cxn modelId="{DC654E60-F4C9-4839-B9F7-FF7CD85FC243}" type="presOf" srcId="{4790C58F-1623-4B30-8E09-2CA0F33BB139}" destId="{E3D2F466-9D2B-489B-8FD7-00A269198811}" srcOrd="0" destOrd="0" presId="urn:microsoft.com/office/officeart/2005/8/layout/process4"/>
    <dgm:cxn modelId="{9CD98B73-AB6F-4E84-90D8-47F6FFBAC76D}" type="presOf" srcId="{F5835A2A-6EED-4CF0-AD6D-9C43F08E8106}" destId="{BF4415FE-1BEA-4AAF-8504-EF442423F26C}" srcOrd="0" destOrd="0" presId="urn:microsoft.com/office/officeart/2005/8/layout/process4"/>
    <dgm:cxn modelId="{E5EFFFA0-A070-4C0A-9F9B-56FFA56576C5}" type="presOf" srcId="{5D7624BE-F238-4C3B-897B-9536540A45EC}" destId="{6679C54E-D9B3-42D4-8579-0F059BE402E7}" srcOrd="0" destOrd="0" presId="urn:microsoft.com/office/officeart/2005/8/layout/process4"/>
    <dgm:cxn modelId="{601BA4A4-5D6C-40ED-8F48-667E9AF2836A}" srcId="{4790C58F-1623-4B30-8E09-2CA0F33BB139}" destId="{A7B258C5-DA38-4321-BB19-D9CB5619264C}" srcOrd="2" destOrd="0" parTransId="{203A4A45-D67F-4111-8115-F39D8B161CDD}" sibTransId="{CFB66835-E5CB-4D8A-B6C8-1B3B8DF01259}"/>
    <dgm:cxn modelId="{02F270AA-4ABA-474A-B88D-AF4118A95DC5}" srcId="{4790C58F-1623-4B30-8E09-2CA0F33BB139}" destId="{F5835A2A-6EED-4CF0-AD6D-9C43F08E8106}" srcOrd="4" destOrd="0" parTransId="{3B3A9903-4669-470D-9A03-4D8FCA8E328C}" sibTransId="{687F42B4-C2AD-4C27-B6FA-0BF9E906535E}"/>
    <dgm:cxn modelId="{262235C1-EFC5-4940-8DEA-0CA0F4B91211}" type="presOf" srcId="{A7B258C5-DA38-4321-BB19-D9CB5619264C}" destId="{1286EBB1-156A-4900-80F5-B7DA82846AFD}" srcOrd="0" destOrd="0" presId="urn:microsoft.com/office/officeart/2005/8/layout/process4"/>
    <dgm:cxn modelId="{481E6ECA-7582-476F-9F6F-F6D456E97373}" type="presOf" srcId="{7D320D05-8BC7-49AB-93E1-F512A65ADBB4}" destId="{EC9EF89E-2EC9-4197-83CE-6F0E9635859A}" srcOrd="0" destOrd="0" presId="urn:microsoft.com/office/officeart/2005/8/layout/process4"/>
    <dgm:cxn modelId="{BFFBDADC-868D-420E-9208-8F65BF16916D}" srcId="{4790C58F-1623-4B30-8E09-2CA0F33BB139}" destId="{4BC2FB94-54C5-4AA4-8613-4ABB9F2FB0D5}" srcOrd="0" destOrd="0" parTransId="{81142ADE-1E42-4CE9-83A4-2B0D9F638559}" sibTransId="{1E17B9C2-D2AB-4D01-8569-00D12B23D4C7}"/>
    <dgm:cxn modelId="{5C85148E-5CCC-4A95-8B36-C6A100D3BF1C}" type="presParOf" srcId="{E3D2F466-9D2B-489B-8FD7-00A269198811}" destId="{088EA719-2472-4684-87F4-629B6808F521}" srcOrd="0" destOrd="0" presId="urn:microsoft.com/office/officeart/2005/8/layout/process4"/>
    <dgm:cxn modelId="{0BC62B70-DEC5-4EC3-899B-9B33A2D8EEC6}" type="presParOf" srcId="{088EA719-2472-4684-87F4-629B6808F521}" destId="{BF4415FE-1BEA-4AAF-8504-EF442423F26C}" srcOrd="0" destOrd="0" presId="urn:microsoft.com/office/officeart/2005/8/layout/process4"/>
    <dgm:cxn modelId="{FC75D633-9762-46D5-A2F4-24F65D3B523D}" type="presParOf" srcId="{E3D2F466-9D2B-489B-8FD7-00A269198811}" destId="{089D2F7B-F14C-4A92-BB3A-DAA08CAE5848}" srcOrd="1" destOrd="0" presId="urn:microsoft.com/office/officeart/2005/8/layout/process4"/>
    <dgm:cxn modelId="{B93D662E-CE66-4059-BF0F-FCC54DD7B492}" type="presParOf" srcId="{E3D2F466-9D2B-489B-8FD7-00A269198811}" destId="{F9478C95-2D8F-4B5D-9198-EA05C72041D6}" srcOrd="2" destOrd="0" presId="urn:microsoft.com/office/officeart/2005/8/layout/process4"/>
    <dgm:cxn modelId="{E713E305-CD0A-4951-AF0B-3CD82D972D3C}" type="presParOf" srcId="{F9478C95-2D8F-4B5D-9198-EA05C72041D6}" destId="{6679C54E-D9B3-42D4-8579-0F059BE402E7}" srcOrd="0" destOrd="0" presId="urn:microsoft.com/office/officeart/2005/8/layout/process4"/>
    <dgm:cxn modelId="{9723B319-800F-4F9F-A081-17EE5046C0DD}" type="presParOf" srcId="{E3D2F466-9D2B-489B-8FD7-00A269198811}" destId="{9EEDCD11-2912-410C-BF8F-FB8C0E08B1DE}" srcOrd="3" destOrd="0" presId="urn:microsoft.com/office/officeart/2005/8/layout/process4"/>
    <dgm:cxn modelId="{2B5BF700-293F-431D-8048-AF1D14C5AC67}" type="presParOf" srcId="{E3D2F466-9D2B-489B-8FD7-00A269198811}" destId="{67F4FDC1-DDD2-4281-BAE2-FB77EAC45D98}" srcOrd="4" destOrd="0" presId="urn:microsoft.com/office/officeart/2005/8/layout/process4"/>
    <dgm:cxn modelId="{2729B8A6-53C7-460C-A50D-21285C79B0E2}" type="presParOf" srcId="{67F4FDC1-DDD2-4281-BAE2-FB77EAC45D98}" destId="{1286EBB1-156A-4900-80F5-B7DA82846AFD}" srcOrd="0" destOrd="0" presId="urn:microsoft.com/office/officeart/2005/8/layout/process4"/>
    <dgm:cxn modelId="{ABFF2785-B058-4AEA-AB3B-5018FCF77D1E}" type="presParOf" srcId="{E3D2F466-9D2B-489B-8FD7-00A269198811}" destId="{E5FC2BC1-7FA9-42C4-A969-06EE33CAE6B9}" srcOrd="5" destOrd="0" presId="urn:microsoft.com/office/officeart/2005/8/layout/process4"/>
    <dgm:cxn modelId="{12C57EE2-AB40-41F5-A1B2-289C3675A96F}" type="presParOf" srcId="{E3D2F466-9D2B-489B-8FD7-00A269198811}" destId="{1B190E91-BA0B-443D-8EBB-2D0FBA24695A}" srcOrd="6" destOrd="0" presId="urn:microsoft.com/office/officeart/2005/8/layout/process4"/>
    <dgm:cxn modelId="{05E3B187-F9C8-4F12-B9FB-6721722B836C}" type="presParOf" srcId="{1B190E91-BA0B-443D-8EBB-2D0FBA24695A}" destId="{EC9EF89E-2EC9-4197-83CE-6F0E9635859A}" srcOrd="0" destOrd="0" presId="urn:microsoft.com/office/officeart/2005/8/layout/process4"/>
    <dgm:cxn modelId="{A17624A7-2852-43C6-9EE1-61852C7708A8}" type="presParOf" srcId="{E3D2F466-9D2B-489B-8FD7-00A269198811}" destId="{5FA7D69C-ADC5-4D3E-A63E-3177E18C39D9}" srcOrd="7" destOrd="0" presId="urn:microsoft.com/office/officeart/2005/8/layout/process4"/>
    <dgm:cxn modelId="{79ED58EA-1F48-4978-ACA1-C59BFFD3E494}" type="presParOf" srcId="{E3D2F466-9D2B-489B-8FD7-00A269198811}" destId="{9C5F784D-3A5B-40B8-BC6E-96C4885D6DD5}" srcOrd="8" destOrd="0" presId="urn:microsoft.com/office/officeart/2005/8/layout/process4"/>
    <dgm:cxn modelId="{283B2D46-AE72-4B9F-A2F5-B9632C0247FA}" type="presParOf" srcId="{9C5F784D-3A5B-40B8-BC6E-96C4885D6DD5}" destId="{449265AB-55D8-4494-95A0-FB133CF562A6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B552A5-6396-4106-9A4A-445AED3E3CC6}">
      <dsp:nvSpPr>
        <dsp:cNvPr id="0" name=""/>
        <dsp:cNvSpPr/>
      </dsp:nvSpPr>
      <dsp:spPr>
        <a:xfrm>
          <a:off x="0" y="3290801"/>
          <a:ext cx="10582656" cy="108011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696" tIns="234696" rIns="234696" bIns="234696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300" kern="1200" dirty="0"/>
            <a:t>The account is suspected to be an IO driver.</a:t>
          </a:r>
          <a:endParaRPr lang="en-IL" sz="3300" kern="1200" dirty="0"/>
        </a:p>
      </dsp:txBody>
      <dsp:txXfrm>
        <a:off x="0" y="3290801"/>
        <a:ext cx="10582656" cy="1080114"/>
      </dsp:txXfrm>
    </dsp:sp>
    <dsp:sp modelId="{3D88F0F6-5629-4C7E-A8D9-55126A1A5A1D}">
      <dsp:nvSpPr>
        <dsp:cNvPr id="0" name=""/>
        <dsp:cNvSpPr/>
      </dsp:nvSpPr>
      <dsp:spPr>
        <a:xfrm rot="10800000">
          <a:off x="0" y="1645787"/>
          <a:ext cx="10582656" cy="1661216"/>
        </a:xfrm>
        <a:prstGeom prst="upArrowCallout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696" tIns="234696" rIns="234696" bIns="234696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300" kern="1200" dirty="0"/>
            <a:t>The account gets a high core number.</a:t>
          </a:r>
          <a:endParaRPr lang="en-IL" sz="3300" kern="1200" dirty="0"/>
        </a:p>
      </dsp:txBody>
      <dsp:txXfrm rot="10800000">
        <a:off x="0" y="1645787"/>
        <a:ext cx="10582656" cy="1079408"/>
      </dsp:txXfrm>
    </dsp:sp>
    <dsp:sp modelId="{5E247E41-6DA2-446C-849F-383AA9AB749B}">
      <dsp:nvSpPr>
        <dsp:cNvPr id="0" name=""/>
        <dsp:cNvSpPr/>
      </dsp:nvSpPr>
      <dsp:spPr>
        <a:xfrm rot="10800000">
          <a:off x="0" y="772"/>
          <a:ext cx="10582656" cy="1661216"/>
        </a:xfrm>
        <a:prstGeom prst="upArrowCallou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696" tIns="234696" rIns="234696" bIns="234696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300" kern="1200" dirty="0"/>
            <a:t>Account is embedded in a large, tightly coordinated group.</a:t>
          </a:r>
        </a:p>
      </dsp:txBody>
      <dsp:txXfrm rot="10800000">
        <a:off x="0" y="772"/>
        <a:ext cx="10582656" cy="107940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4415FE-1BEA-4AAF-8504-EF442423F26C}">
      <dsp:nvSpPr>
        <dsp:cNvPr id="0" name=""/>
        <dsp:cNvSpPr/>
      </dsp:nvSpPr>
      <dsp:spPr>
        <a:xfrm>
          <a:off x="0" y="4404986"/>
          <a:ext cx="7072620" cy="72267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rPr>
            <a:t>5) </a:t>
          </a:r>
          <a:r>
            <a:rPr lang="en-IL" sz="2400" kern="1200" dirty="0"/>
            <a:t>The feature vectors are used by a machine-learning model to classify each author as an IO driver or </a:t>
          </a:r>
          <a:r>
            <a:rPr lang="en-US" sz="2400" kern="1200" dirty="0"/>
            <a:t>not.</a:t>
          </a:r>
          <a:endParaRPr lang="en-IL" sz="2400" b="0" kern="1200" dirty="0">
            <a:solidFill>
              <a:prstClr val="black"/>
            </a:solidFill>
            <a:latin typeface="Calibri" panose="020F0502020204030204"/>
            <a:ea typeface="+mn-ea"/>
            <a:cs typeface="+mn-cs"/>
          </a:endParaRPr>
        </a:p>
      </dsp:txBody>
      <dsp:txXfrm>
        <a:off x="0" y="4404986"/>
        <a:ext cx="7072620" cy="722674"/>
      </dsp:txXfrm>
    </dsp:sp>
    <dsp:sp modelId="{6679C54E-D9B3-42D4-8579-0F059BE402E7}">
      <dsp:nvSpPr>
        <dsp:cNvPr id="0" name=""/>
        <dsp:cNvSpPr/>
      </dsp:nvSpPr>
      <dsp:spPr>
        <a:xfrm rot="10800000">
          <a:off x="0" y="3304353"/>
          <a:ext cx="7072620" cy="1111473"/>
        </a:xfrm>
        <a:prstGeom prst="upArrowCallou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>
              <a:latin typeface="Calibri" panose="020F0502020204030204"/>
              <a:ea typeface="+mn-ea"/>
              <a:cs typeface="+mn-cs"/>
            </a:rPr>
            <a:t>4) </a:t>
          </a:r>
          <a:r>
            <a:rPr lang="en-IL" sz="2400" kern="1200" dirty="0"/>
            <a:t>Each user is represented by a human-readable feature vector.</a:t>
          </a:r>
          <a:endParaRPr lang="en-IL" sz="2400" kern="1200" dirty="0">
            <a:latin typeface="Calibri" panose="020F0502020204030204"/>
            <a:ea typeface="+mn-ea"/>
            <a:cs typeface="+mn-cs"/>
          </a:endParaRPr>
        </a:p>
      </dsp:txBody>
      <dsp:txXfrm rot="10800000">
        <a:off x="0" y="3304353"/>
        <a:ext cx="7072620" cy="722202"/>
      </dsp:txXfrm>
    </dsp:sp>
    <dsp:sp modelId="{1286EBB1-156A-4900-80F5-B7DA82846AFD}">
      <dsp:nvSpPr>
        <dsp:cNvPr id="0" name=""/>
        <dsp:cNvSpPr/>
      </dsp:nvSpPr>
      <dsp:spPr>
        <a:xfrm rot="10800000">
          <a:off x="0" y="2203719"/>
          <a:ext cx="7072620" cy="1111473"/>
        </a:xfrm>
        <a:prstGeom prst="upArrowCallou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3) Graph-based indicators are used to measure     author’s embeddedness.</a:t>
          </a:r>
          <a:endParaRPr lang="en-IL" sz="2400" kern="1200" dirty="0"/>
        </a:p>
      </dsp:txBody>
      <dsp:txXfrm rot="10800000">
        <a:off x="0" y="2203719"/>
        <a:ext cx="7072620" cy="722202"/>
      </dsp:txXfrm>
    </dsp:sp>
    <dsp:sp modelId="{EC9EF89E-2EC9-4197-83CE-6F0E9635859A}">
      <dsp:nvSpPr>
        <dsp:cNvPr id="0" name=""/>
        <dsp:cNvSpPr/>
      </dsp:nvSpPr>
      <dsp:spPr>
        <a:xfrm rot="10800000">
          <a:off x="0" y="1103085"/>
          <a:ext cx="7072620" cy="1111473"/>
        </a:xfrm>
        <a:prstGeom prst="upArrowCallou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2) IO drivers tend to be embedded in dense communities.</a:t>
          </a:r>
          <a:endParaRPr lang="en-IL" sz="2400" kern="1200" dirty="0">
            <a:latin typeface="Calibri" panose="020F0502020204030204"/>
            <a:ea typeface="+mn-ea"/>
            <a:cs typeface="+mn-cs"/>
          </a:endParaRPr>
        </a:p>
      </dsp:txBody>
      <dsp:txXfrm rot="10800000">
        <a:off x="0" y="1103085"/>
        <a:ext cx="7072620" cy="722202"/>
      </dsp:txXfrm>
    </dsp:sp>
    <dsp:sp modelId="{449265AB-55D8-4494-95A0-FB133CF562A6}">
      <dsp:nvSpPr>
        <dsp:cNvPr id="0" name=""/>
        <dsp:cNvSpPr/>
      </dsp:nvSpPr>
      <dsp:spPr>
        <a:xfrm rot="10800000">
          <a:off x="0" y="2452"/>
          <a:ext cx="7072620" cy="1111473"/>
        </a:xfrm>
        <a:prstGeom prst="upArrowCallou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1) Building a co-action graph represents author similarity.</a:t>
          </a:r>
          <a:endParaRPr lang="en-IL" sz="2400" kern="1200" dirty="0"/>
        </a:p>
      </dsp:txBody>
      <dsp:txXfrm rot="10800000">
        <a:off x="0" y="2452"/>
        <a:ext cx="7072620" cy="7222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2915196C-CDBC-4DEE-A220-849C85FC22AC}" type="datetimeFigureOut">
              <a:rPr lang="he-IL" smtClean="0"/>
              <a:t>כ"ט.תמוז.תשפ"ו</a:t>
            </a:fld>
            <a:endParaRPr lang="he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e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fld id="{7F6CD5E7-A5BE-4430-AD67-E129D63AAC5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93829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D1760-78DB-D18D-FBB8-239E0A7E7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2EC71B-5AA6-886B-0231-A74B41DE50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D997CC-4715-39C7-93DD-C967C30807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C57815-7BE0-C4B1-B3D0-083C2D02FC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D5E7-A5BE-4430-AD67-E129D63AAC5C}" type="slidenum">
              <a:rPr lang="he-IL" smtClean="0"/>
              <a:t>6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687258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783E6-A85C-4E94-BAD4-349975C5C1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65376" y="1354011"/>
            <a:ext cx="9144000" cy="238760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he-IL" sz="4800" kern="1200" dirty="0">
                <a:solidFill>
                  <a:srgbClr val="009DBB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A3D7B5-5BE4-46C1-BA83-AEDFF303DE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65376" y="4218431"/>
            <a:ext cx="9144000" cy="1374013"/>
          </a:xfrm>
        </p:spPr>
        <p:txBody>
          <a:bodyPr>
            <a:normAutofit/>
          </a:bodyPr>
          <a:lstStyle>
            <a:lvl1pPr marL="0" indent="0" algn="l">
              <a:buNone/>
              <a:defRPr lang="he-IL" sz="20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subtitle style</a:t>
            </a:r>
            <a:endParaRPr lang="he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103C65-1526-4474-93EA-92201F973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B3A86-AB79-4388-8CA5-9FC4B834779B}" type="datetime8">
              <a:rPr lang="he-IL" smtClean="0"/>
              <a:t>14 ביולי 26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84A285-90E9-4F27-9CCA-0A2DBEB47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119B0E-8F10-4832-ADC3-EA2B0C457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06172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65C3A-1C12-429A-B672-CB062EE35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02D984-D254-42A5-88FD-71A5B8FF6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087" y="1825625"/>
            <a:ext cx="10582656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buFont typeface="Courier New" panose="02070309020205020404" pitchFamily="49" charset="0"/>
              <a:buChar char="o"/>
              <a:defRPr sz="2000"/>
            </a:lvl2pPr>
            <a:lvl3pPr>
              <a:buFont typeface="Wingdings" panose="05000000000000000000" pitchFamily="2" charset="2"/>
              <a:buChar char="Ø"/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8C169-3299-4F42-91D0-7AF77E398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4CBFB-2532-48BA-BAE2-ADD925390740}" type="datetime8">
              <a:rPr lang="he-IL" smtClean="0"/>
              <a:t>14 ביולי 26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02A088-F9A8-4123-A1D2-FE1125036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AA253D-F657-44F9-AA3F-37F3CF175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14547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CE174-92FD-46FC-9A31-EF3515102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9550" y="1709738"/>
            <a:ext cx="7852146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261C8F-4A58-4042-B898-A57C837DF5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795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6B49A7-5C76-42AD-8811-4CADE0447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C1FDD-37C4-4A6B-BF31-779943CE32CF}" type="datetime8">
              <a:rPr lang="he-IL" smtClean="0"/>
              <a:t>14 ביולי 26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BF3F55-C2A3-4A87-96C0-A01E9BCA6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7976F6-B98E-4B7D-839A-27BF94944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99088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15C3C-CE9E-4F7A-B728-9A335B51FB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 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B48EB9-480D-4A31-8BC3-B899B4AABD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36991" y="1821101"/>
            <a:ext cx="5181600" cy="4351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CAF003-9AC3-4B4C-A1AA-89972395A0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70991" y="1821101"/>
            <a:ext cx="5181600" cy="4351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39E07C-7B13-4A7C-AEAC-814BACFD9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C226C-A76A-4927-8F1D-1BD4AC033ABB}" type="datetime8">
              <a:rPr lang="he-IL" smtClean="0"/>
              <a:t>14 ביולי 26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36D24B-DA20-4CC6-87E7-866505B0C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BE9C41-8689-47B3-A905-634220202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37299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DD0EE-D523-4780-A9CF-B6EE518CD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117" y="355600"/>
            <a:ext cx="8743124" cy="1325563"/>
          </a:xfr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he-IL" sz="4400" kern="1200" dirty="0">
                <a:solidFill>
                  <a:srgbClr val="009DBB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B6447D-A16E-4B99-8F74-2BA51BF54C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3148" y="1717419"/>
            <a:ext cx="5157787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2400" kern="1200" dirty="0">
                <a:solidFill>
                  <a:srgbClr val="009DBB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9B268A-D31A-4C35-948F-BF312EE597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53148" y="2511171"/>
            <a:ext cx="5157787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D0F3C6-09D4-4383-99DD-32F9053ACE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41752" y="1717419"/>
            <a:ext cx="5183188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2400" kern="1200" dirty="0">
                <a:solidFill>
                  <a:srgbClr val="009DBB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91A8D3-C002-4BA1-96FF-375F70D218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41752" y="2517267"/>
            <a:ext cx="5183188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5CAC5E-E4EB-4131-AAEF-73C347968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DF2BF-D428-43E9-B36B-6DD16CF93579}" type="datetime8">
              <a:rPr lang="he-IL" smtClean="0"/>
              <a:t>14 ביולי 26</a:t>
            </a:fld>
            <a:endParaRPr lang="he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EC57A3-285F-4D36-851E-593C5F287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6F8AB8-B698-4176-96F8-B833FE013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42569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FBF78-4DF0-407A-8E5A-BEF1E0D8B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9A3A88-6914-48FB-BE6F-948C3C66F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A9136-4922-4C74-B05C-12CD0951E601}" type="datetime8">
              <a:rPr lang="he-IL" smtClean="0"/>
              <a:t>14 ביולי 26</a:t>
            </a:fld>
            <a:endParaRPr lang="he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50A1D4-4FBF-400A-B2CE-30A42EF7F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8B1F93-B2D0-4E42-B3CE-E85D6FC90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52457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885006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213734-3C5F-473D-9DD6-0C484ADFB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F3CA8-2E63-412C-AA06-0D760EBE5965}" type="datetime8">
              <a:rPr lang="he-IL" smtClean="0"/>
              <a:t>14 ביולי 26</a:t>
            </a:fld>
            <a:endParaRPr lang="he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48D2E8-A18C-4B06-AF11-07B4F9C53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A7CBE2-2F2D-43B9-8BC3-25BA1DDA4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786591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80516-8B4A-495E-BFE5-33BF2DA50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2684" y="981329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53460-117E-457C-9F0F-1AA7B34F21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0804" y="987425"/>
            <a:ext cx="6172200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3E485A-1FF8-4FDD-A659-6ACC799899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912684" y="2581529"/>
            <a:ext cx="3932237" cy="3295142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1A78A4-064B-49BB-9360-FC686D8B5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7B867-AA4A-4FF3-AD8B-0AD0F18EE595}" type="datetime8">
              <a:rPr lang="he-IL" smtClean="0"/>
              <a:t>14 ביולי 26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D0114A-6704-44C0-BCAE-EAB756E64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E98D20-B7C4-4CE0-812C-9B6976E08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246584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181F6-3528-4A38-B435-490FC2AFC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7173" y="987424"/>
            <a:ext cx="3932237" cy="1069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7A6AE1-0DCE-4A5A-AC24-95C331B15D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96000" y="987425"/>
            <a:ext cx="5259387" cy="487362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CD3E13-E71C-4EE3-BA14-54D61F7290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127173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3A2D14-BF1B-420A-B0DF-91CD6E771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9EBD3-88E8-46DB-BD3B-F935B7013014}" type="datetime8">
              <a:rPr lang="he-IL" smtClean="0"/>
              <a:t>14 ביולי 26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227BD5-73FD-47B4-BCDF-92BB6EA15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E5EAC3-6043-41F9-B8D4-7F41DABB2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724020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CA57A-6715-4A64-AF19-74F322841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D19522-954F-44AB-A8B2-881237A98A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C7FD09-CBF4-4ADA-B2BB-979C1F74B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56BC8-8E7D-4896-9980-77BC87FB8E3E}" type="datetime8">
              <a:rPr lang="he-IL" smtClean="0"/>
              <a:t>14 ביולי 26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3DEA1C-6A3E-4E8A-94C4-85129424B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1897DB-9E67-41A9-B2B3-D6E613340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51003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C7D7B8-0F66-43EC-B9A2-C261F37BC4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0B89D3-E69A-49EE-8D8C-EAC8400E34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310142" y="365125"/>
            <a:ext cx="7262357" cy="5811838"/>
          </a:xfrm>
        </p:spPr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0A9B41-D269-4701-B27C-CDDBCF201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327C8-CB36-417E-834B-544633ADCE63}" type="datetime8">
              <a:rPr lang="he-IL" smtClean="0"/>
              <a:t>14 ביולי 26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BD14E7-5E00-4D30-9BDD-9B32BEA0F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81914F-9592-4EB2-998B-B922F8A28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155566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orkf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72684E-6693-F58C-BC24-150353E83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65D1C-C98B-44F5-AB2A-FEE3E85D0A94}" type="datetime8">
              <a:rPr lang="he-IL" smtClean="0"/>
              <a:t>14 ביולי 26</a:t>
            </a:fld>
            <a:endParaRPr lang="he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2C0620-C9BE-4C99-2D6C-A02A9A677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48F728-5692-0756-E6BD-FFB67E1A3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pPr/>
              <a:t>‹#›</a:t>
            </a:fld>
            <a:endParaRPr lang="he-IL" dirty="0"/>
          </a:p>
        </p:txBody>
      </p:sp>
      <p:pic>
        <p:nvPicPr>
          <p:cNvPr id="7" name="Picture 6" descr="A document with text on it&#10;&#10;AI-generated content may be incorrect.">
            <a:extLst>
              <a:ext uri="{FF2B5EF4-FFF2-40B4-BE49-F238E27FC236}">
                <a16:creationId xmlns:a16="http://schemas.microsoft.com/office/drawing/2014/main" id="{221434F7-1295-8CB3-5E53-891A52C3D78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06" t="8664" r="8034" b="78094"/>
          <a:stretch>
            <a:fillRect/>
          </a:stretch>
        </p:blipFill>
        <p:spPr>
          <a:xfrm>
            <a:off x="1038256" y="2478278"/>
            <a:ext cx="10821413" cy="229428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DFF33BC-21D6-16B0-C505-3CEE5CDF6D13}"/>
              </a:ext>
            </a:extLst>
          </p:cNvPr>
          <p:cNvSpPr txBox="1"/>
          <p:nvPr userDrawn="1"/>
        </p:nvSpPr>
        <p:spPr>
          <a:xfrm>
            <a:off x="3072268" y="679697"/>
            <a:ext cx="87534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b="0" kern="1200" dirty="0">
                <a:solidFill>
                  <a:srgbClr val="009DBB"/>
                </a:solidFill>
                <a:latin typeface="+mj-lt"/>
                <a:ea typeface="+mj-ea"/>
                <a:cs typeface="+mj-cs"/>
              </a:rPr>
              <a:t>Workflow</a:t>
            </a:r>
            <a:endParaRPr lang="en-IL" sz="4400" b="0" kern="1200" dirty="0">
              <a:solidFill>
                <a:srgbClr val="009DBB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912383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EEDABD8-1012-46AD-89C2-C8E4E06DB9B5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33375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C9C71F-AAAB-425C-B1EA-7A7182DF4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2268" y="401637"/>
            <a:ext cx="875347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EFA75E-5AAA-412B-BAE0-CF5F86B37F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10143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5198C1-7EB5-4CA4-98A0-2833A18F30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1014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65D1C-C98B-44F5-AB2A-FEE3E85D0A94}" type="datetime8">
              <a:rPr lang="he-IL" smtClean="0"/>
              <a:t>14 ביולי 26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897CC5-2317-4D8E-8C89-E7B89F4BE9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10543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F048FF-C291-43F3-A9DD-3B48AE56F5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28704" y="6476841"/>
            <a:ext cx="4522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AB8EDD-9EF2-4633-A1C2-4D908C1019B4}" type="slidenum">
              <a:rPr lang="he-IL" smtClean="0"/>
              <a:pPr/>
              <a:t>‹#›</a:t>
            </a:fld>
            <a:endParaRPr lang="he-IL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61D43D3-8C77-B77A-1D9D-8CDC43D8429F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2957" y="6139952"/>
            <a:ext cx="2642865" cy="797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357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09DBB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11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7BDFED6-6E33-4606-AFE2-886ADB1C0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" name="Picture 1" descr="A green object on a black surface&#10;&#10;Description automatically generated with low confidence">
            <a:extLst>
              <a:ext uri="{FF2B5EF4-FFF2-40B4-BE49-F238E27FC236}">
                <a16:creationId xmlns:a16="http://schemas.microsoft.com/office/drawing/2014/main" id="{3CB67A20-DF50-FA5C-9F89-051979AEC24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416" r="11818" b="26261"/>
          <a:stretch/>
        </p:blipFill>
        <p:spPr>
          <a:xfrm>
            <a:off x="4547937" y="0"/>
            <a:ext cx="7644062" cy="365679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6F2EE9F-F796-A6BB-3045-695978EABEE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8830" r="-1" b="7292"/>
          <a:stretch/>
        </p:blipFill>
        <p:spPr>
          <a:xfrm>
            <a:off x="4547938" y="3681409"/>
            <a:ext cx="7644062" cy="3176595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8220BDD-53D9-474C-9782-2415C685DF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956582"/>
            <a:ext cx="6234954" cy="1724819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I Can See </a:t>
            </a:r>
            <a:r>
              <a:rPr lang="en-GB" sz="4000" b="1" dirty="0">
                <a:solidFill>
                  <a:srgbClr val="FF0000"/>
                </a:solidFill>
              </a:rPr>
              <a:t>U</a:t>
            </a:r>
            <a:r>
              <a:rPr lang="en-GB" sz="4000" b="1" dirty="0">
                <a:solidFill>
                  <a:schemeClr val="bg1"/>
                </a:solidFill>
              </a:rPr>
              <a:t>.</a:t>
            </a:r>
            <a:br>
              <a:rPr lang="en-GB" sz="4000" dirty="0">
                <a:solidFill>
                  <a:schemeClr val="bg1"/>
                </a:solidFill>
              </a:rPr>
            </a:br>
            <a:r>
              <a:rPr lang="en-GB" sz="2400" dirty="0">
                <a:solidFill>
                  <a:schemeClr val="bg1"/>
                </a:solidFill>
              </a:rPr>
              <a:t>Indicator-Based Information Operation Detection and Topic-Aware Analysis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B553B468-8035-4F27-9A10-D7A4E7C759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824627"/>
            <a:ext cx="4361329" cy="1917801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prstClr val="white"/>
                </a:solidFill>
              </a:rPr>
              <a:t>08.07.2026</a:t>
            </a:r>
          </a:p>
          <a:p>
            <a:r>
              <a:rPr lang="en-US" dirty="0"/>
              <a:t>Amit Ner Gaon, Noa Tal, Idan </a:t>
            </a:r>
            <a:r>
              <a:rPr lang="en-GB" dirty="0"/>
              <a:t>Muallem</a:t>
            </a:r>
            <a:endParaRPr lang="en-US" dirty="0"/>
          </a:p>
          <a:p>
            <a:r>
              <a:rPr lang="en-US" dirty="0"/>
              <a:t>Prof. Rami </a:t>
            </a:r>
            <a:r>
              <a:rPr lang="en-US" dirty="0" err="1"/>
              <a:t>Puzis</a:t>
            </a:r>
            <a:endParaRPr lang="en-IL" dirty="0"/>
          </a:p>
          <a:p>
            <a:endParaRPr lang="en-US" b="1" dirty="0">
              <a:solidFill>
                <a:prstClr val="white"/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3681408"/>
            <a:ext cx="113537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9E9033-B890-41F0-A499-F7F83D1F0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E6AB8EDD-9EF2-4633-A1C2-4D908C1019B4}" type="slidenum">
              <a:rPr kumimoji="0" lang="he-IL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he-IL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8" name="Title 4">
            <a:extLst>
              <a:ext uri="{FF2B5EF4-FFF2-40B4-BE49-F238E27FC236}">
                <a16:creationId xmlns:a16="http://schemas.microsoft.com/office/drawing/2014/main" id="{6D84A53B-A147-EEC0-9D81-D931915B4D17}"/>
              </a:ext>
            </a:extLst>
          </p:cNvPr>
          <p:cNvSpPr txBox="1">
            <a:spLocks/>
          </p:cNvSpPr>
          <p:nvPr/>
        </p:nvSpPr>
        <p:spPr>
          <a:xfrm>
            <a:off x="838200" y="3706020"/>
            <a:ext cx="3138714" cy="62546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he-IL" sz="4800" kern="1200" dirty="0">
                <a:solidFill>
                  <a:srgbClr val="009DBB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DE9F95-0435-3A81-61D6-23ED74B595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03" y="0"/>
            <a:ext cx="2642865" cy="797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60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25F04-2075-5640-5DEC-3A7503627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707E5-B275-6452-62FB-2B98BD269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2268" y="401637"/>
            <a:ext cx="8753475" cy="1325563"/>
          </a:xfrm>
        </p:spPr>
        <p:txBody>
          <a:bodyPr anchor="ctr">
            <a:normAutofit/>
          </a:bodyPr>
          <a:lstStyle/>
          <a:p>
            <a:r>
              <a:rPr lang="en-IL" dirty="0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C11588-A0A9-88D4-64DC-E215A71D58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36990" y="1821101"/>
            <a:ext cx="5631057" cy="4749032"/>
          </a:xfrm>
        </p:spPr>
        <p:txBody>
          <a:bodyPr>
            <a:noAutofit/>
          </a:bodyPr>
          <a:lstStyle/>
          <a:p>
            <a:r>
              <a:rPr lang="en-IL" sz="3000" dirty="0"/>
              <a:t>Social media platforms </a:t>
            </a:r>
            <a:r>
              <a:rPr lang="en-US" sz="3000" dirty="0"/>
              <a:t>are</a:t>
            </a:r>
            <a:r>
              <a:rPr lang="en-IL" sz="3000" dirty="0"/>
              <a:t> central spaces for public discourse</a:t>
            </a:r>
            <a:r>
              <a:rPr lang="en-US" sz="3000" dirty="0"/>
              <a:t>.</a:t>
            </a:r>
            <a:endParaRPr lang="en-IL" sz="3000" dirty="0"/>
          </a:p>
          <a:p>
            <a:r>
              <a:rPr lang="en-GB" sz="3000" dirty="0"/>
              <a:t>Information operation (IO) actors </a:t>
            </a:r>
            <a:r>
              <a:rPr lang="en-US" sz="3000" dirty="0"/>
              <a:t>exploit the </a:t>
            </a:r>
            <a:r>
              <a:rPr lang="en-IL" sz="3000" dirty="0"/>
              <a:t>openness</a:t>
            </a:r>
            <a:r>
              <a:rPr lang="en-US" sz="3000" dirty="0"/>
              <a:t> of social media</a:t>
            </a:r>
            <a:r>
              <a:rPr lang="en-IL" sz="3000" dirty="0"/>
              <a:t> to manipulate online </a:t>
            </a:r>
            <a:r>
              <a:rPr lang="en-US" sz="3000" dirty="0"/>
              <a:t>discourse </a:t>
            </a:r>
            <a:r>
              <a:rPr lang="en-GB" sz="3000" dirty="0"/>
              <a:t>threatening </a:t>
            </a:r>
            <a:r>
              <a:rPr lang="en-IL" sz="3000" dirty="0"/>
              <a:t>democratic processes, public trust, and societal cohesion (Seckin et al., 2024).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D1C13A7-1923-2D9F-B551-824B61A989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9582"/>
          <a:stretch>
            <a:fillRect/>
          </a:stretch>
        </p:blipFill>
        <p:spPr>
          <a:xfrm>
            <a:off x="6868047" y="1546558"/>
            <a:ext cx="5181600" cy="4210775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B5F257-DB4A-FAD3-2097-E17D9C5B1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6AB8EDD-9EF2-4633-A1C2-4D908C1019B4}" type="slidenum">
              <a:rPr lang="he-IL" smtClean="0"/>
              <a:pPr>
                <a:spcAft>
                  <a:spcPts val="600"/>
                </a:spcAft>
              </a:pPr>
              <a:t>2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889438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5552B6-F6A0-A5F8-3084-2EFDF779A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383EA-9AD0-8D8C-EF0B-B6A71641A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IO &amp; Coordination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C55DA2-E1AA-6D41-1CC8-89FE07E756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087" y="1825625"/>
            <a:ext cx="10582656" cy="2794501"/>
          </a:xfrm>
        </p:spPr>
        <p:txBody>
          <a:bodyPr>
            <a:normAutofit fontScale="92500" lnSpcReduction="10000"/>
          </a:bodyPr>
          <a:lstStyle/>
          <a:p>
            <a:r>
              <a:rPr lang="en-IL" sz="3200" dirty="0"/>
              <a:t>IO</a:t>
            </a:r>
            <a:r>
              <a:rPr lang="en-GB" sz="3200" dirty="0"/>
              <a:t>s</a:t>
            </a:r>
            <a:r>
              <a:rPr lang="en-IL" sz="3200" dirty="0"/>
              <a:t> rely on fleets of coordinated accounts (Pacheco et al., 2021), some of them automated, acting toward a shared political objective</a:t>
            </a:r>
            <a:r>
              <a:rPr lang="en-GB" sz="3200" dirty="0"/>
              <a:t>. Coordination is what amplifies their influence</a:t>
            </a:r>
            <a:r>
              <a:rPr lang="en-IL" sz="3200" dirty="0"/>
              <a:t>.</a:t>
            </a:r>
          </a:p>
          <a:p>
            <a:r>
              <a:rPr lang="en-IL" sz="3200" dirty="0"/>
              <a:t>Accounts </a:t>
            </a:r>
            <a:r>
              <a:rPr lang="en-US" sz="3200" dirty="0"/>
              <a:t>disseminate the same narrative (e.g., </a:t>
            </a:r>
            <a:r>
              <a:rPr lang="en-IL" sz="3200" dirty="0"/>
              <a:t>hashtags</a:t>
            </a:r>
            <a:r>
              <a:rPr lang="en-US" sz="3200" dirty="0"/>
              <a:t>, account mentions)</a:t>
            </a:r>
            <a:r>
              <a:rPr lang="en-IL" sz="3200" dirty="0"/>
              <a:t> </a:t>
            </a:r>
            <a:r>
              <a:rPr lang="en-US" sz="3200" dirty="0"/>
              <a:t>and</a:t>
            </a:r>
            <a:r>
              <a:rPr lang="en-IL" sz="3200" dirty="0"/>
              <a:t> </a:t>
            </a:r>
            <a:r>
              <a:rPr lang="en-US" sz="3200" dirty="0"/>
              <a:t>posts on the same topics</a:t>
            </a:r>
            <a:r>
              <a:rPr lang="en-IL" sz="3200" dirty="0"/>
              <a:t>.</a:t>
            </a:r>
          </a:p>
          <a:p>
            <a:r>
              <a:rPr lang="en-IL" sz="3200" dirty="0"/>
              <a:t>Therefore, </a:t>
            </a:r>
            <a:r>
              <a:rPr lang="en-IL" sz="3200" dirty="0">
                <a:solidFill>
                  <a:schemeClr val="accent6"/>
                </a:solidFill>
              </a:rPr>
              <a:t>identifying coordination is a key step toward detecting IO drivers.</a:t>
            </a:r>
          </a:p>
          <a:p>
            <a:endParaRPr lang="en-IL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0023A7-90B0-501B-17AB-CF4320671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3</a:t>
            </a:fld>
            <a:endParaRPr lang="he-IL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D85EB279-80AA-7F93-2976-F7AAA96AF9A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253" b="2865"/>
          <a:stretch>
            <a:fillRect/>
          </a:stretch>
        </p:blipFill>
        <p:spPr bwMode="auto">
          <a:xfrm>
            <a:off x="3603428" y="4273486"/>
            <a:ext cx="4985144" cy="2556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96251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925B1-3CF4-8E9D-B717-3F99155A1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44515-512F-748F-F0F1-FE7A55624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Related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2B2338-DB07-7A9B-F0E9-C69CA320E1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087" y="1825625"/>
            <a:ext cx="10582656" cy="45303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L" b="1" dirty="0"/>
              <a:t>IO-Driver Detection Methods:</a:t>
            </a:r>
          </a:p>
          <a:p>
            <a:pPr>
              <a:spcBef>
                <a:spcPts val="900"/>
              </a:spcBef>
            </a:pPr>
            <a:r>
              <a:rPr lang="en-IL" b="1" dirty="0"/>
              <a:t>Node-Local: </a:t>
            </a:r>
            <a:r>
              <a:rPr lang="en-IL" dirty="0"/>
              <a:t>detect suspicious users from their individual content, activity, and behaviour.</a:t>
            </a:r>
          </a:p>
          <a:p>
            <a:pPr marL="342900" indent="0">
              <a:buNone/>
            </a:pPr>
            <a:r>
              <a:rPr lang="en-IL" sz="1400" i="1" dirty="0">
                <a:solidFill>
                  <a:srgbClr val="7F7F7F"/>
                </a:solidFill>
              </a:rPr>
              <a:t>Tomaiuolo et al., A Survey on Troll Detection, Future Internet, 2020</a:t>
            </a:r>
          </a:p>
          <a:p>
            <a:pPr>
              <a:spcBef>
                <a:spcPts val="900"/>
              </a:spcBef>
            </a:pPr>
            <a:r>
              <a:rPr lang="en-IL" b="1" dirty="0"/>
              <a:t>Network-Based: </a:t>
            </a:r>
            <a:r>
              <a:rPr lang="en-IL" dirty="0"/>
              <a:t>detect coordinated groups from graph structure and behavioural similarity.</a:t>
            </a:r>
          </a:p>
          <a:p>
            <a:pPr marL="342900" indent="0">
              <a:buNone/>
            </a:pPr>
            <a:r>
              <a:rPr lang="en-IL" sz="1400" i="1" dirty="0">
                <a:solidFill>
                  <a:srgbClr val="7F7F7F"/>
                </a:solidFill>
              </a:rPr>
              <a:t>Pacheco et al., Uncovering Coordinated Networks on Social Media: Methods and Case Studies, ICWSM, 2021</a:t>
            </a:r>
          </a:p>
          <a:p>
            <a:pPr>
              <a:spcBef>
                <a:spcPts val="900"/>
              </a:spcBef>
            </a:pPr>
            <a:r>
              <a:rPr lang="en-IL" b="1" dirty="0"/>
              <a:t>Hybrid: </a:t>
            </a:r>
            <a:r>
              <a:rPr lang="en-IL" dirty="0"/>
              <a:t>combine user content with network information to detect IO drivers.</a:t>
            </a:r>
          </a:p>
          <a:p>
            <a:pPr marL="342900" indent="0">
              <a:buNone/>
            </a:pPr>
            <a:r>
              <a:rPr lang="en-IL" sz="1400" i="1" dirty="0">
                <a:solidFill>
                  <a:srgbClr val="7F7F7F"/>
                </a:solidFill>
              </a:rPr>
              <a:t>Minici et al., IOHunter: Graph Foundation Model to Uncover Online Information Operations, AAAI, 2025</a:t>
            </a:r>
          </a:p>
          <a:p>
            <a:pPr marL="0" indent="0" algn="ctr">
              <a:buNone/>
            </a:pPr>
            <a:r>
              <a:rPr lang="en-IL" sz="2000" b="1" dirty="0"/>
              <a:t>The gap: existing approaches either detect coordinated groups without quantifying each account’s depth of involvement, or implicitly encode structural embeddedness within black-box models. None provides an explicit, interpretable, account-level measure of coordination depth.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68B0A1-1249-8531-140A-79FDF456D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4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684059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E7EBB-9ADD-4D81-20D6-6746201B9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B3CD8-080B-AA20-3306-2F83ED293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Our Contributions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C9CE5C-A0DA-F3F6-800F-09B5FA1E5C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087" y="1825625"/>
            <a:ext cx="10582656" cy="4769728"/>
          </a:xfrm>
        </p:spPr>
        <p:txBody>
          <a:bodyPr>
            <a:normAutofit/>
          </a:bodyPr>
          <a:lstStyle/>
          <a:p>
            <a:r>
              <a:rPr lang="en-IL" sz="3200" dirty="0"/>
              <a:t>An interpretable, indicator-based approach for account-level IO detection.</a:t>
            </a:r>
          </a:p>
          <a:p>
            <a:r>
              <a:rPr lang="en-IL" sz="3200" dirty="0"/>
              <a:t>The core number in the co-action graph as a single, explainable indicator of coordination, achieving performance comparable to a full feature set (AUC &amp; F1) on a real IO campaign.</a:t>
            </a:r>
          </a:p>
          <a:p>
            <a:r>
              <a:rPr lang="en-IL" sz="3200" dirty="0"/>
              <a:t>Topic-aware analysis of the detected coordinated group (k-core), revealing the campaign’s agenda.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824614-B785-3AAF-F357-019EEE242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5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19715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E27CD-C8FF-B185-45D8-666A78A68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98079-07AB-1011-721B-DDEB46873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2268" y="401637"/>
            <a:ext cx="8949044" cy="1325563"/>
          </a:xfrm>
        </p:spPr>
        <p:txBody>
          <a:bodyPr>
            <a:normAutofit/>
          </a:bodyPr>
          <a:lstStyle/>
          <a:p>
            <a:r>
              <a:rPr lang="en-IL" dirty="0"/>
              <a:t>Methods - Co-Action Graph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BFF6C3-80E1-C75C-69F0-3A7FFA1D10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087" y="1825624"/>
            <a:ext cx="10582656" cy="4441825"/>
          </a:xfrm>
        </p:spPr>
        <p:txBody>
          <a:bodyPr>
            <a:normAutofit/>
          </a:bodyPr>
          <a:lstStyle/>
          <a:p>
            <a:r>
              <a:rPr lang="en-GB" sz="3200" b="1" dirty="0"/>
              <a:t>Nodes:</a:t>
            </a:r>
            <a:r>
              <a:rPr lang="en-GB" sz="3200" dirty="0"/>
              <a:t> authors in the discourse.</a:t>
            </a:r>
          </a:p>
          <a:p>
            <a:r>
              <a:rPr lang="en-GB" sz="3200" b="1" dirty="0"/>
              <a:t>Edges: </a:t>
            </a:r>
            <a:r>
              <a:rPr lang="en-GB" sz="3200" dirty="0"/>
              <a:t>co-action relations between a pair of authors (e.g., posting the same hashtag). Represents </a:t>
            </a:r>
            <a:r>
              <a:rPr lang="en-US" sz="3200" b="1" dirty="0"/>
              <a:t>behavioral similarity</a:t>
            </a:r>
            <a:r>
              <a:rPr lang="en-GB" sz="3200" b="1" dirty="0"/>
              <a:t> </a:t>
            </a:r>
            <a:r>
              <a:rPr lang="en-GB" sz="3200" dirty="0"/>
              <a:t>between the authors.</a:t>
            </a:r>
          </a:p>
          <a:p>
            <a:r>
              <a:rPr lang="en-GB" sz="3200" b="1" dirty="0"/>
              <a:t>Purpose</a:t>
            </a:r>
            <a:r>
              <a:rPr lang="en-GB" sz="3200" dirty="0"/>
              <a:t>: expose coordinated behaviour for IO detection.</a:t>
            </a:r>
          </a:p>
          <a:p>
            <a:endParaRPr lang="en-GB" sz="2800" dirty="0"/>
          </a:p>
          <a:p>
            <a:endParaRPr lang="en-GB" sz="2800" dirty="0"/>
          </a:p>
          <a:p>
            <a:pPr marL="457200" lvl="1" indent="0">
              <a:buNone/>
            </a:pPr>
            <a:endParaRPr lang="en-GB" sz="4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5E3158-F388-D9C9-D303-42FD2F68D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6</a:t>
            </a:fld>
            <a:endParaRPr lang="he-IL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94F46E8E-95AB-4D82-04F7-80C932FEC2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062" b="10900"/>
          <a:stretch>
            <a:fillRect/>
          </a:stretch>
        </p:blipFill>
        <p:spPr bwMode="auto">
          <a:xfrm>
            <a:off x="1243087" y="4439118"/>
            <a:ext cx="9585434" cy="2123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11222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8559D-D4AB-1189-6DD0-329C59230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092BBF2-9CA9-26C8-3306-0EF5D22F5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9549" y="1709738"/>
            <a:ext cx="9914592" cy="2852737"/>
          </a:xfrm>
        </p:spPr>
        <p:txBody>
          <a:bodyPr/>
          <a:lstStyle/>
          <a:p>
            <a:r>
              <a:rPr lang="en-GB" dirty="0"/>
              <a:t>Core-Number</a:t>
            </a:r>
            <a:endParaRPr lang="en-IL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4D75CCD-7268-1EC4-7323-66B1D9D4D0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8453DD-F810-AEB1-6C45-0A9E4E593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7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516551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6B20B-572C-EA3E-CBFD-11BAC61AA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21181-6B71-F107-01AF-62434DE69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Core Number - Definition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B6E9C04-4BA0-19E7-9D46-B7C42E213C7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43087" y="1825625"/>
                <a:ext cx="10582656" cy="476972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GB" sz="3600" b="1" dirty="0"/>
                  <a:t>Node</a:t>
                </a:r>
                <a:r>
                  <a:rPr lang="en-GB" sz="3600" dirty="0"/>
                  <a:t> - a single actor/account in the graph. </a:t>
                </a:r>
              </a:p>
              <a:p>
                <a:r>
                  <a:rPr lang="en-GB" sz="3600" b="1" dirty="0"/>
                  <a:t>Subgraph</a:t>
                </a:r>
                <a:r>
                  <a:rPr lang="en-GB" sz="3600" dirty="0"/>
                  <a:t> - a smaller graph made from a subset of nodes and edges from the full graph. </a:t>
                </a:r>
              </a:p>
              <a:p>
                <a:r>
                  <a:rPr lang="en-GB" sz="3600" b="1" dirty="0"/>
                  <a:t>Neighbours</a:t>
                </a:r>
                <a:r>
                  <a:rPr lang="en-GB" sz="3600" dirty="0"/>
                  <a:t> - the nodes directly connected to a given node by an edge.</a:t>
                </a:r>
              </a:p>
              <a:p>
                <a:endParaRPr lang="en-GB" sz="3600" dirty="0"/>
              </a:p>
              <a:p>
                <a:r>
                  <a:rPr lang="en-GB" sz="3600" b="1" dirty="0"/>
                  <a:t>Core-number</a:t>
                </a:r>
                <a:r>
                  <a:rPr lang="en-GB" sz="3600" dirty="0"/>
                  <a:t> - the largest number </a:t>
                </a:r>
                <a14:m>
                  <m:oMath xmlns:m="http://schemas.openxmlformats.org/officeDocument/2006/math">
                    <m:r>
                      <a:rPr lang="en-GB" sz="360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3600" dirty="0"/>
                  <a:t> </a:t>
                </a:r>
                <a:r>
                  <a:rPr lang="en-GB" sz="3600" dirty="0"/>
                  <a:t>such that the node belongs to a subgraph where every node has at least </a:t>
                </a:r>
                <a14:m>
                  <m:oMath xmlns:m="http://schemas.openxmlformats.org/officeDocument/2006/math">
                    <m:r>
                      <a:rPr lang="en-GB" sz="360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sz="36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3600" dirty="0"/>
                  <a:t>neighbours </a:t>
                </a:r>
                <a:r>
                  <a:rPr lang="en-GB" sz="3600" u="sng" dirty="0"/>
                  <a:t>within</a:t>
                </a:r>
                <a:r>
                  <a:rPr lang="en-GB" sz="3600" dirty="0"/>
                  <a:t> that subgraph.</a:t>
                </a:r>
                <a:endParaRPr lang="en-IL" sz="36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B6E9C04-4BA0-19E7-9D46-B7C42E213C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43087" y="1825625"/>
                <a:ext cx="10582656" cy="4769728"/>
              </a:xfrm>
              <a:blipFill>
                <a:blip r:embed="rId2"/>
                <a:stretch>
                  <a:fillRect l="-1613" t="-3959" b="-383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0812F0-E54C-4F7D-05DA-1110FB275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8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860942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8717E5-7468-9878-38B1-12643AA86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B8CBB-063A-985D-F9B5-D4BB2CE22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Core Number - Motivation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40B9B19-14B9-7F86-B47B-5767028649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85380268"/>
              </p:ext>
            </p:extLst>
          </p:nvPr>
        </p:nvGraphicFramePr>
        <p:xfrm>
          <a:off x="1243087" y="1825625"/>
          <a:ext cx="10582656" cy="43716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84E7D3-5764-C737-E79D-E110112B0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9</a:t>
            </a:fld>
            <a:endParaRPr lang="he-IL"/>
          </a:p>
        </p:txBody>
      </p:sp>
      <p:sp>
        <p:nvSpPr>
          <p:cNvPr id="30" name="Callout"/>
          <p:cNvSpPr/>
          <p:nvPr/>
        </p:nvSpPr>
        <p:spPr>
          <a:xfrm>
            <a:off x="1554480" y="6327648"/>
            <a:ext cx="7589520" cy="475488"/>
          </a:xfrm>
          <a:prstGeom prst="rect">
            <a:avLst/>
          </a:prstGeom>
          <a:noFill/>
        </p:spPr>
        <p:txBody>
          <a:bodyPr lIns="0" tIns="0"/>
          <a:lstStyle/>
          <a:p>
            <a:r>
              <a:rPr lang="en-IL" sz="1300" b="1" dirty="0"/>
              <a:t>Similarity with one or two accounts is not enough. </a:t>
            </a:r>
            <a:r>
              <a:rPr lang="en-IL" sz="1300" dirty="0"/>
              <a:t>Only many accounts coordinating with one another produce a high core number.</a:t>
            </a:r>
          </a:p>
        </p:txBody>
      </p:sp>
    </p:spTree>
    <p:extLst>
      <p:ext uri="{BB962C8B-B14F-4D97-AF65-F5344CB8AC3E}">
        <p14:creationId xmlns:p14="http://schemas.microsoft.com/office/powerpoint/2010/main" val="16324895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FBF81-1759-7631-FCCD-C2B86D71F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C4968-7120-1977-C518-F3D19EEF9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Core Number -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E09368-FDF4-B047-F86D-A7F727C59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10</a:t>
            </a:fld>
            <a:endParaRPr lang="he-IL"/>
          </a:p>
        </p:txBody>
      </p:sp>
      <p:pic>
        <p:nvPicPr>
          <p:cNvPr id="3" name="Picture 2" descr="k-Core of a graph">
            <a:extLst>
              <a:ext uri="{FF2B5EF4-FFF2-40B4-BE49-F238E27FC236}">
                <a16:creationId xmlns:a16="http://schemas.microsoft.com/office/drawing/2014/main" id="{A1EFBBA8-CA30-26B6-612F-F894F3E62A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5283" y="1867838"/>
            <a:ext cx="10174718" cy="410707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26D91F2-615E-8B2A-5BF3-DD43C863C4DE}"/>
              </a:ext>
            </a:extLst>
          </p:cNvPr>
          <p:cNvSpPr txBox="1"/>
          <p:nvPr/>
        </p:nvSpPr>
        <p:spPr>
          <a:xfrm rot="21258625">
            <a:off x="6110596" y="1919799"/>
            <a:ext cx="13775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#DeepState</a:t>
            </a:r>
            <a:endParaRPr lang="en-IL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2F4669-9508-4E5A-B24C-22B002FCE751}"/>
              </a:ext>
            </a:extLst>
          </p:cNvPr>
          <p:cNvSpPr txBox="1"/>
          <p:nvPr/>
        </p:nvSpPr>
        <p:spPr>
          <a:xfrm rot="4810671">
            <a:off x="5646712" y="3149197"/>
            <a:ext cx="1205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#CoverUp</a:t>
            </a:r>
            <a:endParaRPr lang="en-IL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FC3455-0162-56A7-9F57-73B53C64B549}"/>
              </a:ext>
            </a:extLst>
          </p:cNvPr>
          <p:cNvSpPr txBox="1"/>
          <p:nvPr/>
        </p:nvSpPr>
        <p:spPr>
          <a:xfrm>
            <a:off x="6742558" y="3771025"/>
            <a:ext cx="14773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#TruthExposed</a:t>
            </a:r>
            <a:endParaRPr lang="en-IL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AC6232-205D-E057-9D18-19CA5F579B02}"/>
              </a:ext>
            </a:extLst>
          </p:cNvPr>
          <p:cNvSpPr txBox="1"/>
          <p:nvPr/>
        </p:nvSpPr>
        <p:spPr>
          <a:xfrm rot="4119364">
            <a:off x="7794291" y="2828263"/>
            <a:ext cx="13775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#DeepState</a:t>
            </a:r>
            <a:endParaRPr lang="en-IL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CF02B8-F58B-B4F9-7B80-6387A4DDABE5}"/>
              </a:ext>
            </a:extLst>
          </p:cNvPr>
          <p:cNvSpPr txBox="1"/>
          <p:nvPr/>
        </p:nvSpPr>
        <p:spPr>
          <a:xfrm rot="1762880">
            <a:off x="7204790" y="3201896"/>
            <a:ext cx="1205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#CoverUp</a:t>
            </a:r>
            <a:endParaRPr lang="en-IL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ACEDCF-E414-D5DE-B87D-F89D5BA52BA9}"/>
              </a:ext>
            </a:extLst>
          </p:cNvPr>
          <p:cNvSpPr txBox="1"/>
          <p:nvPr/>
        </p:nvSpPr>
        <p:spPr>
          <a:xfrm rot="18366777">
            <a:off x="6630407" y="2490587"/>
            <a:ext cx="1205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#True</a:t>
            </a:r>
            <a:endParaRPr lang="en-IL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909B6A0-DF6A-5CD7-996A-C3A01D11C97C}"/>
              </a:ext>
            </a:extLst>
          </p:cNvPr>
          <p:cNvSpPr txBox="1"/>
          <p:nvPr/>
        </p:nvSpPr>
        <p:spPr>
          <a:xfrm>
            <a:off x="4618686" y="3805712"/>
            <a:ext cx="14773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#Trending</a:t>
            </a:r>
            <a:endParaRPr lang="en-IL" sz="16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554517A-9D8A-70EB-41D1-4C5261EC4380}"/>
              </a:ext>
            </a:extLst>
          </p:cNvPr>
          <p:cNvSpPr txBox="1"/>
          <p:nvPr/>
        </p:nvSpPr>
        <p:spPr>
          <a:xfrm rot="3114557">
            <a:off x="9656857" y="2508597"/>
            <a:ext cx="13775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#Music</a:t>
            </a:r>
            <a:endParaRPr lang="en-IL" sz="16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E7A3518-5695-0E32-90BD-476955BA4AA6}"/>
              </a:ext>
            </a:extLst>
          </p:cNvPr>
          <p:cNvSpPr txBox="1"/>
          <p:nvPr/>
        </p:nvSpPr>
        <p:spPr>
          <a:xfrm rot="17535076">
            <a:off x="8457906" y="2864984"/>
            <a:ext cx="13775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#DeepState</a:t>
            </a:r>
            <a:endParaRPr lang="en-IL" sz="16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6712921-5011-08A5-CC00-D27AEBF9BD05}"/>
              </a:ext>
            </a:extLst>
          </p:cNvPr>
          <p:cNvSpPr txBox="1"/>
          <p:nvPr/>
        </p:nvSpPr>
        <p:spPr>
          <a:xfrm>
            <a:off x="9656856" y="1791741"/>
            <a:ext cx="13775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#Music</a:t>
            </a:r>
            <a:endParaRPr lang="en-IL" sz="16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7D82200-163E-4905-F370-F28EA4FFE151}"/>
              </a:ext>
            </a:extLst>
          </p:cNvPr>
          <p:cNvSpPr txBox="1"/>
          <p:nvPr/>
        </p:nvSpPr>
        <p:spPr>
          <a:xfrm rot="20634719">
            <a:off x="9166637" y="3480230"/>
            <a:ext cx="13775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 Media</a:t>
            </a:r>
            <a:endParaRPr lang="en-IL" sz="16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01EFE46-D669-1079-661B-A318F9253973}"/>
              </a:ext>
            </a:extLst>
          </p:cNvPr>
          <p:cNvSpPr txBox="1"/>
          <p:nvPr/>
        </p:nvSpPr>
        <p:spPr>
          <a:xfrm rot="15751676">
            <a:off x="8165907" y="4724186"/>
            <a:ext cx="1377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#</a:t>
            </a:r>
            <a:r>
              <a:rPr lang="en-GB" sz="1600" dirty="0"/>
              <a:t>DeepState</a:t>
            </a:r>
            <a:endParaRPr lang="en-IL" sz="16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315AFAB-8E07-193A-F7ED-27FDDE52CFB0}"/>
              </a:ext>
            </a:extLst>
          </p:cNvPr>
          <p:cNvSpPr txBox="1"/>
          <p:nvPr/>
        </p:nvSpPr>
        <p:spPr>
          <a:xfrm rot="5187585">
            <a:off x="5916302" y="4788727"/>
            <a:ext cx="1205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#True</a:t>
            </a:r>
            <a:endParaRPr lang="en-IL" sz="16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05B10CE-B78B-A560-406C-D455F3F371B9}"/>
              </a:ext>
            </a:extLst>
          </p:cNvPr>
          <p:cNvSpPr txBox="1"/>
          <p:nvPr/>
        </p:nvSpPr>
        <p:spPr>
          <a:xfrm rot="18445421">
            <a:off x="4377158" y="2864983"/>
            <a:ext cx="1205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#CoverUp</a:t>
            </a:r>
            <a:endParaRPr lang="en-IL" sz="16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7E5B288-8DC3-D387-AF1E-D3C58F4750E5}"/>
              </a:ext>
            </a:extLst>
          </p:cNvPr>
          <p:cNvSpPr txBox="1"/>
          <p:nvPr/>
        </p:nvSpPr>
        <p:spPr>
          <a:xfrm rot="4499005">
            <a:off x="3739807" y="2936281"/>
            <a:ext cx="1205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#CoverUp</a:t>
            </a:r>
            <a:endParaRPr lang="en-IL" sz="16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088BDCC-3776-9674-10AE-CAE67CA8BC28}"/>
              </a:ext>
            </a:extLst>
          </p:cNvPr>
          <p:cNvSpPr txBox="1"/>
          <p:nvPr/>
        </p:nvSpPr>
        <p:spPr>
          <a:xfrm rot="17463090">
            <a:off x="3407513" y="4683885"/>
            <a:ext cx="1205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#CoverUp</a:t>
            </a:r>
            <a:endParaRPr lang="en-IL" sz="16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41DC1E2-CFB8-6380-452E-71770B27D50A}"/>
              </a:ext>
            </a:extLst>
          </p:cNvPr>
          <p:cNvSpPr txBox="1"/>
          <p:nvPr/>
        </p:nvSpPr>
        <p:spPr>
          <a:xfrm rot="1702415">
            <a:off x="7159342" y="4609927"/>
            <a:ext cx="13775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 Media</a:t>
            </a:r>
            <a:endParaRPr lang="en-IL" sz="1600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D3B6211-C6E4-1BBA-7030-3820BC8F64FF}"/>
              </a:ext>
            </a:extLst>
          </p:cNvPr>
          <p:cNvSpPr/>
          <p:nvPr/>
        </p:nvSpPr>
        <p:spPr>
          <a:xfrm rot="1340853">
            <a:off x="5185122" y="1691846"/>
            <a:ext cx="4186974" cy="3126336"/>
          </a:xfrm>
          <a:prstGeom prst="ellipse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IL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8576B8-144B-9F99-5CCF-A278CDAFF407}"/>
              </a:ext>
            </a:extLst>
          </p:cNvPr>
          <p:cNvSpPr txBox="1"/>
          <p:nvPr/>
        </p:nvSpPr>
        <p:spPr>
          <a:xfrm rot="1676257">
            <a:off x="7596847" y="1699407"/>
            <a:ext cx="21046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2">
                    <a:lumMod val="75000"/>
                  </a:schemeClr>
                </a:solidFill>
              </a:rPr>
              <a:t>IO Drivers</a:t>
            </a:r>
            <a:endParaRPr lang="en-IL" sz="28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8FB36E-45DE-CDBF-18E4-24798133D1EE}"/>
              </a:ext>
            </a:extLst>
          </p:cNvPr>
          <p:cNvSpPr txBox="1"/>
          <p:nvPr/>
        </p:nvSpPr>
        <p:spPr>
          <a:xfrm>
            <a:off x="9351225" y="1341654"/>
            <a:ext cx="19530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Co-Action Graph</a:t>
            </a:r>
            <a:endParaRPr lang="en-IL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8038791-A184-B391-560C-F39DCF16C891}"/>
              </a:ext>
            </a:extLst>
          </p:cNvPr>
          <p:cNvSpPr txBox="1"/>
          <p:nvPr/>
        </p:nvSpPr>
        <p:spPr>
          <a:xfrm rot="18686069">
            <a:off x="9036591" y="4390791"/>
            <a:ext cx="13775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#Eurovision</a:t>
            </a:r>
            <a:endParaRPr lang="en-IL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B168A8F-FFA2-DA9C-4FE8-2D9B65841E59}"/>
                  </a:ext>
                </a:extLst>
              </p:cNvPr>
              <p:cNvSpPr txBox="1"/>
              <p:nvPr/>
            </p:nvSpPr>
            <p:spPr>
              <a:xfrm>
                <a:off x="9660367" y="4785395"/>
                <a:ext cx="2552699" cy="15696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1600" b="1" dirty="0"/>
                  <a:t>Core-number</a:t>
                </a:r>
                <a:r>
                  <a:rPr lang="en-GB" sz="1600" dirty="0"/>
                  <a:t> - the largest number </a:t>
                </a:r>
                <a14:m>
                  <m:oMath xmlns:m="http://schemas.openxmlformats.org/officeDocument/2006/math">
                    <m:r>
                      <a:rPr lang="en-GB" sz="160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1600" dirty="0"/>
                  <a:t> </a:t>
                </a:r>
                <a:r>
                  <a:rPr lang="en-GB" sz="1600" dirty="0"/>
                  <a:t>such that the node belongs to a subgraph where every node has at least </a:t>
                </a:r>
                <a14:m>
                  <m:oMath xmlns:m="http://schemas.openxmlformats.org/officeDocument/2006/math">
                    <m:r>
                      <a:rPr lang="en-GB" sz="160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sz="16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1600" dirty="0"/>
                  <a:t>neighbours </a:t>
                </a:r>
                <a:r>
                  <a:rPr lang="en-GB" sz="1600" u="sng" dirty="0"/>
                  <a:t>within</a:t>
                </a:r>
                <a:r>
                  <a:rPr lang="en-GB" sz="1600" dirty="0"/>
                  <a:t> that subgraph.</a:t>
                </a:r>
                <a:endParaRPr lang="en-IL" sz="16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B168A8F-FFA2-DA9C-4FE8-2D9B65841E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0367" y="4785395"/>
                <a:ext cx="2552699" cy="1569660"/>
              </a:xfrm>
              <a:prstGeom prst="rect">
                <a:avLst/>
              </a:prstGeom>
              <a:blipFill>
                <a:blip r:embed="rId3"/>
                <a:stretch>
                  <a:fillRect l="-1435" t="-1167" b="-4280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6332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A3CE6-E239-7F5C-75D5-0DA0D256C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3D7C8-8EE6-64E5-C5FB-C4CDA5862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</a:t>
            </a:r>
            <a:r>
              <a:rPr lang="en-IL" dirty="0"/>
              <a:t>-</a:t>
            </a:r>
            <a:r>
              <a:rPr lang="en-GB" dirty="0"/>
              <a:t>C</a:t>
            </a:r>
            <a:r>
              <a:rPr lang="en-IL" dirty="0"/>
              <a:t>ore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49EBD1-1E19-2423-154E-97AC13DB55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087" y="1825625"/>
            <a:ext cx="10582656" cy="4769728"/>
          </a:xfrm>
        </p:spPr>
        <p:txBody>
          <a:bodyPr>
            <a:normAutofit/>
          </a:bodyPr>
          <a:lstStyle/>
          <a:p>
            <a:r>
              <a:rPr lang="en-IL" sz="3600" dirty="0"/>
              <a:t>An IO driver is </a:t>
            </a:r>
            <a:r>
              <a:rPr lang="en-GB" sz="3600" dirty="0"/>
              <a:t>part of </a:t>
            </a:r>
            <a:r>
              <a:rPr lang="en-IL" sz="3600" dirty="0"/>
              <a:t>a network of accounts that </a:t>
            </a:r>
            <a:r>
              <a:rPr lang="en-GB" sz="3600" dirty="0"/>
              <a:t>coordinate</a:t>
            </a:r>
            <a:r>
              <a:rPr lang="en-IL" sz="3600" dirty="0"/>
              <a:t>.</a:t>
            </a:r>
          </a:p>
          <a:p>
            <a:r>
              <a:rPr lang="en-IL" sz="3600" dirty="0"/>
              <a:t>This coordinated group can be identified using the node’s </a:t>
            </a:r>
            <a:r>
              <a:rPr lang="en-IL" sz="3600" b="1" dirty="0"/>
              <a:t>k-core</a:t>
            </a:r>
            <a:r>
              <a:rPr lang="en-IL" sz="3600" dirty="0"/>
              <a:t> in the behavioural-similarity graph.</a:t>
            </a:r>
            <a:endParaRPr lang="en-GB" sz="3600" dirty="0"/>
          </a:p>
          <a:p>
            <a:r>
              <a:rPr lang="en-IL" sz="3600" dirty="0"/>
              <a:t>Investigating this k-core can help reveal the group’s shared objectives, IO motivations, and intended targets.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B6F689-B7C2-3DDF-7C4B-0C0B1293B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11</a:t>
            </a:fld>
            <a:endParaRPr lang="he-I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AEDFA0-1515-344B-4E0B-B4A1850499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198" b="12173"/>
          <a:stretch>
            <a:fillRect/>
          </a:stretch>
        </p:blipFill>
        <p:spPr>
          <a:xfrm>
            <a:off x="3102000" y="5190136"/>
            <a:ext cx="5987999" cy="1477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5689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CB815-DA17-3CBD-4DA5-D200F3944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82981-4578-9DFA-9B78-6D536D89C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Additional Indicators</a:t>
            </a:r>
            <a:endParaRPr lang="en-IL" dirty="0"/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76A4B38D-F573-2F95-62F3-8BE9BF72A13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88186858"/>
              </p:ext>
            </p:extLst>
          </p:nvPr>
        </p:nvGraphicFramePr>
        <p:xfrm>
          <a:off x="1243087" y="1575486"/>
          <a:ext cx="7072620" cy="51301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E5605A-34FF-F4E0-D05D-D1E5A6286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12</a:t>
            </a:fld>
            <a:endParaRPr lang="he-I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AB7E417-6A10-8FF5-D4F4-A584AA79186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0740" y="2295759"/>
            <a:ext cx="3639113" cy="360033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CF1AD01-0DDD-F198-381B-E9E6678A1994}"/>
              </a:ext>
            </a:extLst>
          </p:cNvPr>
          <p:cNvSpPr txBox="1"/>
          <p:nvPr/>
        </p:nvSpPr>
        <p:spPr>
          <a:xfrm>
            <a:off x="8420740" y="1952370"/>
            <a:ext cx="3639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Author</a:t>
            </a:r>
            <a:r>
              <a:rPr lang="en-US" dirty="0"/>
              <a:t> </a:t>
            </a:r>
            <a:r>
              <a:rPr lang="en-GB" dirty="0">
                <a:solidFill>
                  <a:prstClr val="black"/>
                </a:solidFill>
              </a:rPr>
              <a:t>feature vector (example) 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2066198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41039E-B86D-D32C-4EF0-FA604B11E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2D6560F-A6DA-C278-D8DD-8FC517515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9549" y="1709738"/>
            <a:ext cx="9914592" cy="2852737"/>
          </a:xfrm>
        </p:spPr>
        <p:txBody>
          <a:bodyPr/>
          <a:lstStyle/>
          <a:p>
            <a:r>
              <a:rPr lang="en-GB" dirty="0"/>
              <a:t>Experiments</a:t>
            </a:r>
            <a:endParaRPr lang="en-IL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B975D23-C7EF-CD33-D494-5CC3F0365E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4402CA-E680-684E-0F51-51C82A1E2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13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614308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E1771B-41D5-552B-1540-3E0FBF7D4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0B7CF-779B-1B9F-5240-902310B1B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AFA6AF-6A87-4F60-6C3F-FDCBD9A09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618" y="2240295"/>
            <a:ext cx="5212080" cy="47697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L" sz="3200" b="1" u="sng" dirty="0"/>
              <a:t>Labeled IO Corpus</a:t>
            </a:r>
          </a:p>
          <a:p>
            <a:r>
              <a:rPr lang="en-IL" sz="2000" dirty="0"/>
              <a:t>Collection of 26 information operations (IO).</a:t>
            </a:r>
          </a:p>
          <a:p>
            <a:r>
              <a:rPr lang="en-IL" sz="2000" dirty="0"/>
              <a:t>Campaigns from multiple countries.</a:t>
            </a:r>
          </a:p>
          <a:p>
            <a:r>
              <a:rPr lang="en-IL" sz="2000" dirty="0"/>
              <a:t>Fully labeled (IO vs. Control accounts).</a:t>
            </a:r>
          </a:p>
          <a:p>
            <a:r>
              <a:rPr lang="en-IL" sz="2000" dirty="0"/>
              <a:t>Over 13M control posts from 303K accounts.</a:t>
            </a:r>
          </a:p>
          <a:p>
            <a:pPr marL="0" indent="0">
              <a:buNone/>
            </a:pPr>
            <a:r>
              <a:rPr lang="en-IL" sz="1400" i="1" dirty="0">
                <a:solidFill>
                  <a:srgbClr val="7F7F7F"/>
                </a:solidFill>
              </a:rPr>
              <a:t>zenodo.org/records/14189193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30A2CA-B76F-0291-5272-E2DE48593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14</a:t>
            </a:fld>
            <a:endParaRPr lang="he-IL"/>
          </a:p>
        </p:txBody>
      </p:sp>
      <p:sp>
        <p:nvSpPr>
          <p:cNvPr id="50" name="GlancePanel"/>
          <p:cNvSpPr/>
          <p:nvPr/>
        </p:nvSpPr>
        <p:spPr>
          <a:xfrm>
            <a:off x="6827201" y="2466750"/>
            <a:ext cx="4572000" cy="2158409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txBody>
          <a:bodyPr lIns="182880" tIns="137160" rIns="182880" bIns="137160">
            <a:normAutofit/>
          </a:bodyPr>
          <a:lstStyle/>
          <a:p>
            <a:pPr marL="0" indent="0">
              <a:buNone/>
            </a:pPr>
            <a:r>
              <a:rPr lang="en-IL" b="1" dirty="0"/>
              <a:t>Ecuador Campaign Dataset</a:t>
            </a:r>
          </a:p>
          <a:p>
            <a:pPr marL="0" indent="0">
              <a:buNone/>
            </a:pPr>
            <a:r>
              <a:rPr lang="en-IL" sz="1600" b="1" dirty="0"/>
              <a:t>787 IO accounts | 21,138 control accounts</a:t>
            </a:r>
          </a:p>
          <a:p>
            <a:pPr marL="0" indent="0">
              <a:buNone/>
            </a:pPr>
            <a:r>
              <a:rPr lang="en-IL" sz="1600" b="1" dirty="0"/>
              <a:t>700K IO tweets | 770K control tweets</a:t>
            </a:r>
          </a:p>
          <a:p>
            <a:pPr marL="0" indent="0">
              <a:buNone/>
            </a:pPr>
            <a:r>
              <a:rPr lang="en-IL" sz="1600" dirty="0"/>
              <a:t>Posts are used to build the co-action graph</a:t>
            </a:r>
          </a:p>
          <a:p>
            <a:pPr marL="0" indent="0">
              <a:buNone/>
            </a:pPr>
            <a:r>
              <a:rPr lang="en-IL" sz="1600" dirty="0"/>
              <a:t>Platform labels serve as ground truth</a:t>
            </a:r>
          </a:p>
          <a:p>
            <a:pPr marL="0" indent="0">
              <a:buNone/>
            </a:pPr>
            <a:r>
              <a:rPr lang="en-IL" sz="1400" i="1" dirty="0">
                <a:solidFill>
                  <a:srgbClr val="7F7F7F"/>
                </a:solidFill>
              </a:rPr>
              <a:t>Seckin et al., 2024</a:t>
            </a:r>
          </a:p>
        </p:txBody>
      </p:sp>
    </p:spTree>
    <p:extLst>
      <p:ext uri="{BB962C8B-B14F-4D97-AF65-F5344CB8AC3E}">
        <p14:creationId xmlns:p14="http://schemas.microsoft.com/office/powerpoint/2010/main" val="32991573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BFB06-31E1-F12E-61E2-AD9CFD94A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F6BC6AE-4687-A2A7-935B-0F2E9F9154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0246" y="1580010"/>
            <a:ext cx="4893567" cy="229737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42AE667-C784-0DA7-5A0E-CB08BA36F6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8609" y="1559914"/>
            <a:ext cx="4920610" cy="231006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1BDCE7F-99C3-9474-F9E6-66CB34E19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L" dirty="0"/>
              <a:t>Core Number -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A2D5A9-A078-1290-ACCC-0C6203E31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086" y="1825624"/>
            <a:ext cx="10850301" cy="500414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GB" sz="2000" b="1" dirty="0"/>
          </a:p>
          <a:p>
            <a:pPr lvl="2"/>
            <a:endParaRPr lang="en-GB" sz="1500" dirty="0"/>
          </a:p>
          <a:p>
            <a:pPr marL="914400" lvl="2" indent="0">
              <a:buNone/>
            </a:pPr>
            <a:endParaRPr lang="en-GB" sz="15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A23E22-B25F-6C61-B14B-75EEE667A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15</a:t>
            </a:fld>
            <a:endParaRPr lang="he-I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D85B4F-AF7F-749F-77C1-315E6E06566E}"/>
              </a:ext>
            </a:extLst>
          </p:cNvPr>
          <p:cNvSpPr txBox="1"/>
          <p:nvPr/>
        </p:nvSpPr>
        <p:spPr>
          <a:xfrm>
            <a:off x="6659873" y="1296346"/>
            <a:ext cx="2214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Ecuador </a:t>
            </a:r>
            <a:r>
              <a:rPr lang="en-GB" dirty="0"/>
              <a:t>Campaign</a:t>
            </a:r>
            <a:endParaRPr lang="en-IL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3E0586-5C53-F6ED-1E5A-96C49F4642C9}"/>
              </a:ext>
            </a:extLst>
          </p:cNvPr>
          <p:cNvSpPr txBox="1"/>
          <p:nvPr/>
        </p:nvSpPr>
        <p:spPr>
          <a:xfrm>
            <a:off x="1440246" y="6223634"/>
            <a:ext cx="69238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Cumulative distribution: proportion of IO drivers by Core Number threshold (≤ / ≥)</a:t>
            </a:r>
            <a:endParaRPr lang="en-IL" b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D8B88D7-4ED4-985E-8371-C40F0673F8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3939" y="3917576"/>
            <a:ext cx="4893567" cy="225263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EFBE902-A18C-18D2-66ED-BC4E7994D2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6984" y="3953617"/>
            <a:ext cx="4863860" cy="2323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5460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2F4426-938D-DED9-F61F-1488E4F33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4EFC-3943-4271-DC87-8F6DA5258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2268" y="401637"/>
            <a:ext cx="8753475" cy="1325563"/>
          </a:xfrm>
        </p:spPr>
        <p:txBody>
          <a:bodyPr anchor="ctr">
            <a:normAutofit/>
          </a:bodyPr>
          <a:lstStyle/>
          <a:p>
            <a:r>
              <a:rPr lang="en-GB" dirty="0"/>
              <a:t>K-Core Example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7F4872-7C96-34B8-BFB5-C94EB1871B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36990" y="1821101"/>
            <a:ext cx="5710657" cy="4749032"/>
          </a:xfrm>
        </p:spPr>
        <p:txBody>
          <a:bodyPr>
            <a:noAutofit/>
          </a:bodyPr>
          <a:lstStyle/>
          <a:p>
            <a:r>
              <a:rPr lang="en-IL" sz="3200" dirty="0"/>
              <a:t>One of the authors with the highest core number was selected</a:t>
            </a:r>
            <a:r>
              <a:rPr lang="en-GB" sz="3200" dirty="0"/>
              <a:t>:</a:t>
            </a:r>
          </a:p>
          <a:p>
            <a:pPr lvl="1"/>
            <a:r>
              <a:rPr lang="en-IL" sz="1500" dirty="0"/>
              <a:t>Account ID:</a:t>
            </a:r>
            <a:r>
              <a:rPr lang="en-GB" sz="1500" dirty="0"/>
              <a:t> </a:t>
            </a:r>
            <a:r>
              <a:rPr lang="en-IL" sz="1500" dirty="0"/>
              <a:t>71cc57155d061d447c2c65756c7dfd6873e403a097</a:t>
            </a:r>
            <a:endParaRPr lang="en-GB" sz="1500" dirty="0"/>
          </a:p>
          <a:p>
            <a:pPr lvl="1"/>
            <a:r>
              <a:rPr lang="en-IL" sz="1500" dirty="0"/>
              <a:t>Core number: 106 </a:t>
            </a:r>
            <a:endParaRPr lang="en-GB" sz="1500" dirty="0"/>
          </a:p>
          <a:p>
            <a:r>
              <a:rPr lang="en-IL" sz="3200" dirty="0"/>
              <a:t>The corresponding </a:t>
            </a:r>
            <a:r>
              <a:rPr lang="en-IL" sz="3200" b="1" dirty="0"/>
              <a:t>k-core</a:t>
            </a:r>
            <a:r>
              <a:rPr lang="en-IL" sz="3200" dirty="0"/>
              <a:t> was extracted. </a:t>
            </a:r>
            <a:endParaRPr lang="en-GB" sz="3200" dirty="0"/>
          </a:p>
          <a:p>
            <a:r>
              <a:rPr lang="en-IL" sz="3200" dirty="0"/>
              <a:t>The k-core contains </a:t>
            </a:r>
            <a:r>
              <a:rPr lang="en-IL" sz="3200" b="1" dirty="0"/>
              <a:t>107 nodes</a:t>
            </a:r>
            <a:r>
              <a:rPr lang="en-IL" sz="3200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A72417-CA92-53AF-A865-04034A0FF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6AB8EDD-9EF2-4633-A1C2-4D908C1019B4}" type="slidenum">
              <a:rPr lang="he-IL" smtClean="0"/>
              <a:pPr>
                <a:spcAft>
                  <a:spcPts val="600"/>
                </a:spcAft>
              </a:pPr>
              <a:t>16</a:t>
            </a:fld>
            <a:endParaRPr lang="he-IL"/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90FD3490-4134-E81B-C98D-2210844729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336" t="8037" r="8100" b="7627"/>
          <a:stretch>
            <a:fillRect/>
          </a:stretch>
        </p:blipFill>
        <p:spPr>
          <a:xfrm>
            <a:off x="6841153" y="1727200"/>
            <a:ext cx="5181600" cy="4360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8278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7A97E-3EEF-22AD-3195-B7C3B7358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87371-0D0D-5C34-DBC3-9AD34ACFB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IL" dirty="0"/>
              <a:t>Coordinated Accounts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744270-F2B8-1F26-07D1-8CFF4D03A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6AB8EDD-9EF2-4633-A1C2-4D908C1019B4}" type="slidenum">
              <a:rPr lang="he-IL" smtClean="0"/>
              <a:pPr>
                <a:spcAft>
                  <a:spcPts val="600"/>
                </a:spcAft>
              </a:pPr>
              <a:t>17</a:t>
            </a:fld>
            <a:endParaRPr lang="he-I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96B63D4-DBEB-D4C9-9C41-EA06F53EBB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755648"/>
            <a:ext cx="3721608" cy="20116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65D565B-4429-F136-7A4F-077C66991C54}"/>
              </a:ext>
            </a:extLst>
          </p:cNvPr>
          <p:cNvSpPr txBox="1"/>
          <p:nvPr/>
        </p:nvSpPr>
        <p:spPr>
          <a:xfrm>
            <a:off x="1554480" y="3803904"/>
            <a:ext cx="45666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dirty="0"/>
              <a:t>Account: </a:t>
            </a:r>
            <a:r>
              <a:rPr lang="en-IL" sz="1400" dirty="0"/>
              <a:t>71cc5715…e403a097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BCB8A62-3788-74C2-C02D-A15EE6DA34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755648"/>
            <a:ext cx="3721608" cy="201168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479A7F8-7A03-F3B0-6624-B225A91D0D7C}"/>
              </a:ext>
            </a:extLst>
          </p:cNvPr>
          <p:cNvSpPr txBox="1"/>
          <p:nvPr/>
        </p:nvSpPr>
        <p:spPr>
          <a:xfrm>
            <a:off x="6720840" y="3803904"/>
            <a:ext cx="466493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dirty="0"/>
              <a:t>Account: </a:t>
            </a:r>
            <a:r>
              <a:rPr lang="en-IL" sz="1400" dirty="0"/>
              <a:t>712125a6…a3f9d0f</a:t>
            </a:r>
          </a:p>
        </p:txBody>
      </p:sp>
      <p:sp>
        <p:nvSpPr>
          <p:cNvPr id="40" name="Lead"/>
          <p:cNvSpPr/>
          <p:nvPr/>
        </p:nvSpPr>
        <p:spPr>
          <a:xfrm>
            <a:off x="1877713" y="1371600"/>
            <a:ext cx="9966960" cy="320040"/>
          </a:xfrm>
          <a:prstGeom prst="rect">
            <a:avLst/>
          </a:prstGeom>
          <a:noFill/>
        </p:spPr>
        <p:txBody>
          <a:bodyPr lIns="0" tIns="0"/>
          <a:lstStyle/>
          <a:p>
            <a:r>
              <a:rPr lang="en-IL" sz="1500" dirty="0"/>
              <a:t>Two accounts from the same k-core share the same vocabulary and reuse the same texts:</a:t>
            </a:r>
          </a:p>
        </p:txBody>
      </p:sp>
      <p:sp>
        <p:nvSpPr>
          <p:cNvPr id="41" name="SharedPosts"/>
          <p:cNvSpPr/>
          <p:nvPr/>
        </p:nvSpPr>
        <p:spPr>
          <a:xfrm>
            <a:off x="1463040" y="4187952"/>
            <a:ext cx="9921240" cy="1847088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txBody>
          <a:bodyPr wrap="square" lIns="137160" tIns="91440" rIns="137160" bIns="91440">
            <a:normAutofit fontScale="92500" lnSpcReduction="10000"/>
          </a:bodyPr>
          <a:lstStyle/>
          <a:p>
            <a:r>
              <a:rPr lang="en-IL" b="1" dirty="0"/>
              <a:t>Both accounts published the exact same text, word for word:</a:t>
            </a:r>
          </a:p>
          <a:p>
            <a:r>
              <a:rPr lang="en-IL" sz="1600" b="1" dirty="0"/>
              <a:t>14.03.2019, 71cc5715…:  </a:t>
            </a:r>
            <a:r>
              <a:rPr lang="en-IL" sz="1600" i="1" dirty="0"/>
              <a:t>“Regulation shall enter force twentieth day following publication official journal european union.”</a:t>
            </a:r>
          </a:p>
          <a:p>
            <a:r>
              <a:rPr lang="en-IL" sz="1600" b="1" dirty="0"/>
              <a:t>02.05.2019, 712125a6…:  </a:t>
            </a:r>
            <a:r>
              <a:rPr lang="en-IL" sz="1600" i="1" dirty="0"/>
              <a:t>“Regulation shall enter force twentieth day following publication official journal european union.”</a:t>
            </a:r>
          </a:p>
          <a:p>
            <a:r>
              <a:rPr lang="en-IL" sz="1600" dirty="0"/>
              <a:t>Both accounts mix pro-government praise with the same off-topic EU legal boilerplate.</a:t>
            </a:r>
          </a:p>
          <a:p>
            <a:r>
              <a:rPr lang="en-IL" sz="1100" i="1" dirty="0">
                <a:solidFill>
                  <a:srgbClr val="7F7F7F"/>
                </a:solidFill>
              </a:rPr>
              <a:t>Posts shown as stored in the dataset (translated and preprocessed).</a:t>
            </a:r>
          </a:p>
        </p:txBody>
      </p:sp>
      <p:sp>
        <p:nvSpPr>
          <p:cNvPr id="42" name="Foot"/>
          <p:cNvSpPr/>
          <p:nvPr/>
        </p:nvSpPr>
        <p:spPr>
          <a:xfrm>
            <a:off x="1554480" y="6199632"/>
            <a:ext cx="7680960" cy="411480"/>
          </a:xfrm>
          <a:prstGeom prst="rect">
            <a:avLst/>
          </a:prstGeom>
          <a:noFill/>
        </p:spPr>
        <p:txBody>
          <a:bodyPr lIns="0" tIns="0"/>
          <a:lstStyle/>
          <a:p>
            <a:r>
              <a:rPr lang="en-IL" sz="1350" b="1" dirty="0"/>
              <a:t>Just 2 of the 107 accounts in this k-core. This is the coordination the co-action graph captures.</a:t>
            </a:r>
          </a:p>
        </p:txBody>
      </p:sp>
    </p:spTree>
    <p:extLst>
      <p:ext uri="{BB962C8B-B14F-4D97-AF65-F5344CB8AC3E}">
        <p14:creationId xmlns:p14="http://schemas.microsoft.com/office/powerpoint/2010/main" val="10840401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D542A-F510-7C65-32F1-A544A7469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BB102-22E0-0E06-AC02-410F9C668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IL" dirty="0"/>
              <a:t>LLM Analysis of the K-Core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3BA1CA-6FD8-B53B-BA40-ABEF486382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36990" y="1821101"/>
            <a:ext cx="10381269" cy="474903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L" sz="2600" dirty="0"/>
              <a:t>An LLM</a:t>
            </a:r>
            <a:r>
              <a:rPr lang="en-GB" sz="2600" dirty="0"/>
              <a:t> </a:t>
            </a:r>
            <a:r>
              <a:rPr lang="en-GB" sz="1800" dirty="0"/>
              <a:t>(</a:t>
            </a:r>
            <a:r>
              <a:rPr lang="en-IL" sz="1800" dirty="0"/>
              <a:t>OpenAI ChatGPT web interface</a:t>
            </a:r>
            <a:r>
              <a:rPr lang="en-GB" sz="1800" dirty="0"/>
              <a:t>)</a:t>
            </a:r>
            <a:r>
              <a:rPr lang="en-IL" sz="1800" dirty="0"/>
              <a:t> </a:t>
            </a:r>
            <a:r>
              <a:rPr lang="en-IL" sz="2600" dirty="0"/>
              <a:t>was provided with the top 10 posts from each account, ranked by TF-IDF score. The </a:t>
            </a:r>
            <a:r>
              <a:rPr lang="en-GB" sz="2600" dirty="0"/>
              <a:t>model</a:t>
            </a:r>
            <a:r>
              <a:rPr lang="en-IL" sz="2600" dirty="0"/>
              <a:t> identified the following patterns:</a:t>
            </a:r>
            <a:endParaRPr lang="en-GB" sz="2600" dirty="0"/>
          </a:p>
          <a:p>
            <a:pPr marL="514350" indent="-514350">
              <a:buAutoNum type="arabicPeriod"/>
            </a:pPr>
            <a:r>
              <a:rPr lang="en-IL" sz="2600" dirty="0"/>
              <a:t>Promotion of the Ecuadorian president and government policies.</a:t>
            </a:r>
            <a:endParaRPr lang="en-GB" sz="2600" dirty="0"/>
          </a:p>
          <a:p>
            <a:pPr marL="514350" indent="-514350">
              <a:buAutoNum type="arabicPeriod"/>
            </a:pPr>
            <a:r>
              <a:rPr lang="en-IL" sz="2600" dirty="0"/>
              <a:t>Emphasis on social programs, security, democracy, and government achievements.</a:t>
            </a:r>
            <a:endParaRPr lang="en-GB" sz="2600" dirty="0"/>
          </a:p>
          <a:p>
            <a:pPr marL="514350" indent="-514350">
              <a:buAutoNum type="arabicPeriod"/>
            </a:pPr>
            <a:r>
              <a:rPr lang="en-IL" sz="2600" dirty="0"/>
              <a:t>Reuse of similar supportive language across accounts.</a:t>
            </a:r>
            <a:endParaRPr lang="en-GB" sz="2600" dirty="0"/>
          </a:p>
          <a:p>
            <a:pPr marL="514350" indent="-514350">
              <a:buAutoNum type="arabicPeriod"/>
            </a:pPr>
            <a:r>
              <a:rPr lang="en-IL" sz="2600" dirty="0"/>
              <a:t>Unusually repetitive references to EU legal and institutional content.</a:t>
            </a:r>
            <a:endParaRPr lang="en-GB" sz="2600" dirty="0"/>
          </a:p>
          <a:p>
            <a:pPr marL="514350" indent="-514350">
              <a:buAutoNum type="arabicPeriod"/>
            </a:pPr>
            <a:r>
              <a:rPr lang="en-IL" sz="2600" b="1" dirty="0"/>
              <a:t>Shared narratives that may indicate coordinated or automated activity.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66EB3C-4883-D0C2-5697-AD8345913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6AB8EDD-9EF2-4633-A1C2-4D908C1019B4}" type="slidenum">
              <a:rPr lang="he-IL" smtClean="0"/>
              <a:pPr>
                <a:spcAft>
                  <a:spcPts val="600"/>
                </a:spcAft>
              </a:pPr>
              <a:t>18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023380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225D8-EDFA-0591-872A-E0075FF02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DED4E-07D6-5029-1267-13E254619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IL" dirty="0"/>
              <a:t>Information Gain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2F5E0B-95E2-EC2F-17CF-478A39DF1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6AB8EDD-9EF2-4633-A1C2-4D908C1019B4}" type="slidenum">
              <a:rPr lang="he-IL" smtClean="0"/>
              <a:pPr>
                <a:spcAft>
                  <a:spcPts val="600"/>
                </a:spcAft>
              </a:pPr>
              <a:t>19</a:t>
            </a:fld>
            <a:endParaRPr lang="he-I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F694049-9AAF-FF1E-EB69-93619E1D8D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0721" y="1727200"/>
            <a:ext cx="8753475" cy="42754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88E7DED-7C45-6E37-6290-93FB4487F981}"/>
              </a:ext>
            </a:extLst>
          </p:cNvPr>
          <p:cNvSpPr txBox="1"/>
          <p:nvPr/>
        </p:nvSpPr>
        <p:spPr>
          <a:xfrm>
            <a:off x="1490383" y="6141483"/>
            <a:ext cx="62618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L" dirty="0">
                <a:solidFill>
                  <a:schemeClr val="bg1">
                    <a:lumMod val="50000"/>
                  </a:schemeClr>
                </a:solidFill>
              </a:rPr>
              <a:t>Information Gain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is a statistical method </a:t>
            </a:r>
            <a:r>
              <a:rPr lang="en-IL" dirty="0">
                <a:solidFill>
                  <a:schemeClr val="bg1">
                    <a:lumMod val="50000"/>
                  </a:schemeClr>
                </a:solidFill>
              </a:rPr>
              <a:t>used to measure how much knowledge one variable provides about another.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43CE284-809A-A65C-BDD2-3AC44719FA4E}"/>
              </a:ext>
            </a:extLst>
          </p:cNvPr>
          <p:cNvSpPr/>
          <p:nvPr/>
        </p:nvSpPr>
        <p:spPr>
          <a:xfrm rot="8053005">
            <a:off x="2398790" y="4289898"/>
            <a:ext cx="1550640" cy="32101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4CB437-4137-2CDD-001F-7C3EEC1128F7}"/>
              </a:ext>
            </a:extLst>
          </p:cNvPr>
          <p:cNvSpPr txBox="1"/>
          <p:nvPr/>
        </p:nvSpPr>
        <p:spPr>
          <a:xfrm>
            <a:off x="9510668" y="1727200"/>
            <a:ext cx="2681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On Ecuador Campaign</a:t>
            </a:r>
            <a:endParaRPr lang="en-IL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65858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D6A4D-7568-BAE4-62D1-881293F2C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3C420-F8E3-F707-0927-1E9D7AECA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IL" dirty="0"/>
              <a:t>SHAP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52290A-7BF2-C0BD-9A9F-A26B3BAEB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6AB8EDD-9EF2-4633-A1C2-4D908C1019B4}" type="slidenum">
              <a:rPr lang="he-IL" smtClean="0"/>
              <a:pPr>
                <a:spcAft>
                  <a:spcPts val="600"/>
                </a:spcAft>
              </a:pPr>
              <a:t>20</a:t>
            </a:fld>
            <a:endParaRPr lang="he-IL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32B9DBD-9D06-F91D-D64B-D21C4568C2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4179" y="2340414"/>
            <a:ext cx="5911564" cy="342951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BDDFF08-7A2E-6395-8B4C-1B8FB25076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870" y="2368126"/>
            <a:ext cx="5162180" cy="340180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997C5E1-5F57-35AD-F9CE-6328C30BB91A}"/>
              </a:ext>
            </a:extLst>
          </p:cNvPr>
          <p:cNvSpPr txBox="1"/>
          <p:nvPr/>
        </p:nvSpPr>
        <p:spPr>
          <a:xfrm>
            <a:off x="0" y="1729419"/>
            <a:ext cx="121809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SHAP analysis on </a:t>
            </a:r>
            <a:r>
              <a:rPr lang="en-US" dirty="0" err="1"/>
              <a:t>XGBoost</a:t>
            </a:r>
            <a:r>
              <a:rPr lang="en-US" dirty="0"/>
              <a:t> model on Ecuador Campaign</a:t>
            </a:r>
            <a:endParaRPr lang="en-IL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065D321-D39B-4DBC-6CB1-32D4550FBD1C}"/>
              </a:ext>
            </a:extLst>
          </p:cNvPr>
          <p:cNvSpPr txBox="1"/>
          <p:nvPr/>
        </p:nvSpPr>
        <p:spPr>
          <a:xfrm>
            <a:off x="1490383" y="6141483"/>
            <a:ext cx="62618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SHAP explains how much each feature contributes to a model’s prediction.</a:t>
            </a:r>
            <a:endParaRPr lang="en-IL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8239BF7-A475-CC65-7EE7-9930284821BC}"/>
              </a:ext>
            </a:extLst>
          </p:cNvPr>
          <p:cNvSpPr/>
          <p:nvPr/>
        </p:nvSpPr>
        <p:spPr>
          <a:xfrm>
            <a:off x="945292" y="2829161"/>
            <a:ext cx="844358" cy="23832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4361CCB-ED27-8FB9-F58E-5F2C97748B71}"/>
              </a:ext>
            </a:extLst>
          </p:cNvPr>
          <p:cNvSpPr/>
          <p:nvPr/>
        </p:nvSpPr>
        <p:spPr>
          <a:xfrm>
            <a:off x="6484869" y="2848617"/>
            <a:ext cx="1079771" cy="23832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314280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2F9F7-41B1-94DB-DF22-F55ACB088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2BBF9-0E3C-681A-3988-D94249FD1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Indicators vs. Core Number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804AFD-E726-8FE1-E44A-02D120D0E0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087" y="1825625"/>
            <a:ext cx="10582656" cy="4769728"/>
          </a:xfrm>
        </p:spPr>
        <p:txBody>
          <a:bodyPr>
            <a:normAutofit/>
          </a:bodyPr>
          <a:lstStyle/>
          <a:p>
            <a:r>
              <a:rPr lang="en-IL" sz="3600" dirty="0"/>
              <a:t>Core number alone achieves </a:t>
            </a:r>
            <a:r>
              <a:rPr lang="en-US" sz="3600" dirty="0"/>
              <a:t>high</a:t>
            </a:r>
            <a:r>
              <a:rPr lang="en-IL" sz="3600" dirty="0"/>
              <a:t> AUC </a:t>
            </a:r>
            <a:r>
              <a:rPr lang="en-US" sz="3600" dirty="0"/>
              <a:t>and </a:t>
            </a:r>
            <a:r>
              <a:rPr lang="en-IL" sz="3600" dirty="0"/>
              <a:t>F1.</a:t>
            </a:r>
            <a:endParaRPr lang="en-US" sz="3600" dirty="0"/>
          </a:p>
          <a:p>
            <a:r>
              <a:rPr lang="en-IL" sz="3600" dirty="0"/>
              <a:t>Other indicators add little improvement.</a:t>
            </a:r>
            <a:endParaRPr lang="en-US" sz="3600" dirty="0"/>
          </a:p>
          <a:p>
            <a:r>
              <a:rPr lang="en-IL" sz="3600" dirty="0"/>
              <a:t>Core number captures most of the IO detection signal.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77B375-87F2-AAA2-0C4B-54AE2279C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21</a:t>
            </a:fld>
            <a:endParaRPr lang="he-IL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48BF298-48E5-891C-4401-BCFF53042D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1268" y="3704712"/>
            <a:ext cx="4459733" cy="263943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0BA0C29-7F98-2C0E-EE97-275D417FA6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704711"/>
            <a:ext cx="4459733" cy="263943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41DF53D-BE27-EA0D-B62E-B1D692635A63}"/>
              </a:ext>
            </a:extLst>
          </p:cNvPr>
          <p:cNvSpPr txBox="1"/>
          <p:nvPr/>
        </p:nvSpPr>
        <p:spPr>
          <a:xfrm>
            <a:off x="4840489" y="6250457"/>
            <a:ext cx="2681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On Ecuador Campaign</a:t>
            </a:r>
            <a:endParaRPr lang="en-IL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32422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E7EBB-9ADD-4D81-20D6-6746201B9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B3CD8-080B-AA20-3306-2F83ED293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Key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C9CE5C-A0DA-F3F6-800F-09B5FA1E5C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087" y="1825625"/>
            <a:ext cx="10582656" cy="4769728"/>
          </a:xfrm>
        </p:spPr>
        <p:txBody>
          <a:bodyPr>
            <a:normAutofit lnSpcReduction="10000"/>
          </a:bodyPr>
          <a:lstStyle/>
          <a:p>
            <a:r>
              <a:rPr lang="en-IL" sz="2600" dirty="0"/>
              <a:t>IO influence relies on fleets of coordinated accounts.</a:t>
            </a:r>
          </a:p>
          <a:p>
            <a:r>
              <a:rPr lang="en-IL" sz="2600" dirty="0"/>
              <a:t>The co-action graph exposes this coordination, and the core number quantifies it.</a:t>
            </a:r>
          </a:p>
          <a:p>
            <a:r>
              <a:rPr lang="en-IL" sz="2600" dirty="0"/>
              <a:t>Core number alone separates IO drivers from legitimate users (high AUC &amp; F1).</a:t>
            </a:r>
          </a:p>
          <a:p>
            <a:r>
              <a:rPr lang="en-IL" sz="2600" b="1" dirty="0"/>
              <a:t>Investigating the k-core reveals the campaign’s agenda, making detection both accurate and interpretable.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824614-B785-3AAF-F357-019EEE242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22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19715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F1D631C-0474-31A2-8F4A-253AE6BB3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3302A-DA36-40AE-FEB5-58196BE76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7462" y="-55282"/>
            <a:ext cx="8753475" cy="1325563"/>
          </a:xfrm>
        </p:spPr>
        <p:txBody>
          <a:bodyPr anchor="ctr">
            <a:normAutofit/>
          </a:bodyPr>
          <a:lstStyle/>
          <a:p>
            <a:r>
              <a:rPr lang="en-GB" dirty="0"/>
              <a:t>K-Core Example - Top Posts</a:t>
            </a:r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D7C468-10F2-3E81-3E4F-33E979828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6AB8EDD-9EF2-4633-A1C2-4D908C1019B4}" type="slidenum">
              <a:rPr lang="he-IL" smtClean="0"/>
              <a:pPr>
                <a:spcAft>
                  <a:spcPts val="600"/>
                </a:spcAft>
              </a:pPr>
              <a:t>23</a:t>
            </a:fld>
            <a:endParaRPr lang="he-I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F5A9A0-E4E7-9D8E-1B78-578AEA1FAE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0567" y="931251"/>
            <a:ext cx="8941869" cy="5304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4739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4F1B31F-78F0-7858-AE46-3A6AB43B7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DE87F-7930-4BE1-329A-4F3A5152B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7462" y="-55282"/>
            <a:ext cx="8753475" cy="1325563"/>
          </a:xfrm>
        </p:spPr>
        <p:txBody>
          <a:bodyPr anchor="ctr">
            <a:normAutofit/>
          </a:bodyPr>
          <a:lstStyle/>
          <a:p>
            <a:r>
              <a:rPr lang="en-GB" dirty="0"/>
              <a:t>K-Core Example - Top Posts</a:t>
            </a:r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9F2D2A-63D8-B77A-FF2E-BBC8A572A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6AB8EDD-9EF2-4633-A1C2-4D908C1019B4}" type="slidenum">
              <a:rPr lang="he-IL" smtClean="0"/>
              <a:pPr>
                <a:spcAft>
                  <a:spcPts val="600"/>
                </a:spcAft>
              </a:pPr>
              <a:t>24</a:t>
            </a:fld>
            <a:endParaRPr lang="he-IL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4FA35B5-148A-4935-0918-A1F0A76257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849" y="870615"/>
            <a:ext cx="10588302" cy="5462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3358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C57CEC8-F28B-AF96-D25C-C5077F7AD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677C7-2976-BAF7-7BC0-B94298F56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7462" y="-55282"/>
            <a:ext cx="8753475" cy="1325563"/>
          </a:xfrm>
        </p:spPr>
        <p:txBody>
          <a:bodyPr anchor="ctr">
            <a:normAutofit/>
          </a:bodyPr>
          <a:lstStyle/>
          <a:p>
            <a:r>
              <a:rPr lang="en-GB" dirty="0"/>
              <a:t>K-Core Example - Top Posts</a:t>
            </a:r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ACD51B-F403-C5B4-93EF-0481AFDB3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6AB8EDD-9EF2-4633-A1C2-4D908C1019B4}" type="slidenum">
              <a:rPr lang="he-IL" smtClean="0"/>
              <a:pPr>
                <a:spcAft>
                  <a:spcPts val="600"/>
                </a:spcAft>
              </a:pPr>
              <a:t>25</a:t>
            </a:fld>
            <a:endParaRPr lang="he-I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02696E-EA6C-CB4E-05BF-C2B2F127F9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064" y="1925054"/>
            <a:ext cx="11083755" cy="3582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3028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16140</TotalTime>
  <Words>1226</Words>
  <Application>Microsoft Macintosh PowerPoint</Application>
  <PresentationFormat>Widescreen</PresentationFormat>
  <Paragraphs>160</Paragraphs>
  <Slides>25</Slides>
  <Notes>1</Notes>
  <HiddenSlides>3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Arial</vt:lpstr>
      <vt:lpstr>Calibri</vt:lpstr>
      <vt:lpstr>Calibri Light</vt:lpstr>
      <vt:lpstr>Cambria Math</vt:lpstr>
      <vt:lpstr>Courier New</vt:lpstr>
      <vt:lpstr>Wingdings</vt:lpstr>
      <vt:lpstr>Office Theme</vt:lpstr>
      <vt:lpstr>I Can See U. Indicator-Based Information Operation Detection and Topic-Aware Analysis</vt:lpstr>
      <vt:lpstr>Motivation</vt:lpstr>
      <vt:lpstr>IO &amp; Coordination</vt:lpstr>
      <vt:lpstr>Related Work</vt:lpstr>
      <vt:lpstr>Our Contributions</vt:lpstr>
      <vt:lpstr>Methods - Co-Action Graph</vt:lpstr>
      <vt:lpstr>Core-Number</vt:lpstr>
      <vt:lpstr>Core Number - Definition</vt:lpstr>
      <vt:lpstr>Core Number - Motivation</vt:lpstr>
      <vt:lpstr>Core Number - Example</vt:lpstr>
      <vt:lpstr>K-Core</vt:lpstr>
      <vt:lpstr>Additional Indicators</vt:lpstr>
      <vt:lpstr>Experiments</vt:lpstr>
      <vt:lpstr>Datasets</vt:lpstr>
      <vt:lpstr>Core Number - Results</vt:lpstr>
      <vt:lpstr>K-Core Example</vt:lpstr>
      <vt:lpstr>Coordinated Accounts</vt:lpstr>
      <vt:lpstr>LLM Analysis of the K-Core</vt:lpstr>
      <vt:lpstr>Information Gain</vt:lpstr>
      <vt:lpstr>SHAP Analysis</vt:lpstr>
      <vt:lpstr>Indicators vs. Core Number</vt:lpstr>
      <vt:lpstr>Key Takeaways</vt:lpstr>
      <vt:lpstr>K-Core Example - Top Posts</vt:lpstr>
      <vt:lpstr>K-Core Example - Top Posts</vt:lpstr>
      <vt:lpstr>K-Core Example - Top Posts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Edita Grolman</dc:creator>
  <cp:lastModifiedBy>Noa Tal</cp:lastModifiedBy>
  <cp:revision>554</cp:revision>
  <dcterms:created xsi:type="dcterms:W3CDTF">2021-05-04T15:24:24Z</dcterms:created>
  <dcterms:modified xsi:type="dcterms:W3CDTF">2026-07-14T10:31:23Z</dcterms:modified>
</cp:coreProperties>
</file>