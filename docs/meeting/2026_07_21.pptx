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1574" r:id="rId2"/>
    <p:sldId id="1762" r:id="rId3"/>
    <p:sldId id="1763" r:id="rId4"/>
    <p:sldId id="1764" r:id="rId5"/>
    <p:sldId id="1780" r:id="rId6"/>
    <p:sldId id="1591" r:id="rId7"/>
    <p:sldId id="1740" r:id="rId8"/>
    <p:sldId id="1785" r:id="rId9"/>
    <p:sldId id="1749" r:id="rId10"/>
    <p:sldId id="1738" r:id="rId11"/>
    <p:sldId id="1772" r:id="rId12"/>
    <p:sldId id="1784" r:id="rId13"/>
    <p:sldId id="1649" r:id="rId14"/>
    <p:sldId id="1768" r:id="rId15"/>
    <p:sldId id="1770" r:id="rId16"/>
    <p:sldId id="1757" r:id="rId17"/>
    <p:sldId id="1773" r:id="rId18"/>
    <p:sldId id="1775" r:id="rId19"/>
    <p:sldId id="1774" r:id="rId20"/>
    <p:sldId id="1729" r:id="rId21"/>
    <p:sldId id="1730" r:id="rId22"/>
    <p:sldId id="1767" r:id="rId23"/>
    <p:sldId id="1782" r:id="rId24"/>
    <p:sldId id="1777" r:id="rId25"/>
    <p:sldId id="1778" r:id="rId26"/>
    <p:sldId id="1779" r:id="rId2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762"/>
            <p14:sldId id="1763"/>
            <p14:sldId id="1764"/>
            <p14:sldId id="1780"/>
            <p14:sldId id="1591"/>
          </p14:sldIdLst>
        </p14:section>
        <p14:section name="Core-Number" id="{2F1E73D5-870F-4091-9492-A1102BE33EA1}">
          <p14:sldIdLst>
            <p14:sldId id="1740"/>
            <p14:sldId id="1785"/>
            <p14:sldId id="1749"/>
            <p14:sldId id="1738"/>
            <p14:sldId id="1772"/>
            <p14:sldId id="1784"/>
            <p14:sldId id="1649"/>
            <p14:sldId id="1768"/>
            <p14:sldId id="1770"/>
            <p14:sldId id="1757"/>
            <p14:sldId id="1773"/>
            <p14:sldId id="1775"/>
            <p14:sldId id="1774"/>
            <p14:sldId id="1729"/>
            <p14:sldId id="1730"/>
            <p14:sldId id="1767"/>
            <p14:sldId id="1782"/>
            <p14:sldId id="1777"/>
            <p14:sldId id="1778"/>
            <p14:sldId id="17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808"/>
    <a:srgbClr val="800000"/>
    <a:srgbClr val="F59120"/>
    <a:srgbClr val="FE0101"/>
    <a:srgbClr val="F58377"/>
    <a:srgbClr val="FF4343"/>
    <a:srgbClr val="548235"/>
    <a:srgbClr val="009DBB"/>
    <a:srgbClr val="0688BA"/>
    <a:srgbClr val="005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95000" autoAdjust="0"/>
  </p:normalViewPr>
  <p:slideViewPr>
    <p:cSldViewPr snapToGrid="0">
      <p:cViewPr varScale="1">
        <p:scale>
          <a:sx n="147" d="100"/>
          <a:sy n="147" d="100"/>
        </p:scale>
        <p:origin x="86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 custT="1"/>
      <dgm:spPr/>
      <dgm:t>
        <a:bodyPr/>
        <a:lstStyle/>
        <a:p>
          <a:r>
            <a:rPr lang="en-IL" sz="2400" dirty="0"/>
            <a:t>Coordinated authors are highly inter</a:t>
          </a:r>
          <a:r>
            <a:rPr lang="en-GB" sz="2400" dirty="0"/>
            <a:t>-</a:t>
          </a:r>
          <a:r>
            <a:rPr lang="en-IL" sz="2400" dirty="0"/>
            <a:t>connected in the</a:t>
          </a:r>
          <a:r>
            <a:rPr lang="en-GB" sz="2400" dirty="0"/>
            <a:t> co-action</a:t>
          </a:r>
          <a:r>
            <a:rPr lang="en-IL" sz="2400" dirty="0"/>
            <a:t> graph.</a:t>
          </a:r>
          <a:endParaRPr lang="en-GB" sz="2400" dirty="0"/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 custT="1"/>
      <dgm:spPr/>
      <dgm:t>
        <a:bodyPr/>
        <a:lstStyle/>
        <a:p>
          <a:r>
            <a:rPr lang="en-IL" sz="2400" dirty="0"/>
            <a:t>Accounts within these coordinated groups receive a high </a:t>
          </a:r>
          <a:r>
            <a:rPr lang="en-GB" sz="2400" dirty="0"/>
            <a:t>core number.</a:t>
          </a:r>
          <a:endParaRPr lang="en-IL" sz="2400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 custT="1"/>
      <dgm:spPr/>
      <dgm:t>
        <a:bodyPr/>
        <a:lstStyle/>
        <a:p>
          <a:r>
            <a:rPr lang="en-IL" sz="2400" dirty="0"/>
            <a:t>Since IO requires coordination, IO drivers are expected to appear in </a:t>
          </a:r>
          <a:r>
            <a:rPr lang="en-GB" sz="2400" dirty="0"/>
            <a:t>the coordinated</a:t>
          </a:r>
          <a:r>
            <a:rPr lang="en-IL" sz="2400" dirty="0"/>
            <a:t> groups. </a:t>
          </a:r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972B0F-9F24-4FC0-BA51-EEBB0A7F8A73}">
      <dgm:prSet phldrT="[Text]" custT="1"/>
      <dgm:spPr/>
      <dgm:t>
        <a:bodyPr/>
        <a:lstStyle/>
        <a:p>
          <a:pPr>
            <a:buNone/>
          </a:pPr>
          <a:r>
            <a:rPr lang="en-IL" sz="2400" dirty="0"/>
            <a:t>The co-action graph represents behavioural similarity between authors.</a:t>
          </a:r>
        </a:p>
      </dgm:t>
    </dgm:pt>
    <dgm:pt modelId="{823A6176-1344-4AAD-A081-89EB5DCC4093}" type="parTrans" cxnId="{19261AE1-CDAA-437C-82BB-F32380991E11}">
      <dgm:prSet/>
      <dgm:spPr/>
      <dgm:t>
        <a:bodyPr/>
        <a:lstStyle/>
        <a:p>
          <a:endParaRPr lang="en-IL"/>
        </a:p>
      </dgm:t>
    </dgm:pt>
    <dgm:pt modelId="{D9926E93-0033-4EAE-8105-B122F3529813}" type="sibTrans" cxnId="{19261AE1-CDAA-437C-82BB-F32380991E11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4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4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4"/>
      <dgm:spPr/>
    </dgm:pt>
    <dgm:pt modelId="{736A69BE-A220-4144-BEB1-04BD59BF1329}" type="pres">
      <dgm:prSet presAssocID="{D9926E93-0033-4EAE-8105-B122F3529813}" presName="sp" presStyleCnt="0"/>
      <dgm:spPr/>
    </dgm:pt>
    <dgm:pt modelId="{6647F38C-A354-4E92-82DD-B24CA78D34F1}" type="pres">
      <dgm:prSet presAssocID="{2B972B0F-9F24-4FC0-BA51-EEBB0A7F8A73}" presName="arrowAndChildren" presStyleCnt="0"/>
      <dgm:spPr/>
    </dgm:pt>
    <dgm:pt modelId="{534D5A28-AA1C-4672-B587-DC2D8696AAD8}" type="pres">
      <dgm:prSet presAssocID="{2B972B0F-9F24-4FC0-BA51-EEBB0A7F8A73}" presName="parentTextArrow" presStyleLbl="node1" presStyleIdx="3" presStyleCnt="4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1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3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2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19261AE1-CDAA-437C-82BB-F32380991E11}" srcId="{48AFC2CC-272E-41C7-BFE3-402C8025BCAD}" destId="{2B972B0F-9F24-4FC0-BA51-EEBB0A7F8A73}" srcOrd="0" destOrd="0" parTransId="{823A6176-1344-4AAD-A081-89EB5DCC4093}" sibTransId="{D9926E93-0033-4EAE-8105-B122F3529813}"/>
    <dgm:cxn modelId="{1A3FA7F3-8CBB-413E-949D-A397A86417F4}" type="presOf" srcId="{2B972B0F-9F24-4FC0-BA51-EEBB0A7F8A73}" destId="{534D5A28-AA1C-4672-B587-DC2D8696AAD8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  <dgm:cxn modelId="{1EE2F2DD-C6B7-403D-B437-7A63CE12D223}" type="presParOf" srcId="{2BD634B8-DA83-49F5-9D02-0914F5E00507}" destId="{736A69BE-A220-4144-BEB1-04BD59BF1329}" srcOrd="5" destOrd="0" presId="urn:microsoft.com/office/officeart/2005/8/layout/process4"/>
    <dgm:cxn modelId="{56A9B7E7-EE27-45BC-9061-F46AF766C1EB}" type="presParOf" srcId="{2BD634B8-DA83-49F5-9D02-0914F5E00507}" destId="{6647F38C-A354-4E92-82DD-B24CA78D34F1}" srcOrd="6" destOrd="0" presId="urn:microsoft.com/office/officeart/2005/8/layout/process4"/>
    <dgm:cxn modelId="{395EDE8F-1677-4206-A0B7-D62421760E0C}" type="presParOf" srcId="{6647F38C-A354-4E92-82DD-B24CA78D34F1}" destId="{534D5A28-AA1C-4672-B587-DC2D8696AAD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Building a co-action graph represents author similarity.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817172"/>
          <a:ext cx="10582656" cy="8351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Accounts within these coordinated groups receive a high </a:t>
          </a:r>
          <a:r>
            <a:rPr lang="en-GB" sz="2400" kern="1200" dirty="0"/>
            <a:t>core number.</a:t>
          </a:r>
          <a:endParaRPr lang="en-IL" sz="2400" kern="1200" dirty="0"/>
        </a:p>
      </dsp:txBody>
      <dsp:txXfrm>
        <a:off x="0" y="3817172"/>
        <a:ext cx="10582656" cy="835104"/>
      </dsp:txXfrm>
    </dsp:sp>
    <dsp:sp modelId="{3D88F0F6-5629-4C7E-A8D9-55126A1A5A1D}">
      <dsp:nvSpPr>
        <dsp:cNvPr id="0" name=""/>
        <dsp:cNvSpPr/>
      </dsp:nvSpPr>
      <dsp:spPr>
        <a:xfrm rot="10800000">
          <a:off x="0" y="2545309"/>
          <a:ext cx="10582656" cy="1284390"/>
        </a:xfrm>
        <a:prstGeom prst="upArrowCallou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Since IO requires coordination, IO drivers are expected to appear in </a:t>
          </a:r>
          <a:r>
            <a:rPr lang="en-GB" sz="2400" kern="1200" dirty="0"/>
            <a:t>the coordinated</a:t>
          </a:r>
          <a:r>
            <a:rPr lang="en-IL" sz="2400" kern="1200" dirty="0"/>
            <a:t> groups. </a:t>
          </a:r>
        </a:p>
      </dsp:txBody>
      <dsp:txXfrm rot="10800000">
        <a:off x="0" y="2545309"/>
        <a:ext cx="10582656" cy="834558"/>
      </dsp:txXfrm>
    </dsp:sp>
    <dsp:sp modelId="{5E247E41-6DA2-446C-849F-383AA9AB749B}">
      <dsp:nvSpPr>
        <dsp:cNvPr id="0" name=""/>
        <dsp:cNvSpPr/>
      </dsp:nvSpPr>
      <dsp:spPr>
        <a:xfrm rot="10800000">
          <a:off x="0" y="1273445"/>
          <a:ext cx="10582656" cy="1284390"/>
        </a:xfrm>
        <a:prstGeom prst="upArrowCallou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Coordinated authors are highly inter</a:t>
          </a:r>
          <a:r>
            <a:rPr lang="en-GB" sz="2400" kern="1200" dirty="0"/>
            <a:t>-</a:t>
          </a:r>
          <a:r>
            <a:rPr lang="en-IL" sz="2400" kern="1200" dirty="0"/>
            <a:t>connected in the</a:t>
          </a:r>
          <a:r>
            <a:rPr lang="en-GB" sz="2400" kern="1200" dirty="0"/>
            <a:t> co-action</a:t>
          </a:r>
          <a:r>
            <a:rPr lang="en-IL" sz="2400" kern="1200" dirty="0"/>
            <a:t> graph.</a:t>
          </a:r>
          <a:endParaRPr lang="en-GB" sz="2400" kern="1200" dirty="0"/>
        </a:p>
      </dsp:txBody>
      <dsp:txXfrm rot="10800000">
        <a:off x="0" y="1273445"/>
        <a:ext cx="10582656" cy="834558"/>
      </dsp:txXfrm>
    </dsp:sp>
    <dsp:sp modelId="{534D5A28-AA1C-4672-B587-DC2D8696AAD8}">
      <dsp:nvSpPr>
        <dsp:cNvPr id="0" name=""/>
        <dsp:cNvSpPr/>
      </dsp:nvSpPr>
      <dsp:spPr>
        <a:xfrm rot="10800000">
          <a:off x="0" y="1582"/>
          <a:ext cx="10582656" cy="1284390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400" kern="1200" dirty="0"/>
            <a:t>The co-action graph represents behavioural similarity between authors.</a:t>
          </a:r>
        </a:p>
      </dsp:txBody>
      <dsp:txXfrm rot="10800000">
        <a:off x="0" y="1582"/>
        <a:ext cx="10582656" cy="834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Building a co-action graph represents author similarity.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ז'/אב/תשפ"ו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21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21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21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21 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21 יולי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21 יולי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21 יולי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21 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21 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21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21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21 יולי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21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956582"/>
            <a:ext cx="6234954" cy="1724819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Can See </a:t>
            </a:r>
            <a:r>
              <a:rPr lang="en-GB" sz="4000" b="1" dirty="0">
                <a:solidFill>
                  <a:srgbClr val="FF0000"/>
                </a:solidFill>
              </a:rPr>
              <a:t>U</a:t>
            </a:r>
            <a:r>
              <a:rPr lang="en-GB" sz="4000" b="1" dirty="0">
                <a:solidFill>
                  <a:schemeClr val="bg1"/>
                </a:solidFill>
              </a:rPr>
              <a:t>.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Indicator-Based Information Operation Detection and Topic-Aware Analysis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21.07.2026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5F04-2075-5640-5DEC-3A750362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07E5-B275-6452-62FB-2B98BD26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1588-A0A9-88D4-64DC-E215A71D5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631057" cy="4749032"/>
          </a:xfrm>
        </p:spPr>
        <p:txBody>
          <a:bodyPr>
            <a:noAutofit/>
          </a:bodyPr>
          <a:lstStyle/>
          <a:p>
            <a:r>
              <a:rPr lang="en-IL" sz="3000" dirty="0"/>
              <a:t>Social media platforms </a:t>
            </a:r>
            <a:r>
              <a:rPr lang="en-US" sz="3000" dirty="0"/>
              <a:t>are</a:t>
            </a:r>
            <a:r>
              <a:rPr lang="en-IL" sz="3000" dirty="0"/>
              <a:t> central spaces for public discourse</a:t>
            </a:r>
            <a:r>
              <a:rPr lang="en-US" sz="3000" dirty="0"/>
              <a:t>.</a:t>
            </a:r>
            <a:endParaRPr lang="en-IL" sz="3000" dirty="0"/>
          </a:p>
          <a:p>
            <a:r>
              <a:rPr lang="en-GB" sz="3000" dirty="0"/>
              <a:t>Information operation (IO) actors </a:t>
            </a:r>
            <a:r>
              <a:rPr lang="en-US" sz="3000" dirty="0"/>
              <a:t>exploit the </a:t>
            </a:r>
            <a:r>
              <a:rPr lang="en-IL" sz="3000" dirty="0"/>
              <a:t>openness</a:t>
            </a:r>
            <a:r>
              <a:rPr lang="en-US" sz="3000" dirty="0"/>
              <a:t> of social media</a:t>
            </a:r>
            <a:r>
              <a:rPr lang="en-IL" sz="3000" dirty="0"/>
              <a:t> to manipulate online </a:t>
            </a:r>
            <a:r>
              <a:rPr lang="en-US" sz="3000" dirty="0"/>
              <a:t>discourse </a:t>
            </a:r>
            <a:r>
              <a:rPr lang="en-GB" sz="3000" dirty="0"/>
              <a:t>threatening </a:t>
            </a:r>
            <a:r>
              <a:rPr lang="en-IL" sz="3000" dirty="0"/>
              <a:t>democratic processes, public trust, and societal cohesion (Seckin et al., 2024).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C13A7-1923-2D9F-B551-824B61A9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82"/>
          <a:stretch>
            <a:fillRect/>
          </a:stretch>
        </p:blipFill>
        <p:spPr>
          <a:xfrm>
            <a:off x="6868047" y="1546558"/>
            <a:ext cx="5181600" cy="42107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5F257-DB4A-FAD3-2097-E17D9C5B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9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52B6-F6A0-A5F8-3084-2EFDF779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3EA-9AD0-8D8C-EF0B-B6A71641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 &amp; Coordination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5DA2-E1AA-6D41-1CC8-89FE07E7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2794501"/>
          </a:xfrm>
        </p:spPr>
        <p:txBody>
          <a:bodyPr>
            <a:normAutofit fontScale="92500" lnSpcReduction="20000"/>
          </a:bodyPr>
          <a:lstStyle/>
          <a:p>
            <a:r>
              <a:rPr lang="en-IL" sz="3200" dirty="0"/>
              <a:t>IO</a:t>
            </a:r>
            <a:r>
              <a:rPr lang="en-GB" sz="3200" dirty="0"/>
              <a:t>s</a:t>
            </a:r>
            <a:r>
              <a:rPr lang="en-IL" sz="3200" dirty="0"/>
              <a:t> rely on fleets of coordinated accounts (Pacheco et al., 2021), some of them automated, acting toward a shared political objective</a:t>
            </a:r>
            <a:r>
              <a:rPr lang="en-GB" sz="3200" dirty="0"/>
              <a:t>. Coordination is what amplifies their influence</a:t>
            </a:r>
            <a:r>
              <a:rPr lang="en-IL" sz="3200" dirty="0"/>
              <a:t>.</a:t>
            </a:r>
          </a:p>
          <a:p>
            <a:r>
              <a:rPr lang="en-IL" sz="3200" dirty="0"/>
              <a:t>Accounts </a:t>
            </a:r>
            <a:r>
              <a:rPr lang="en-US" sz="3200" dirty="0"/>
              <a:t>disseminate the same narrative (e.g., </a:t>
            </a:r>
            <a:r>
              <a:rPr lang="en-IL" sz="3200" dirty="0"/>
              <a:t>hashtags</a:t>
            </a:r>
            <a:r>
              <a:rPr lang="en-US" sz="3200" dirty="0"/>
              <a:t>, account mentions)</a:t>
            </a:r>
            <a:r>
              <a:rPr lang="en-IL" sz="3200" dirty="0"/>
              <a:t> </a:t>
            </a:r>
            <a:r>
              <a:rPr lang="en-US" sz="3200" dirty="0"/>
              <a:t>and</a:t>
            </a:r>
            <a:r>
              <a:rPr lang="en-IL" sz="3200" dirty="0"/>
              <a:t> </a:t>
            </a:r>
            <a:r>
              <a:rPr lang="en-US" sz="3200" dirty="0"/>
              <a:t>posts on the same topics</a:t>
            </a:r>
            <a:r>
              <a:rPr lang="en-IL" sz="3200" dirty="0"/>
              <a:t>.</a:t>
            </a:r>
          </a:p>
          <a:p>
            <a:r>
              <a:rPr lang="en-IL" sz="3200" dirty="0"/>
              <a:t>Therefore, </a:t>
            </a:r>
            <a:r>
              <a:rPr lang="en-IL" sz="3200" dirty="0">
                <a:solidFill>
                  <a:schemeClr val="accent6"/>
                </a:solidFill>
              </a:rPr>
              <a:t>identifying coordination is a key step toward detecting IO drivers.</a:t>
            </a:r>
          </a:p>
          <a:p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23A7-90B0-501B-17AB-CF432067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5EB279-80AA-7F93-2976-F7AAA96AF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3" b="2865"/>
          <a:stretch>
            <a:fillRect/>
          </a:stretch>
        </p:blipFill>
        <p:spPr bwMode="auto">
          <a:xfrm>
            <a:off x="3603428" y="4273486"/>
            <a:ext cx="4985144" cy="255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62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25B1-3CF4-8E9D-B717-3F99155A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4515-512F-748F-F0F1-FE7A5562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2338-DB07-7A9B-F0E9-C69CA320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530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b="1" dirty="0"/>
              <a:t>IO-Driver Detection Methods:</a:t>
            </a:r>
          </a:p>
          <a:p>
            <a:pPr>
              <a:spcBef>
                <a:spcPts val="900"/>
              </a:spcBef>
            </a:pPr>
            <a:r>
              <a:rPr lang="en-IL" b="1" dirty="0"/>
              <a:t>Node-Local: </a:t>
            </a:r>
            <a:r>
              <a:rPr lang="en-IL" dirty="0"/>
              <a:t>detect suspicious users from their individual content, activity, and behaviour.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Tomaiuolo et al., A Survey on Troll Detection, Future Internet, 2020</a:t>
            </a:r>
          </a:p>
          <a:p>
            <a:pPr>
              <a:spcBef>
                <a:spcPts val="900"/>
              </a:spcBef>
            </a:pPr>
            <a:r>
              <a:rPr lang="en-IL" b="1" dirty="0"/>
              <a:t>Network-Based: </a:t>
            </a:r>
            <a:r>
              <a:rPr lang="en-IL" dirty="0"/>
              <a:t>detect coordinated groups from graph structure and behavioural similarity.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Pacheco et al., Uncovering Coordinated Networks on Social Media: Methods and Case Studies, ICWSM, 2021</a:t>
            </a:r>
          </a:p>
          <a:p>
            <a:pPr>
              <a:spcBef>
                <a:spcPts val="900"/>
              </a:spcBef>
            </a:pPr>
            <a:r>
              <a:rPr lang="en-IL" b="1" dirty="0"/>
              <a:t>Hybrid: </a:t>
            </a:r>
            <a:r>
              <a:rPr lang="en-IL" dirty="0"/>
              <a:t>combine user content with network information to detect IO drivers.</a:t>
            </a:r>
          </a:p>
          <a:p>
            <a:pPr marL="34290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Minici et al., IOHunter: Graph Foundation Model to Uncover Online Information Operations, AAAI, 2025</a:t>
            </a:r>
          </a:p>
          <a:p>
            <a:pPr marL="0" indent="0" algn="ctr">
              <a:buNone/>
            </a:pPr>
            <a:r>
              <a:rPr lang="en-IL" sz="2000" b="1" dirty="0"/>
              <a:t>The gap: existing approaches either detect coordinated groups without quantifying each account’s depth of involvement, or implicitly encode structural embeddedness within black-box models. None provides an explicit, interpretable, account-level measure of coordination depth.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B0A1-1249-8531-140A-79FDF456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840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Our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200" dirty="0"/>
              <a:t>An interpretable, indicator-based approach for account-level IO detection.</a:t>
            </a:r>
          </a:p>
          <a:p>
            <a:r>
              <a:rPr lang="en-IL" sz="3200" dirty="0"/>
              <a:t>The core number in the co-action graph as a single, explainable indicator of coordination, achieving performance comparable to a full feature set (AUC &amp; F1) on a real IO campaign.</a:t>
            </a:r>
          </a:p>
          <a:p>
            <a:r>
              <a:rPr lang="en-IL" sz="3200" dirty="0"/>
              <a:t>Topic-aware analysis of the detected coordinated group (k-core), revealing the campaign’s agenda.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IL" dirty="0"/>
              <a:t>Methods - Co-Action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3200" b="1" dirty="0"/>
              <a:t>Nodes:</a:t>
            </a:r>
            <a:r>
              <a:rPr lang="en-GB" sz="3200" dirty="0"/>
              <a:t> authors in the discourse.</a:t>
            </a:r>
          </a:p>
          <a:p>
            <a:r>
              <a:rPr lang="en-GB" sz="3200" b="1" dirty="0"/>
              <a:t>Edges: </a:t>
            </a:r>
            <a:r>
              <a:rPr lang="en-GB" sz="3200" dirty="0"/>
              <a:t>co-action relations between a pair of authors (e.g., posting the same hashtag). Represents </a:t>
            </a:r>
            <a:r>
              <a:rPr lang="en-US" sz="3200" b="1" dirty="0"/>
              <a:t>behavioral similarity</a:t>
            </a:r>
            <a:r>
              <a:rPr lang="en-GB" sz="3200" b="1" dirty="0"/>
              <a:t> </a:t>
            </a:r>
            <a:r>
              <a:rPr lang="en-GB" sz="3200" dirty="0"/>
              <a:t>between the authors.</a:t>
            </a:r>
          </a:p>
          <a:p>
            <a:r>
              <a:rPr lang="en-GB" sz="3200" b="1" dirty="0"/>
              <a:t>Purpose</a:t>
            </a:r>
            <a:r>
              <a:rPr lang="en-GB" sz="3200" dirty="0"/>
              <a:t>: expose coordinated behaviour for IO detection.</a:t>
            </a:r>
          </a:p>
          <a:p>
            <a:endParaRPr lang="en-GB" sz="2800" dirty="0"/>
          </a:p>
          <a:p>
            <a:endParaRPr lang="en-GB" sz="2800" dirty="0"/>
          </a:p>
          <a:p>
            <a:pPr marL="457200" lvl="1" indent="0">
              <a:buNone/>
            </a:pPr>
            <a:endParaRPr lang="en-GB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559D-D4AB-1189-6DD0-329C5923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2BBF2-9CA9-26C8-3306-0EF5D22F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Core-Number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75CCD-7268-1EC4-7323-66B1D9D4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53DD-F810-AEB1-6C45-0A9E4E5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65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1CE1C-C84E-C83F-4718-819CFC8B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EB9B-BE1C-70F7-2356-0A500488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Motivation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AE095A-A6CC-3AE0-573F-0B18CE379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165286"/>
              </p:ext>
            </p:extLst>
          </p:nvPr>
        </p:nvGraphicFramePr>
        <p:xfrm>
          <a:off x="1243087" y="1543455"/>
          <a:ext cx="10582656" cy="4653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52ADA-4957-7A03-0405-5150E47F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sp>
        <p:nvSpPr>
          <p:cNvPr id="30" name="Callout">
            <a:extLst>
              <a:ext uri="{FF2B5EF4-FFF2-40B4-BE49-F238E27FC236}">
                <a16:creationId xmlns:a16="http://schemas.microsoft.com/office/drawing/2014/main" id="{17EC245C-9322-9076-690D-B09964DD700C}"/>
              </a:ext>
            </a:extLst>
          </p:cNvPr>
          <p:cNvSpPr/>
          <p:nvPr/>
        </p:nvSpPr>
        <p:spPr>
          <a:xfrm>
            <a:off x="1554480" y="6327648"/>
            <a:ext cx="7589520" cy="475488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00" b="1" dirty="0"/>
              <a:t>Similarity with one or two accounts is not enough. </a:t>
            </a:r>
            <a:r>
              <a:rPr lang="en-IL" sz="1300" dirty="0"/>
              <a:t>Only many accounts coordinating with one another produce a high core</a:t>
            </a:r>
            <a:r>
              <a:rPr lang="en-GB" sz="1300" dirty="0"/>
              <a:t>-</a:t>
            </a:r>
            <a:r>
              <a:rPr lang="en-IL" sz="1300" dirty="0"/>
              <a:t>number.</a:t>
            </a:r>
          </a:p>
        </p:txBody>
      </p:sp>
    </p:spTree>
    <p:extLst>
      <p:ext uri="{BB962C8B-B14F-4D97-AF65-F5344CB8AC3E}">
        <p14:creationId xmlns:p14="http://schemas.microsoft.com/office/powerpoint/2010/main" val="410614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3416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Core Number</a:t>
            </a:r>
            <a:r>
              <a:rPr lang="en-GB" dirty="0"/>
              <a:t>:</a:t>
            </a:r>
            <a:r>
              <a:rPr lang="en-IL" dirty="0"/>
              <a:t>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/>
                  <a:t>neighbours </a:t>
                </a:r>
                <a:r>
                  <a:rPr lang="en-GB" sz="3600" u="sng" dirty="0"/>
                  <a:t>within</a:t>
                </a:r>
                <a:r>
                  <a:rPr lang="en-GB" sz="3600" dirty="0"/>
                  <a:t> that subgraph.</a:t>
                </a:r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613" t="-3959" b="-3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3CE6-E239-7F5C-75D5-0DA0D256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D7C8-8EE6-64E5-C5FB-C4CDA586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IL" dirty="0"/>
              <a:t>-</a:t>
            </a:r>
            <a:r>
              <a:rPr lang="en-GB" dirty="0"/>
              <a:t>C</a:t>
            </a:r>
            <a:r>
              <a:rPr lang="en-IL" dirty="0"/>
              <a:t>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9EBD1-1E19-2423-154E-97AC13DB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An IO driver is </a:t>
            </a:r>
            <a:r>
              <a:rPr lang="en-GB" sz="3600" dirty="0"/>
              <a:t>part of </a:t>
            </a:r>
            <a:r>
              <a:rPr lang="en-IL" sz="3600" dirty="0"/>
              <a:t>a network of accounts that </a:t>
            </a:r>
            <a:r>
              <a:rPr lang="en-GB" sz="3600" dirty="0"/>
              <a:t>coordinate</a:t>
            </a:r>
            <a:r>
              <a:rPr lang="en-IL" sz="3600" dirty="0"/>
              <a:t>.</a:t>
            </a:r>
          </a:p>
          <a:p>
            <a:r>
              <a:rPr lang="en-IL" sz="3600" dirty="0"/>
              <a:t>This coordinated group can be identified using the node’s </a:t>
            </a:r>
            <a:r>
              <a:rPr lang="en-IL" sz="3600" b="1" dirty="0"/>
              <a:t>k-core</a:t>
            </a:r>
            <a:r>
              <a:rPr lang="en-IL" sz="3600" dirty="0"/>
              <a:t> in the behavioural-similarity graph.</a:t>
            </a:r>
            <a:endParaRPr lang="en-GB" sz="3600" dirty="0"/>
          </a:p>
          <a:p>
            <a:r>
              <a:rPr lang="en-IL" sz="3600" dirty="0"/>
              <a:t>Investigating this k-core can help reveal the group’s shared objectives, IO motivations, and intended targets.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F689-B7C2-3DDF-7C4B-0C0B1293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EDFA0-1515-344B-4E0B-B4A185049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98" b="12173"/>
          <a:stretch>
            <a:fillRect/>
          </a:stretch>
        </p:blipFill>
        <p:spPr>
          <a:xfrm>
            <a:off x="3102000" y="5190136"/>
            <a:ext cx="5987999" cy="147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6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0328-43BD-424C-6A2A-F24DA77F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7E957F-2850-692E-B50C-9616DF7B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Additional Indicators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5888A3-3FC6-74DD-A7E3-FA0D096B0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97E48-F18F-DFFC-2CB0-CDB143CE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023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Indicators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6A4B38D-F573-2F95-62F3-8BE9BF72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186858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1AD01-0DDD-F198-381B-E9E6678A1994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(example)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039E-B86D-D32C-4EF0-FA604B11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6560F-A6DA-C278-D8DD-8FC5175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Experiments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75D23-C7EF-CD33-D494-5CC3F036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402CA-E680-684E-0F51-51C82A1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430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771B-41D5-552B-1540-3E0FBF7D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B7CF-779B-1B9F-5240-902310B1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A6AF-6A87-4F60-6C3F-FDCBD9A0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618" y="2240295"/>
            <a:ext cx="5212080" cy="4769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3200" b="1" u="sng" dirty="0"/>
              <a:t>Labeled IO Corpus</a:t>
            </a:r>
          </a:p>
          <a:p>
            <a:r>
              <a:rPr lang="en-IL" sz="2000" dirty="0"/>
              <a:t>Collection of 26 information operations (IO).</a:t>
            </a:r>
          </a:p>
          <a:p>
            <a:r>
              <a:rPr lang="en-IL" sz="2000" dirty="0"/>
              <a:t>Campaigns from multiple countries.</a:t>
            </a:r>
          </a:p>
          <a:p>
            <a:r>
              <a:rPr lang="en-IL" sz="2000" dirty="0"/>
              <a:t>Fully labeled (IO vs. Control accounts).</a:t>
            </a:r>
          </a:p>
          <a:p>
            <a:r>
              <a:rPr lang="en-IL" sz="2000" dirty="0"/>
              <a:t>Over 13M control posts from 303K accounts.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zenodo.org/records/14189193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A2CA-B76F-0291-5272-E2DE4859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  <p:sp>
        <p:nvSpPr>
          <p:cNvPr id="50" name="GlancePanel"/>
          <p:cNvSpPr/>
          <p:nvPr/>
        </p:nvSpPr>
        <p:spPr>
          <a:xfrm>
            <a:off x="6827201" y="2466750"/>
            <a:ext cx="4572000" cy="2158409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lIns="182880" tIns="137160" rIns="182880" bIns="137160">
            <a:normAutofit/>
          </a:bodyPr>
          <a:lstStyle/>
          <a:p>
            <a:pPr marL="0" indent="0">
              <a:buNone/>
            </a:pPr>
            <a:r>
              <a:rPr lang="en-IL" b="1" dirty="0"/>
              <a:t>Ecuador Campaign Dataset</a:t>
            </a:r>
          </a:p>
          <a:p>
            <a:pPr marL="0" indent="0">
              <a:buNone/>
            </a:pPr>
            <a:r>
              <a:rPr lang="en-IL" sz="1600" b="1" dirty="0"/>
              <a:t>787 IO accounts | 21,138 control accounts</a:t>
            </a:r>
          </a:p>
          <a:p>
            <a:pPr marL="0" indent="0">
              <a:buNone/>
            </a:pPr>
            <a:r>
              <a:rPr lang="en-IL" sz="1600" b="1" dirty="0"/>
              <a:t>700K IO tweets | 770K control tweets</a:t>
            </a:r>
          </a:p>
          <a:p>
            <a:pPr marL="0" indent="0">
              <a:buNone/>
            </a:pPr>
            <a:r>
              <a:rPr lang="en-IL" sz="1600" dirty="0"/>
              <a:t>Posts are used to build the co-action graph</a:t>
            </a:r>
          </a:p>
          <a:p>
            <a:pPr marL="0" indent="0">
              <a:buNone/>
            </a:pPr>
            <a:r>
              <a:rPr lang="en-IL" sz="1600" dirty="0"/>
              <a:t>Platform labels serve as ground truth</a:t>
            </a:r>
          </a:p>
          <a:p>
            <a:pPr marL="0" indent="0">
              <a:buNone/>
            </a:pPr>
            <a:r>
              <a:rPr lang="en-IL" sz="1400" i="1" dirty="0">
                <a:solidFill>
                  <a:srgbClr val="7F7F7F"/>
                </a:solidFill>
              </a:rPr>
              <a:t>Seckin et al., 2024</a:t>
            </a:r>
          </a:p>
        </p:txBody>
      </p:sp>
    </p:spTree>
    <p:extLst>
      <p:ext uri="{BB962C8B-B14F-4D97-AF65-F5344CB8AC3E}">
        <p14:creationId xmlns:p14="http://schemas.microsoft.com/office/powerpoint/2010/main" val="329915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FB06-31E1-F12E-61E2-AD9CFD94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6BC6AE-4687-A2A7-935B-0F2E9F91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73" y="1846582"/>
            <a:ext cx="5256000" cy="2467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AE667-C784-0DA7-5A0E-CB08BA36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236" y="1825623"/>
            <a:ext cx="5255468" cy="24672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DCE7F-99C3-9474-F9E6-66CB34E1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dirty="0"/>
              <a:t>Core Number -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3E22-B25F-6C61-B14B-75EEE667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16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5B4F-AF7F-749F-77C1-315E6E06566E}"/>
              </a:ext>
            </a:extLst>
          </p:cNvPr>
          <p:cNvSpPr txBox="1"/>
          <p:nvPr/>
        </p:nvSpPr>
        <p:spPr>
          <a:xfrm>
            <a:off x="5561094" y="1445812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E0586-5C53-F6ED-1E5A-96C49F4642C9}"/>
              </a:ext>
            </a:extLst>
          </p:cNvPr>
          <p:cNvSpPr txBox="1"/>
          <p:nvPr/>
        </p:nvSpPr>
        <p:spPr>
          <a:xfrm>
            <a:off x="1440246" y="6223634"/>
            <a:ext cx="692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Cumulative distribution: proportion of IO drivers by Core Number threshold (≤ / ≥)</a:t>
            </a:r>
            <a:endParaRPr lang="en-IL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1E23B-48FE-FA59-F422-3CF8C6306D46}"/>
              </a:ext>
            </a:extLst>
          </p:cNvPr>
          <p:cNvSpPr txBox="1"/>
          <p:nvPr/>
        </p:nvSpPr>
        <p:spPr>
          <a:xfrm>
            <a:off x="1094873" y="4331737"/>
            <a:ext cx="525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dirty="0"/>
              <a:t>The graph presents the cumulative number of authors with a core number less than or equal to each x-axis </a:t>
            </a:r>
            <a:r>
              <a:rPr lang="en-GB" sz="1600" dirty="0"/>
              <a:t>threshold</a:t>
            </a:r>
            <a:r>
              <a:rPr lang="en-IL" sz="1600" dirty="0"/>
              <a:t>. </a:t>
            </a:r>
            <a:endParaRPr lang="en-GB" sz="1600" dirty="0"/>
          </a:p>
          <a:p>
            <a:pPr algn="ctr"/>
            <a:r>
              <a:rPr lang="en-IL" sz="1600" dirty="0"/>
              <a:t>Few IO drivers have low core numbers, followed by a sharp increase at high core </a:t>
            </a:r>
            <a:r>
              <a:rPr lang="en-GB" sz="1600" dirty="0"/>
              <a:t>values</a:t>
            </a:r>
            <a:r>
              <a:rPr lang="en-IL" sz="16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8D006-F4DF-CB3B-C86D-A93B2A073751}"/>
              </a:ext>
            </a:extLst>
          </p:cNvPr>
          <p:cNvSpPr txBox="1"/>
          <p:nvPr/>
        </p:nvSpPr>
        <p:spPr>
          <a:xfrm>
            <a:off x="6473237" y="4331737"/>
            <a:ext cx="52554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1600" dirty="0"/>
              <a:t>The graph presents the IO rate among authors with a core number less than or equal to each x-axis </a:t>
            </a:r>
            <a:r>
              <a:rPr lang="en-GB" sz="1600" dirty="0"/>
              <a:t>threshold</a:t>
            </a:r>
            <a:r>
              <a:rPr lang="en-IL" sz="1600" dirty="0"/>
              <a:t>.</a:t>
            </a:r>
            <a:br>
              <a:rPr lang="en-IL" sz="1600" dirty="0"/>
            </a:br>
            <a:r>
              <a:rPr lang="en-IL" sz="1600" dirty="0"/>
              <a:t>The IO rate remains low at lower core-number</a:t>
            </a:r>
            <a:r>
              <a:rPr lang="en-GB" sz="1600" dirty="0"/>
              <a:t> values</a:t>
            </a:r>
            <a:r>
              <a:rPr lang="en-IL" sz="1600" dirty="0"/>
              <a:t>, followed by a sharp increase at higher core-number </a:t>
            </a:r>
            <a:r>
              <a:rPr lang="en-GB" sz="1600" dirty="0"/>
              <a:t>values</a:t>
            </a:r>
            <a:r>
              <a:rPr lang="en-I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546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4426-938D-DED9-F61F-1488E4F3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4EFC-3943-4271-DC87-8F6DA52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4872-7C96-34B8-BFB5-C94EB1871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710657" cy="4749032"/>
          </a:xfrm>
        </p:spPr>
        <p:txBody>
          <a:bodyPr>
            <a:noAutofit/>
          </a:bodyPr>
          <a:lstStyle/>
          <a:p>
            <a:r>
              <a:rPr lang="en-IL" sz="3200" dirty="0"/>
              <a:t>One of the authors with the highest core number was selected</a:t>
            </a:r>
            <a:r>
              <a:rPr lang="en-GB" sz="3200" dirty="0"/>
              <a:t>:</a:t>
            </a:r>
          </a:p>
          <a:p>
            <a:pPr lvl="1"/>
            <a:r>
              <a:rPr lang="en-IL" sz="1500" dirty="0"/>
              <a:t>Account ID:</a:t>
            </a:r>
            <a:r>
              <a:rPr lang="en-GB" sz="1500" dirty="0"/>
              <a:t> </a:t>
            </a:r>
            <a:r>
              <a:rPr lang="en-IL" sz="1500" dirty="0"/>
              <a:t>71cc57155d061d447c2c65756c7dfd6873e403a097</a:t>
            </a:r>
            <a:endParaRPr lang="en-GB" sz="1500" dirty="0"/>
          </a:p>
          <a:p>
            <a:pPr lvl="1"/>
            <a:r>
              <a:rPr lang="en-IL" sz="1500" dirty="0"/>
              <a:t>Core number: 106 </a:t>
            </a:r>
            <a:endParaRPr lang="en-GB" sz="1500" dirty="0"/>
          </a:p>
          <a:p>
            <a:r>
              <a:rPr lang="en-IL" sz="3200" dirty="0"/>
              <a:t>The corresponding </a:t>
            </a:r>
            <a:r>
              <a:rPr lang="en-IL" sz="3200" b="1" dirty="0"/>
              <a:t>k-core</a:t>
            </a:r>
            <a:r>
              <a:rPr lang="en-IL" sz="3200" dirty="0"/>
              <a:t> was extracted. </a:t>
            </a:r>
            <a:endParaRPr lang="en-GB" sz="3200" dirty="0"/>
          </a:p>
          <a:p>
            <a:r>
              <a:rPr lang="en-IL" sz="3200" dirty="0"/>
              <a:t>The k-core contains </a:t>
            </a:r>
            <a:r>
              <a:rPr lang="en-IL" sz="3200" b="1" dirty="0"/>
              <a:t>107 nodes</a:t>
            </a:r>
            <a:r>
              <a:rPr lang="en-IL" sz="3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72417-CA92-53AF-A865-04034A0F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17</a:t>
            </a:fld>
            <a:endParaRPr lang="he-IL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0FD3490-4134-E81B-C98D-22108447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36" t="8037" r="8100" b="7627"/>
          <a:stretch>
            <a:fillRect/>
          </a:stretch>
        </p:blipFill>
        <p:spPr>
          <a:xfrm>
            <a:off x="6841153" y="1727200"/>
            <a:ext cx="5181600" cy="43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27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A97E-3EEF-22AD-3195-B7C3B735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7371-0D0D-5C34-DBC3-9AD34ACF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Coordinated Accounts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44270-F2B8-1F26-07D1-8CFF4D03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18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B63D4-DBEB-D4C9-9C41-EA06F53EB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5648"/>
            <a:ext cx="3721608" cy="2011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D565B-4429-F136-7A4F-077C66991C54}"/>
              </a:ext>
            </a:extLst>
          </p:cNvPr>
          <p:cNvSpPr txBox="1"/>
          <p:nvPr/>
        </p:nvSpPr>
        <p:spPr>
          <a:xfrm>
            <a:off x="1554480" y="3803904"/>
            <a:ext cx="4566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Account: </a:t>
            </a:r>
            <a:r>
              <a:rPr lang="en-IL" sz="1400" dirty="0"/>
              <a:t>71cc5715…e403a097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CB8A62-3788-74C2-C02D-A15EE6DA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55648"/>
            <a:ext cx="3721608" cy="20116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79A7F8-7A03-F3B0-6624-B225A91D0D7C}"/>
              </a:ext>
            </a:extLst>
          </p:cNvPr>
          <p:cNvSpPr txBox="1"/>
          <p:nvPr/>
        </p:nvSpPr>
        <p:spPr>
          <a:xfrm>
            <a:off x="6720840" y="3803904"/>
            <a:ext cx="4664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Account: </a:t>
            </a:r>
            <a:r>
              <a:rPr lang="en-IL" sz="1400" dirty="0"/>
              <a:t>712125a6…a3f9d0f</a:t>
            </a:r>
          </a:p>
        </p:txBody>
      </p:sp>
      <p:sp>
        <p:nvSpPr>
          <p:cNvPr id="40" name="Lead"/>
          <p:cNvSpPr/>
          <p:nvPr/>
        </p:nvSpPr>
        <p:spPr>
          <a:xfrm>
            <a:off x="1877713" y="1371600"/>
            <a:ext cx="9966960" cy="320040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500" dirty="0"/>
              <a:t>Two accounts from the same k-core share the same vocabulary and reuse the same texts:</a:t>
            </a:r>
          </a:p>
        </p:txBody>
      </p:sp>
      <p:sp>
        <p:nvSpPr>
          <p:cNvPr id="41" name="SharedPosts"/>
          <p:cNvSpPr/>
          <p:nvPr/>
        </p:nvSpPr>
        <p:spPr>
          <a:xfrm>
            <a:off x="1463040" y="4187952"/>
            <a:ext cx="9921240" cy="184708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137160" tIns="91440" rIns="137160" bIns="91440">
            <a:normAutofit fontScale="92500" lnSpcReduction="10000"/>
          </a:bodyPr>
          <a:lstStyle/>
          <a:p>
            <a:r>
              <a:rPr lang="en-IL" b="1" dirty="0"/>
              <a:t>Both accounts published the exact same text, word for word:</a:t>
            </a:r>
          </a:p>
          <a:p>
            <a:r>
              <a:rPr lang="en-IL" sz="1600" b="1" dirty="0"/>
              <a:t>14.03.2019, 71cc5715…:  </a:t>
            </a:r>
            <a:r>
              <a:rPr lang="en-IL" sz="1600" i="1" dirty="0"/>
              <a:t>“Regulation shall enter force twentieth day following publication official journal european union.”</a:t>
            </a:r>
          </a:p>
          <a:p>
            <a:r>
              <a:rPr lang="en-IL" sz="1600" b="1" dirty="0"/>
              <a:t>02.05.2019, 712125a6…:  </a:t>
            </a:r>
            <a:r>
              <a:rPr lang="en-IL" sz="1600" i="1" dirty="0"/>
              <a:t>“Regulation shall enter force twentieth day following publication official journal european union.”</a:t>
            </a:r>
          </a:p>
          <a:p>
            <a:r>
              <a:rPr lang="en-IL" sz="1600" dirty="0"/>
              <a:t>Both accounts mix pro-government praise with the same off-topic EU legal boilerplate.</a:t>
            </a:r>
          </a:p>
          <a:p>
            <a:r>
              <a:rPr lang="en-IL" sz="1100" i="1" dirty="0">
                <a:solidFill>
                  <a:srgbClr val="7F7F7F"/>
                </a:solidFill>
              </a:rPr>
              <a:t>Posts shown as stored in the dataset (translated and preprocessed).</a:t>
            </a:r>
          </a:p>
        </p:txBody>
      </p:sp>
      <p:sp>
        <p:nvSpPr>
          <p:cNvPr id="42" name="Foot"/>
          <p:cNvSpPr/>
          <p:nvPr/>
        </p:nvSpPr>
        <p:spPr>
          <a:xfrm>
            <a:off x="1554480" y="6199632"/>
            <a:ext cx="7680960" cy="411480"/>
          </a:xfrm>
          <a:prstGeom prst="rect">
            <a:avLst/>
          </a:prstGeom>
          <a:noFill/>
        </p:spPr>
        <p:txBody>
          <a:bodyPr lIns="0" tIns="0"/>
          <a:lstStyle/>
          <a:p>
            <a:r>
              <a:rPr lang="en-IL" sz="1350" b="1" dirty="0"/>
              <a:t>Just 2 of the 107 accounts in this k-core. This is the coordination the co-action graph captures.</a:t>
            </a:r>
          </a:p>
        </p:txBody>
      </p:sp>
    </p:spTree>
    <p:extLst>
      <p:ext uri="{BB962C8B-B14F-4D97-AF65-F5344CB8AC3E}">
        <p14:creationId xmlns:p14="http://schemas.microsoft.com/office/powerpoint/2010/main" val="1084040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542A-F510-7C65-32F1-A544A7469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B102-22E0-0E06-AC02-410F9C66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LLM Analysis of the K-Core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BA1CA-6FD8-B53B-BA40-ABEF48638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10381269" cy="47490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L" sz="2600" dirty="0"/>
              <a:t>An LLM</a:t>
            </a:r>
            <a:r>
              <a:rPr lang="en-GB" sz="2600" dirty="0"/>
              <a:t> </a:t>
            </a:r>
            <a:r>
              <a:rPr lang="en-GB" sz="1800" dirty="0"/>
              <a:t>(</a:t>
            </a:r>
            <a:r>
              <a:rPr lang="en-IL" sz="1800" dirty="0"/>
              <a:t>OpenAI ChatGPT web interface</a:t>
            </a:r>
            <a:r>
              <a:rPr lang="en-GB" sz="1800" dirty="0"/>
              <a:t>)</a:t>
            </a:r>
            <a:r>
              <a:rPr lang="en-IL" sz="1800" dirty="0"/>
              <a:t> </a:t>
            </a:r>
            <a:r>
              <a:rPr lang="en-IL" sz="2600" dirty="0"/>
              <a:t>was provided with the top 10 posts from each account, ranked by TF-IDF score. The </a:t>
            </a:r>
            <a:r>
              <a:rPr lang="en-GB" sz="2600" dirty="0"/>
              <a:t>model</a:t>
            </a:r>
            <a:r>
              <a:rPr lang="en-IL" sz="2600" dirty="0"/>
              <a:t> identified the following patterns: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Promotion of the Ecuadorian president and government policies.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Emphasis on social programs, security, democracy, and government achievements.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Reuse of similar supportive language across accounts.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dirty="0"/>
              <a:t>Unusually repetitive references to EU legal and institutional content.</a:t>
            </a:r>
            <a:endParaRPr lang="en-GB" sz="2600" dirty="0"/>
          </a:p>
          <a:p>
            <a:pPr marL="514350" indent="-514350">
              <a:buAutoNum type="arabicPeriod"/>
            </a:pPr>
            <a:r>
              <a:rPr lang="en-IL" sz="2600" b="1" dirty="0"/>
              <a:t>Shared narratives that may indicate coordinated or automated 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6EB3C-4883-D0C2-5697-AD834591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2338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Information 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20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a statistical method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CE284-809A-A65C-BDD2-3AC44719FA4E}"/>
              </a:ext>
            </a:extLst>
          </p:cNvPr>
          <p:cNvSpPr/>
          <p:nvPr/>
        </p:nvSpPr>
        <p:spPr>
          <a:xfrm rot="8053005">
            <a:off x="2398790" y="4289898"/>
            <a:ext cx="1550640" cy="321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CB437-4137-2CDD-001F-7C3EEC1128F7}"/>
              </a:ext>
            </a:extLst>
          </p:cNvPr>
          <p:cNvSpPr txBox="1"/>
          <p:nvPr/>
        </p:nvSpPr>
        <p:spPr>
          <a:xfrm>
            <a:off x="9510668" y="1727200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85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L" dirty="0"/>
              <a:t>SHAP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21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 on Ecuador Campaign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945292" y="2829161"/>
            <a:ext cx="844358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42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F9F7-41B1-94DB-DF22-F55ACB08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BBF9-0E3C-681A-3988-D94249FD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Indicators vs. Core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4AFD-E726-8FE1-E44A-02D120D0E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Core number alone achieves </a:t>
            </a:r>
            <a:r>
              <a:rPr lang="en-US" sz="3600" dirty="0"/>
              <a:t>high</a:t>
            </a:r>
            <a:r>
              <a:rPr lang="en-IL" sz="3600" dirty="0"/>
              <a:t> AUC </a:t>
            </a:r>
            <a:r>
              <a:rPr lang="en-US" sz="3600" dirty="0"/>
              <a:t>and </a:t>
            </a:r>
            <a:r>
              <a:rPr lang="en-IL" sz="3600" dirty="0"/>
              <a:t>F1.</a:t>
            </a:r>
            <a:endParaRPr lang="en-US" sz="3600" dirty="0"/>
          </a:p>
          <a:p>
            <a:r>
              <a:rPr lang="en-IL" sz="3600" dirty="0"/>
              <a:t>Other indicators add little improvement.</a:t>
            </a:r>
            <a:endParaRPr lang="en-US" sz="3600" dirty="0"/>
          </a:p>
          <a:p>
            <a:r>
              <a:rPr lang="en-IL" sz="3600" dirty="0"/>
              <a:t>Core number captures most of the IO detection signal.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B375-87F2-AAA2-0C4B-54AE2279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22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BF298-48E5-891C-4401-BCFF53042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268" y="3704712"/>
            <a:ext cx="4459733" cy="2639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A0C29-7F98-2C0E-EE97-275D417FA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04711"/>
            <a:ext cx="4459733" cy="2639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1DF53D-BE27-EA0D-B62E-B1D692635A63}"/>
              </a:ext>
            </a:extLst>
          </p:cNvPr>
          <p:cNvSpPr txBox="1"/>
          <p:nvPr/>
        </p:nvSpPr>
        <p:spPr>
          <a:xfrm>
            <a:off x="4840489" y="6250457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42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2600" dirty="0"/>
              <a:t>IO influence relies on fleets of coordinated accounts.</a:t>
            </a:r>
          </a:p>
          <a:p>
            <a:r>
              <a:rPr lang="en-IL" sz="2600" dirty="0"/>
              <a:t>The co-action graph exposes this coordination, and the core number quantifies it.</a:t>
            </a:r>
          </a:p>
          <a:p>
            <a:r>
              <a:rPr lang="en-IL" sz="2600" dirty="0"/>
              <a:t>Core number alone separates IO drivers from legitimate users (high AUC &amp; F1).</a:t>
            </a:r>
          </a:p>
          <a:p>
            <a:r>
              <a:rPr lang="en-IL" sz="2600" b="1" dirty="0"/>
              <a:t>Investigating the k-core reveals the campaign’s agenda, making detection both accurate and interpretable.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1D631C-0474-31A2-8F4A-253AE6BB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302A-DA36-40AE-FEB5-58196BE76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7C468-10F2-3E81-3E4F-33E97982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24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5A9A0-E4E7-9D8E-1B78-578AEA1F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567" y="931251"/>
            <a:ext cx="8941869" cy="530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73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F1B31F-78F0-7858-AE46-3A6AB43B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E87F-7930-4BE1-329A-4F3A5152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F2D2A-63D8-B77A-FF2E-BBC8A572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25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FA35B5-148A-4935-0918-A1F0A7625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49" y="870615"/>
            <a:ext cx="10588302" cy="546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35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57CEC8-F28B-AF96-D25C-C5077F7A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77C7-2976-BAF7-7BC0-B94298F5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462" y="-55282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K-Core Example - Top Posts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D51B-F403-C5B4-93EF-0481AFDB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26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02696E-EA6C-CB4E-05BF-C2B2F127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64" y="1925054"/>
            <a:ext cx="11083755" cy="35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0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16212</TotalTime>
  <Words>1330</Words>
  <Application>Microsoft Office PowerPoint</Application>
  <PresentationFormat>Widescreen</PresentationFormat>
  <Paragraphs>165</Paragraphs>
  <Slides>26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I Can See U. Indicator-Based Information Operation Detection and Topic-Aware Analysis</vt:lpstr>
      <vt:lpstr>Motivation</vt:lpstr>
      <vt:lpstr>IO &amp; Coordination</vt:lpstr>
      <vt:lpstr>Related Work</vt:lpstr>
      <vt:lpstr>Our Contributions</vt:lpstr>
      <vt:lpstr>Methods - Co-Action Graph</vt:lpstr>
      <vt:lpstr>Core-Number</vt:lpstr>
      <vt:lpstr>Core Number: Motivation</vt:lpstr>
      <vt:lpstr>Core Number: Example</vt:lpstr>
      <vt:lpstr>Core Number: Definition</vt:lpstr>
      <vt:lpstr>K-Core</vt:lpstr>
      <vt:lpstr>Additional Indicators</vt:lpstr>
      <vt:lpstr>Additional Indicators</vt:lpstr>
      <vt:lpstr>Experiments</vt:lpstr>
      <vt:lpstr>Datasets</vt:lpstr>
      <vt:lpstr>Core Number - Results</vt:lpstr>
      <vt:lpstr>K-Core Example</vt:lpstr>
      <vt:lpstr>Coordinated Accounts</vt:lpstr>
      <vt:lpstr>LLM Analysis of the K-Core</vt:lpstr>
      <vt:lpstr>Information Gain</vt:lpstr>
      <vt:lpstr>SHAP Analysis</vt:lpstr>
      <vt:lpstr>Indicators vs. Core Number</vt:lpstr>
      <vt:lpstr>Key Takeaways</vt:lpstr>
      <vt:lpstr>K-Core Example - Top Posts</vt:lpstr>
      <vt:lpstr>K-Core Example - Top Posts</vt:lpstr>
      <vt:lpstr>K-Core Example - Top Posts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559</cp:revision>
  <dcterms:created xsi:type="dcterms:W3CDTF">2021-05-04T15:24:24Z</dcterms:created>
  <dcterms:modified xsi:type="dcterms:W3CDTF">2026-07-21T09:57:44Z</dcterms:modified>
</cp:coreProperties>
</file>