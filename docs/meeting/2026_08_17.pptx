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1574" r:id="rId2"/>
    <p:sldId id="1762" r:id="rId3"/>
    <p:sldId id="1763" r:id="rId4"/>
    <p:sldId id="1764" r:id="rId5"/>
    <p:sldId id="1780" r:id="rId6"/>
    <p:sldId id="1591" r:id="rId7"/>
    <p:sldId id="1740" r:id="rId8"/>
    <p:sldId id="1785" r:id="rId9"/>
    <p:sldId id="1749" r:id="rId10"/>
    <p:sldId id="1738" r:id="rId11"/>
    <p:sldId id="1772" r:id="rId12"/>
    <p:sldId id="1784" r:id="rId13"/>
    <p:sldId id="1786" r:id="rId14"/>
    <p:sldId id="1787" r:id="rId15"/>
    <p:sldId id="1649" r:id="rId16"/>
    <p:sldId id="1768" r:id="rId17"/>
    <p:sldId id="1770" r:id="rId18"/>
    <p:sldId id="1757" r:id="rId19"/>
    <p:sldId id="1791" r:id="rId20"/>
    <p:sldId id="1773" r:id="rId21"/>
    <p:sldId id="1789" r:id="rId22"/>
    <p:sldId id="1790" r:id="rId23"/>
    <p:sldId id="1729" r:id="rId24"/>
    <p:sldId id="1730" r:id="rId25"/>
    <p:sldId id="1767" r:id="rId26"/>
    <p:sldId id="1782" r:id="rId27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762"/>
            <p14:sldId id="1763"/>
            <p14:sldId id="1764"/>
            <p14:sldId id="1780"/>
            <p14:sldId id="1591"/>
          </p14:sldIdLst>
        </p14:section>
        <p14:section name="Core-Number" id="{2F1E73D5-870F-4091-9492-A1102BE33EA1}">
          <p14:sldIdLst>
            <p14:sldId id="1740"/>
            <p14:sldId id="1785"/>
            <p14:sldId id="1749"/>
            <p14:sldId id="1738"/>
            <p14:sldId id="1772"/>
            <p14:sldId id="1784"/>
            <p14:sldId id="1786"/>
            <p14:sldId id="1787"/>
            <p14:sldId id="1649"/>
            <p14:sldId id="1768"/>
            <p14:sldId id="1770"/>
            <p14:sldId id="1757"/>
            <p14:sldId id="1791"/>
            <p14:sldId id="1773"/>
            <p14:sldId id="1789"/>
            <p14:sldId id="1790"/>
            <p14:sldId id="1729"/>
            <p14:sldId id="1730"/>
            <p14:sldId id="1767"/>
            <p14:sldId id="17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808"/>
    <a:srgbClr val="800000"/>
    <a:srgbClr val="F59120"/>
    <a:srgbClr val="FE0101"/>
    <a:srgbClr val="F58377"/>
    <a:srgbClr val="FF4343"/>
    <a:srgbClr val="548235"/>
    <a:srgbClr val="009DBB"/>
    <a:srgbClr val="0688BA"/>
    <a:srgbClr val="005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6"/>
    <p:restoredTop sz="95000" autoAdjust="0"/>
  </p:normalViewPr>
  <p:slideViewPr>
    <p:cSldViewPr snapToGrid="0">
      <p:cViewPr varScale="1">
        <p:scale>
          <a:sx n="75" d="100"/>
          <a:sy n="75" d="100"/>
        </p:scale>
        <p:origin x="974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AFC2CC-272E-41C7-BFE3-402C8025BCAD}" type="doc">
      <dgm:prSet loTypeId="urn:microsoft.com/office/officeart/2005/8/layout/process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L"/>
        </a:p>
      </dgm:t>
    </dgm:pt>
    <dgm:pt modelId="{E1DB4969-C241-47FC-B362-D33B7566A7C1}">
      <dgm:prSet custT="1"/>
      <dgm:spPr/>
      <dgm:t>
        <a:bodyPr/>
        <a:lstStyle/>
        <a:p>
          <a:r>
            <a:rPr lang="en-IL" sz="2400" dirty="0"/>
            <a:t>Coordinated authors are highly inter</a:t>
          </a:r>
          <a:r>
            <a:rPr lang="en-GB" sz="2400" dirty="0"/>
            <a:t>-</a:t>
          </a:r>
          <a:r>
            <a:rPr lang="en-IL" sz="2400" dirty="0"/>
            <a:t>connected in the</a:t>
          </a:r>
          <a:r>
            <a:rPr lang="en-GB" sz="2400" dirty="0"/>
            <a:t> co-action</a:t>
          </a:r>
          <a:r>
            <a:rPr lang="en-IL" sz="2400" dirty="0"/>
            <a:t> graph.</a:t>
          </a:r>
          <a:endParaRPr lang="en-GB" sz="2400" dirty="0"/>
        </a:p>
      </dgm:t>
    </dgm:pt>
    <dgm:pt modelId="{33E3E7A2-0F5B-4428-AAA6-F11ED572BD3A}" type="parTrans" cxnId="{B587AE82-CBB6-43F0-8D75-88AF70AAB86E}">
      <dgm:prSet/>
      <dgm:spPr/>
      <dgm:t>
        <a:bodyPr/>
        <a:lstStyle/>
        <a:p>
          <a:endParaRPr lang="en-IL"/>
        </a:p>
      </dgm:t>
    </dgm:pt>
    <dgm:pt modelId="{EDDA025F-C4A6-4E68-A864-31D80BB865E6}" type="sibTrans" cxnId="{B587AE82-CBB6-43F0-8D75-88AF70AAB86E}">
      <dgm:prSet/>
      <dgm:spPr/>
      <dgm:t>
        <a:bodyPr/>
        <a:lstStyle/>
        <a:p>
          <a:endParaRPr lang="en-IL"/>
        </a:p>
      </dgm:t>
    </dgm:pt>
    <dgm:pt modelId="{1B5A5607-E945-4BE9-814D-B0EF59B1C430}">
      <dgm:prSet custT="1"/>
      <dgm:spPr/>
      <dgm:t>
        <a:bodyPr/>
        <a:lstStyle/>
        <a:p>
          <a:r>
            <a:rPr lang="en-IL" sz="2400" dirty="0"/>
            <a:t>Accounts within these coordinated groups receive a high </a:t>
          </a:r>
          <a:r>
            <a:rPr lang="en-GB" sz="2400" dirty="0"/>
            <a:t>core number.</a:t>
          </a:r>
          <a:endParaRPr lang="en-IL" sz="2400" dirty="0"/>
        </a:p>
      </dgm:t>
    </dgm:pt>
    <dgm:pt modelId="{DB69DBA9-156D-4A15-9B2E-C28CADCBDCB3}" type="parTrans" cxnId="{AF219688-CE54-47B6-B599-F97074769732}">
      <dgm:prSet/>
      <dgm:spPr/>
      <dgm:t>
        <a:bodyPr/>
        <a:lstStyle/>
        <a:p>
          <a:endParaRPr lang="en-IL"/>
        </a:p>
      </dgm:t>
    </dgm:pt>
    <dgm:pt modelId="{A67FF2E3-02ED-4648-A2B6-DC4F7E2CC307}" type="sibTrans" cxnId="{AF219688-CE54-47B6-B599-F97074769732}">
      <dgm:prSet/>
      <dgm:spPr/>
      <dgm:t>
        <a:bodyPr/>
        <a:lstStyle/>
        <a:p>
          <a:endParaRPr lang="en-IL"/>
        </a:p>
      </dgm:t>
    </dgm:pt>
    <dgm:pt modelId="{1D3C4817-7970-4B83-AF07-61B7E50C9996}">
      <dgm:prSet custT="1"/>
      <dgm:spPr/>
      <dgm:t>
        <a:bodyPr/>
        <a:lstStyle/>
        <a:p>
          <a:r>
            <a:rPr lang="en-IL" sz="2400" dirty="0"/>
            <a:t>Since IO requires coordination, IO drivers are expected to appear in </a:t>
          </a:r>
          <a:r>
            <a:rPr lang="en-GB" sz="2400" dirty="0"/>
            <a:t>the coordinated</a:t>
          </a:r>
          <a:r>
            <a:rPr lang="en-IL" sz="2400" dirty="0"/>
            <a:t> groups. </a:t>
          </a:r>
        </a:p>
      </dgm:t>
    </dgm:pt>
    <dgm:pt modelId="{3EA88241-E0A1-43FA-B7B7-F715EBE467EC}" type="parTrans" cxnId="{6587C595-A3F4-4EB8-97BB-102DD6B18937}">
      <dgm:prSet/>
      <dgm:spPr/>
      <dgm:t>
        <a:bodyPr/>
        <a:lstStyle/>
        <a:p>
          <a:endParaRPr lang="en-IL"/>
        </a:p>
      </dgm:t>
    </dgm:pt>
    <dgm:pt modelId="{73DEDEEA-F614-422F-A1FA-F2DA54935A22}" type="sibTrans" cxnId="{6587C595-A3F4-4EB8-97BB-102DD6B18937}">
      <dgm:prSet/>
      <dgm:spPr/>
      <dgm:t>
        <a:bodyPr/>
        <a:lstStyle/>
        <a:p>
          <a:endParaRPr lang="en-IL"/>
        </a:p>
      </dgm:t>
    </dgm:pt>
    <dgm:pt modelId="{2B972B0F-9F24-4FC0-BA51-EEBB0A7F8A73}">
      <dgm:prSet phldrT="[Text]" custT="1"/>
      <dgm:spPr/>
      <dgm:t>
        <a:bodyPr/>
        <a:lstStyle/>
        <a:p>
          <a:pPr>
            <a:buNone/>
          </a:pPr>
          <a:r>
            <a:rPr lang="en-IL" sz="2400" dirty="0"/>
            <a:t>The co-action graph represents behavioural similarity between authors.</a:t>
          </a:r>
        </a:p>
      </dgm:t>
    </dgm:pt>
    <dgm:pt modelId="{823A6176-1344-4AAD-A081-89EB5DCC4093}" type="parTrans" cxnId="{19261AE1-CDAA-437C-82BB-F32380991E11}">
      <dgm:prSet/>
      <dgm:spPr/>
      <dgm:t>
        <a:bodyPr/>
        <a:lstStyle/>
        <a:p>
          <a:endParaRPr lang="en-IL"/>
        </a:p>
      </dgm:t>
    </dgm:pt>
    <dgm:pt modelId="{D9926E93-0033-4EAE-8105-B122F3529813}" type="sibTrans" cxnId="{19261AE1-CDAA-437C-82BB-F32380991E11}">
      <dgm:prSet/>
      <dgm:spPr/>
      <dgm:t>
        <a:bodyPr/>
        <a:lstStyle/>
        <a:p>
          <a:endParaRPr lang="en-IL"/>
        </a:p>
      </dgm:t>
    </dgm:pt>
    <dgm:pt modelId="{2BD634B8-DA83-49F5-9D02-0914F5E00507}" type="pres">
      <dgm:prSet presAssocID="{48AFC2CC-272E-41C7-BFE3-402C8025BCAD}" presName="Name0" presStyleCnt="0">
        <dgm:presLayoutVars>
          <dgm:dir/>
          <dgm:animLvl val="lvl"/>
          <dgm:resizeHandles val="exact"/>
        </dgm:presLayoutVars>
      </dgm:prSet>
      <dgm:spPr/>
    </dgm:pt>
    <dgm:pt modelId="{03B30CF2-AE31-4DED-84D9-3487159AD3E3}" type="pres">
      <dgm:prSet presAssocID="{1B5A5607-E945-4BE9-814D-B0EF59B1C430}" presName="boxAndChildren" presStyleCnt="0"/>
      <dgm:spPr/>
    </dgm:pt>
    <dgm:pt modelId="{75B552A5-6396-4106-9A4A-445AED3E3CC6}" type="pres">
      <dgm:prSet presAssocID="{1B5A5607-E945-4BE9-814D-B0EF59B1C430}" presName="parentTextBox" presStyleLbl="node1" presStyleIdx="0" presStyleCnt="4"/>
      <dgm:spPr/>
    </dgm:pt>
    <dgm:pt modelId="{F70F5C23-80D2-4CDF-B637-5C57A37CD123}" type="pres">
      <dgm:prSet presAssocID="{73DEDEEA-F614-422F-A1FA-F2DA54935A22}" presName="sp" presStyleCnt="0"/>
      <dgm:spPr/>
    </dgm:pt>
    <dgm:pt modelId="{CD00B53B-13EB-400D-88F7-193FA1084681}" type="pres">
      <dgm:prSet presAssocID="{1D3C4817-7970-4B83-AF07-61B7E50C9996}" presName="arrowAndChildren" presStyleCnt="0"/>
      <dgm:spPr/>
    </dgm:pt>
    <dgm:pt modelId="{3D88F0F6-5629-4C7E-A8D9-55126A1A5A1D}" type="pres">
      <dgm:prSet presAssocID="{1D3C4817-7970-4B83-AF07-61B7E50C9996}" presName="parentTextArrow" presStyleLbl="node1" presStyleIdx="1" presStyleCnt="4"/>
      <dgm:spPr/>
    </dgm:pt>
    <dgm:pt modelId="{ACD862B6-D655-498A-8FA6-1987A91783C3}" type="pres">
      <dgm:prSet presAssocID="{EDDA025F-C4A6-4E68-A864-31D80BB865E6}" presName="sp" presStyleCnt="0"/>
      <dgm:spPr/>
    </dgm:pt>
    <dgm:pt modelId="{2F84B48E-D500-42B4-9D8F-F46FB2AC86EF}" type="pres">
      <dgm:prSet presAssocID="{E1DB4969-C241-47FC-B362-D33B7566A7C1}" presName="arrowAndChildren" presStyleCnt="0"/>
      <dgm:spPr/>
    </dgm:pt>
    <dgm:pt modelId="{5E247E41-6DA2-446C-849F-383AA9AB749B}" type="pres">
      <dgm:prSet presAssocID="{E1DB4969-C241-47FC-B362-D33B7566A7C1}" presName="parentTextArrow" presStyleLbl="node1" presStyleIdx="2" presStyleCnt="4"/>
      <dgm:spPr/>
    </dgm:pt>
    <dgm:pt modelId="{736A69BE-A220-4144-BEB1-04BD59BF1329}" type="pres">
      <dgm:prSet presAssocID="{D9926E93-0033-4EAE-8105-B122F3529813}" presName="sp" presStyleCnt="0"/>
      <dgm:spPr/>
    </dgm:pt>
    <dgm:pt modelId="{6647F38C-A354-4E92-82DD-B24CA78D34F1}" type="pres">
      <dgm:prSet presAssocID="{2B972B0F-9F24-4FC0-BA51-EEBB0A7F8A73}" presName="arrowAndChildren" presStyleCnt="0"/>
      <dgm:spPr/>
    </dgm:pt>
    <dgm:pt modelId="{534D5A28-AA1C-4672-B587-DC2D8696AAD8}" type="pres">
      <dgm:prSet presAssocID="{2B972B0F-9F24-4FC0-BA51-EEBB0A7F8A73}" presName="parentTextArrow" presStyleLbl="node1" presStyleIdx="3" presStyleCnt="4"/>
      <dgm:spPr/>
    </dgm:pt>
  </dgm:ptLst>
  <dgm:cxnLst>
    <dgm:cxn modelId="{D01A194B-4902-4AEB-984F-89B74A0CA810}" type="presOf" srcId="{1D3C4817-7970-4B83-AF07-61B7E50C9996}" destId="{3D88F0F6-5629-4C7E-A8D9-55126A1A5A1D}" srcOrd="0" destOrd="0" presId="urn:microsoft.com/office/officeart/2005/8/layout/process4"/>
    <dgm:cxn modelId="{06589951-9DEE-4002-8EB3-2A6687FE8434}" type="presOf" srcId="{E1DB4969-C241-47FC-B362-D33B7566A7C1}" destId="{5E247E41-6DA2-446C-849F-383AA9AB749B}" srcOrd="0" destOrd="0" presId="urn:microsoft.com/office/officeart/2005/8/layout/process4"/>
    <dgm:cxn modelId="{B587AE82-CBB6-43F0-8D75-88AF70AAB86E}" srcId="{48AFC2CC-272E-41C7-BFE3-402C8025BCAD}" destId="{E1DB4969-C241-47FC-B362-D33B7566A7C1}" srcOrd="1" destOrd="0" parTransId="{33E3E7A2-0F5B-4428-AAA6-F11ED572BD3A}" sibTransId="{EDDA025F-C4A6-4E68-A864-31D80BB865E6}"/>
    <dgm:cxn modelId="{AF219688-CE54-47B6-B599-F97074769732}" srcId="{48AFC2CC-272E-41C7-BFE3-402C8025BCAD}" destId="{1B5A5607-E945-4BE9-814D-B0EF59B1C430}" srcOrd="3" destOrd="0" parTransId="{DB69DBA9-156D-4A15-9B2E-C28CADCBDCB3}" sibTransId="{A67FF2E3-02ED-4648-A2B6-DC4F7E2CC307}"/>
    <dgm:cxn modelId="{6587C595-A3F4-4EB8-97BB-102DD6B18937}" srcId="{48AFC2CC-272E-41C7-BFE3-402C8025BCAD}" destId="{1D3C4817-7970-4B83-AF07-61B7E50C9996}" srcOrd="2" destOrd="0" parTransId="{3EA88241-E0A1-43FA-B7B7-F715EBE467EC}" sibTransId="{73DEDEEA-F614-422F-A1FA-F2DA54935A22}"/>
    <dgm:cxn modelId="{2EDE7EBC-03E1-4B2B-9628-91C115BBE909}" type="presOf" srcId="{48AFC2CC-272E-41C7-BFE3-402C8025BCAD}" destId="{2BD634B8-DA83-49F5-9D02-0914F5E00507}" srcOrd="0" destOrd="0" presId="urn:microsoft.com/office/officeart/2005/8/layout/process4"/>
    <dgm:cxn modelId="{19261AE1-CDAA-437C-82BB-F32380991E11}" srcId="{48AFC2CC-272E-41C7-BFE3-402C8025BCAD}" destId="{2B972B0F-9F24-4FC0-BA51-EEBB0A7F8A73}" srcOrd="0" destOrd="0" parTransId="{823A6176-1344-4AAD-A081-89EB5DCC4093}" sibTransId="{D9926E93-0033-4EAE-8105-B122F3529813}"/>
    <dgm:cxn modelId="{1A3FA7F3-8CBB-413E-949D-A397A86417F4}" type="presOf" srcId="{2B972B0F-9F24-4FC0-BA51-EEBB0A7F8A73}" destId="{534D5A28-AA1C-4672-B587-DC2D8696AAD8}" srcOrd="0" destOrd="0" presId="urn:microsoft.com/office/officeart/2005/8/layout/process4"/>
    <dgm:cxn modelId="{D6D2B3FA-1ED9-49B5-B8F0-0D4F5075905A}" type="presOf" srcId="{1B5A5607-E945-4BE9-814D-B0EF59B1C430}" destId="{75B552A5-6396-4106-9A4A-445AED3E3CC6}" srcOrd="0" destOrd="0" presId="urn:microsoft.com/office/officeart/2005/8/layout/process4"/>
    <dgm:cxn modelId="{524811A3-ED31-4575-8340-647BFFE9B39F}" type="presParOf" srcId="{2BD634B8-DA83-49F5-9D02-0914F5E00507}" destId="{03B30CF2-AE31-4DED-84D9-3487159AD3E3}" srcOrd="0" destOrd="0" presId="urn:microsoft.com/office/officeart/2005/8/layout/process4"/>
    <dgm:cxn modelId="{0E485E5A-0BFB-44E3-91C8-C99EE7848A6A}" type="presParOf" srcId="{03B30CF2-AE31-4DED-84D9-3487159AD3E3}" destId="{75B552A5-6396-4106-9A4A-445AED3E3CC6}" srcOrd="0" destOrd="0" presId="urn:microsoft.com/office/officeart/2005/8/layout/process4"/>
    <dgm:cxn modelId="{4DD398C9-EA8F-4A43-88D9-5ECF6461BDF5}" type="presParOf" srcId="{2BD634B8-DA83-49F5-9D02-0914F5E00507}" destId="{F70F5C23-80D2-4CDF-B637-5C57A37CD123}" srcOrd="1" destOrd="0" presId="urn:microsoft.com/office/officeart/2005/8/layout/process4"/>
    <dgm:cxn modelId="{896EA0C7-4528-4DF7-9D51-8C03109F497C}" type="presParOf" srcId="{2BD634B8-DA83-49F5-9D02-0914F5E00507}" destId="{CD00B53B-13EB-400D-88F7-193FA1084681}" srcOrd="2" destOrd="0" presId="urn:microsoft.com/office/officeart/2005/8/layout/process4"/>
    <dgm:cxn modelId="{60B6883C-5FE5-4D3F-AEA7-F4621454E926}" type="presParOf" srcId="{CD00B53B-13EB-400D-88F7-193FA1084681}" destId="{3D88F0F6-5629-4C7E-A8D9-55126A1A5A1D}" srcOrd="0" destOrd="0" presId="urn:microsoft.com/office/officeart/2005/8/layout/process4"/>
    <dgm:cxn modelId="{C181981F-2F4E-4A88-8C42-009A0D018EC4}" type="presParOf" srcId="{2BD634B8-DA83-49F5-9D02-0914F5E00507}" destId="{ACD862B6-D655-498A-8FA6-1987A91783C3}" srcOrd="3" destOrd="0" presId="urn:microsoft.com/office/officeart/2005/8/layout/process4"/>
    <dgm:cxn modelId="{E7C5AD75-B35D-43EE-B5B9-33458A1E0BE1}" type="presParOf" srcId="{2BD634B8-DA83-49F5-9D02-0914F5E00507}" destId="{2F84B48E-D500-42B4-9D8F-F46FB2AC86EF}" srcOrd="4" destOrd="0" presId="urn:microsoft.com/office/officeart/2005/8/layout/process4"/>
    <dgm:cxn modelId="{A3A7EADA-DAB5-45EA-8BA4-34F5EEC1AE81}" type="presParOf" srcId="{2F84B48E-D500-42B4-9D8F-F46FB2AC86EF}" destId="{5E247E41-6DA2-446C-849F-383AA9AB749B}" srcOrd="0" destOrd="0" presId="urn:microsoft.com/office/officeart/2005/8/layout/process4"/>
    <dgm:cxn modelId="{1EE2F2DD-C6B7-403D-B437-7A63CE12D223}" type="presParOf" srcId="{2BD634B8-DA83-49F5-9D02-0914F5E00507}" destId="{736A69BE-A220-4144-BEB1-04BD59BF1329}" srcOrd="5" destOrd="0" presId="urn:microsoft.com/office/officeart/2005/8/layout/process4"/>
    <dgm:cxn modelId="{56A9B7E7-EE27-45BC-9061-F46AF766C1EB}" type="presParOf" srcId="{2BD634B8-DA83-49F5-9D02-0914F5E00507}" destId="{6647F38C-A354-4E92-82DD-B24CA78D34F1}" srcOrd="6" destOrd="0" presId="urn:microsoft.com/office/officeart/2005/8/layout/process4"/>
    <dgm:cxn modelId="{395EDE8F-1677-4206-A0B7-D62421760E0C}" type="presParOf" srcId="{6647F38C-A354-4E92-82DD-B24CA78D34F1}" destId="{534D5A28-AA1C-4672-B587-DC2D8696AAD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90C58F-1623-4B30-8E09-2CA0F33BB139}" type="doc">
      <dgm:prSet loTypeId="urn:microsoft.com/office/officeart/2005/8/layout/process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4BC2FB94-54C5-4AA4-8613-4ABB9F2FB0D5}">
      <dgm:prSet custT="1"/>
      <dgm:spPr/>
      <dgm:t>
        <a:bodyPr/>
        <a:lstStyle/>
        <a:p>
          <a:r>
            <a:rPr lang="en-GB" sz="2400" dirty="0"/>
            <a:t>1) Building a co-action graph represents author similarity.</a:t>
          </a:r>
          <a:endParaRPr lang="en-IL" sz="2400" dirty="0"/>
        </a:p>
      </dgm:t>
    </dgm:pt>
    <dgm:pt modelId="{81142ADE-1E42-4CE9-83A4-2B0D9F638559}" type="parTrans" cxnId="{BFFBDADC-868D-420E-9208-8F65BF16916D}">
      <dgm:prSet/>
      <dgm:spPr/>
      <dgm:t>
        <a:bodyPr/>
        <a:lstStyle/>
        <a:p>
          <a:endParaRPr lang="en-IL"/>
        </a:p>
      </dgm:t>
    </dgm:pt>
    <dgm:pt modelId="{1E17B9C2-D2AB-4D01-8569-00D12B23D4C7}" type="sibTrans" cxnId="{BFFBDADC-868D-420E-9208-8F65BF16916D}">
      <dgm:prSet/>
      <dgm:spPr/>
      <dgm:t>
        <a:bodyPr/>
        <a:lstStyle/>
        <a:p>
          <a:endParaRPr lang="en-IL"/>
        </a:p>
      </dgm:t>
    </dgm:pt>
    <dgm:pt modelId="{7D320D05-8BC7-49AB-93E1-F512A65ADBB4}">
      <dgm:prSet custT="1"/>
      <dgm:spPr/>
      <dgm:t>
        <a:bodyPr/>
        <a:lstStyle/>
        <a:p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76729AB0-F7FB-43B8-8268-2879B72FF758}" type="parTrans" cxnId="{D6404C00-BB8F-47F6-A3E0-E9AE5168B69E}">
      <dgm:prSet/>
      <dgm:spPr/>
      <dgm:t>
        <a:bodyPr/>
        <a:lstStyle/>
        <a:p>
          <a:endParaRPr lang="en-IL"/>
        </a:p>
      </dgm:t>
    </dgm:pt>
    <dgm:pt modelId="{7A6195CC-C5B6-499B-8C5A-C59F05E11EE6}" type="sibTrans" cxnId="{D6404C00-BB8F-47F6-A3E0-E9AE5168B69E}">
      <dgm:prSet/>
      <dgm:spPr/>
      <dgm:t>
        <a:bodyPr/>
        <a:lstStyle/>
        <a:p>
          <a:endParaRPr lang="en-IL"/>
        </a:p>
      </dgm:t>
    </dgm:pt>
    <dgm:pt modelId="{A7B258C5-DA38-4321-BB19-D9CB5619264C}">
      <dgm:prSet custT="1"/>
      <dgm:spPr/>
      <dgm:t>
        <a:bodyPr/>
        <a:lstStyle/>
        <a:p>
          <a:r>
            <a:rPr lang="en-GB" sz="2400" dirty="0"/>
            <a:t>3) Graph-based indicators are used to measure     author’s embeddedness.</a:t>
          </a:r>
          <a:endParaRPr lang="en-IL" sz="2400" dirty="0"/>
        </a:p>
      </dgm:t>
    </dgm:pt>
    <dgm:pt modelId="{203A4A45-D67F-4111-8115-F39D8B161CDD}" type="parTrans" cxnId="{601BA4A4-5D6C-40ED-8F48-667E9AF2836A}">
      <dgm:prSet/>
      <dgm:spPr/>
      <dgm:t>
        <a:bodyPr/>
        <a:lstStyle/>
        <a:p>
          <a:endParaRPr lang="en-IL"/>
        </a:p>
      </dgm:t>
    </dgm:pt>
    <dgm:pt modelId="{CFB66835-E5CB-4D8A-B6C8-1B3B8DF01259}" type="sibTrans" cxnId="{601BA4A4-5D6C-40ED-8F48-667E9AF2836A}">
      <dgm:prSet/>
      <dgm:spPr/>
      <dgm:t>
        <a:bodyPr/>
        <a:lstStyle/>
        <a:p>
          <a:endParaRPr lang="en-IL"/>
        </a:p>
      </dgm:t>
    </dgm:pt>
    <dgm:pt modelId="{5D7624BE-F238-4C3B-897B-9536540A45EC}">
      <dgm:prSet custT="1"/>
      <dgm:spPr/>
      <dgm:t>
        <a:bodyPr/>
        <a:lstStyle/>
        <a:p>
          <a:r>
            <a:rPr lang="en-GB" sz="2400" kern="1200" dirty="0">
              <a:latin typeface="Calibri" panose="020F0502020204030204"/>
              <a:ea typeface="+mn-ea"/>
              <a:cs typeface="+mn-cs"/>
            </a:rPr>
            <a:t>4) </a:t>
          </a:r>
          <a:r>
            <a:rPr lang="en-IL" sz="2400" kern="1200" dirty="0"/>
            <a:t>Each user is represented by a human-readable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DE3ECAEC-D217-4ACD-8F26-7D253DBBBB46}" type="parTrans" cxnId="{D548CB56-4B7F-4832-B855-6F1B2D31D122}">
      <dgm:prSet/>
      <dgm:spPr/>
      <dgm:t>
        <a:bodyPr/>
        <a:lstStyle/>
        <a:p>
          <a:endParaRPr lang="en-IL"/>
        </a:p>
      </dgm:t>
    </dgm:pt>
    <dgm:pt modelId="{312170D2-ED7B-4054-82B8-1D60C8F68B7F}" type="sibTrans" cxnId="{D548CB56-4B7F-4832-B855-6F1B2D31D122}">
      <dgm:prSet/>
      <dgm:spPr/>
      <dgm:t>
        <a:bodyPr/>
        <a:lstStyle/>
        <a:p>
          <a:endParaRPr lang="en-IL"/>
        </a:p>
      </dgm:t>
    </dgm:pt>
    <dgm:pt modelId="{F5835A2A-6EED-4CF0-AD6D-9C43F08E8106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</a:t>
          </a:r>
          <a:r>
            <a:rPr lang="en-IL" sz="2400" kern="1200" dirty="0"/>
            <a:t>The feature vectors are used by a machine-learning model to classify each author as an IO driver or </a:t>
          </a:r>
          <a:r>
            <a:rPr lang="en-US" sz="2400" kern="1200" dirty="0"/>
            <a:t>not.</a:t>
          </a:r>
          <a:endParaRPr lang="en-IL" sz="2400" b="0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gm:t>
    </dgm:pt>
    <dgm:pt modelId="{3B3A9903-4669-470D-9A03-4D8FCA8E328C}" type="parTrans" cxnId="{02F270AA-4ABA-474A-B88D-AF4118A95DC5}">
      <dgm:prSet/>
      <dgm:spPr/>
      <dgm:t>
        <a:bodyPr/>
        <a:lstStyle/>
        <a:p>
          <a:endParaRPr lang="en-IL"/>
        </a:p>
      </dgm:t>
    </dgm:pt>
    <dgm:pt modelId="{687F42B4-C2AD-4C27-B6FA-0BF9E906535E}" type="sibTrans" cxnId="{02F270AA-4ABA-474A-B88D-AF4118A95DC5}">
      <dgm:prSet/>
      <dgm:spPr/>
      <dgm:t>
        <a:bodyPr/>
        <a:lstStyle/>
        <a:p>
          <a:endParaRPr lang="en-IL"/>
        </a:p>
      </dgm:t>
    </dgm:pt>
    <dgm:pt modelId="{E3D2F466-9D2B-489B-8FD7-00A269198811}" type="pres">
      <dgm:prSet presAssocID="{4790C58F-1623-4B30-8E09-2CA0F33BB139}" presName="Name0" presStyleCnt="0">
        <dgm:presLayoutVars>
          <dgm:dir/>
          <dgm:animLvl val="lvl"/>
          <dgm:resizeHandles val="exact"/>
        </dgm:presLayoutVars>
      </dgm:prSet>
      <dgm:spPr/>
    </dgm:pt>
    <dgm:pt modelId="{088EA719-2472-4684-87F4-629B6808F521}" type="pres">
      <dgm:prSet presAssocID="{F5835A2A-6EED-4CF0-AD6D-9C43F08E8106}" presName="boxAndChildren" presStyleCnt="0"/>
      <dgm:spPr/>
    </dgm:pt>
    <dgm:pt modelId="{BF4415FE-1BEA-4AAF-8504-EF442423F26C}" type="pres">
      <dgm:prSet presAssocID="{F5835A2A-6EED-4CF0-AD6D-9C43F08E8106}" presName="parentTextBox" presStyleLbl="node1" presStyleIdx="0" presStyleCnt="5" custLinFactNeighborX="-4106"/>
      <dgm:spPr/>
    </dgm:pt>
    <dgm:pt modelId="{089D2F7B-F14C-4A92-BB3A-DAA08CAE5848}" type="pres">
      <dgm:prSet presAssocID="{312170D2-ED7B-4054-82B8-1D60C8F68B7F}" presName="sp" presStyleCnt="0"/>
      <dgm:spPr/>
    </dgm:pt>
    <dgm:pt modelId="{F9478C95-2D8F-4B5D-9198-EA05C72041D6}" type="pres">
      <dgm:prSet presAssocID="{5D7624BE-F238-4C3B-897B-9536540A45EC}" presName="arrowAndChildren" presStyleCnt="0"/>
      <dgm:spPr/>
    </dgm:pt>
    <dgm:pt modelId="{6679C54E-D9B3-42D4-8579-0F059BE402E7}" type="pres">
      <dgm:prSet presAssocID="{5D7624BE-F238-4C3B-897B-9536540A45EC}" presName="parentTextArrow" presStyleLbl="node1" presStyleIdx="1" presStyleCnt="5"/>
      <dgm:spPr/>
    </dgm:pt>
    <dgm:pt modelId="{9EEDCD11-2912-410C-BF8F-FB8C0E08B1DE}" type="pres">
      <dgm:prSet presAssocID="{CFB66835-E5CB-4D8A-B6C8-1B3B8DF01259}" presName="sp" presStyleCnt="0"/>
      <dgm:spPr/>
    </dgm:pt>
    <dgm:pt modelId="{67F4FDC1-DDD2-4281-BAE2-FB77EAC45D98}" type="pres">
      <dgm:prSet presAssocID="{A7B258C5-DA38-4321-BB19-D9CB5619264C}" presName="arrowAndChildren" presStyleCnt="0"/>
      <dgm:spPr/>
    </dgm:pt>
    <dgm:pt modelId="{1286EBB1-156A-4900-80F5-B7DA82846AFD}" type="pres">
      <dgm:prSet presAssocID="{A7B258C5-DA38-4321-BB19-D9CB5619264C}" presName="parentTextArrow" presStyleLbl="node1" presStyleIdx="2" presStyleCnt="5"/>
      <dgm:spPr/>
    </dgm:pt>
    <dgm:pt modelId="{E5FC2BC1-7FA9-42C4-A969-06EE33CAE6B9}" type="pres">
      <dgm:prSet presAssocID="{7A6195CC-C5B6-499B-8C5A-C59F05E11EE6}" presName="sp" presStyleCnt="0"/>
      <dgm:spPr/>
    </dgm:pt>
    <dgm:pt modelId="{1B190E91-BA0B-443D-8EBB-2D0FBA24695A}" type="pres">
      <dgm:prSet presAssocID="{7D320D05-8BC7-49AB-93E1-F512A65ADBB4}" presName="arrowAndChildren" presStyleCnt="0"/>
      <dgm:spPr/>
    </dgm:pt>
    <dgm:pt modelId="{EC9EF89E-2EC9-4197-83CE-6F0E9635859A}" type="pres">
      <dgm:prSet presAssocID="{7D320D05-8BC7-49AB-93E1-F512A65ADBB4}" presName="parentTextArrow" presStyleLbl="node1" presStyleIdx="3" presStyleCnt="5"/>
      <dgm:spPr/>
    </dgm:pt>
    <dgm:pt modelId="{5FA7D69C-ADC5-4D3E-A63E-3177E18C39D9}" type="pres">
      <dgm:prSet presAssocID="{1E17B9C2-D2AB-4D01-8569-00D12B23D4C7}" presName="sp" presStyleCnt="0"/>
      <dgm:spPr/>
    </dgm:pt>
    <dgm:pt modelId="{9C5F784D-3A5B-40B8-BC6E-96C4885D6DD5}" type="pres">
      <dgm:prSet presAssocID="{4BC2FB94-54C5-4AA4-8613-4ABB9F2FB0D5}" presName="arrowAndChildren" presStyleCnt="0"/>
      <dgm:spPr/>
    </dgm:pt>
    <dgm:pt modelId="{449265AB-55D8-4494-95A0-FB133CF562A6}" type="pres">
      <dgm:prSet presAssocID="{4BC2FB94-54C5-4AA4-8613-4ABB9F2FB0D5}" presName="parentTextArrow" presStyleLbl="node1" presStyleIdx="4" presStyleCnt="5"/>
      <dgm:spPr/>
    </dgm:pt>
  </dgm:ptLst>
  <dgm:cxnLst>
    <dgm:cxn modelId="{D6404C00-BB8F-47F6-A3E0-E9AE5168B69E}" srcId="{4790C58F-1623-4B30-8E09-2CA0F33BB139}" destId="{7D320D05-8BC7-49AB-93E1-F512A65ADBB4}" srcOrd="1" destOrd="0" parTransId="{76729AB0-F7FB-43B8-8268-2879B72FF758}" sibTransId="{7A6195CC-C5B6-499B-8C5A-C59F05E11EE6}"/>
    <dgm:cxn modelId="{DC654E60-F4C9-4839-B9F7-FF7CD85FC243}" type="presOf" srcId="{4790C58F-1623-4B30-8E09-2CA0F33BB139}" destId="{E3D2F466-9D2B-489B-8FD7-00A269198811}" srcOrd="0" destOrd="0" presId="urn:microsoft.com/office/officeart/2005/8/layout/process4"/>
    <dgm:cxn modelId="{9CD98B73-AB6F-4E84-90D8-47F6FFBAC76D}" type="presOf" srcId="{F5835A2A-6EED-4CF0-AD6D-9C43F08E8106}" destId="{BF4415FE-1BEA-4AAF-8504-EF442423F26C}" srcOrd="0" destOrd="0" presId="urn:microsoft.com/office/officeart/2005/8/layout/process4"/>
    <dgm:cxn modelId="{BA2A9C55-DAE0-4FAA-B51F-3227B1490E8B}" type="presOf" srcId="{4BC2FB94-54C5-4AA4-8613-4ABB9F2FB0D5}" destId="{449265AB-55D8-4494-95A0-FB133CF562A6}" srcOrd="0" destOrd="0" presId="urn:microsoft.com/office/officeart/2005/8/layout/process4"/>
    <dgm:cxn modelId="{D548CB56-4B7F-4832-B855-6F1B2D31D122}" srcId="{4790C58F-1623-4B30-8E09-2CA0F33BB139}" destId="{5D7624BE-F238-4C3B-897B-9536540A45EC}" srcOrd="3" destOrd="0" parTransId="{DE3ECAEC-D217-4ACD-8F26-7D253DBBBB46}" sibTransId="{312170D2-ED7B-4054-82B8-1D60C8F68B7F}"/>
    <dgm:cxn modelId="{E5EFFFA0-A070-4C0A-9F9B-56FFA56576C5}" type="presOf" srcId="{5D7624BE-F238-4C3B-897B-9536540A45EC}" destId="{6679C54E-D9B3-42D4-8579-0F059BE402E7}" srcOrd="0" destOrd="0" presId="urn:microsoft.com/office/officeart/2005/8/layout/process4"/>
    <dgm:cxn modelId="{601BA4A4-5D6C-40ED-8F48-667E9AF2836A}" srcId="{4790C58F-1623-4B30-8E09-2CA0F33BB139}" destId="{A7B258C5-DA38-4321-BB19-D9CB5619264C}" srcOrd="2" destOrd="0" parTransId="{203A4A45-D67F-4111-8115-F39D8B161CDD}" sibTransId="{CFB66835-E5CB-4D8A-B6C8-1B3B8DF01259}"/>
    <dgm:cxn modelId="{02F270AA-4ABA-474A-B88D-AF4118A95DC5}" srcId="{4790C58F-1623-4B30-8E09-2CA0F33BB139}" destId="{F5835A2A-6EED-4CF0-AD6D-9C43F08E8106}" srcOrd="4" destOrd="0" parTransId="{3B3A9903-4669-470D-9A03-4D8FCA8E328C}" sibTransId="{687F42B4-C2AD-4C27-B6FA-0BF9E906535E}"/>
    <dgm:cxn modelId="{262235C1-EFC5-4940-8DEA-0CA0F4B91211}" type="presOf" srcId="{A7B258C5-DA38-4321-BB19-D9CB5619264C}" destId="{1286EBB1-156A-4900-80F5-B7DA82846AFD}" srcOrd="0" destOrd="0" presId="urn:microsoft.com/office/officeart/2005/8/layout/process4"/>
    <dgm:cxn modelId="{481E6ECA-7582-476F-9F6F-F6D456E97373}" type="presOf" srcId="{7D320D05-8BC7-49AB-93E1-F512A65ADBB4}" destId="{EC9EF89E-2EC9-4197-83CE-6F0E9635859A}" srcOrd="0" destOrd="0" presId="urn:microsoft.com/office/officeart/2005/8/layout/process4"/>
    <dgm:cxn modelId="{BFFBDADC-868D-420E-9208-8F65BF16916D}" srcId="{4790C58F-1623-4B30-8E09-2CA0F33BB139}" destId="{4BC2FB94-54C5-4AA4-8613-4ABB9F2FB0D5}" srcOrd="0" destOrd="0" parTransId="{81142ADE-1E42-4CE9-83A4-2B0D9F638559}" sibTransId="{1E17B9C2-D2AB-4D01-8569-00D12B23D4C7}"/>
    <dgm:cxn modelId="{5C85148E-5CCC-4A95-8B36-C6A100D3BF1C}" type="presParOf" srcId="{E3D2F466-9D2B-489B-8FD7-00A269198811}" destId="{088EA719-2472-4684-87F4-629B6808F521}" srcOrd="0" destOrd="0" presId="urn:microsoft.com/office/officeart/2005/8/layout/process4"/>
    <dgm:cxn modelId="{0BC62B70-DEC5-4EC3-899B-9B33A2D8EEC6}" type="presParOf" srcId="{088EA719-2472-4684-87F4-629B6808F521}" destId="{BF4415FE-1BEA-4AAF-8504-EF442423F26C}" srcOrd="0" destOrd="0" presId="urn:microsoft.com/office/officeart/2005/8/layout/process4"/>
    <dgm:cxn modelId="{FC75D633-9762-46D5-A2F4-24F65D3B523D}" type="presParOf" srcId="{E3D2F466-9D2B-489B-8FD7-00A269198811}" destId="{089D2F7B-F14C-4A92-BB3A-DAA08CAE5848}" srcOrd="1" destOrd="0" presId="urn:microsoft.com/office/officeart/2005/8/layout/process4"/>
    <dgm:cxn modelId="{B93D662E-CE66-4059-BF0F-FCC54DD7B492}" type="presParOf" srcId="{E3D2F466-9D2B-489B-8FD7-00A269198811}" destId="{F9478C95-2D8F-4B5D-9198-EA05C72041D6}" srcOrd="2" destOrd="0" presId="urn:microsoft.com/office/officeart/2005/8/layout/process4"/>
    <dgm:cxn modelId="{E713E305-CD0A-4951-AF0B-3CD82D972D3C}" type="presParOf" srcId="{F9478C95-2D8F-4B5D-9198-EA05C72041D6}" destId="{6679C54E-D9B3-42D4-8579-0F059BE402E7}" srcOrd="0" destOrd="0" presId="urn:microsoft.com/office/officeart/2005/8/layout/process4"/>
    <dgm:cxn modelId="{9723B319-800F-4F9F-A081-17EE5046C0DD}" type="presParOf" srcId="{E3D2F466-9D2B-489B-8FD7-00A269198811}" destId="{9EEDCD11-2912-410C-BF8F-FB8C0E08B1DE}" srcOrd="3" destOrd="0" presId="urn:microsoft.com/office/officeart/2005/8/layout/process4"/>
    <dgm:cxn modelId="{2B5BF700-293F-431D-8048-AF1D14C5AC67}" type="presParOf" srcId="{E3D2F466-9D2B-489B-8FD7-00A269198811}" destId="{67F4FDC1-DDD2-4281-BAE2-FB77EAC45D98}" srcOrd="4" destOrd="0" presId="urn:microsoft.com/office/officeart/2005/8/layout/process4"/>
    <dgm:cxn modelId="{2729B8A6-53C7-460C-A50D-21285C79B0E2}" type="presParOf" srcId="{67F4FDC1-DDD2-4281-BAE2-FB77EAC45D98}" destId="{1286EBB1-156A-4900-80F5-B7DA82846AFD}" srcOrd="0" destOrd="0" presId="urn:microsoft.com/office/officeart/2005/8/layout/process4"/>
    <dgm:cxn modelId="{ABFF2785-B058-4AEA-AB3B-5018FCF77D1E}" type="presParOf" srcId="{E3D2F466-9D2B-489B-8FD7-00A269198811}" destId="{E5FC2BC1-7FA9-42C4-A969-06EE33CAE6B9}" srcOrd="5" destOrd="0" presId="urn:microsoft.com/office/officeart/2005/8/layout/process4"/>
    <dgm:cxn modelId="{12C57EE2-AB40-41F5-A1B2-289C3675A96F}" type="presParOf" srcId="{E3D2F466-9D2B-489B-8FD7-00A269198811}" destId="{1B190E91-BA0B-443D-8EBB-2D0FBA24695A}" srcOrd="6" destOrd="0" presId="urn:microsoft.com/office/officeart/2005/8/layout/process4"/>
    <dgm:cxn modelId="{05E3B187-F9C8-4F12-B9FB-6721722B836C}" type="presParOf" srcId="{1B190E91-BA0B-443D-8EBB-2D0FBA24695A}" destId="{EC9EF89E-2EC9-4197-83CE-6F0E9635859A}" srcOrd="0" destOrd="0" presId="urn:microsoft.com/office/officeart/2005/8/layout/process4"/>
    <dgm:cxn modelId="{A17624A7-2852-43C6-9EE1-61852C7708A8}" type="presParOf" srcId="{E3D2F466-9D2B-489B-8FD7-00A269198811}" destId="{5FA7D69C-ADC5-4D3E-A63E-3177E18C39D9}" srcOrd="7" destOrd="0" presId="urn:microsoft.com/office/officeart/2005/8/layout/process4"/>
    <dgm:cxn modelId="{79ED58EA-1F48-4978-ACA1-C59BFFD3E494}" type="presParOf" srcId="{E3D2F466-9D2B-489B-8FD7-00A269198811}" destId="{9C5F784D-3A5B-40B8-BC6E-96C4885D6DD5}" srcOrd="8" destOrd="0" presId="urn:microsoft.com/office/officeart/2005/8/layout/process4"/>
    <dgm:cxn modelId="{283B2D46-AE72-4B9F-A2F5-B9632C0247FA}" type="presParOf" srcId="{9C5F784D-3A5B-40B8-BC6E-96C4885D6DD5}" destId="{449265AB-55D8-4494-95A0-FB133CF562A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552A5-6396-4106-9A4A-445AED3E3CC6}">
      <dsp:nvSpPr>
        <dsp:cNvPr id="0" name=""/>
        <dsp:cNvSpPr/>
      </dsp:nvSpPr>
      <dsp:spPr>
        <a:xfrm>
          <a:off x="0" y="3817172"/>
          <a:ext cx="10582656" cy="8351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Accounts within these coordinated groups receive a high </a:t>
          </a:r>
          <a:r>
            <a:rPr lang="en-GB" sz="2400" kern="1200" dirty="0"/>
            <a:t>core number.</a:t>
          </a:r>
          <a:endParaRPr lang="en-IL" sz="2400" kern="1200" dirty="0"/>
        </a:p>
      </dsp:txBody>
      <dsp:txXfrm>
        <a:off x="0" y="3817172"/>
        <a:ext cx="10582656" cy="835104"/>
      </dsp:txXfrm>
    </dsp:sp>
    <dsp:sp modelId="{3D88F0F6-5629-4C7E-A8D9-55126A1A5A1D}">
      <dsp:nvSpPr>
        <dsp:cNvPr id="0" name=""/>
        <dsp:cNvSpPr/>
      </dsp:nvSpPr>
      <dsp:spPr>
        <a:xfrm rot="10800000">
          <a:off x="0" y="2545309"/>
          <a:ext cx="10582656" cy="1284390"/>
        </a:xfrm>
        <a:prstGeom prst="upArrowCallou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Since IO requires coordination, IO drivers are expected to appear in </a:t>
          </a:r>
          <a:r>
            <a:rPr lang="en-GB" sz="2400" kern="1200" dirty="0"/>
            <a:t>the coordinated</a:t>
          </a:r>
          <a:r>
            <a:rPr lang="en-IL" sz="2400" kern="1200" dirty="0"/>
            <a:t> groups. </a:t>
          </a:r>
        </a:p>
      </dsp:txBody>
      <dsp:txXfrm rot="10800000">
        <a:off x="0" y="2545309"/>
        <a:ext cx="10582656" cy="834558"/>
      </dsp:txXfrm>
    </dsp:sp>
    <dsp:sp modelId="{5E247E41-6DA2-446C-849F-383AA9AB749B}">
      <dsp:nvSpPr>
        <dsp:cNvPr id="0" name=""/>
        <dsp:cNvSpPr/>
      </dsp:nvSpPr>
      <dsp:spPr>
        <a:xfrm rot="10800000">
          <a:off x="0" y="1273445"/>
          <a:ext cx="10582656" cy="1284390"/>
        </a:xfrm>
        <a:prstGeom prst="upArrowCallou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Coordinated authors are highly inter</a:t>
          </a:r>
          <a:r>
            <a:rPr lang="en-GB" sz="2400" kern="1200" dirty="0"/>
            <a:t>-</a:t>
          </a:r>
          <a:r>
            <a:rPr lang="en-IL" sz="2400" kern="1200" dirty="0"/>
            <a:t>connected in the</a:t>
          </a:r>
          <a:r>
            <a:rPr lang="en-GB" sz="2400" kern="1200" dirty="0"/>
            <a:t> co-action</a:t>
          </a:r>
          <a:r>
            <a:rPr lang="en-IL" sz="2400" kern="1200" dirty="0"/>
            <a:t> graph.</a:t>
          </a:r>
          <a:endParaRPr lang="en-GB" sz="2400" kern="1200" dirty="0"/>
        </a:p>
      </dsp:txBody>
      <dsp:txXfrm rot="10800000">
        <a:off x="0" y="1273445"/>
        <a:ext cx="10582656" cy="834558"/>
      </dsp:txXfrm>
    </dsp:sp>
    <dsp:sp modelId="{534D5A28-AA1C-4672-B587-DC2D8696AAD8}">
      <dsp:nvSpPr>
        <dsp:cNvPr id="0" name=""/>
        <dsp:cNvSpPr/>
      </dsp:nvSpPr>
      <dsp:spPr>
        <a:xfrm rot="10800000">
          <a:off x="0" y="1582"/>
          <a:ext cx="10582656" cy="1284390"/>
        </a:xfrm>
        <a:prstGeom prst="upArrowCallou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The co-action graph represents behavioural similarity between authors.</a:t>
          </a:r>
        </a:p>
      </dsp:txBody>
      <dsp:txXfrm rot="10800000">
        <a:off x="0" y="1582"/>
        <a:ext cx="10582656" cy="8345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415FE-1BEA-4AAF-8504-EF442423F26C}">
      <dsp:nvSpPr>
        <dsp:cNvPr id="0" name=""/>
        <dsp:cNvSpPr/>
      </dsp:nvSpPr>
      <dsp:spPr>
        <a:xfrm>
          <a:off x="0" y="4404986"/>
          <a:ext cx="7072620" cy="7226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</a:t>
          </a:r>
          <a:r>
            <a:rPr lang="en-IL" sz="2400" kern="1200" dirty="0"/>
            <a:t>The feature vectors are used by a machine-learning model to classify each author as an IO driver or </a:t>
          </a:r>
          <a:r>
            <a:rPr lang="en-US" sz="2400" kern="1200" dirty="0"/>
            <a:t>not.</a:t>
          </a:r>
          <a:endParaRPr lang="en-IL" sz="2400" b="0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4404986"/>
        <a:ext cx="7072620" cy="722674"/>
      </dsp:txXfrm>
    </dsp:sp>
    <dsp:sp modelId="{6679C54E-D9B3-42D4-8579-0F059BE402E7}">
      <dsp:nvSpPr>
        <dsp:cNvPr id="0" name=""/>
        <dsp:cNvSpPr/>
      </dsp:nvSpPr>
      <dsp:spPr>
        <a:xfrm rot="10800000">
          <a:off x="0" y="3304353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Calibri" panose="020F0502020204030204"/>
              <a:ea typeface="+mn-ea"/>
              <a:cs typeface="+mn-cs"/>
            </a:rPr>
            <a:t>4) </a:t>
          </a:r>
          <a:r>
            <a:rPr lang="en-IL" sz="2400" kern="1200" dirty="0"/>
            <a:t>Each user is represented by a human-readable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3304353"/>
        <a:ext cx="7072620" cy="722202"/>
      </dsp:txXfrm>
    </dsp:sp>
    <dsp:sp modelId="{1286EBB1-156A-4900-80F5-B7DA82846AFD}">
      <dsp:nvSpPr>
        <dsp:cNvPr id="0" name=""/>
        <dsp:cNvSpPr/>
      </dsp:nvSpPr>
      <dsp:spPr>
        <a:xfrm rot="10800000">
          <a:off x="0" y="2203719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3) Graph-based indicators are used to measure     author’s embeddedness.</a:t>
          </a:r>
          <a:endParaRPr lang="en-IL" sz="2400" kern="1200" dirty="0"/>
        </a:p>
      </dsp:txBody>
      <dsp:txXfrm rot="10800000">
        <a:off x="0" y="2203719"/>
        <a:ext cx="7072620" cy="722202"/>
      </dsp:txXfrm>
    </dsp:sp>
    <dsp:sp modelId="{EC9EF89E-2EC9-4197-83CE-6F0E9635859A}">
      <dsp:nvSpPr>
        <dsp:cNvPr id="0" name=""/>
        <dsp:cNvSpPr/>
      </dsp:nvSpPr>
      <dsp:spPr>
        <a:xfrm rot="10800000">
          <a:off x="0" y="1103085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1103085"/>
        <a:ext cx="7072620" cy="722202"/>
      </dsp:txXfrm>
    </dsp:sp>
    <dsp:sp modelId="{449265AB-55D8-4494-95A0-FB133CF562A6}">
      <dsp:nvSpPr>
        <dsp:cNvPr id="0" name=""/>
        <dsp:cNvSpPr/>
      </dsp:nvSpPr>
      <dsp:spPr>
        <a:xfrm rot="10800000">
          <a:off x="0" y="2452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1) Building a co-action graph represents author similarity.</a:t>
          </a:r>
          <a:endParaRPr lang="en-IL" sz="2400" kern="1200" dirty="0"/>
        </a:p>
      </dsp:txBody>
      <dsp:txXfrm rot="10800000">
        <a:off x="0" y="2452"/>
        <a:ext cx="7072620" cy="722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ד'/אלול/תשפ"ו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17 אוגוסט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buFont typeface="Courier New" panose="02070309020205020404" pitchFamily="49" charset="0"/>
              <a:buChar char="o"/>
              <a:defRPr sz="2000"/>
            </a:lvl2pPr>
            <a:lvl3pPr>
              <a:buFont typeface="Wingdings" panose="05000000000000000000" pitchFamily="2" charset="2"/>
              <a:buChar char="Ø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17 אוגוסט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17 אוגוסט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17 אוגוסט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17 אוגוסט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17 אוגוסט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17 אוגוסט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17 אוגוסט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17 אוגוסט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17 אוגוסט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17 אוגוסט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17 אוגוסט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17 אוגוסט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956582"/>
            <a:ext cx="6234954" cy="1724819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 Can See </a:t>
            </a:r>
            <a:r>
              <a:rPr lang="en-GB" sz="4000" b="1" dirty="0">
                <a:solidFill>
                  <a:srgbClr val="FF0000"/>
                </a:solidFill>
              </a:rPr>
              <a:t>U</a:t>
            </a:r>
            <a:r>
              <a:rPr lang="en-GB" sz="4000" b="1" dirty="0">
                <a:solidFill>
                  <a:schemeClr val="bg1"/>
                </a:solidFill>
              </a:rPr>
              <a:t>.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Indicator-Based Information Operation Detection and Topic-Aware Analysis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36132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17.08.2026</a:t>
            </a:r>
          </a:p>
          <a:p>
            <a:r>
              <a:rPr lang="en-US" dirty="0"/>
              <a:t>Amit Ner Gaon, Noa Tal, Idan </a:t>
            </a:r>
            <a:r>
              <a:rPr lang="en-GB" dirty="0"/>
              <a:t>Muallem</a:t>
            </a:r>
            <a:endParaRPr lang="en-US" dirty="0"/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25F04-2075-5640-5DEC-3A750362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07E5-B275-6452-62FB-2B98BD26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IL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11588-A0A9-88D4-64DC-E215A71D5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5631057" cy="4749032"/>
          </a:xfrm>
        </p:spPr>
        <p:txBody>
          <a:bodyPr>
            <a:noAutofit/>
          </a:bodyPr>
          <a:lstStyle/>
          <a:p>
            <a:r>
              <a:rPr lang="en-IL" sz="3000" dirty="0"/>
              <a:t>Social media platforms </a:t>
            </a:r>
            <a:r>
              <a:rPr lang="en-US" sz="3000" dirty="0"/>
              <a:t>are</a:t>
            </a:r>
            <a:r>
              <a:rPr lang="en-IL" sz="3000" dirty="0"/>
              <a:t> central spaces for public discourse</a:t>
            </a:r>
            <a:r>
              <a:rPr lang="en-US" sz="3000" dirty="0"/>
              <a:t>.</a:t>
            </a:r>
            <a:endParaRPr lang="en-IL" sz="3000" dirty="0"/>
          </a:p>
          <a:p>
            <a:r>
              <a:rPr lang="en-GB" sz="3000" dirty="0"/>
              <a:t>Information operation (IO) actors </a:t>
            </a:r>
            <a:r>
              <a:rPr lang="en-US" sz="3000" dirty="0"/>
              <a:t>exploit the </a:t>
            </a:r>
            <a:r>
              <a:rPr lang="en-IL" sz="3000" dirty="0"/>
              <a:t>openness</a:t>
            </a:r>
            <a:r>
              <a:rPr lang="en-US" sz="3000" dirty="0"/>
              <a:t> of social media</a:t>
            </a:r>
            <a:r>
              <a:rPr lang="en-IL" sz="3000" dirty="0"/>
              <a:t> to manipulate online </a:t>
            </a:r>
            <a:r>
              <a:rPr lang="en-US" sz="3000" dirty="0"/>
              <a:t>discourse </a:t>
            </a:r>
            <a:r>
              <a:rPr lang="en-GB" sz="3000" dirty="0"/>
              <a:t>threatening </a:t>
            </a:r>
            <a:r>
              <a:rPr lang="en-IL" sz="3000" dirty="0"/>
              <a:t>democratic processes, public trust, and societal cohesion (Seckin et al., 2024).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1C13A7-1923-2D9F-B551-824B61A989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82"/>
          <a:stretch>
            <a:fillRect/>
          </a:stretch>
        </p:blipFill>
        <p:spPr>
          <a:xfrm>
            <a:off x="6868047" y="1546558"/>
            <a:ext cx="5181600" cy="42107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5F257-DB4A-FAD3-2097-E17D9C5B1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89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552B6-F6A0-A5F8-3084-2EFDF779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83EA-9AD0-8D8C-EF0B-B6A71641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 &amp; Coordination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55DA2-E1AA-6D41-1CC8-89FE07E75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2794501"/>
          </a:xfrm>
        </p:spPr>
        <p:txBody>
          <a:bodyPr>
            <a:normAutofit fontScale="92500" lnSpcReduction="20000"/>
          </a:bodyPr>
          <a:lstStyle/>
          <a:p>
            <a:r>
              <a:rPr lang="en-IL" sz="3200" dirty="0"/>
              <a:t>IO</a:t>
            </a:r>
            <a:r>
              <a:rPr lang="en-GB" sz="3200" dirty="0"/>
              <a:t>s</a:t>
            </a:r>
            <a:r>
              <a:rPr lang="en-IL" sz="3200" dirty="0"/>
              <a:t> rely on fleets of coordinated accounts (Pacheco et al., 2021), some of them automated, acting toward a shared political objective</a:t>
            </a:r>
            <a:r>
              <a:rPr lang="en-GB" sz="3200" dirty="0"/>
              <a:t>. Coordination is what amplifies their influence</a:t>
            </a:r>
            <a:r>
              <a:rPr lang="en-IL" sz="3200" dirty="0"/>
              <a:t>.</a:t>
            </a:r>
          </a:p>
          <a:p>
            <a:r>
              <a:rPr lang="en-IL" sz="3200" dirty="0"/>
              <a:t>Accounts </a:t>
            </a:r>
            <a:r>
              <a:rPr lang="en-US" sz="3200" dirty="0"/>
              <a:t>disseminate the same narrative (e.g., </a:t>
            </a:r>
            <a:r>
              <a:rPr lang="en-IL" sz="3200" dirty="0"/>
              <a:t>hashtags</a:t>
            </a:r>
            <a:r>
              <a:rPr lang="en-US" sz="3200" dirty="0"/>
              <a:t>, account mentions)</a:t>
            </a:r>
            <a:r>
              <a:rPr lang="en-IL" sz="3200" dirty="0"/>
              <a:t> </a:t>
            </a:r>
            <a:r>
              <a:rPr lang="en-US" sz="3200" dirty="0"/>
              <a:t>and</a:t>
            </a:r>
            <a:r>
              <a:rPr lang="en-IL" sz="3200" dirty="0"/>
              <a:t> </a:t>
            </a:r>
            <a:r>
              <a:rPr lang="en-US" sz="3200" dirty="0"/>
              <a:t>posts on the same topics</a:t>
            </a:r>
            <a:r>
              <a:rPr lang="en-IL" sz="3200" dirty="0"/>
              <a:t>.</a:t>
            </a:r>
          </a:p>
          <a:p>
            <a:r>
              <a:rPr lang="en-IL" sz="3200" dirty="0"/>
              <a:t>Therefore, </a:t>
            </a:r>
            <a:r>
              <a:rPr lang="en-IL" sz="3200" dirty="0">
                <a:solidFill>
                  <a:schemeClr val="accent6"/>
                </a:solidFill>
              </a:rPr>
              <a:t>identifying coordination is a key step toward detecting IO drivers.</a:t>
            </a:r>
          </a:p>
          <a:p>
            <a:endParaRPr lang="en-IL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023A7-90B0-501B-17AB-CF432067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5EB279-80AA-7F93-2976-F7AAA96AF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53" b="2865"/>
          <a:stretch>
            <a:fillRect/>
          </a:stretch>
        </p:blipFill>
        <p:spPr bwMode="auto">
          <a:xfrm>
            <a:off x="3603428" y="4273486"/>
            <a:ext cx="4985144" cy="255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62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925B1-3CF4-8E9D-B717-3F99155A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4515-512F-748F-F0F1-FE7A5562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B2338-DB07-7A9B-F0E9-C69CA320E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530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b="1" dirty="0"/>
              <a:t>IO-Driver Detection Methods:</a:t>
            </a:r>
          </a:p>
          <a:p>
            <a:pPr>
              <a:spcBef>
                <a:spcPts val="900"/>
              </a:spcBef>
            </a:pPr>
            <a:r>
              <a:rPr lang="en-IL" b="1" dirty="0"/>
              <a:t>Node-Local: </a:t>
            </a:r>
            <a:r>
              <a:rPr lang="en-IL" dirty="0"/>
              <a:t>detect suspicious users from their individual content, activity, and behaviour.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Tomaiuolo et al., A Survey on Troll Detection, Future Internet, 2020</a:t>
            </a:r>
          </a:p>
          <a:p>
            <a:pPr>
              <a:spcBef>
                <a:spcPts val="900"/>
              </a:spcBef>
            </a:pPr>
            <a:r>
              <a:rPr lang="en-IL" b="1" dirty="0"/>
              <a:t>Network-Based: </a:t>
            </a:r>
            <a:r>
              <a:rPr lang="en-IL" dirty="0"/>
              <a:t>detect coordinated groups from graph structure and behavioural similarity.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Pacheco et al., Uncovering Coordinated Networks on Social Media: Methods and Case Studies, ICWSM, 2021</a:t>
            </a:r>
          </a:p>
          <a:p>
            <a:pPr>
              <a:spcBef>
                <a:spcPts val="900"/>
              </a:spcBef>
            </a:pPr>
            <a:r>
              <a:rPr lang="en-IL" b="1" dirty="0"/>
              <a:t>Hybrid: </a:t>
            </a:r>
            <a:r>
              <a:rPr lang="en-IL" dirty="0"/>
              <a:t>combine user content with network information to detect IO drivers.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Minici et al., IOHunter: Graph Foundation Model to Uncover Online Information Operations, AAAI, 2025</a:t>
            </a:r>
          </a:p>
          <a:p>
            <a:pPr marL="0" indent="0" algn="ctr">
              <a:buNone/>
            </a:pPr>
            <a:r>
              <a:rPr lang="en-IL" sz="2000" b="1" dirty="0"/>
              <a:t>The gap: existing approaches either detect coordinated groups without quantifying each account’s depth of involvement, or implicitly encode structural embeddedness within black-box models. None provides an explicit, interpretable, account-level measure of coordination depth.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8B0A1-1249-8531-140A-79FDF456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8405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7EBB-9ADD-4D81-20D6-6746201B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3CD8-080B-AA20-3306-2F83ED29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Our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CE5C-A0DA-F3F6-800F-09B5FA1E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200" dirty="0"/>
              <a:t>An interpretable, indicator-based approach for account-level IO detection.</a:t>
            </a:r>
          </a:p>
          <a:p>
            <a:r>
              <a:rPr lang="en-IL" sz="3200" dirty="0"/>
              <a:t>The core number in the co-action graph as a single, explainable indicator of coordination, achieving performance comparable to a full feature set (AUC &amp; F1) on a real IO campaign.</a:t>
            </a:r>
          </a:p>
          <a:p>
            <a:r>
              <a:rPr lang="en-IL" sz="3200" dirty="0"/>
              <a:t>Topic-aware analysis of the detected coordinated group (k-core), revealing the campaign’s agenda.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24614-B785-3AAF-F357-019EEE24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7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IL" dirty="0"/>
              <a:t>Methods - Co-Action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3200" b="1" dirty="0"/>
              <a:t>Nodes:</a:t>
            </a:r>
            <a:r>
              <a:rPr lang="en-GB" sz="3200" dirty="0"/>
              <a:t> authors in the discourse.</a:t>
            </a:r>
          </a:p>
          <a:p>
            <a:r>
              <a:rPr lang="en-GB" sz="3200" b="1" dirty="0"/>
              <a:t>Edges: </a:t>
            </a:r>
            <a:r>
              <a:rPr lang="en-GB" sz="3200" dirty="0"/>
              <a:t>co-action relations between a pair of authors (e.g., posting the same hashtag). Represents </a:t>
            </a:r>
            <a:r>
              <a:rPr lang="en-US" sz="3200" b="1" dirty="0"/>
              <a:t>behavioral similarity</a:t>
            </a:r>
            <a:r>
              <a:rPr lang="en-GB" sz="3200" b="1" dirty="0"/>
              <a:t> </a:t>
            </a:r>
            <a:r>
              <a:rPr lang="en-GB" sz="3200" dirty="0"/>
              <a:t>between the authors.</a:t>
            </a:r>
          </a:p>
          <a:p>
            <a:r>
              <a:rPr lang="en-GB" sz="3200" b="1" dirty="0"/>
              <a:t>Purpose</a:t>
            </a:r>
            <a:r>
              <a:rPr lang="en-GB" sz="3200" dirty="0"/>
              <a:t>: expose coordinated behaviour for IO detection.</a:t>
            </a:r>
          </a:p>
          <a:p>
            <a:endParaRPr lang="en-GB" sz="2800" dirty="0"/>
          </a:p>
          <a:p>
            <a:endParaRPr lang="en-GB" sz="2800" dirty="0"/>
          </a:p>
          <a:p>
            <a:pPr marL="457200" lvl="1" indent="0">
              <a:buNone/>
            </a:pP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4F46E8E-95AB-4D82-04F7-80C932FEC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2" b="10900"/>
          <a:stretch>
            <a:fillRect/>
          </a:stretch>
        </p:blipFill>
        <p:spPr bwMode="auto">
          <a:xfrm>
            <a:off x="1243087" y="4439118"/>
            <a:ext cx="9585434" cy="212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8559D-D4AB-1189-6DD0-329C5923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92BBF2-9CA9-26C8-3306-0EF5D22F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Core-Number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D75CCD-7268-1EC4-7323-66B1D9D4D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453DD-F810-AEB1-6C45-0A9E4E59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165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1CE1C-C84E-C83F-4718-819CFC8BD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6EB9B-BE1C-70F7-2356-0A5004880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Core Number</a:t>
            </a:r>
            <a:r>
              <a:rPr lang="en-GB" dirty="0"/>
              <a:t>:</a:t>
            </a:r>
            <a:r>
              <a:rPr lang="en-IL" dirty="0"/>
              <a:t> Motivation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AE095A-A6CC-3AE0-573F-0B18CE379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165286"/>
              </p:ext>
            </p:extLst>
          </p:nvPr>
        </p:nvGraphicFramePr>
        <p:xfrm>
          <a:off x="1243087" y="1543455"/>
          <a:ext cx="10582656" cy="4653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52ADA-4957-7A03-0405-5150E47F4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  <p:sp>
        <p:nvSpPr>
          <p:cNvPr id="30" name="Callout">
            <a:extLst>
              <a:ext uri="{FF2B5EF4-FFF2-40B4-BE49-F238E27FC236}">
                <a16:creationId xmlns:a16="http://schemas.microsoft.com/office/drawing/2014/main" id="{17EC245C-9322-9076-690D-B09964DD700C}"/>
              </a:ext>
            </a:extLst>
          </p:cNvPr>
          <p:cNvSpPr/>
          <p:nvPr/>
        </p:nvSpPr>
        <p:spPr>
          <a:xfrm>
            <a:off x="1554480" y="6327648"/>
            <a:ext cx="7589520" cy="475488"/>
          </a:xfrm>
          <a:prstGeom prst="rect">
            <a:avLst/>
          </a:prstGeom>
          <a:noFill/>
        </p:spPr>
        <p:txBody>
          <a:bodyPr lIns="0" tIns="0"/>
          <a:lstStyle/>
          <a:p>
            <a:r>
              <a:rPr lang="en-IL" sz="1300" b="1" dirty="0"/>
              <a:t>Similarity with one or two accounts is not enough. </a:t>
            </a:r>
            <a:r>
              <a:rPr lang="en-IL" sz="1300" dirty="0"/>
              <a:t>Only many accounts coordinating with one another produce a high core</a:t>
            </a:r>
            <a:r>
              <a:rPr lang="en-GB" sz="1300" dirty="0"/>
              <a:t>-</a:t>
            </a:r>
            <a:r>
              <a:rPr lang="en-IL" sz="1300" dirty="0"/>
              <a:t>number.</a:t>
            </a:r>
          </a:p>
        </p:txBody>
      </p:sp>
    </p:spTree>
    <p:extLst>
      <p:ext uri="{BB962C8B-B14F-4D97-AF65-F5344CB8AC3E}">
        <p14:creationId xmlns:p14="http://schemas.microsoft.com/office/powerpoint/2010/main" val="4106149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BF81-1759-7631-FCCD-C2B86D71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4968-7120-1977-C518-F3D19EEF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Core Number</a:t>
            </a:r>
            <a:r>
              <a:rPr lang="en-GB" dirty="0"/>
              <a:t>:</a:t>
            </a:r>
            <a:r>
              <a:rPr lang="en-IL" dirty="0"/>
              <a:t>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09368-FDF4-B047-F86D-A7F727C5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A1EFBBA8-CA30-26B6-612F-F894F3E62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6D91F2-615E-8B2A-5BF3-DD43C863C4DE}"/>
              </a:ext>
            </a:extLst>
          </p:cNvPr>
          <p:cNvSpPr txBox="1"/>
          <p:nvPr/>
        </p:nvSpPr>
        <p:spPr>
          <a:xfrm rot="21258625">
            <a:off x="6110596" y="1919799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F4669-9508-4E5A-B24C-22B002FCE751}"/>
              </a:ext>
            </a:extLst>
          </p:cNvPr>
          <p:cNvSpPr txBox="1"/>
          <p:nvPr/>
        </p:nvSpPr>
        <p:spPr>
          <a:xfrm rot="4810671">
            <a:off x="5646712" y="314919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C3455-0162-56A7-9F57-73B53C64B549}"/>
              </a:ext>
            </a:extLst>
          </p:cNvPr>
          <p:cNvSpPr txBox="1"/>
          <p:nvPr/>
        </p:nvSpPr>
        <p:spPr>
          <a:xfrm>
            <a:off x="6742558" y="3771025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#TruthExposed</a:t>
            </a:r>
            <a:endParaRPr lang="en-I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C6232-205D-E057-9D18-19CA5F579B02}"/>
              </a:ext>
            </a:extLst>
          </p:cNvPr>
          <p:cNvSpPr txBox="1"/>
          <p:nvPr/>
        </p:nvSpPr>
        <p:spPr>
          <a:xfrm rot="4119364">
            <a:off x="7794291" y="2828263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F02B8-F58B-B4F9-7B80-6387A4DDABE5}"/>
              </a:ext>
            </a:extLst>
          </p:cNvPr>
          <p:cNvSpPr txBox="1"/>
          <p:nvPr/>
        </p:nvSpPr>
        <p:spPr>
          <a:xfrm rot="1762880">
            <a:off x="7204790" y="3201896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CEDCF-E414-D5DE-B87D-F89D5BA52BA9}"/>
              </a:ext>
            </a:extLst>
          </p:cNvPr>
          <p:cNvSpPr txBox="1"/>
          <p:nvPr/>
        </p:nvSpPr>
        <p:spPr>
          <a:xfrm rot="18366777">
            <a:off x="6630407" y="249058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9B6A0-DF6A-5CD7-996A-C3A01D11C97C}"/>
              </a:ext>
            </a:extLst>
          </p:cNvPr>
          <p:cNvSpPr txBox="1"/>
          <p:nvPr/>
        </p:nvSpPr>
        <p:spPr>
          <a:xfrm>
            <a:off x="4618686" y="3805712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#Trending</a:t>
            </a:r>
            <a:endParaRPr lang="en-IL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54517A-9D8A-70EB-41D1-4C5261EC4380}"/>
              </a:ext>
            </a:extLst>
          </p:cNvPr>
          <p:cNvSpPr txBox="1"/>
          <p:nvPr/>
        </p:nvSpPr>
        <p:spPr>
          <a:xfrm rot="3114557">
            <a:off x="9656857" y="250859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A3518-5695-0E32-90BD-476955BA4AA6}"/>
              </a:ext>
            </a:extLst>
          </p:cNvPr>
          <p:cNvSpPr txBox="1"/>
          <p:nvPr/>
        </p:nvSpPr>
        <p:spPr>
          <a:xfrm rot="17535076">
            <a:off x="8457906" y="2864984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12921-5011-08A5-CC00-D27AEBF9BD05}"/>
              </a:ext>
            </a:extLst>
          </p:cNvPr>
          <p:cNvSpPr txBox="1"/>
          <p:nvPr/>
        </p:nvSpPr>
        <p:spPr>
          <a:xfrm>
            <a:off x="9656856" y="179174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82200-163E-4905-F370-F28EA4FFE151}"/>
              </a:ext>
            </a:extLst>
          </p:cNvPr>
          <p:cNvSpPr txBox="1"/>
          <p:nvPr/>
        </p:nvSpPr>
        <p:spPr>
          <a:xfrm rot="20634719">
            <a:off x="9166637" y="3480230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1EFE46-D669-1079-661B-A318F9253973}"/>
              </a:ext>
            </a:extLst>
          </p:cNvPr>
          <p:cNvSpPr txBox="1"/>
          <p:nvPr/>
        </p:nvSpPr>
        <p:spPr>
          <a:xfrm rot="15751676">
            <a:off x="8165907" y="4724186"/>
            <a:ext cx="137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#</a:t>
            </a:r>
            <a:r>
              <a:rPr lang="en-GB" sz="1600" dirty="0"/>
              <a:t>DeepState</a:t>
            </a:r>
            <a:endParaRPr lang="en-IL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15AFAB-8E07-193A-F7ED-27FDDE52CFB0}"/>
              </a:ext>
            </a:extLst>
          </p:cNvPr>
          <p:cNvSpPr txBox="1"/>
          <p:nvPr/>
        </p:nvSpPr>
        <p:spPr>
          <a:xfrm rot="5187585">
            <a:off x="5916302" y="478872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5B10CE-B78B-A560-406C-D455F3F371B9}"/>
              </a:ext>
            </a:extLst>
          </p:cNvPr>
          <p:cNvSpPr txBox="1"/>
          <p:nvPr/>
        </p:nvSpPr>
        <p:spPr>
          <a:xfrm rot="18445421">
            <a:off x="4377158" y="2864983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E5B288-8DC3-D387-AF1E-D3C58F4750E5}"/>
              </a:ext>
            </a:extLst>
          </p:cNvPr>
          <p:cNvSpPr txBox="1"/>
          <p:nvPr/>
        </p:nvSpPr>
        <p:spPr>
          <a:xfrm rot="4499005">
            <a:off x="3739807" y="2936281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88BDCC-3776-9674-10AE-CAE67CA8BC28}"/>
              </a:ext>
            </a:extLst>
          </p:cNvPr>
          <p:cNvSpPr txBox="1"/>
          <p:nvPr/>
        </p:nvSpPr>
        <p:spPr>
          <a:xfrm rot="17463090">
            <a:off x="3407513" y="4683885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1DC1E2-CFB8-6380-452E-71770B27D50A}"/>
              </a:ext>
            </a:extLst>
          </p:cNvPr>
          <p:cNvSpPr txBox="1"/>
          <p:nvPr/>
        </p:nvSpPr>
        <p:spPr>
          <a:xfrm rot="1702415">
            <a:off x="7159342" y="460992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3B6211-C6E4-1BBA-7030-3820BC8F64FF}"/>
              </a:ext>
            </a:extLst>
          </p:cNvPr>
          <p:cNvSpPr/>
          <p:nvPr/>
        </p:nvSpPr>
        <p:spPr>
          <a:xfrm rot="1340853">
            <a:off x="5185122" y="1691846"/>
            <a:ext cx="4186974" cy="3126336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576B8-144B-9F99-5CCF-A278CDAFF407}"/>
              </a:ext>
            </a:extLst>
          </p:cNvPr>
          <p:cNvSpPr txBox="1"/>
          <p:nvPr/>
        </p:nvSpPr>
        <p:spPr>
          <a:xfrm rot="1676257">
            <a:off x="7596847" y="1699407"/>
            <a:ext cx="2104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IO Drivers</a:t>
            </a:r>
            <a:endParaRPr lang="en-IL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FB36E-45DE-CDBF-18E4-24798133D1EE}"/>
              </a:ext>
            </a:extLst>
          </p:cNvPr>
          <p:cNvSpPr txBox="1"/>
          <p:nvPr/>
        </p:nvSpPr>
        <p:spPr>
          <a:xfrm>
            <a:off x="9351225" y="1341654"/>
            <a:ext cx="195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Co-Action Graph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038791-A184-B391-560C-F39DCF16C891}"/>
              </a:ext>
            </a:extLst>
          </p:cNvPr>
          <p:cNvSpPr txBox="1"/>
          <p:nvPr/>
        </p:nvSpPr>
        <p:spPr>
          <a:xfrm rot="18686069">
            <a:off x="9036591" y="439079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#Eurovision</a:t>
            </a:r>
            <a:endParaRPr lang="en-IL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/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/>
                  <a:t>Core-number</a:t>
                </a:r>
                <a:r>
                  <a:rPr lang="en-GB" sz="1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GB" sz="1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neighbours </a:t>
                </a:r>
                <a:r>
                  <a:rPr lang="en-GB" sz="1600" u="sng" dirty="0"/>
                  <a:t>within</a:t>
                </a:r>
                <a:r>
                  <a:rPr lang="en-GB" sz="1600" dirty="0"/>
                  <a:t> that subgraph.</a:t>
                </a:r>
                <a:endParaRPr lang="en-IL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blipFill>
                <a:blip r:embed="rId3"/>
                <a:stretch>
                  <a:fillRect l="-1435" t="-1167" b="-428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33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B20B-572C-EA3E-CBFD-11BAC61A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1181-6B71-F107-01AF-62434DE6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Core Number</a:t>
            </a:r>
            <a:r>
              <a:rPr lang="en-GB" dirty="0"/>
              <a:t>:</a:t>
            </a:r>
            <a:r>
              <a:rPr lang="en-IL" dirty="0"/>
              <a:t>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sz="3600" b="1" dirty="0"/>
                  <a:t>Node</a:t>
                </a:r>
                <a:r>
                  <a:rPr lang="en-GB" sz="3600" dirty="0"/>
                  <a:t> - a single actor/account in the graph. </a:t>
                </a:r>
              </a:p>
              <a:p>
                <a:r>
                  <a:rPr lang="en-GB" sz="3600" b="1" dirty="0"/>
                  <a:t>Subgraph</a:t>
                </a:r>
                <a:r>
                  <a:rPr lang="en-GB" sz="3600" dirty="0"/>
                  <a:t> - a smaller graph made from a subset of nodes and edges from the full graph. </a:t>
                </a:r>
              </a:p>
              <a:p>
                <a:r>
                  <a:rPr lang="en-GB" sz="3600" b="1" dirty="0"/>
                  <a:t>Neighbours</a:t>
                </a:r>
                <a:r>
                  <a:rPr lang="en-GB" sz="3600" dirty="0"/>
                  <a:t> - the nodes directly connected to a given node by an edge.</a:t>
                </a:r>
              </a:p>
              <a:p>
                <a:endParaRPr lang="en-GB" sz="3600" dirty="0"/>
              </a:p>
              <a:p>
                <a:r>
                  <a:rPr lang="en-GB" sz="3600" b="1" dirty="0"/>
                  <a:t>Core-number</a:t>
                </a:r>
                <a:r>
                  <a:rPr lang="en-GB" sz="3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600" dirty="0"/>
                  <a:t> </a:t>
                </a:r>
                <a:r>
                  <a:rPr lang="en-GB" sz="3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600" dirty="0"/>
                  <a:t>neighbours </a:t>
                </a:r>
                <a:r>
                  <a:rPr lang="en-GB" sz="3600" u="sng" dirty="0"/>
                  <a:t>within</a:t>
                </a:r>
                <a:r>
                  <a:rPr lang="en-GB" sz="3600" dirty="0"/>
                  <a:t> that subgraph.</a:t>
                </a:r>
                <a:endParaRPr lang="en-IL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  <a:blipFill>
                <a:blip r:embed="rId2"/>
                <a:stretch>
                  <a:fillRect l="-1613" t="-3959" b="-3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812F0-E54C-4F7D-05DA-1110FB27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6094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A3CE6-E239-7F5C-75D5-0DA0D256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D7C8-8EE6-64E5-C5FB-C4CDA586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</a:t>
            </a:r>
            <a:r>
              <a:rPr lang="en-IL" dirty="0"/>
              <a:t>-</a:t>
            </a:r>
            <a:r>
              <a:rPr lang="en-GB" dirty="0"/>
              <a:t>C</a:t>
            </a:r>
            <a:r>
              <a:rPr lang="en-IL" dirty="0"/>
              <a:t>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9EBD1-1E19-2423-154E-97AC13DB5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600" dirty="0"/>
              <a:t>An IO driver is </a:t>
            </a:r>
            <a:r>
              <a:rPr lang="en-GB" sz="3600" dirty="0"/>
              <a:t>part of </a:t>
            </a:r>
            <a:r>
              <a:rPr lang="en-IL" sz="3600" dirty="0"/>
              <a:t>a network of accounts that </a:t>
            </a:r>
            <a:r>
              <a:rPr lang="en-GB" sz="3600" dirty="0"/>
              <a:t>coordinate</a:t>
            </a:r>
            <a:r>
              <a:rPr lang="en-IL" sz="3600" dirty="0"/>
              <a:t>.</a:t>
            </a:r>
          </a:p>
          <a:p>
            <a:r>
              <a:rPr lang="en-IL" sz="3600" dirty="0"/>
              <a:t>This coordinated group can be identified using the node’s </a:t>
            </a:r>
            <a:r>
              <a:rPr lang="en-IL" sz="3600" b="1" dirty="0"/>
              <a:t>k-core</a:t>
            </a:r>
            <a:r>
              <a:rPr lang="en-IL" sz="3600" dirty="0"/>
              <a:t> in the behavioural-similarity graph.</a:t>
            </a:r>
            <a:endParaRPr lang="en-GB" sz="3600" dirty="0"/>
          </a:p>
          <a:p>
            <a:r>
              <a:rPr lang="en-IL" sz="3600" dirty="0"/>
              <a:t>Investigating this k-core can help reveal the group’s shared objectives, IO motivations, and intended targets.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6F689-B7C2-3DDF-7C4B-0C0B1293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11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EDFA0-1515-344B-4E0B-B4A1850499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98" b="12173"/>
          <a:stretch>
            <a:fillRect/>
          </a:stretch>
        </p:blipFill>
        <p:spPr>
          <a:xfrm>
            <a:off x="3102000" y="5190136"/>
            <a:ext cx="5987999" cy="147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56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0328-43BD-424C-6A2A-F24DA77FB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7E957F-2850-692E-B50C-9616DF7B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Additional Indicators &amp; Classification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5888A3-3FC6-74DD-A7E3-FA0D096B0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97E48-F18F-DFFC-2CB0-CDB143CE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0236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9236-9DAF-CFED-E39C-8BACD6AF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FE2FD-8BB7-2B1B-EA80-AACE4E9E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3F79-11C4-AAB1-F65B-02B5A3AC7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 fontScale="85000" lnSpcReduction="20000"/>
          </a:bodyPr>
          <a:lstStyle/>
          <a:p>
            <a:r>
              <a:rPr lang="en-IL" sz="3600" dirty="0"/>
              <a:t>Machine-learning models classify authors using feature vectors. Multiple indicators capture different aspects of author behaviour and may improve classification.</a:t>
            </a:r>
            <a:endParaRPr lang="en-US" sz="3600" dirty="0"/>
          </a:p>
          <a:p>
            <a:r>
              <a:rPr lang="en-IL" sz="3600" dirty="0"/>
              <a:t>Graph-Based Indicators</a:t>
            </a:r>
            <a:endParaRPr lang="en-US" sz="3600" dirty="0"/>
          </a:p>
          <a:p>
            <a:pPr lvl="1"/>
            <a:r>
              <a:rPr lang="en-US" sz="3200" b="1" dirty="0"/>
              <a:t> </a:t>
            </a:r>
            <a:r>
              <a:rPr lang="en-IL" sz="3200" b="1" dirty="0"/>
              <a:t>Quantitative:</a:t>
            </a:r>
            <a:r>
              <a:rPr lang="en-IL" sz="3200" dirty="0"/>
              <a:t> Core number, centralities, and PageRank measure an author’s structural importance.</a:t>
            </a:r>
            <a:endParaRPr lang="en-US" sz="3200" dirty="0"/>
          </a:p>
          <a:p>
            <a:pPr lvl="1"/>
            <a:r>
              <a:rPr lang="en-US" sz="3200" dirty="0"/>
              <a:t> </a:t>
            </a:r>
            <a:r>
              <a:rPr lang="en-IL" sz="3200" b="1" dirty="0"/>
              <a:t>Categorical:</a:t>
            </a:r>
            <a:r>
              <a:rPr lang="en-IL" sz="3200" dirty="0"/>
              <a:t> Community membership shows which </a:t>
            </a:r>
            <a:r>
              <a:rPr lang="en-GB" sz="3200" dirty="0"/>
              <a:t>neighbourhood</a:t>
            </a:r>
            <a:r>
              <a:rPr lang="en-IL" sz="3200" dirty="0"/>
              <a:t> the author belongs to.</a:t>
            </a:r>
            <a:endParaRPr lang="en-US" sz="3600" dirty="0"/>
          </a:p>
          <a:p>
            <a:r>
              <a:rPr lang="en-IL" sz="3600" dirty="0"/>
              <a:t>Topic-Based Indicators</a:t>
            </a:r>
            <a:endParaRPr lang="en-US" sz="3600" dirty="0"/>
          </a:p>
          <a:p>
            <a:pPr lvl="1"/>
            <a:r>
              <a:rPr lang="en-IL" sz="3200" b="1" dirty="0"/>
              <a:t>TF</a:t>
            </a:r>
            <a:r>
              <a:rPr lang="en-US" sz="3200" b="1" dirty="0"/>
              <a:t>-</a:t>
            </a:r>
            <a:r>
              <a:rPr lang="en-IL" sz="3200" b="1" dirty="0"/>
              <a:t>IDF</a:t>
            </a:r>
            <a:r>
              <a:rPr lang="en-US" sz="3200" b="1" dirty="0"/>
              <a:t> </a:t>
            </a:r>
            <a:r>
              <a:rPr lang="en-IL" sz="3200" b="1" dirty="0"/>
              <a:t>based:</a:t>
            </a:r>
            <a:r>
              <a:rPr lang="en-IL" sz="3200" dirty="0"/>
              <a:t> Key score measures how strongly the author uses important entities.</a:t>
            </a:r>
            <a:r>
              <a:rPr lang="en-US" sz="3200" dirty="0"/>
              <a:t> (TF IDF is explained in the next slide)</a:t>
            </a:r>
          </a:p>
          <a:p>
            <a:pPr lvl="1"/>
            <a:r>
              <a:rPr lang="en-US" sz="3200" b="1" dirty="0"/>
              <a:t>Posting-based</a:t>
            </a:r>
            <a:r>
              <a:rPr lang="en-IL" sz="3200" b="1" dirty="0"/>
              <a:t>:</a:t>
            </a:r>
            <a:r>
              <a:rPr lang="en-IL" sz="3200" dirty="0"/>
              <a:t> Posting </a:t>
            </a:r>
            <a:r>
              <a:rPr lang="en-US" sz="3200" dirty="0"/>
              <a:t>activity and distribution across topics </a:t>
            </a:r>
            <a:r>
              <a:rPr lang="en-IL" sz="3200" dirty="0"/>
              <a:t>describe </a:t>
            </a:r>
            <a:r>
              <a:rPr lang="en-US" sz="3200" dirty="0"/>
              <a:t>how and what the </a:t>
            </a:r>
            <a:r>
              <a:rPr lang="en-IL" sz="3200" dirty="0"/>
              <a:t>author posts about</a:t>
            </a:r>
            <a:r>
              <a:rPr lang="en-US" sz="3200" dirty="0"/>
              <a:t>.</a:t>
            </a:r>
            <a:r>
              <a:rPr lang="en-IL" sz="3200" dirty="0"/>
              <a:t> </a:t>
            </a:r>
            <a:endParaRPr lang="en-US" sz="3200" dirty="0"/>
          </a:p>
          <a:p>
            <a:pPr lvl="1"/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9002B-61DB-0216-0D24-82C208EA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5320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816CA-406E-74CB-BB06-EE819AE5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7528-2F98-9722-38C1-C3B33915B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TF-IDF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52F60-EE45-B299-225B-9E0C25DC3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 fontScale="92500" lnSpcReduction="20000"/>
          </a:bodyPr>
          <a:lstStyle/>
          <a:p>
            <a:r>
              <a:rPr lang="en-IL" sz="2800" dirty="0"/>
              <a:t>TF-IDF is a statistical method used in natural language processing and information retrieval to evaluate how important a word is to a document</a:t>
            </a:r>
            <a:r>
              <a:rPr lang="en-US" sz="2800" dirty="0"/>
              <a:t> (in our project – topic) </a:t>
            </a:r>
            <a:r>
              <a:rPr lang="en-IL" sz="2800" dirty="0"/>
              <a:t>in relation to a larger collection of documents</a:t>
            </a:r>
            <a:r>
              <a:rPr lang="en-US" sz="2800" dirty="0"/>
              <a:t> (topics)</a:t>
            </a:r>
            <a:r>
              <a:rPr lang="en-IL" sz="2800" dirty="0"/>
              <a:t>.</a:t>
            </a:r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IL" sz="2800" dirty="0"/>
              <a:t>This allows TF-IDF to highlight terms that are both frequent within a specific document </a:t>
            </a:r>
            <a:r>
              <a:rPr lang="en-US" sz="2800" dirty="0"/>
              <a:t>(topic) </a:t>
            </a:r>
            <a:r>
              <a:rPr lang="en-IL" sz="2800" dirty="0"/>
              <a:t>and distinctive across the </a:t>
            </a:r>
            <a:r>
              <a:rPr lang="en-US" sz="2800" dirty="0"/>
              <a:t>other</a:t>
            </a:r>
            <a:r>
              <a:rPr lang="en-IL" sz="2800" dirty="0"/>
              <a:t> document</a:t>
            </a:r>
            <a:r>
              <a:rPr lang="en-US" sz="2800" dirty="0"/>
              <a:t>s (topics)</a:t>
            </a:r>
            <a:r>
              <a:rPr lang="en-IL" sz="2800" dirty="0"/>
              <a:t>, making it a useful tool for tasks like search</a:t>
            </a:r>
            <a:r>
              <a:rPr lang="en-US" sz="2800" dirty="0"/>
              <a:t>, </a:t>
            </a:r>
            <a:r>
              <a:rPr lang="en-IL" sz="2800" dirty="0"/>
              <a:t>ranking, text classification</a:t>
            </a:r>
            <a:r>
              <a:rPr lang="en-US" sz="2800" dirty="0"/>
              <a:t>,</a:t>
            </a:r>
            <a:r>
              <a:rPr lang="en-IL" sz="2800" dirty="0"/>
              <a:t> and keyword extraction.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49EF1-0570-C526-9EDB-3DBE27FF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14</a:t>
            </a:fld>
            <a:endParaRPr lang="he-IL"/>
          </a:p>
        </p:txBody>
      </p:sp>
      <p:pic>
        <p:nvPicPr>
          <p:cNvPr id="9" name="Picture 8" descr="The-TF-Formula">
            <a:extLst>
              <a:ext uri="{FF2B5EF4-FFF2-40B4-BE49-F238E27FC236}">
                <a16:creationId xmlns:a16="http://schemas.microsoft.com/office/drawing/2014/main" id="{6E111869-CE5C-B8AF-0D79-5988FD57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93" y="3084575"/>
            <a:ext cx="5808578" cy="929372"/>
          </a:xfrm>
          <a:prstGeom prst="rect">
            <a:avLst/>
          </a:prstGeom>
        </p:spPr>
      </p:pic>
      <p:pic>
        <p:nvPicPr>
          <p:cNvPr id="10" name="Picture 9" descr="IDF-Formula">
            <a:extLst>
              <a:ext uri="{FF2B5EF4-FFF2-40B4-BE49-F238E27FC236}">
                <a16:creationId xmlns:a16="http://schemas.microsoft.com/office/drawing/2014/main" id="{D2FDC9BE-E673-7F61-4E97-E22CBBE59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688" y="3084575"/>
            <a:ext cx="5808578" cy="929372"/>
          </a:xfrm>
          <a:prstGeom prst="rect">
            <a:avLst/>
          </a:prstGeom>
        </p:spPr>
      </p:pic>
      <p:pic>
        <p:nvPicPr>
          <p:cNvPr id="11" name="Picture 10" descr="idf_formula">
            <a:extLst>
              <a:ext uri="{FF2B5EF4-FFF2-40B4-BE49-F238E27FC236}">
                <a16:creationId xmlns:a16="http://schemas.microsoft.com/office/drawing/2014/main" id="{116224C0-0D3D-94C8-EBC4-27D6D8892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594" y="4318287"/>
            <a:ext cx="5569130" cy="8910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7337A6-E7A6-9D36-6F95-2F6CB7153127}"/>
              </a:ext>
            </a:extLst>
          </p:cNvPr>
          <p:cNvSpPr txBox="1"/>
          <p:nvPr/>
        </p:nvSpPr>
        <p:spPr>
          <a:xfrm>
            <a:off x="1329674" y="6598942"/>
            <a:ext cx="62629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900" dirty="0"/>
              <a:t>https://www.geeksforgeeks.org/machine-learning/understanding-tf-idf-term-frequency-inverse-document-frequency/</a:t>
            </a:r>
          </a:p>
        </p:txBody>
      </p:sp>
    </p:spTree>
    <p:extLst>
      <p:ext uri="{BB962C8B-B14F-4D97-AF65-F5344CB8AC3E}">
        <p14:creationId xmlns:p14="http://schemas.microsoft.com/office/powerpoint/2010/main" val="4044873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B815-DA17-3CBD-4DA5-D200F39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2981-4578-9DFA-9B78-6D536D89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Indicators &amp; Classification</a:t>
            </a:r>
            <a:endParaRPr lang="en-IL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6A4B38D-F573-2F95-62F3-8BE9BF72A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186858"/>
              </p:ext>
            </p:extLst>
          </p:nvPr>
        </p:nvGraphicFramePr>
        <p:xfrm>
          <a:off x="1243087" y="1575486"/>
          <a:ext cx="7072620" cy="5130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605A-34FF-F4E0-D05D-D1E5A628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15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7E417-6A10-8FF5-D4F4-A584AA7918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740" y="2295759"/>
            <a:ext cx="3639113" cy="36003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F1AD01-0DDD-F198-381B-E9E6678A1994}"/>
              </a:ext>
            </a:extLst>
          </p:cNvPr>
          <p:cNvSpPr txBox="1"/>
          <p:nvPr/>
        </p:nvSpPr>
        <p:spPr>
          <a:xfrm>
            <a:off x="8420740" y="1952370"/>
            <a:ext cx="363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Author</a:t>
            </a:r>
            <a:r>
              <a:rPr lang="en-US" dirty="0"/>
              <a:t> </a:t>
            </a:r>
            <a:r>
              <a:rPr lang="en-GB" dirty="0">
                <a:solidFill>
                  <a:prstClr val="black"/>
                </a:solidFill>
              </a:rPr>
              <a:t>feature vector (example)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06619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039E-B86D-D32C-4EF0-FA604B11E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D6560F-A6DA-C278-D8DD-8FC51751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Experiments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975D23-C7EF-CD33-D494-5CC3F0365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402CA-E680-684E-0F51-51C82A1E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1430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771B-41D5-552B-1540-3E0FBF7D4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B7CF-779B-1B9F-5240-902310B1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FA6AF-6A87-4F60-6C3F-FDCBD9A09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618" y="2240295"/>
            <a:ext cx="5212080" cy="4769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sz="3200" b="1" u="sng" dirty="0"/>
              <a:t>Labeled IO Corpus</a:t>
            </a:r>
          </a:p>
          <a:p>
            <a:r>
              <a:rPr lang="en-IL" sz="2000" dirty="0"/>
              <a:t>Collection of 26 information operations (IO).</a:t>
            </a:r>
          </a:p>
          <a:p>
            <a:r>
              <a:rPr lang="en-IL" sz="2000" dirty="0"/>
              <a:t>Campaigns from multiple countries.</a:t>
            </a:r>
          </a:p>
          <a:p>
            <a:r>
              <a:rPr lang="en-IL" sz="2000" dirty="0"/>
              <a:t>Fully labeled (IO vs. Control accounts).</a:t>
            </a:r>
          </a:p>
          <a:p>
            <a:r>
              <a:rPr lang="en-IL" sz="2000" dirty="0"/>
              <a:t>Over 13M control posts from 303K accounts.</a:t>
            </a:r>
          </a:p>
          <a:p>
            <a:pPr marL="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zenodo.org/records/14189193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A2CA-B76F-0291-5272-E2DE4859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17</a:t>
            </a:fld>
            <a:endParaRPr lang="he-IL"/>
          </a:p>
        </p:txBody>
      </p:sp>
      <p:sp>
        <p:nvSpPr>
          <p:cNvPr id="50" name="GlancePanel"/>
          <p:cNvSpPr/>
          <p:nvPr/>
        </p:nvSpPr>
        <p:spPr>
          <a:xfrm>
            <a:off x="6827201" y="2466750"/>
            <a:ext cx="4572000" cy="2158409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lIns="182880" tIns="137160" rIns="182880" bIns="137160">
            <a:normAutofit/>
          </a:bodyPr>
          <a:lstStyle/>
          <a:p>
            <a:pPr marL="0" indent="0">
              <a:buNone/>
            </a:pPr>
            <a:r>
              <a:rPr lang="en-IL" b="1" dirty="0"/>
              <a:t>Ecuador Campaign Dataset</a:t>
            </a:r>
          </a:p>
          <a:p>
            <a:pPr marL="0" indent="0">
              <a:buNone/>
            </a:pPr>
            <a:r>
              <a:rPr lang="en-IL" sz="1600" b="1" dirty="0"/>
              <a:t>787 IO accounts | 21,138 control accounts</a:t>
            </a:r>
          </a:p>
          <a:p>
            <a:pPr marL="0" indent="0">
              <a:buNone/>
            </a:pPr>
            <a:r>
              <a:rPr lang="en-IL" sz="1600" b="1" dirty="0"/>
              <a:t>700K IO tweets | 770K control tweets</a:t>
            </a:r>
          </a:p>
          <a:p>
            <a:pPr marL="0" indent="0">
              <a:buNone/>
            </a:pPr>
            <a:r>
              <a:rPr lang="en-IL" sz="1600" dirty="0"/>
              <a:t>Posts are used to build the co-action graph</a:t>
            </a:r>
          </a:p>
          <a:p>
            <a:pPr marL="0" indent="0">
              <a:buNone/>
            </a:pPr>
            <a:r>
              <a:rPr lang="en-IL" sz="1600" dirty="0"/>
              <a:t>Platform labels serve as ground truth</a:t>
            </a:r>
          </a:p>
          <a:p>
            <a:pPr marL="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Seckin et al., 2024</a:t>
            </a:r>
          </a:p>
        </p:txBody>
      </p:sp>
    </p:spTree>
    <p:extLst>
      <p:ext uri="{BB962C8B-B14F-4D97-AF65-F5344CB8AC3E}">
        <p14:creationId xmlns:p14="http://schemas.microsoft.com/office/powerpoint/2010/main" val="3299157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FB06-31E1-F12E-61E2-AD9CFD94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ACD9694-1A43-6A99-9FB5-92F2E3269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704" y="1815145"/>
            <a:ext cx="5256000" cy="2467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4E6B33-86DC-CDB5-7F76-2E51DD368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73" y="1825369"/>
            <a:ext cx="5256000" cy="24672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BDCE7F-99C3-9474-F9E6-66CB34E1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L" dirty="0"/>
              <a:t>Core Number -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23E22-B25F-6C61-B14B-75EEE667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18</a:t>
            </a:fld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85B4F-AF7F-749F-77C1-315E6E06566E}"/>
              </a:ext>
            </a:extLst>
          </p:cNvPr>
          <p:cNvSpPr txBox="1"/>
          <p:nvPr/>
        </p:nvSpPr>
        <p:spPr>
          <a:xfrm>
            <a:off x="5561094" y="1445812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3E0586-5C53-F6ED-1E5A-96C49F4642C9}"/>
              </a:ext>
            </a:extLst>
          </p:cNvPr>
          <p:cNvSpPr txBox="1"/>
          <p:nvPr/>
        </p:nvSpPr>
        <p:spPr>
          <a:xfrm>
            <a:off x="1440246" y="6223634"/>
            <a:ext cx="6923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Cumulative distribution: proportion of IO drivers by Core Number threshold (≤ / ≥)</a:t>
            </a:r>
            <a:endParaRPr lang="en-IL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11E23B-48FE-FA59-F422-3CF8C6306D46}"/>
              </a:ext>
            </a:extLst>
          </p:cNvPr>
          <p:cNvSpPr txBox="1"/>
          <p:nvPr/>
        </p:nvSpPr>
        <p:spPr>
          <a:xfrm>
            <a:off x="1094873" y="4331737"/>
            <a:ext cx="5256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sz="1600" dirty="0"/>
              <a:t>The graph presents the cumulative number of authors with a core number less than or equal to each x-axis </a:t>
            </a:r>
            <a:r>
              <a:rPr lang="en-GB" sz="1600" dirty="0"/>
              <a:t>threshold</a:t>
            </a:r>
            <a:r>
              <a:rPr lang="en-IL" sz="1600" dirty="0"/>
              <a:t>. </a:t>
            </a:r>
            <a:endParaRPr lang="en-GB" sz="1600" dirty="0"/>
          </a:p>
          <a:p>
            <a:pPr algn="ctr"/>
            <a:r>
              <a:rPr lang="en-IL" sz="1600" dirty="0"/>
              <a:t>Few IO drivers have low core numbers, followed by a sharp increase at high core </a:t>
            </a:r>
            <a:r>
              <a:rPr lang="en-GB" sz="1600" dirty="0"/>
              <a:t>values</a:t>
            </a:r>
            <a:r>
              <a:rPr lang="en-IL" sz="16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78D006-F4DF-CB3B-C86D-A93B2A073751}"/>
              </a:ext>
            </a:extLst>
          </p:cNvPr>
          <p:cNvSpPr txBox="1"/>
          <p:nvPr/>
        </p:nvSpPr>
        <p:spPr>
          <a:xfrm>
            <a:off x="6473237" y="4331737"/>
            <a:ext cx="52554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sz="1600" dirty="0"/>
              <a:t>The graph presents the IO rate among authors with a core number less than or equal to each x-axis </a:t>
            </a:r>
            <a:r>
              <a:rPr lang="en-GB" sz="1600" dirty="0"/>
              <a:t>threshold</a:t>
            </a:r>
            <a:r>
              <a:rPr lang="en-IL" sz="1600" dirty="0"/>
              <a:t>.</a:t>
            </a:r>
            <a:br>
              <a:rPr lang="en-IL" sz="1600" dirty="0"/>
            </a:br>
            <a:r>
              <a:rPr lang="en-IL" sz="1600" dirty="0"/>
              <a:t>The IO rate remains low at lower core-number</a:t>
            </a:r>
            <a:r>
              <a:rPr lang="en-GB" sz="1600" dirty="0"/>
              <a:t> values</a:t>
            </a:r>
            <a:r>
              <a:rPr lang="en-IL" sz="1600" dirty="0"/>
              <a:t>, followed by a sharp increase at higher core-number </a:t>
            </a:r>
            <a:r>
              <a:rPr lang="en-GB" sz="1600" dirty="0"/>
              <a:t>values</a:t>
            </a:r>
            <a:r>
              <a:rPr lang="en-IL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6546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5FCF6-A691-9031-135C-652F12FF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1744E-FAB8-177C-E5B5-12FD7B2D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K-Core Plots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91EB2-035D-EE32-26FB-2FFD24A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19</a:t>
            </a:fld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A0211-6246-3D85-9CCC-26DB44581B7A}"/>
              </a:ext>
            </a:extLst>
          </p:cNvPr>
          <p:cNvSpPr txBox="1"/>
          <p:nvPr/>
        </p:nvSpPr>
        <p:spPr>
          <a:xfrm>
            <a:off x="5561094" y="1445812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BF5AC-A0AE-F52F-A0D9-EDDBE37C0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7"/>
          <a:stretch>
            <a:fillRect/>
          </a:stretch>
        </p:blipFill>
        <p:spPr>
          <a:xfrm>
            <a:off x="1330959" y="2072642"/>
            <a:ext cx="10494783" cy="387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648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F4426-938D-DED9-F61F-1488E4F3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4EFC-3943-4271-DC87-8F6DA525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K-Core Example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F4872-7C96-34B8-BFB5-C94EB1871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5710657" cy="4749032"/>
          </a:xfrm>
        </p:spPr>
        <p:txBody>
          <a:bodyPr>
            <a:noAutofit/>
          </a:bodyPr>
          <a:lstStyle/>
          <a:p>
            <a:r>
              <a:rPr lang="en-IL" sz="3200" dirty="0"/>
              <a:t>One of the authors with the highest core number was selected</a:t>
            </a:r>
            <a:r>
              <a:rPr lang="en-GB" sz="3200" dirty="0"/>
              <a:t>:</a:t>
            </a:r>
          </a:p>
          <a:p>
            <a:pPr lvl="1"/>
            <a:r>
              <a:rPr lang="en-IL" sz="2000" dirty="0"/>
              <a:t>Account ID:</a:t>
            </a:r>
            <a:r>
              <a:rPr lang="en-GB" sz="2000" dirty="0"/>
              <a:t> </a:t>
            </a:r>
            <a:r>
              <a:rPr lang="en-IL" dirty="0"/>
              <a:t>0eff4</a:t>
            </a:r>
            <a:r>
              <a:rPr lang="en-US" dirty="0"/>
              <a:t>…</a:t>
            </a:r>
            <a:r>
              <a:rPr lang="en-IL" dirty="0"/>
              <a:t>224d9</a:t>
            </a:r>
            <a:endParaRPr lang="en-GB" sz="2000" dirty="0"/>
          </a:p>
          <a:p>
            <a:pPr lvl="1"/>
            <a:r>
              <a:rPr lang="en-IL" sz="2000" dirty="0"/>
              <a:t>Core number: </a:t>
            </a:r>
            <a:r>
              <a:rPr lang="en-IL" dirty="0"/>
              <a:t>277</a:t>
            </a:r>
            <a:r>
              <a:rPr lang="en-IL" sz="2000" dirty="0"/>
              <a:t> </a:t>
            </a:r>
            <a:endParaRPr lang="en-GB" sz="2000" dirty="0"/>
          </a:p>
          <a:p>
            <a:r>
              <a:rPr lang="en-IL" sz="3200" dirty="0"/>
              <a:t>The corresponding </a:t>
            </a:r>
            <a:r>
              <a:rPr lang="en-IL" sz="3200" b="1" dirty="0"/>
              <a:t>k-core</a:t>
            </a:r>
            <a:r>
              <a:rPr lang="en-IL" sz="3200" dirty="0"/>
              <a:t> was extracted. </a:t>
            </a:r>
            <a:endParaRPr lang="en-GB" sz="3200" dirty="0"/>
          </a:p>
          <a:p>
            <a:r>
              <a:rPr lang="en-IL" sz="3200" dirty="0"/>
              <a:t>The k-core contains </a:t>
            </a:r>
            <a:r>
              <a:rPr lang="en-US" sz="3200" b="1" dirty="0"/>
              <a:t>278</a:t>
            </a:r>
            <a:r>
              <a:rPr lang="en-IL" sz="3200" b="1" dirty="0"/>
              <a:t> nodes</a:t>
            </a:r>
            <a:r>
              <a:rPr lang="en-IL" sz="32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72417-CA92-53AF-A865-04034A0FF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20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089E37-888C-CCE8-4E63-51EF5E46C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0" b="5870"/>
          <a:stretch>
            <a:fillRect/>
          </a:stretch>
        </p:blipFill>
        <p:spPr>
          <a:xfrm>
            <a:off x="6663559" y="936553"/>
            <a:ext cx="5528440" cy="533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27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A039-0651-8C77-2644-E4FB338A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98362-D3B9-BE4B-769D-EDA684E3B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dirty="0"/>
              <a:t>K-Core</a:t>
            </a:r>
            <a:r>
              <a:rPr lang="en-IL" dirty="0"/>
              <a:t> Accounts</a:t>
            </a:r>
            <a:r>
              <a:rPr lang="en-US" dirty="0"/>
              <a:t> - Hashtags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8616B-9A56-9CC4-0C08-93240D35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21</a:t>
            </a:fld>
            <a:endParaRPr lang="he-IL"/>
          </a:p>
        </p:txBody>
      </p:sp>
      <p:sp>
        <p:nvSpPr>
          <p:cNvPr id="40" name="Lead">
            <a:extLst>
              <a:ext uri="{FF2B5EF4-FFF2-40B4-BE49-F238E27FC236}">
                <a16:creationId xmlns:a16="http://schemas.microsoft.com/office/drawing/2014/main" id="{088205F7-B14B-8E75-C6D2-C17E7E0B5262}"/>
              </a:ext>
            </a:extLst>
          </p:cNvPr>
          <p:cNvSpPr/>
          <p:nvPr/>
        </p:nvSpPr>
        <p:spPr>
          <a:xfrm>
            <a:off x="1877713" y="1371600"/>
            <a:ext cx="9966960" cy="320040"/>
          </a:xfrm>
          <a:prstGeom prst="rect">
            <a:avLst/>
          </a:prstGeom>
          <a:noFill/>
        </p:spPr>
        <p:txBody>
          <a:bodyPr lIns="0" tIns="0"/>
          <a:lstStyle/>
          <a:p>
            <a:endParaRPr lang="en-IL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72E50E-0BB5-81D8-3040-1CB7AD9A48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91"/>
          <a:stretch>
            <a:fillRect/>
          </a:stretch>
        </p:blipFill>
        <p:spPr>
          <a:xfrm>
            <a:off x="1458662" y="1604010"/>
            <a:ext cx="9274675" cy="467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46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9E5C-9782-FC46-238E-D5BDB1CE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F2D9-183C-738A-B832-FBDFDBA9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LLM Analysis of the K-Core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65EEF-F77A-5814-DDF4-889B2C072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10381269" cy="47490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L" sz="2800" dirty="0"/>
              <a:t>An LLM</a:t>
            </a:r>
            <a:r>
              <a:rPr lang="en-GB" sz="2800" dirty="0"/>
              <a:t> (</a:t>
            </a:r>
            <a:r>
              <a:rPr lang="en-IL" sz="2800" dirty="0"/>
              <a:t>OpenAI ChatGPT web interface</a:t>
            </a:r>
            <a:r>
              <a:rPr lang="en-GB" sz="2800" dirty="0"/>
              <a:t>)</a:t>
            </a:r>
            <a:r>
              <a:rPr lang="en-IL" sz="2800" dirty="0"/>
              <a:t> was provided with the </a:t>
            </a:r>
            <a:r>
              <a:rPr lang="en-US" sz="2800" dirty="0" err="1"/>
              <a:t>hatags</a:t>
            </a:r>
            <a:r>
              <a:rPr lang="en-US" sz="2800" dirty="0"/>
              <a:t> frequencies.</a:t>
            </a:r>
          </a:p>
          <a:p>
            <a:pPr marL="0" indent="0">
              <a:buNone/>
            </a:pPr>
            <a:r>
              <a:rPr lang="en-IL" sz="2800" dirty="0"/>
              <a:t>The </a:t>
            </a:r>
            <a:r>
              <a:rPr lang="en-GB" sz="2800" dirty="0"/>
              <a:t>model</a:t>
            </a:r>
            <a:r>
              <a:rPr lang="en-IL" sz="2800" dirty="0"/>
              <a:t> identified the following patterns: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IL" sz="2800" dirty="0"/>
              <a:t>The group appears to focus on shaping narratives around Ecuadorian local governance and public services, particularly municipal leadership, infrastructure projects, and transportation-related issues.</a:t>
            </a:r>
            <a:endParaRPr lang="en-US" sz="2800" dirty="0"/>
          </a:p>
          <a:p>
            <a:pPr marL="0" indent="0">
              <a:buNone/>
            </a:pP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E617F-1904-ED1D-B086-1ABDA6EF7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15090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225D8-EDFA-0591-872A-E0075FF0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ED4E-07D6-5029-1267-13E254619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Information Gain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F5E0B-95E2-EC2F-17CF-478A39DF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23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694049-9AAF-FF1E-EB69-93619E1D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21" y="1727200"/>
            <a:ext cx="8753475" cy="4275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E7DED-7C45-6E37-6290-93FB4487F981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Information Gain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 a statistical method </a:t>
            </a:r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used to measure how much knowledge one variable provides about another.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3CE284-809A-A65C-BDD2-3AC44719FA4E}"/>
              </a:ext>
            </a:extLst>
          </p:cNvPr>
          <p:cNvSpPr/>
          <p:nvPr/>
        </p:nvSpPr>
        <p:spPr>
          <a:xfrm rot="8053005">
            <a:off x="2398790" y="4289898"/>
            <a:ext cx="1550640" cy="3210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CB437-4137-2CDD-001F-7C3EEC1128F7}"/>
              </a:ext>
            </a:extLst>
          </p:cNvPr>
          <p:cNvSpPr txBox="1"/>
          <p:nvPr/>
        </p:nvSpPr>
        <p:spPr>
          <a:xfrm>
            <a:off x="9510668" y="1727200"/>
            <a:ext cx="268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Ecuador Campaign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585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6A4D-7568-BAE4-62D1-881293F2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C420-F8E3-F707-0927-1E9D7AEC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SHAP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2290A-7BF2-C0BD-9A9F-A26B3BAE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24</a:t>
            </a:fld>
            <a:endParaRPr lang="he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2B9DBD-9D06-F91D-D64B-D21C4568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179" y="2340414"/>
            <a:ext cx="5911564" cy="34295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DDFF08-7A2E-6395-8B4C-1B8FB2507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70" y="2368126"/>
            <a:ext cx="5162180" cy="34018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97C5E1-5F57-35AD-F9CE-6328C30BB91A}"/>
              </a:ext>
            </a:extLst>
          </p:cNvPr>
          <p:cNvSpPr txBox="1"/>
          <p:nvPr/>
        </p:nvSpPr>
        <p:spPr>
          <a:xfrm>
            <a:off x="0" y="1729419"/>
            <a:ext cx="1218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SHAP analysis on </a:t>
            </a:r>
            <a:r>
              <a:rPr lang="en-US" dirty="0" err="1"/>
              <a:t>XGBoost</a:t>
            </a:r>
            <a:r>
              <a:rPr lang="en-US" dirty="0"/>
              <a:t> model on Ecuador Campaign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5D321-D39B-4DBC-6CB1-32D4550FBD1C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SHAP explains how much each feature contributes to a model’s prediction.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39BF7-A475-CC65-7EE7-9930284821BC}"/>
              </a:ext>
            </a:extLst>
          </p:cNvPr>
          <p:cNvSpPr/>
          <p:nvPr/>
        </p:nvSpPr>
        <p:spPr>
          <a:xfrm>
            <a:off x="945292" y="2829161"/>
            <a:ext cx="844358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361CCB-ED27-8FB9-F58E-5F2C97748B71}"/>
              </a:ext>
            </a:extLst>
          </p:cNvPr>
          <p:cNvSpPr/>
          <p:nvPr/>
        </p:nvSpPr>
        <p:spPr>
          <a:xfrm>
            <a:off x="6484869" y="2848617"/>
            <a:ext cx="1079771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1428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F9F7-41B1-94DB-DF22-F55ACB08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2BBF9-0E3C-681A-3988-D94249FD1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Indicators vs. Core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04AFD-E726-8FE1-E44A-02D120D0E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600" dirty="0"/>
              <a:t>Core number alone achieves </a:t>
            </a:r>
            <a:r>
              <a:rPr lang="en-US" sz="3600" dirty="0"/>
              <a:t>high</a:t>
            </a:r>
            <a:r>
              <a:rPr lang="en-IL" sz="3600" dirty="0"/>
              <a:t> AUC </a:t>
            </a:r>
            <a:r>
              <a:rPr lang="en-US" sz="3600" dirty="0"/>
              <a:t>and </a:t>
            </a:r>
            <a:r>
              <a:rPr lang="en-IL" sz="3600" dirty="0"/>
              <a:t>F1.</a:t>
            </a:r>
            <a:endParaRPr lang="en-US" sz="3600" dirty="0"/>
          </a:p>
          <a:p>
            <a:r>
              <a:rPr lang="en-IL" sz="3600" dirty="0"/>
              <a:t>Other indicators add little improvement.</a:t>
            </a:r>
            <a:endParaRPr lang="en-US" sz="3600" dirty="0"/>
          </a:p>
          <a:p>
            <a:r>
              <a:rPr lang="en-IL" sz="3600" dirty="0"/>
              <a:t>Core number captures most of the IO detection signal.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7B375-87F2-AAA2-0C4B-54AE2279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25</a:t>
            </a:fld>
            <a:endParaRPr lang="he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8BF298-48E5-891C-4401-BCFF53042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268" y="3704712"/>
            <a:ext cx="4459733" cy="26394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A0C29-7F98-2C0E-EE97-275D417FA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04711"/>
            <a:ext cx="4459733" cy="26394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1DF53D-BE27-EA0D-B62E-B1D692635A63}"/>
              </a:ext>
            </a:extLst>
          </p:cNvPr>
          <p:cNvSpPr txBox="1"/>
          <p:nvPr/>
        </p:nvSpPr>
        <p:spPr>
          <a:xfrm>
            <a:off x="4840489" y="6250457"/>
            <a:ext cx="268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Ecuador Campaign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242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7EBB-9ADD-4D81-20D6-6746201B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3CD8-080B-AA20-3306-2F83ED29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CE5C-A0DA-F3F6-800F-09B5FA1E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2600" dirty="0"/>
              <a:t>IO influence relies on fleets of coordinated accounts.</a:t>
            </a:r>
          </a:p>
          <a:p>
            <a:r>
              <a:rPr lang="en-IL" sz="2600" dirty="0"/>
              <a:t>The co-action graph exposes this coordination, and the core number quantifies it.</a:t>
            </a:r>
          </a:p>
          <a:p>
            <a:r>
              <a:rPr lang="en-IL" sz="2600" dirty="0"/>
              <a:t>Core number alone separates IO drivers from legitimate users (high AUC &amp; F1).</a:t>
            </a:r>
          </a:p>
          <a:p>
            <a:r>
              <a:rPr lang="en-IL" sz="2600" b="1" dirty="0"/>
              <a:t>Investigating the k-core reveals the campaign’s agenda, making detection both accurate and interpretable.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24614-B785-3AAF-F357-019EEE24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71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16513</TotalTime>
  <Words>1377</Words>
  <Application>Microsoft Office PowerPoint</Application>
  <PresentationFormat>Widescreen</PresentationFormat>
  <Paragraphs>172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I Can See U. Indicator-Based Information Operation Detection and Topic-Aware Analysis</vt:lpstr>
      <vt:lpstr>Motivation</vt:lpstr>
      <vt:lpstr>IO &amp; Coordination</vt:lpstr>
      <vt:lpstr>Related Work</vt:lpstr>
      <vt:lpstr>Our Contributions</vt:lpstr>
      <vt:lpstr>Methods - Co-Action Graph</vt:lpstr>
      <vt:lpstr>Core-Number</vt:lpstr>
      <vt:lpstr>Core Number: Motivation</vt:lpstr>
      <vt:lpstr>Core Number: Example</vt:lpstr>
      <vt:lpstr>Core Number: Definition</vt:lpstr>
      <vt:lpstr>K-Core</vt:lpstr>
      <vt:lpstr>Additional Indicators &amp; Classification</vt:lpstr>
      <vt:lpstr>Motivation</vt:lpstr>
      <vt:lpstr>TF-IDF</vt:lpstr>
      <vt:lpstr>Additional Indicators &amp; Classification</vt:lpstr>
      <vt:lpstr>Experiments</vt:lpstr>
      <vt:lpstr>Datasets</vt:lpstr>
      <vt:lpstr>Core Number - Results</vt:lpstr>
      <vt:lpstr>K-Core Plots</vt:lpstr>
      <vt:lpstr>K-Core Example</vt:lpstr>
      <vt:lpstr>K-Core Accounts - Hashtags</vt:lpstr>
      <vt:lpstr>LLM Analysis of the K-Core</vt:lpstr>
      <vt:lpstr>Information Gain</vt:lpstr>
      <vt:lpstr>SHAP Analysis</vt:lpstr>
      <vt:lpstr>Indicators vs. Core Number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576</cp:revision>
  <dcterms:created xsi:type="dcterms:W3CDTF">2021-05-04T15:24:24Z</dcterms:created>
  <dcterms:modified xsi:type="dcterms:W3CDTF">2026-08-17T10:13:10Z</dcterms:modified>
</cp:coreProperties>
</file>