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1574" r:id="rId2"/>
    <p:sldId id="1762" r:id="rId3"/>
    <p:sldId id="1763" r:id="rId4"/>
    <p:sldId id="1764" r:id="rId5"/>
    <p:sldId id="1780" r:id="rId6"/>
    <p:sldId id="1792" r:id="rId7"/>
    <p:sldId id="1793" r:id="rId8"/>
    <p:sldId id="1591" r:id="rId9"/>
    <p:sldId id="1795" r:id="rId10"/>
    <p:sldId id="1797" r:id="rId11"/>
    <p:sldId id="1794" r:id="rId12"/>
    <p:sldId id="1796" r:id="rId13"/>
    <p:sldId id="1740" r:id="rId14"/>
    <p:sldId id="1738" r:id="rId15"/>
    <p:sldId id="1749" r:id="rId16"/>
    <p:sldId id="1798" r:id="rId17"/>
    <p:sldId id="1799" r:id="rId18"/>
    <p:sldId id="1785" r:id="rId19"/>
    <p:sldId id="1768" r:id="rId20"/>
    <p:sldId id="1800" r:id="rId21"/>
    <p:sldId id="1802" r:id="rId22"/>
    <p:sldId id="1807" r:id="rId23"/>
    <p:sldId id="1808" r:id="rId24"/>
    <p:sldId id="265" r:id="rId25"/>
    <p:sldId id="267" r:id="rId26"/>
    <p:sldId id="268" r:id="rId27"/>
    <p:sldId id="1803" r:id="rId28"/>
    <p:sldId id="1804" r:id="rId29"/>
    <p:sldId id="1805" r:id="rId30"/>
    <p:sldId id="1806" r:id="rId31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DA84E6CC-2EA2-4553-A6A4-DAF877036261}">
          <p14:sldIdLst>
            <p14:sldId id="1574"/>
            <p14:sldId id="1762"/>
            <p14:sldId id="1763"/>
            <p14:sldId id="1764"/>
            <p14:sldId id="1780"/>
          </p14:sldIdLst>
        </p14:section>
        <p14:section name="Indicators" id="{2D1FC5E9-1614-4CA8-8D36-FD1706ADDBFF}">
          <p14:sldIdLst>
            <p14:sldId id="1792"/>
            <p14:sldId id="1793"/>
            <p14:sldId id="1591"/>
            <p14:sldId id="1795"/>
            <p14:sldId id="1797"/>
            <p14:sldId id="1794"/>
            <p14:sldId id="1796"/>
          </p14:sldIdLst>
        </p14:section>
        <p14:section name="Group analysis" id="{2F1E73D5-870F-4091-9492-A1102BE33EA1}">
          <p14:sldIdLst>
            <p14:sldId id="1740"/>
            <p14:sldId id="1738"/>
            <p14:sldId id="1749"/>
            <p14:sldId id="1798"/>
            <p14:sldId id="1799"/>
            <p14:sldId id="1785"/>
          </p14:sldIdLst>
        </p14:section>
        <p14:section name="Experiments" id="{493216A2-119A-47B2-AF7D-722A84F378AE}">
          <p14:sldIdLst>
            <p14:sldId id="1768"/>
            <p14:sldId id="1800"/>
            <p14:sldId id="1802"/>
            <p14:sldId id="1807"/>
            <p14:sldId id="1808"/>
            <p14:sldId id="265"/>
            <p14:sldId id="267"/>
            <p14:sldId id="268"/>
            <p14:sldId id="1803"/>
            <p14:sldId id="1804"/>
            <p14:sldId id="1805"/>
            <p14:sldId id="180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0808"/>
    <a:srgbClr val="800000"/>
    <a:srgbClr val="F59120"/>
    <a:srgbClr val="FE0101"/>
    <a:srgbClr val="F58377"/>
    <a:srgbClr val="FF4343"/>
    <a:srgbClr val="548235"/>
    <a:srgbClr val="009DBB"/>
    <a:srgbClr val="0688BA"/>
    <a:srgbClr val="0054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86"/>
    <p:restoredTop sz="95000" autoAdjust="0"/>
  </p:normalViewPr>
  <p:slideViewPr>
    <p:cSldViewPr snapToGrid="0">
      <p:cViewPr varScale="1">
        <p:scale>
          <a:sx n="88" d="100"/>
          <a:sy n="88" d="100"/>
        </p:scale>
        <p:origin x="944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90C58F-1623-4B30-8E09-2CA0F33BB139}" type="doc">
      <dgm:prSet loTypeId="urn:microsoft.com/office/officeart/2005/8/layout/process4" loCatId="list" qsTypeId="urn:microsoft.com/office/officeart/2005/8/quickstyle/simple3#1" qsCatId="simple" csTypeId="urn:microsoft.com/office/officeart/2005/8/colors/accent1_2#1" csCatId="accent1" phldr="1"/>
      <dgm:spPr/>
      <dgm:t>
        <a:bodyPr/>
        <a:lstStyle/>
        <a:p>
          <a:endParaRPr lang="en-IL"/>
        </a:p>
      </dgm:t>
    </dgm:pt>
    <dgm:pt modelId="{4BC2FB94-54C5-4AA4-8613-4ABB9F2FB0D5}">
      <dgm:prSet custT="1"/>
      <dgm:spPr/>
      <dgm:t>
        <a:bodyPr/>
        <a:lstStyle/>
        <a:p>
          <a:r>
            <a:rPr lang="en-GB" sz="2400" dirty="0"/>
            <a:t>1) Building a co-action graph represents author similarity</a:t>
          </a:r>
          <a:endParaRPr lang="en-IL" sz="2400" dirty="0"/>
        </a:p>
      </dgm:t>
    </dgm:pt>
    <dgm:pt modelId="{81142ADE-1E42-4CE9-83A4-2B0D9F638559}" type="parTrans" cxnId="{BFFBDADC-868D-420E-9208-8F65BF16916D}">
      <dgm:prSet/>
      <dgm:spPr/>
      <dgm:t>
        <a:bodyPr/>
        <a:lstStyle/>
        <a:p>
          <a:endParaRPr lang="en-IL"/>
        </a:p>
      </dgm:t>
    </dgm:pt>
    <dgm:pt modelId="{1E17B9C2-D2AB-4D01-8569-00D12B23D4C7}" type="sibTrans" cxnId="{BFFBDADC-868D-420E-9208-8F65BF16916D}">
      <dgm:prSet/>
      <dgm:spPr/>
      <dgm:t>
        <a:bodyPr/>
        <a:lstStyle/>
        <a:p>
          <a:endParaRPr lang="en-IL"/>
        </a:p>
      </dgm:t>
    </dgm:pt>
    <dgm:pt modelId="{7D320D05-8BC7-49AB-93E1-F512A65ADBB4}">
      <dgm:prSet custT="1"/>
      <dgm:spPr/>
      <dgm:t>
        <a:bodyPr/>
        <a:lstStyle/>
        <a:p>
          <a:r>
            <a:rPr lang="en-GB" sz="2400" kern="1200" dirty="0"/>
            <a:t>2) IO drivers tend to be embedded in dense communities.</a:t>
          </a:r>
          <a:endParaRPr lang="en-IL" sz="2400" kern="1200" dirty="0">
            <a:latin typeface="Calibri" panose="020F0502020204030204"/>
            <a:ea typeface="+mn-ea"/>
            <a:cs typeface="+mn-cs"/>
          </a:endParaRPr>
        </a:p>
      </dgm:t>
    </dgm:pt>
    <dgm:pt modelId="{76729AB0-F7FB-43B8-8268-2879B72FF758}" type="parTrans" cxnId="{D6404C00-BB8F-47F6-A3E0-E9AE5168B69E}">
      <dgm:prSet/>
      <dgm:spPr/>
      <dgm:t>
        <a:bodyPr/>
        <a:lstStyle/>
        <a:p>
          <a:endParaRPr lang="en-IL"/>
        </a:p>
      </dgm:t>
    </dgm:pt>
    <dgm:pt modelId="{7A6195CC-C5B6-499B-8C5A-C59F05E11EE6}" type="sibTrans" cxnId="{D6404C00-BB8F-47F6-A3E0-E9AE5168B69E}">
      <dgm:prSet/>
      <dgm:spPr/>
      <dgm:t>
        <a:bodyPr/>
        <a:lstStyle/>
        <a:p>
          <a:endParaRPr lang="en-IL"/>
        </a:p>
      </dgm:t>
    </dgm:pt>
    <dgm:pt modelId="{A7B258C5-DA38-4321-BB19-D9CB5619264C}">
      <dgm:prSet custT="1"/>
      <dgm:spPr/>
      <dgm:t>
        <a:bodyPr/>
        <a:lstStyle/>
        <a:p>
          <a:r>
            <a:rPr lang="en-GB" sz="2400" dirty="0"/>
            <a:t>3) Graph-based indicators are used to measure     author’s embeddedness.</a:t>
          </a:r>
          <a:endParaRPr lang="en-IL" sz="2400" dirty="0"/>
        </a:p>
      </dgm:t>
    </dgm:pt>
    <dgm:pt modelId="{203A4A45-D67F-4111-8115-F39D8B161CDD}" type="parTrans" cxnId="{601BA4A4-5D6C-40ED-8F48-667E9AF2836A}">
      <dgm:prSet/>
      <dgm:spPr/>
      <dgm:t>
        <a:bodyPr/>
        <a:lstStyle/>
        <a:p>
          <a:endParaRPr lang="en-IL"/>
        </a:p>
      </dgm:t>
    </dgm:pt>
    <dgm:pt modelId="{CFB66835-E5CB-4D8A-B6C8-1B3B8DF01259}" type="sibTrans" cxnId="{601BA4A4-5D6C-40ED-8F48-667E9AF2836A}">
      <dgm:prSet/>
      <dgm:spPr/>
      <dgm:t>
        <a:bodyPr/>
        <a:lstStyle/>
        <a:p>
          <a:endParaRPr lang="en-IL"/>
        </a:p>
      </dgm:t>
    </dgm:pt>
    <dgm:pt modelId="{5D7624BE-F238-4C3B-897B-9536540A45EC}">
      <dgm:prSet custT="1"/>
      <dgm:spPr/>
      <dgm:t>
        <a:bodyPr/>
        <a:lstStyle/>
        <a:p>
          <a:r>
            <a:rPr lang="en-GB" sz="2400" kern="1200" dirty="0">
              <a:latin typeface="Calibri" panose="020F0502020204030204"/>
              <a:ea typeface="+mn-ea"/>
              <a:cs typeface="+mn-cs"/>
            </a:rPr>
            <a:t>4) </a:t>
          </a:r>
          <a:r>
            <a:rPr lang="en-IL" sz="2400" kern="1200" dirty="0"/>
            <a:t>Each user is represented by a human-readable feature </a:t>
          </a:r>
          <a:r>
            <a:rPr lang="en-IL" sz="2400" kern="1200" dirty="0" err="1"/>
            <a:t>vecto</a:t>
          </a:r>
          <a:r>
            <a:rPr lang="en-US" sz="2400" kern="1200" dirty="0"/>
            <a:t>r.</a:t>
          </a:r>
          <a:endParaRPr lang="en-IL" sz="2400" kern="1200" dirty="0">
            <a:latin typeface="Calibri" panose="020F0502020204030204"/>
            <a:ea typeface="+mn-ea"/>
            <a:cs typeface="+mn-cs"/>
          </a:endParaRPr>
        </a:p>
      </dgm:t>
    </dgm:pt>
    <dgm:pt modelId="{DE3ECAEC-D217-4ACD-8F26-7D253DBBBB46}" type="parTrans" cxnId="{D548CB56-4B7F-4832-B855-6F1B2D31D122}">
      <dgm:prSet/>
      <dgm:spPr/>
      <dgm:t>
        <a:bodyPr/>
        <a:lstStyle/>
        <a:p>
          <a:endParaRPr lang="en-IL"/>
        </a:p>
      </dgm:t>
    </dgm:pt>
    <dgm:pt modelId="{312170D2-ED7B-4054-82B8-1D60C8F68B7F}" type="sibTrans" cxnId="{D548CB56-4B7F-4832-B855-6F1B2D31D122}">
      <dgm:prSet/>
      <dgm:spPr/>
      <dgm:t>
        <a:bodyPr/>
        <a:lstStyle/>
        <a:p>
          <a:endParaRPr lang="en-IL"/>
        </a:p>
      </dgm:t>
    </dgm:pt>
    <dgm:pt modelId="{F5835A2A-6EED-4CF0-AD6D-9C43F08E8106}">
      <dgm:prSet custT="1"/>
      <dgm:spPr/>
      <dgm:t>
        <a:bodyPr/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rPr>
            <a:t>5) </a:t>
          </a:r>
          <a:r>
            <a:rPr lang="en-IL" sz="2400" kern="1200" dirty="0"/>
            <a:t>The feature vectors are used by a machine-learning model to classify each author as an IO driver or </a:t>
          </a:r>
          <a:r>
            <a:rPr lang="en-US" sz="2400" kern="1200" dirty="0"/>
            <a:t>not.</a:t>
          </a:r>
          <a:endParaRPr lang="en-IL" sz="2400" b="0" kern="1200" dirty="0">
            <a:solidFill>
              <a:prstClr val="black"/>
            </a:solidFill>
            <a:latin typeface="Calibri" panose="020F0502020204030204"/>
            <a:ea typeface="+mn-ea"/>
            <a:cs typeface="+mn-cs"/>
          </a:endParaRPr>
        </a:p>
      </dgm:t>
    </dgm:pt>
    <dgm:pt modelId="{3B3A9903-4669-470D-9A03-4D8FCA8E328C}" type="parTrans" cxnId="{02F270AA-4ABA-474A-B88D-AF4118A95DC5}">
      <dgm:prSet/>
      <dgm:spPr/>
      <dgm:t>
        <a:bodyPr/>
        <a:lstStyle/>
        <a:p>
          <a:endParaRPr lang="en-IL"/>
        </a:p>
      </dgm:t>
    </dgm:pt>
    <dgm:pt modelId="{687F42B4-C2AD-4C27-B6FA-0BF9E906535E}" type="sibTrans" cxnId="{02F270AA-4ABA-474A-B88D-AF4118A95DC5}">
      <dgm:prSet/>
      <dgm:spPr/>
      <dgm:t>
        <a:bodyPr/>
        <a:lstStyle/>
        <a:p>
          <a:endParaRPr lang="en-IL"/>
        </a:p>
      </dgm:t>
    </dgm:pt>
    <dgm:pt modelId="{E3D2F466-9D2B-489B-8FD7-00A269198811}" type="pres">
      <dgm:prSet presAssocID="{4790C58F-1623-4B30-8E09-2CA0F33BB139}" presName="Name0" presStyleCnt="0">
        <dgm:presLayoutVars>
          <dgm:dir/>
          <dgm:animLvl val="lvl"/>
          <dgm:resizeHandles val="exact"/>
        </dgm:presLayoutVars>
      </dgm:prSet>
      <dgm:spPr/>
    </dgm:pt>
    <dgm:pt modelId="{088EA719-2472-4684-87F4-629B6808F521}" type="pres">
      <dgm:prSet presAssocID="{F5835A2A-6EED-4CF0-AD6D-9C43F08E8106}" presName="boxAndChildren" presStyleCnt="0"/>
      <dgm:spPr/>
    </dgm:pt>
    <dgm:pt modelId="{BF4415FE-1BEA-4AAF-8504-EF442423F26C}" type="pres">
      <dgm:prSet presAssocID="{F5835A2A-6EED-4CF0-AD6D-9C43F08E8106}" presName="parentTextBox" presStyleLbl="node1" presStyleIdx="0" presStyleCnt="5" custLinFactNeighborX="-4106"/>
      <dgm:spPr/>
    </dgm:pt>
    <dgm:pt modelId="{089D2F7B-F14C-4A92-BB3A-DAA08CAE5848}" type="pres">
      <dgm:prSet presAssocID="{312170D2-ED7B-4054-82B8-1D60C8F68B7F}" presName="sp" presStyleCnt="0"/>
      <dgm:spPr/>
    </dgm:pt>
    <dgm:pt modelId="{F9478C95-2D8F-4B5D-9198-EA05C72041D6}" type="pres">
      <dgm:prSet presAssocID="{5D7624BE-F238-4C3B-897B-9536540A45EC}" presName="arrowAndChildren" presStyleCnt="0"/>
      <dgm:spPr/>
    </dgm:pt>
    <dgm:pt modelId="{6679C54E-D9B3-42D4-8579-0F059BE402E7}" type="pres">
      <dgm:prSet presAssocID="{5D7624BE-F238-4C3B-897B-9536540A45EC}" presName="parentTextArrow" presStyleLbl="node1" presStyleIdx="1" presStyleCnt="5"/>
      <dgm:spPr/>
    </dgm:pt>
    <dgm:pt modelId="{9EEDCD11-2912-410C-BF8F-FB8C0E08B1DE}" type="pres">
      <dgm:prSet presAssocID="{CFB66835-E5CB-4D8A-B6C8-1B3B8DF01259}" presName="sp" presStyleCnt="0"/>
      <dgm:spPr/>
    </dgm:pt>
    <dgm:pt modelId="{67F4FDC1-DDD2-4281-BAE2-FB77EAC45D98}" type="pres">
      <dgm:prSet presAssocID="{A7B258C5-DA38-4321-BB19-D9CB5619264C}" presName="arrowAndChildren" presStyleCnt="0"/>
      <dgm:spPr/>
    </dgm:pt>
    <dgm:pt modelId="{1286EBB1-156A-4900-80F5-B7DA82846AFD}" type="pres">
      <dgm:prSet presAssocID="{A7B258C5-DA38-4321-BB19-D9CB5619264C}" presName="parentTextArrow" presStyleLbl="node1" presStyleIdx="2" presStyleCnt="5"/>
      <dgm:spPr/>
    </dgm:pt>
    <dgm:pt modelId="{E5FC2BC1-7FA9-42C4-A969-06EE33CAE6B9}" type="pres">
      <dgm:prSet presAssocID="{7A6195CC-C5B6-499B-8C5A-C59F05E11EE6}" presName="sp" presStyleCnt="0"/>
      <dgm:spPr/>
    </dgm:pt>
    <dgm:pt modelId="{1B190E91-BA0B-443D-8EBB-2D0FBA24695A}" type="pres">
      <dgm:prSet presAssocID="{7D320D05-8BC7-49AB-93E1-F512A65ADBB4}" presName="arrowAndChildren" presStyleCnt="0"/>
      <dgm:spPr/>
    </dgm:pt>
    <dgm:pt modelId="{EC9EF89E-2EC9-4197-83CE-6F0E9635859A}" type="pres">
      <dgm:prSet presAssocID="{7D320D05-8BC7-49AB-93E1-F512A65ADBB4}" presName="parentTextArrow" presStyleLbl="node1" presStyleIdx="3" presStyleCnt="5"/>
      <dgm:spPr/>
    </dgm:pt>
    <dgm:pt modelId="{5FA7D69C-ADC5-4D3E-A63E-3177E18C39D9}" type="pres">
      <dgm:prSet presAssocID="{1E17B9C2-D2AB-4D01-8569-00D12B23D4C7}" presName="sp" presStyleCnt="0"/>
      <dgm:spPr/>
    </dgm:pt>
    <dgm:pt modelId="{9C5F784D-3A5B-40B8-BC6E-96C4885D6DD5}" type="pres">
      <dgm:prSet presAssocID="{4BC2FB94-54C5-4AA4-8613-4ABB9F2FB0D5}" presName="arrowAndChildren" presStyleCnt="0"/>
      <dgm:spPr/>
    </dgm:pt>
    <dgm:pt modelId="{449265AB-55D8-4494-95A0-FB133CF562A6}" type="pres">
      <dgm:prSet presAssocID="{4BC2FB94-54C5-4AA4-8613-4ABB9F2FB0D5}" presName="parentTextArrow" presStyleLbl="node1" presStyleIdx="4" presStyleCnt="5"/>
      <dgm:spPr/>
    </dgm:pt>
  </dgm:ptLst>
  <dgm:cxnLst>
    <dgm:cxn modelId="{D6404C00-BB8F-47F6-A3E0-E9AE5168B69E}" srcId="{4790C58F-1623-4B30-8E09-2CA0F33BB139}" destId="{7D320D05-8BC7-49AB-93E1-F512A65ADBB4}" srcOrd="1" destOrd="0" parTransId="{76729AB0-F7FB-43B8-8268-2879B72FF758}" sibTransId="{7A6195CC-C5B6-499B-8C5A-C59F05E11EE6}"/>
    <dgm:cxn modelId="{DC654E60-F4C9-4839-B9F7-FF7CD85FC243}" type="presOf" srcId="{4790C58F-1623-4B30-8E09-2CA0F33BB139}" destId="{E3D2F466-9D2B-489B-8FD7-00A269198811}" srcOrd="0" destOrd="0" presId="urn:microsoft.com/office/officeart/2005/8/layout/process4"/>
    <dgm:cxn modelId="{9CD98B73-AB6F-4E84-90D8-47F6FFBAC76D}" type="presOf" srcId="{F5835A2A-6EED-4CF0-AD6D-9C43F08E8106}" destId="{BF4415FE-1BEA-4AAF-8504-EF442423F26C}" srcOrd="0" destOrd="0" presId="urn:microsoft.com/office/officeart/2005/8/layout/process4"/>
    <dgm:cxn modelId="{BA2A9C55-DAE0-4FAA-B51F-3227B1490E8B}" type="presOf" srcId="{4BC2FB94-54C5-4AA4-8613-4ABB9F2FB0D5}" destId="{449265AB-55D8-4494-95A0-FB133CF562A6}" srcOrd="0" destOrd="0" presId="urn:microsoft.com/office/officeart/2005/8/layout/process4"/>
    <dgm:cxn modelId="{D548CB56-4B7F-4832-B855-6F1B2D31D122}" srcId="{4790C58F-1623-4B30-8E09-2CA0F33BB139}" destId="{5D7624BE-F238-4C3B-897B-9536540A45EC}" srcOrd="3" destOrd="0" parTransId="{DE3ECAEC-D217-4ACD-8F26-7D253DBBBB46}" sibTransId="{312170D2-ED7B-4054-82B8-1D60C8F68B7F}"/>
    <dgm:cxn modelId="{E5EFFFA0-A070-4C0A-9F9B-56FFA56576C5}" type="presOf" srcId="{5D7624BE-F238-4C3B-897B-9536540A45EC}" destId="{6679C54E-D9B3-42D4-8579-0F059BE402E7}" srcOrd="0" destOrd="0" presId="urn:microsoft.com/office/officeart/2005/8/layout/process4"/>
    <dgm:cxn modelId="{601BA4A4-5D6C-40ED-8F48-667E9AF2836A}" srcId="{4790C58F-1623-4B30-8E09-2CA0F33BB139}" destId="{A7B258C5-DA38-4321-BB19-D9CB5619264C}" srcOrd="2" destOrd="0" parTransId="{203A4A45-D67F-4111-8115-F39D8B161CDD}" sibTransId="{CFB66835-E5CB-4D8A-B6C8-1B3B8DF01259}"/>
    <dgm:cxn modelId="{02F270AA-4ABA-474A-B88D-AF4118A95DC5}" srcId="{4790C58F-1623-4B30-8E09-2CA0F33BB139}" destId="{F5835A2A-6EED-4CF0-AD6D-9C43F08E8106}" srcOrd="4" destOrd="0" parTransId="{3B3A9903-4669-470D-9A03-4D8FCA8E328C}" sibTransId="{687F42B4-C2AD-4C27-B6FA-0BF9E906535E}"/>
    <dgm:cxn modelId="{262235C1-EFC5-4940-8DEA-0CA0F4B91211}" type="presOf" srcId="{A7B258C5-DA38-4321-BB19-D9CB5619264C}" destId="{1286EBB1-156A-4900-80F5-B7DA82846AFD}" srcOrd="0" destOrd="0" presId="urn:microsoft.com/office/officeart/2005/8/layout/process4"/>
    <dgm:cxn modelId="{481E6ECA-7582-476F-9F6F-F6D456E97373}" type="presOf" srcId="{7D320D05-8BC7-49AB-93E1-F512A65ADBB4}" destId="{EC9EF89E-2EC9-4197-83CE-6F0E9635859A}" srcOrd="0" destOrd="0" presId="urn:microsoft.com/office/officeart/2005/8/layout/process4"/>
    <dgm:cxn modelId="{BFFBDADC-868D-420E-9208-8F65BF16916D}" srcId="{4790C58F-1623-4B30-8E09-2CA0F33BB139}" destId="{4BC2FB94-54C5-4AA4-8613-4ABB9F2FB0D5}" srcOrd="0" destOrd="0" parTransId="{81142ADE-1E42-4CE9-83A4-2B0D9F638559}" sibTransId="{1E17B9C2-D2AB-4D01-8569-00D12B23D4C7}"/>
    <dgm:cxn modelId="{5C85148E-5CCC-4A95-8B36-C6A100D3BF1C}" type="presParOf" srcId="{E3D2F466-9D2B-489B-8FD7-00A269198811}" destId="{088EA719-2472-4684-87F4-629B6808F521}" srcOrd="0" destOrd="0" presId="urn:microsoft.com/office/officeart/2005/8/layout/process4"/>
    <dgm:cxn modelId="{0BC62B70-DEC5-4EC3-899B-9B33A2D8EEC6}" type="presParOf" srcId="{088EA719-2472-4684-87F4-629B6808F521}" destId="{BF4415FE-1BEA-4AAF-8504-EF442423F26C}" srcOrd="0" destOrd="0" presId="urn:microsoft.com/office/officeart/2005/8/layout/process4"/>
    <dgm:cxn modelId="{FC75D633-9762-46D5-A2F4-24F65D3B523D}" type="presParOf" srcId="{E3D2F466-9D2B-489B-8FD7-00A269198811}" destId="{089D2F7B-F14C-4A92-BB3A-DAA08CAE5848}" srcOrd="1" destOrd="0" presId="urn:microsoft.com/office/officeart/2005/8/layout/process4"/>
    <dgm:cxn modelId="{B93D662E-CE66-4059-BF0F-FCC54DD7B492}" type="presParOf" srcId="{E3D2F466-9D2B-489B-8FD7-00A269198811}" destId="{F9478C95-2D8F-4B5D-9198-EA05C72041D6}" srcOrd="2" destOrd="0" presId="urn:microsoft.com/office/officeart/2005/8/layout/process4"/>
    <dgm:cxn modelId="{E713E305-CD0A-4951-AF0B-3CD82D972D3C}" type="presParOf" srcId="{F9478C95-2D8F-4B5D-9198-EA05C72041D6}" destId="{6679C54E-D9B3-42D4-8579-0F059BE402E7}" srcOrd="0" destOrd="0" presId="urn:microsoft.com/office/officeart/2005/8/layout/process4"/>
    <dgm:cxn modelId="{9723B319-800F-4F9F-A081-17EE5046C0DD}" type="presParOf" srcId="{E3D2F466-9D2B-489B-8FD7-00A269198811}" destId="{9EEDCD11-2912-410C-BF8F-FB8C0E08B1DE}" srcOrd="3" destOrd="0" presId="urn:microsoft.com/office/officeart/2005/8/layout/process4"/>
    <dgm:cxn modelId="{2B5BF700-293F-431D-8048-AF1D14C5AC67}" type="presParOf" srcId="{E3D2F466-9D2B-489B-8FD7-00A269198811}" destId="{67F4FDC1-DDD2-4281-BAE2-FB77EAC45D98}" srcOrd="4" destOrd="0" presId="urn:microsoft.com/office/officeart/2005/8/layout/process4"/>
    <dgm:cxn modelId="{2729B8A6-53C7-460C-A50D-21285C79B0E2}" type="presParOf" srcId="{67F4FDC1-DDD2-4281-BAE2-FB77EAC45D98}" destId="{1286EBB1-156A-4900-80F5-B7DA82846AFD}" srcOrd="0" destOrd="0" presId="urn:microsoft.com/office/officeart/2005/8/layout/process4"/>
    <dgm:cxn modelId="{ABFF2785-B058-4AEA-AB3B-5018FCF77D1E}" type="presParOf" srcId="{E3D2F466-9D2B-489B-8FD7-00A269198811}" destId="{E5FC2BC1-7FA9-42C4-A969-06EE33CAE6B9}" srcOrd="5" destOrd="0" presId="urn:microsoft.com/office/officeart/2005/8/layout/process4"/>
    <dgm:cxn modelId="{12C57EE2-AB40-41F5-A1B2-289C3675A96F}" type="presParOf" srcId="{E3D2F466-9D2B-489B-8FD7-00A269198811}" destId="{1B190E91-BA0B-443D-8EBB-2D0FBA24695A}" srcOrd="6" destOrd="0" presId="urn:microsoft.com/office/officeart/2005/8/layout/process4"/>
    <dgm:cxn modelId="{05E3B187-F9C8-4F12-B9FB-6721722B836C}" type="presParOf" srcId="{1B190E91-BA0B-443D-8EBB-2D0FBA24695A}" destId="{EC9EF89E-2EC9-4197-83CE-6F0E9635859A}" srcOrd="0" destOrd="0" presId="urn:microsoft.com/office/officeart/2005/8/layout/process4"/>
    <dgm:cxn modelId="{A17624A7-2852-43C6-9EE1-61852C7708A8}" type="presParOf" srcId="{E3D2F466-9D2B-489B-8FD7-00A269198811}" destId="{5FA7D69C-ADC5-4D3E-A63E-3177E18C39D9}" srcOrd="7" destOrd="0" presId="urn:microsoft.com/office/officeart/2005/8/layout/process4"/>
    <dgm:cxn modelId="{79ED58EA-1F48-4978-ACA1-C59BFFD3E494}" type="presParOf" srcId="{E3D2F466-9D2B-489B-8FD7-00A269198811}" destId="{9C5F784D-3A5B-40B8-BC6E-96C4885D6DD5}" srcOrd="8" destOrd="0" presId="urn:microsoft.com/office/officeart/2005/8/layout/process4"/>
    <dgm:cxn modelId="{283B2D46-AE72-4B9F-A2F5-B9632C0247FA}" type="presParOf" srcId="{9C5F784D-3A5B-40B8-BC6E-96C4885D6DD5}" destId="{449265AB-55D8-4494-95A0-FB133CF562A6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8AFC2CC-272E-41C7-BFE3-402C8025BCAD}" type="doc">
      <dgm:prSet loTypeId="urn:microsoft.com/office/officeart/2005/8/layout/process4" loCatId="list" qsTypeId="urn:microsoft.com/office/officeart/2005/8/quickstyle/simple1#1" qsCatId="simple" csTypeId="urn:microsoft.com/office/officeart/2005/8/colors/colorful2#1" csCatId="colorful" phldr="1"/>
      <dgm:spPr/>
      <dgm:t>
        <a:bodyPr/>
        <a:lstStyle/>
        <a:p>
          <a:endParaRPr lang="en-IL"/>
        </a:p>
      </dgm:t>
    </dgm:pt>
    <dgm:pt modelId="{E1DB4969-C241-47FC-B362-D33B7566A7C1}">
      <dgm:prSet custT="1"/>
      <dgm:spPr/>
      <dgm:t>
        <a:bodyPr/>
        <a:lstStyle/>
        <a:p>
          <a:r>
            <a:rPr lang="en-IL" sz="2400" dirty="0"/>
            <a:t>Coordinated authors are highly inter</a:t>
          </a:r>
          <a:r>
            <a:rPr lang="en-GB" sz="2400" dirty="0"/>
            <a:t>-</a:t>
          </a:r>
          <a:r>
            <a:rPr lang="en-IL" sz="2400" dirty="0"/>
            <a:t>connected in the</a:t>
          </a:r>
          <a:r>
            <a:rPr lang="en-GB" sz="2400" dirty="0"/>
            <a:t> co-action</a:t>
          </a:r>
          <a:r>
            <a:rPr lang="en-IL" sz="2400" dirty="0"/>
            <a:t> graph.</a:t>
          </a:r>
          <a:endParaRPr lang="en-GB" sz="2400" dirty="0"/>
        </a:p>
      </dgm:t>
    </dgm:pt>
    <dgm:pt modelId="{33E3E7A2-0F5B-4428-AAA6-F11ED572BD3A}" type="parTrans" cxnId="{B587AE82-CBB6-43F0-8D75-88AF70AAB86E}">
      <dgm:prSet/>
      <dgm:spPr/>
      <dgm:t>
        <a:bodyPr/>
        <a:lstStyle/>
        <a:p>
          <a:endParaRPr lang="en-IL"/>
        </a:p>
      </dgm:t>
    </dgm:pt>
    <dgm:pt modelId="{EDDA025F-C4A6-4E68-A864-31D80BB865E6}" type="sibTrans" cxnId="{B587AE82-CBB6-43F0-8D75-88AF70AAB86E}">
      <dgm:prSet/>
      <dgm:spPr/>
      <dgm:t>
        <a:bodyPr/>
        <a:lstStyle/>
        <a:p>
          <a:endParaRPr lang="en-IL"/>
        </a:p>
      </dgm:t>
    </dgm:pt>
    <dgm:pt modelId="{1B5A5607-E945-4BE9-814D-B0EF59B1C430}">
      <dgm:prSet custT="1"/>
      <dgm:spPr/>
      <dgm:t>
        <a:bodyPr/>
        <a:lstStyle/>
        <a:p>
          <a:r>
            <a:rPr lang="en-IL" sz="2400" dirty="0"/>
            <a:t>IO</a:t>
          </a:r>
          <a:r>
            <a:rPr lang="en-US" sz="2400" dirty="0"/>
            <a:t> accounts are in a large k-core.</a:t>
          </a:r>
          <a:endParaRPr lang="en-IL" sz="2400" dirty="0"/>
        </a:p>
      </dgm:t>
    </dgm:pt>
    <dgm:pt modelId="{DB69DBA9-156D-4A15-9B2E-C28CADCBDCB3}" type="parTrans" cxnId="{AF219688-CE54-47B6-B599-F97074769732}">
      <dgm:prSet/>
      <dgm:spPr/>
      <dgm:t>
        <a:bodyPr/>
        <a:lstStyle/>
        <a:p>
          <a:endParaRPr lang="en-IL"/>
        </a:p>
      </dgm:t>
    </dgm:pt>
    <dgm:pt modelId="{A67FF2E3-02ED-4648-A2B6-DC4F7E2CC307}" type="sibTrans" cxnId="{AF219688-CE54-47B6-B599-F97074769732}">
      <dgm:prSet/>
      <dgm:spPr/>
      <dgm:t>
        <a:bodyPr/>
        <a:lstStyle/>
        <a:p>
          <a:endParaRPr lang="en-IL"/>
        </a:p>
      </dgm:t>
    </dgm:pt>
    <dgm:pt modelId="{1D3C4817-7970-4B83-AF07-61B7E50C9996}">
      <dgm:prSet custT="1"/>
      <dgm:spPr/>
      <dgm:t>
        <a:bodyPr/>
        <a:lstStyle/>
        <a:p>
          <a:r>
            <a:rPr lang="en-IL" sz="2400" dirty="0"/>
            <a:t>Since IO requires coordination, IO drivers are expected to appear in </a:t>
          </a:r>
          <a:r>
            <a:rPr lang="en-GB" sz="2400" dirty="0"/>
            <a:t>the coordinated</a:t>
          </a:r>
          <a:r>
            <a:rPr lang="en-IL" sz="2400" dirty="0"/>
            <a:t> groups. </a:t>
          </a:r>
        </a:p>
      </dgm:t>
    </dgm:pt>
    <dgm:pt modelId="{3EA88241-E0A1-43FA-B7B7-F715EBE467EC}" type="parTrans" cxnId="{6587C595-A3F4-4EB8-97BB-102DD6B18937}">
      <dgm:prSet/>
      <dgm:spPr/>
      <dgm:t>
        <a:bodyPr/>
        <a:lstStyle/>
        <a:p>
          <a:endParaRPr lang="en-IL"/>
        </a:p>
      </dgm:t>
    </dgm:pt>
    <dgm:pt modelId="{73DEDEEA-F614-422F-A1FA-F2DA54935A22}" type="sibTrans" cxnId="{6587C595-A3F4-4EB8-97BB-102DD6B18937}">
      <dgm:prSet/>
      <dgm:spPr/>
      <dgm:t>
        <a:bodyPr/>
        <a:lstStyle/>
        <a:p>
          <a:endParaRPr lang="en-IL"/>
        </a:p>
      </dgm:t>
    </dgm:pt>
    <dgm:pt modelId="{2B972B0F-9F24-4FC0-BA51-EEBB0A7F8A73}">
      <dgm:prSet phldrT="[Text]" custT="1"/>
      <dgm:spPr/>
      <dgm:t>
        <a:bodyPr/>
        <a:lstStyle/>
        <a:p>
          <a:pPr>
            <a:buNone/>
          </a:pPr>
          <a:r>
            <a:rPr lang="en-IL" sz="2400" dirty="0"/>
            <a:t>The co-action graph represents behavioural similarity between authors.</a:t>
          </a:r>
        </a:p>
      </dgm:t>
    </dgm:pt>
    <dgm:pt modelId="{823A6176-1344-4AAD-A081-89EB5DCC4093}" type="parTrans" cxnId="{19261AE1-CDAA-437C-82BB-F32380991E11}">
      <dgm:prSet/>
      <dgm:spPr/>
      <dgm:t>
        <a:bodyPr/>
        <a:lstStyle/>
        <a:p>
          <a:endParaRPr lang="en-IL"/>
        </a:p>
      </dgm:t>
    </dgm:pt>
    <dgm:pt modelId="{D9926E93-0033-4EAE-8105-B122F3529813}" type="sibTrans" cxnId="{19261AE1-CDAA-437C-82BB-F32380991E11}">
      <dgm:prSet/>
      <dgm:spPr/>
      <dgm:t>
        <a:bodyPr/>
        <a:lstStyle/>
        <a:p>
          <a:endParaRPr lang="en-IL"/>
        </a:p>
      </dgm:t>
    </dgm:pt>
    <dgm:pt modelId="{2BD634B8-DA83-49F5-9D02-0914F5E00507}" type="pres">
      <dgm:prSet presAssocID="{48AFC2CC-272E-41C7-BFE3-402C8025BCAD}" presName="Name0" presStyleCnt="0">
        <dgm:presLayoutVars>
          <dgm:dir/>
          <dgm:animLvl val="lvl"/>
          <dgm:resizeHandles val="exact"/>
        </dgm:presLayoutVars>
      </dgm:prSet>
      <dgm:spPr/>
    </dgm:pt>
    <dgm:pt modelId="{03B30CF2-AE31-4DED-84D9-3487159AD3E3}" type="pres">
      <dgm:prSet presAssocID="{1B5A5607-E945-4BE9-814D-B0EF59B1C430}" presName="boxAndChildren" presStyleCnt="0"/>
      <dgm:spPr/>
    </dgm:pt>
    <dgm:pt modelId="{75B552A5-6396-4106-9A4A-445AED3E3CC6}" type="pres">
      <dgm:prSet presAssocID="{1B5A5607-E945-4BE9-814D-B0EF59B1C430}" presName="parentTextBox" presStyleLbl="node1" presStyleIdx="0" presStyleCnt="4"/>
      <dgm:spPr/>
    </dgm:pt>
    <dgm:pt modelId="{F70F5C23-80D2-4CDF-B637-5C57A37CD123}" type="pres">
      <dgm:prSet presAssocID="{73DEDEEA-F614-422F-A1FA-F2DA54935A22}" presName="sp" presStyleCnt="0"/>
      <dgm:spPr/>
    </dgm:pt>
    <dgm:pt modelId="{CD00B53B-13EB-400D-88F7-193FA1084681}" type="pres">
      <dgm:prSet presAssocID="{1D3C4817-7970-4B83-AF07-61B7E50C9996}" presName="arrowAndChildren" presStyleCnt="0"/>
      <dgm:spPr/>
    </dgm:pt>
    <dgm:pt modelId="{3D88F0F6-5629-4C7E-A8D9-55126A1A5A1D}" type="pres">
      <dgm:prSet presAssocID="{1D3C4817-7970-4B83-AF07-61B7E50C9996}" presName="parentTextArrow" presStyleLbl="node1" presStyleIdx="1" presStyleCnt="4"/>
      <dgm:spPr/>
    </dgm:pt>
    <dgm:pt modelId="{ACD862B6-D655-498A-8FA6-1987A91783C3}" type="pres">
      <dgm:prSet presAssocID="{EDDA025F-C4A6-4E68-A864-31D80BB865E6}" presName="sp" presStyleCnt="0"/>
      <dgm:spPr/>
    </dgm:pt>
    <dgm:pt modelId="{2F84B48E-D500-42B4-9D8F-F46FB2AC86EF}" type="pres">
      <dgm:prSet presAssocID="{E1DB4969-C241-47FC-B362-D33B7566A7C1}" presName="arrowAndChildren" presStyleCnt="0"/>
      <dgm:spPr/>
    </dgm:pt>
    <dgm:pt modelId="{5E247E41-6DA2-446C-849F-383AA9AB749B}" type="pres">
      <dgm:prSet presAssocID="{E1DB4969-C241-47FC-B362-D33B7566A7C1}" presName="parentTextArrow" presStyleLbl="node1" presStyleIdx="2" presStyleCnt="4"/>
      <dgm:spPr/>
    </dgm:pt>
    <dgm:pt modelId="{736A69BE-A220-4144-BEB1-04BD59BF1329}" type="pres">
      <dgm:prSet presAssocID="{D9926E93-0033-4EAE-8105-B122F3529813}" presName="sp" presStyleCnt="0"/>
      <dgm:spPr/>
    </dgm:pt>
    <dgm:pt modelId="{6647F38C-A354-4E92-82DD-B24CA78D34F1}" type="pres">
      <dgm:prSet presAssocID="{2B972B0F-9F24-4FC0-BA51-EEBB0A7F8A73}" presName="arrowAndChildren" presStyleCnt="0"/>
      <dgm:spPr/>
    </dgm:pt>
    <dgm:pt modelId="{534D5A28-AA1C-4672-B587-DC2D8696AAD8}" type="pres">
      <dgm:prSet presAssocID="{2B972B0F-9F24-4FC0-BA51-EEBB0A7F8A73}" presName="parentTextArrow" presStyleLbl="node1" presStyleIdx="3" presStyleCnt="4"/>
      <dgm:spPr/>
    </dgm:pt>
  </dgm:ptLst>
  <dgm:cxnLst>
    <dgm:cxn modelId="{D01A194B-4902-4AEB-984F-89B74A0CA810}" type="presOf" srcId="{1D3C4817-7970-4B83-AF07-61B7E50C9996}" destId="{3D88F0F6-5629-4C7E-A8D9-55126A1A5A1D}" srcOrd="0" destOrd="0" presId="urn:microsoft.com/office/officeart/2005/8/layout/process4"/>
    <dgm:cxn modelId="{06589951-9DEE-4002-8EB3-2A6687FE8434}" type="presOf" srcId="{E1DB4969-C241-47FC-B362-D33B7566A7C1}" destId="{5E247E41-6DA2-446C-849F-383AA9AB749B}" srcOrd="0" destOrd="0" presId="urn:microsoft.com/office/officeart/2005/8/layout/process4"/>
    <dgm:cxn modelId="{B587AE82-CBB6-43F0-8D75-88AF70AAB86E}" srcId="{48AFC2CC-272E-41C7-BFE3-402C8025BCAD}" destId="{E1DB4969-C241-47FC-B362-D33B7566A7C1}" srcOrd="1" destOrd="0" parTransId="{33E3E7A2-0F5B-4428-AAA6-F11ED572BD3A}" sibTransId="{EDDA025F-C4A6-4E68-A864-31D80BB865E6}"/>
    <dgm:cxn modelId="{AF219688-CE54-47B6-B599-F97074769732}" srcId="{48AFC2CC-272E-41C7-BFE3-402C8025BCAD}" destId="{1B5A5607-E945-4BE9-814D-B0EF59B1C430}" srcOrd="3" destOrd="0" parTransId="{DB69DBA9-156D-4A15-9B2E-C28CADCBDCB3}" sibTransId="{A67FF2E3-02ED-4648-A2B6-DC4F7E2CC307}"/>
    <dgm:cxn modelId="{6587C595-A3F4-4EB8-97BB-102DD6B18937}" srcId="{48AFC2CC-272E-41C7-BFE3-402C8025BCAD}" destId="{1D3C4817-7970-4B83-AF07-61B7E50C9996}" srcOrd="2" destOrd="0" parTransId="{3EA88241-E0A1-43FA-B7B7-F715EBE467EC}" sibTransId="{73DEDEEA-F614-422F-A1FA-F2DA54935A22}"/>
    <dgm:cxn modelId="{2EDE7EBC-03E1-4B2B-9628-91C115BBE909}" type="presOf" srcId="{48AFC2CC-272E-41C7-BFE3-402C8025BCAD}" destId="{2BD634B8-DA83-49F5-9D02-0914F5E00507}" srcOrd="0" destOrd="0" presId="urn:microsoft.com/office/officeart/2005/8/layout/process4"/>
    <dgm:cxn modelId="{19261AE1-CDAA-437C-82BB-F32380991E11}" srcId="{48AFC2CC-272E-41C7-BFE3-402C8025BCAD}" destId="{2B972B0F-9F24-4FC0-BA51-EEBB0A7F8A73}" srcOrd="0" destOrd="0" parTransId="{823A6176-1344-4AAD-A081-89EB5DCC4093}" sibTransId="{D9926E93-0033-4EAE-8105-B122F3529813}"/>
    <dgm:cxn modelId="{1A3FA7F3-8CBB-413E-949D-A397A86417F4}" type="presOf" srcId="{2B972B0F-9F24-4FC0-BA51-EEBB0A7F8A73}" destId="{534D5A28-AA1C-4672-B587-DC2D8696AAD8}" srcOrd="0" destOrd="0" presId="urn:microsoft.com/office/officeart/2005/8/layout/process4"/>
    <dgm:cxn modelId="{D6D2B3FA-1ED9-49B5-B8F0-0D4F5075905A}" type="presOf" srcId="{1B5A5607-E945-4BE9-814D-B0EF59B1C430}" destId="{75B552A5-6396-4106-9A4A-445AED3E3CC6}" srcOrd="0" destOrd="0" presId="urn:microsoft.com/office/officeart/2005/8/layout/process4"/>
    <dgm:cxn modelId="{524811A3-ED31-4575-8340-647BFFE9B39F}" type="presParOf" srcId="{2BD634B8-DA83-49F5-9D02-0914F5E00507}" destId="{03B30CF2-AE31-4DED-84D9-3487159AD3E3}" srcOrd="0" destOrd="0" presId="urn:microsoft.com/office/officeart/2005/8/layout/process4"/>
    <dgm:cxn modelId="{0E485E5A-0BFB-44E3-91C8-C99EE7848A6A}" type="presParOf" srcId="{03B30CF2-AE31-4DED-84D9-3487159AD3E3}" destId="{75B552A5-6396-4106-9A4A-445AED3E3CC6}" srcOrd="0" destOrd="0" presId="urn:microsoft.com/office/officeart/2005/8/layout/process4"/>
    <dgm:cxn modelId="{4DD398C9-EA8F-4A43-88D9-5ECF6461BDF5}" type="presParOf" srcId="{2BD634B8-DA83-49F5-9D02-0914F5E00507}" destId="{F70F5C23-80D2-4CDF-B637-5C57A37CD123}" srcOrd="1" destOrd="0" presId="urn:microsoft.com/office/officeart/2005/8/layout/process4"/>
    <dgm:cxn modelId="{896EA0C7-4528-4DF7-9D51-8C03109F497C}" type="presParOf" srcId="{2BD634B8-DA83-49F5-9D02-0914F5E00507}" destId="{CD00B53B-13EB-400D-88F7-193FA1084681}" srcOrd="2" destOrd="0" presId="urn:microsoft.com/office/officeart/2005/8/layout/process4"/>
    <dgm:cxn modelId="{60B6883C-5FE5-4D3F-AEA7-F4621454E926}" type="presParOf" srcId="{CD00B53B-13EB-400D-88F7-193FA1084681}" destId="{3D88F0F6-5629-4C7E-A8D9-55126A1A5A1D}" srcOrd="0" destOrd="0" presId="urn:microsoft.com/office/officeart/2005/8/layout/process4"/>
    <dgm:cxn modelId="{C181981F-2F4E-4A88-8C42-009A0D018EC4}" type="presParOf" srcId="{2BD634B8-DA83-49F5-9D02-0914F5E00507}" destId="{ACD862B6-D655-498A-8FA6-1987A91783C3}" srcOrd="3" destOrd="0" presId="urn:microsoft.com/office/officeart/2005/8/layout/process4"/>
    <dgm:cxn modelId="{E7C5AD75-B35D-43EE-B5B9-33458A1E0BE1}" type="presParOf" srcId="{2BD634B8-DA83-49F5-9D02-0914F5E00507}" destId="{2F84B48E-D500-42B4-9D8F-F46FB2AC86EF}" srcOrd="4" destOrd="0" presId="urn:microsoft.com/office/officeart/2005/8/layout/process4"/>
    <dgm:cxn modelId="{A3A7EADA-DAB5-45EA-8BA4-34F5EEC1AE81}" type="presParOf" srcId="{2F84B48E-D500-42B4-9D8F-F46FB2AC86EF}" destId="{5E247E41-6DA2-446C-849F-383AA9AB749B}" srcOrd="0" destOrd="0" presId="urn:microsoft.com/office/officeart/2005/8/layout/process4"/>
    <dgm:cxn modelId="{1EE2F2DD-C6B7-403D-B437-7A63CE12D223}" type="presParOf" srcId="{2BD634B8-DA83-49F5-9D02-0914F5E00507}" destId="{736A69BE-A220-4144-BEB1-04BD59BF1329}" srcOrd="5" destOrd="0" presId="urn:microsoft.com/office/officeart/2005/8/layout/process4"/>
    <dgm:cxn modelId="{56A9B7E7-EE27-45BC-9061-F46AF766C1EB}" type="presParOf" srcId="{2BD634B8-DA83-49F5-9D02-0914F5E00507}" destId="{6647F38C-A354-4E92-82DD-B24CA78D34F1}" srcOrd="6" destOrd="0" presId="urn:microsoft.com/office/officeart/2005/8/layout/process4"/>
    <dgm:cxn modelId="{395EDE8F-1677-4206-A0B7-D62421760E0C}" type="presParOf" srcId="{6647F38C-A354-4E92-82DD-B24CA78D34F1}" destId="{534D5A28-AA1C-4672-B587-DC2D8696AAD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4415FE-1BEA-4AAF-8504-EF442423F26C}">
      <dsp:nvSpPr>
        <dsp:cNvPr id="0" name=""/>
        <dsp:cNvSpPr/>
      </dsp:nvSpPr>
      <dsp:spPr>
        <a:xfrm>
          <a:off x="0" y="4404986"/>
          <a:ext cx="7072620" cy="7226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rPr>
            <a:t>5) </a:t>
          </a:r>
          <a:r>
            <a:rPr lang="en-IL" sz="2400" kern="1200" dirty="0"/>
            <a:t>The feature vectors are used by a machine-learning model to classify each author as an IO driver or </a:t>
          </a:r>
          <a:r>
            <a:rPr lang="en-US" sz="2400" kern="1200" dirty="0"/>
            <a:t>not.</a:t>
          </a:r>
          <a:endParaRPr lang="en-IL" sz="2400" b="0" kern="1200" dirty="0">
            <a:solidFill>
              <a:prstClr val="black"/>
            </a:solidFill>
            <a:latin typeface="Calibri" panose="020F0502020204030204"/>
            <a:ea typeface="+mn-ea"/>
            <a:cs typeface="+mn-cs"/>
          </a:endParaRPr>
        </a:p>
      </dsp:txBody>
      <dsp:txXfrm>
        <a:off x="0" y="4404986"/>
        <a:ext cx="7072620" cy="722674"/>
      </dsp:txXfrm>
    </dsp:sp>
    <dsp:sp modelId="{6679C54E-D9B3-42D4-8579-0F059BE402E7}">
      <dsp:nvSpPr>
        <dsp:cNvPr id="0" name=""/>
        <dsp:cNvSpPr/>
      </dsp:nvSpPr>
      <dsp:spPr>
        <a:xfrm rot="10800000">
          <a:off x="0" y="3304353"/>
          <a:ext cx="7072620" cy="1111473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latin typeface="Calibri" panose="020F0502020204030204"/>
              <a:ea typeface="+mn-ea"/>
              <a:cs typeface="+mn-cs"/>
            </a:rPr>
            <a:t>4) </a:t>
          </a:r>
          <a:r>
            <a:rPr lang="en-IL" sz="2400" kern="1200" dirty="0"/>
            <a:t>Each user is represented by a human-readable feature </a:t>
          </a:r>
          <a:r>
            <a:rPr lang="en-IL" sz="2400" kern="1200" dirty="0" err="1"/>
            <a:t>vecto</a:t>
          </a:r>
          <a:r>
            <a:rPr lang="en-US" sz="2400" kern="1200" dirty="0"/>
            <a:t>r.</a:t>
          </a:r>
          <a:endParaRPr lang="en-IL" sz="2400" kern="1200" dirty="0">
            <a:latin typeface="Calibri" panose="020F0502020204030204"/>
            <a:ea typeface="+mn-ea"/>
            <a:cs typeface="+mn-cs"/>
          </a:endParaRPr>
        </a:p>
      </dsp:txBody>
      <dsp:txXfrm rot="10800000">
        <a:off x="0" y="3304353"/>
        <a:ext cx="7072620" cy="722202"/>
      </dsp:txXfrm>
    </dsp:sp>
    <dsp:sp modelId="{1286EBB1-156A-4900-80F5-B7DA82846AFD}">
      <dsp:nvSpPr>
        <dsp:cNvPr id="0" name=""/>
        <dsp:cNvSpPr/>
      </dsp:nvSpPr>
      <dsp:spPr>
        <a:xfrm rot="10800000">
          <a:off x="0" y="2203719"/>
          <a:ext cx="7072620" cy="1111473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3) Graph-based indicators are used to measure     author’s embeddedness.</a:t>
          </a:r>
          <a:endParaRPr lang="en-IL" sz="2400" kern="1200" dirty="0"/>
        </a:p>
      </dsp:txBody>
      <dsp:txXfrm rot="10800000">
        <a:off x="0" y="2203719"/>
        <a:ext cx="7072620" cy="722202"/>
      </dsp:txXfrm>
    </dsp:sp>
    <dsp:sp modelId="{EC9EF89E-2EC9-4197-83CE-6F0E9635859A}">
      <dsp:nvSpPr>
        <dsp:cNvPr id="0" name=""/>
        <dsp:cNvSpPr/>
      </dsp:nvSpPr>
      <dsp:spPr>
        <a:xfrm rot="10800000">
          <a:off x="0" y="1103085"/>
          <a:ext cx="7072620" cy="1111473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2) IO drivers tend to be embedded in dense communities.</a:t>
          </a:r>
          <a:endParaRPr lang="en-IL" sz="2400" kern="1200" dirty="0">
            <a:latin typeface="Calibri" panose="020F0502020204030204"/>
            <a:ea typeface="+mn-ea"/>
            <a:cs typeface="+mn-cs"/>
          </a:endParaRPr>
        </a:p>
      </dsp:txBody>
      <dsp:txXfrm rot="10800000">
        <a:off x="0" y="1103085"/>
        <a:ext cx="7072620" cy="722202"/>
      </dsp:txXfrm>
    </dsp:sp>
    <dsp:sp modelId="{449265AB-55D8-4494-95A0-FB133CF562A6}">
      <dsp:nvSpPr>
        <dsp:cNvPr id="0" name=""/>
        <dsp:cNvSpPr/>
      </dsp:nvSpPr>
      <dsp:spPr>
        <a:xfrm rot="10800000">
          <a:off x="0" y="2452"/>
          <a:ext cx="7072620" cy="1111473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1) Building a co-action graph represents author similarity</a:t>
          </a:r>
          <a:endParaRPr lang="en-IL" sz="2400" kern="1200" dirty="0"/>
        </a:p>
      </dsp:txBody>
      <dsp:txXfrm rot="10800000">
        <a:off x="0" y="2452"/>
        <a:ext cx="7072620" cy="7222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B552A5-6396-4106-9A4A-445AED3E3CC6}">
      <dsp:nvSpPr>
        <dsp:cNvPr id="0" name=""/>
        <dsp:cNvSpPr/>
      </dsp:nvSpPr>
      <dsp:spPr>
        <a:xfrm>
          <a:off x="0" y="3817172"/>
          <a:ext cx="10582656" cy="83510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L" sz="2400" kern="1200" dirty="0"/>
            <a:t>IO</a:t>
          </a:r>
          <a:r>
            <a:rPr lang="en-US" sz="2400" kern="1200" dirty="0"/>
            <a:t> accounts are in a large k-core.</a:t>
          </a:r>
          <a:endParaRPr lang="en-IL" sz="2400" kern="1200" dirty="0"/>
        </a:p>
      </dsp:txBody>
      <dsp:txXfrm>
        <a:off x="0" y="3817172"/>
        <a:ext cx="10582656" cy="835104"/>
      </dsp:txXfrm>
    </dsp:sp>
    <dsp:sp modelId="{3D88F0F6-5629-4C7E-A8D9-55126A1A5A1D}">
      <dsp:nvSpPr>
        <dsp:cNvPr id="0" name=""/>
        <dsp:cNvSpPr/>
      </dsp:nvSpPr>
      <dsp:spPr>
        <a:xfrm rot="10800000">
          <a:off x="0" y="2545309"/>
          <a:ext cx="10582656" cy="1284390"/>
        </a:xfrm>
        <a:prstGeom prst="upArrowCallou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L" sz="2400" kern="1200" dirty="0"/>
            <a:t>Since IO requires coordination, IO drivers are expected to appear in </a:t>
          </a:r>
          <a:r>
            <a:rPr lang="en-GB" sz="2400" kern="1200" dirty="0"/>
            <a:t>the coordinated</a:t>
          </a:r>
          <a:r>
            <a:rPr lang="en-IL" sz="2400" kern="1200" dirty="0"/>
            <a:t> groups. </a:t>
          </a:r>
        </a:p>
      </dsp:txBody>
      <dsp:txXfrm rot="10800000">
        <a:off x="0" y="2545309"/>
        <a:ext cx="10582656" cy="834558"/>
      </dsp:txXfrm>
    </dsp:sp>
    <dsp:sp modelId="{5E247E41-6DA2-446C-849F-383AA9AB749B}">
      <dsp:nvSpPr>
        <dsp:cNvPr id="0" name=""/>
        <dsp:cNvSpPr/>
      </dsp:nvSpPr>
      <dsp:spPr>
        <a:xfrm rot="10800000">
          <a:off x="0" y="1273445"/>
          <a:ext cx="10582656" cy="1284390"/>
        </a:xfrm>
        <a:prstGeom prst="upArrowCallou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L" sz="2400" kern="1200" dirty="0"/>
            <a:t>Coordinated authors are highly inter</a:t>
          </a:r>
          <a:r>
            <a:rPr lang="en-GB" sz="2400" kern="1200" dirty="0"/>
            <a:t>-</a:t>
          </a:r>
          <a:r>
            <a:rPr lang="en-IL" sz="2400" kern="1200" dirty="0"/>
            <a:t>connected in the</a:t>
          </a:r>
          <a:r>
            <a:rPr lang="en-GB" sz="2400" kern="1200" dirty="0"/>
            <a:t> co-action</a:t>
          </a:r>
          <a:r>
            <a:rPr lang="en-IL" sz="2400" kern="1200" dirty="0"/>
            <a:t> graph.</a:t>
          </a:r>
          <a:endParaRPr lang="en-GB" sz="2400" kern="1200" dirty="0"/>
        </a:p>
      </dsp:txBody>
      <dsp:txXfrm rot="10800000">
        <a:off x="0" y="1273445"/>
        <a:ext cx="10582656" cy="834558"/>
      </dsp:txXfrm>
    </dsp:sp>
    <dsp:sp modelId="{534D5A28-AA1C-4672-B587-DC2D8696AAD8}">
      <dsp:nvSpPr>
        <dsp:cNvPr id="0" name=""/>
        <dsp:cNvSpPr/>
      </dsp:nvSpPr>
      <dsp:spPr>
        <a:xfrm rot="10800000">
          <a:off x="0" y="1582"/>
          <a:ext cx="10582656" cy="1284390"/>
        </a:xfrm>
        <a:prstGeom prst="upArrowCallou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L" sz="2400" kern="1200" dirty="0"/>
            <a:t>The co-action graph represents behavioural similarity between authors.</a:t>
          </a:r>
        </a:p>
      </dsp:txBody>
      <dsp:txXfrm rot="10800000">
        <a:off x="0" y="1582"/>
        <a:ext cx="10582656" cy="8345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#1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2915196C-CDBC-4DEE-A220-849C85FC22AC}" type="datetimeFigureOut">
              <a:rPr lang="he-IL" smtClean="0"/>
              <a:t>י"ב/תשרי/תשפ"ז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7F6CD5E7-A5BE-4430-AD67-E129D63AAC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93829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D1760-78DB-D18D-FBB8-239E0A7E7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2EC71B-5AA6-886B-0231-A74B41DE50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D997CC-4715-39C7-93DD-C967C3080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57815-7BE0-C4B1-B3D0-083C2D02FC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D5E7-A5BE-4430-AD67-E129D63AAC5C}" type="slidenum">
              <a:rPr lang="he-IL" smtClean="0"/>
              <a:t>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68725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algn="r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algn="r">
              <a:buNone/>
            </a:pPr>
            <a:endParaRPr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783E6-A85C-4E94-BAD4-349975C5C1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5376" y="1354011"/>
            <a:ext cx="9144000" cy="238760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8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A3D7B5-5BE4-46C1-BA83-AEDFF303DE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5376" y="4218431"/>
            <a:ext cx="9144000" cy="1374013"/>
          </a:xfrm>
        </p:spPr>
        <p:txBody>
          <a:bodyPr>
            <a:normAutofit/>
          </a:bodyPr>
          <a:lstStyle>
            <a:lvl1pPr marL="0" indent="0" algn="l">
              <a:buNone/>
              <a:defRPr lang="he-IL" sz="20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subtitle style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03C65-1526-4474-93EA-92201F973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B3A86-AB79-4388-8CA5-9FC4B834779B}" type="datetime8">
              <a:rPr lang="he-IL" smtClean="0"/>
              <a:t>23 ספטמבר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4A285-90E9-4F27-9CCA-0A2DBEB47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19B0E-8F10-4832-ADC3-EA2B0C457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06172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65C3A-1C12-429A-B672-CB062EE35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2D984-D254-42A5-88FD-71A5B8FF6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buFont typeface="Courier New" panose="02070309020205020404" pitchFamily="49" charset="0"/>
              <a:buChar char="o"/>
              <a:defRPr sz="2000"/>
            </a:lvl2pPr>
            <a:lvl3pPr>
              <a:buFont typeface="Wingdings" panose="05000000000000000000" pitchFamily="2" charset="2"/>
              <a:buChar char="Ø"/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C169-3299-4F42-91D0-7AF77E398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4CBFB-2532-48BA-BAE2-ADD925390740}" type="datetime8">
              <a:rPr lang="he-IL" smtClean="0"/>
              <a:t>23 ספטמבר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2A088-F9A8-4123-A1D2-FE1125036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A253D-F657-44F9-AA3F-37F3CF175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14547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CE174-92FD-46FC-9A31-EF3515102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50" y="1709738"/>
            <a:ext cx="7852146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61C8F-4A58-4042-B898-A57C837DF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95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B49A7-5C76-42AD-8811-4CADE0447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C1FDD-37C4-4A6B-BF31-779943CE32CF}" type="datetime8">
              <a:rPr lang="he-IL" smtClean="0"/>
              <a:t>23 ספטמבר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F3F55-C2A3-4A87-96C0-A01E9BCA6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976F6-B98E-4B7D-839A-27BF9494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90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15C3C-CE9E-4F7A-B728-9A335B51FB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 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48EB9-480D-4A31-8BC3-B899B4AABD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6991" y="1821101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CAF003-9AC3-4B4C-A1AA-89972395A0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70991" y="1821101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9E07C-7B13-4A7C-AEAC-814BACFD9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C226C-A76A-4927-8F1D-1BD4AC033ABB}" type="datetime8">
              <a:rPr lang="he-IL" smtClean="0"/>
              <a:t>23 ספטמבר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6D24B-DA20-4CC6-87E7-866505B0C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E9C41-8689-47B3-A905-634220202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37299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DD0EE-D523-4780-A9CF-B6EE518CD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117" y="355600"/>
            <a:ext cx="8743124" cy="1325563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6447D-A16E-4B99-8F74-2BA51BF54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3148" y="1717419"/>
            <a:ext cx="5157787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2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B268A-D31A-4C35-948F-BF312EE59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3148" y="2511171"/>
            <a:ext cx="5157787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D0F3C6-09D4-4383-99DD-32F9053ACE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41752" y="1717419"/>
            <a:ext cx="5183188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2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91A8D3-C002-4BA1-96FF-375F70D218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41752" y="2517267"/>
            <a:ext cx="5183188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5CAC5E-E4EB-4131-AAEF-73C347968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DF2BF-D428-43E9-B36B-6DD16CF93579}" type="datetime8">
              <a:rPr lang="he-IL" smtClean="0"/>
              <a:t>23 ספטמבר 26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EC57A3-285F-4D36-851E-593C5F287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6F8AB8-B698-4176-96F8-B833FE013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42569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FBF78-4DF0-407A-8E5A-BEF1E0D8B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9A3A88-6914-48FB-BE6F-948C3C66F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A9136-4922-4C74-B05C-12CD0951E601}" type="datetime8">
              <a:rPr lang="he-IL" smtClean="0"/>
              <a:t>23 ספטמבר 26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50A1D4-4FBF-400A-B2CE-30A42EF7F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8B1F93-B2D0-4E42-B3CE-E85D6FC90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52457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88500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213734-3C5F-473D-9DD6-0C484ADFB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3CA8-2E63-412C-AA06-0D760EBE5965}" type="datetime8">
              <a:rPr lang="he-IL" smtClean="0"/>
              <a:t>23 ספטמבר 26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48D2E8-A18C-4B06-AF11-07B4F9C53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7CBE2-2F2D-43B9-8BC3-25BA1DDA4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78659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80516-8B4A-495E-BFE5-33BF2DA50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2684" y="98132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53460-117E-457C-9F0F-1AA7B34F2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0804" y="987425"/>
            <a:ext cx="617220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3E485A-1FF8-4FDD-A659-6ACC79989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12684" y="2581529"/>
            <a:ext cx="3932237" cy="329514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A78A4-064B-49BB-9360-FC686D8B5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7B867-AA4A-4FF3-AD8B-0AD0F18EE595}" type="datetime8">
              <a:rPr lang="he-IL" smtClean="0"/>
              <a:t>23 ספטמבר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D0114A-6704-44C0-BCAE-EAB756E64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E98D20-B7C4-4CE0-812C-9B6976E08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24658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181F6-3528-4A38-B435-490FC2AFC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7173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7A6AE1-0DCE-4A5A-AC24-95C331B15D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987425"/>
            <a:ext cx="5259387" cy="487362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CD3E13-E71C-4EE3-BA14-54D61F729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27173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3A2D14-BF1B-420A-B0DF-91CD6E771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EBD3-88E8-46DB-BD3B-F935B7013014}" type="datetime8">
              <a:rPr lang="he-IL" smtClean="0"/>
              <a:t>23 ספטמבר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27BD5-73FD-47B4-BCDF-92BB6EA15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E5EAC3-6043-41F9-B8D4-7F41DABB2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72402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CA57A-6715-4A64-AF19-74F322841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D19522-954F-44AB-A8B2-881237A98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7FD09-CBF4-4ADA-B2BB-979C1F74B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56BC8-8E7D-4896-9980-77BC87FB8E3E}" type="datetime8">
              <a:rPr lang="he-IL" smtClean="0"/>
              <a:t>23 ספטמבר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DEA1C-6A3E-4E8A-94C4-85129424B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897DB-9E67-41A9-B2B3-D6E613340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51003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C7D7B8-0F66-43EC-B9A2-C261F37BC4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B89D3-E69A-49EE-8D8C-EAC8400E3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10142" y="365125"/>
            <a:ext cx="7262357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A9B41-D269-4701-B27C-CDDBCF201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327C8-CB36-417E-834B-544633ADCE63}" type="datetime8">
              <a:rPr lang="he-IL" smtClean="0"/>
              <a:t>23 ספטמבר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D14E7-5E00-4D30-9BDD-9B32BEA0F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1914F-9592-4EB2-998B-B922F8A28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15556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2684E-6693-F58C-BC24-150353E83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65D1C-C98B-44F5-AB2A-FEE3E85D0A94}" type="datetime8">
              <a:rPr lang="he-IL" smtClean="0"/>
              <a:t>23 ספטמבר 26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C0620-C9BE-4C99-2D6C-A02A9A677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48F728-5692-0756-E6BD-FFB67E1A3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pPr/>
              <a:t>‹#›</a:t>
            </a:fld>
            <a:endParaRPr lang="he-IL" dirty="0"/>
          </a:p>
        </p:txBody>
      </p:sp>
      <p:pic>
        <p:nvPicPr>
          <p:cNvPr id="7" name="Picture 6" descr="A document with text on it&#10;&#10;AI-generated content may be incorrect.">
            <a:extLst>
              <a:ext uri="{FF2B5EF4-FFF2-40B4-BE49-F238E27FC236}">
                <a16:creationId xmlns:a16="http://schemas.microsoft.com/office/drawing/2014/main" id="{221434F7-1295-8CB3-5E53-891A52C3D7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06" t="8664" r="8034" b="78094"/>
          <a:stretch>
            <a:fillRect/>
          </a:stretch>
        </p:blipFill>
        <p:spPr>
          <a:xfrm>
            <a:off x="1038256" y="2478278"/>
            <a:ext cx="10821413" cy="22942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DFF33BC-21D6-16B0-C505-3CEE5CDF6D13}"/>
              </a:ext>
            </a:extLst>
          </p:cNvPr>
          <p:cNvSpPr txBox="1"/>
          <p:nvPr userDrawn="1"/>
        </p:nvSpPr>
        <p:spPr>
          <a:xfrm>
            <a:off x="3072268" y="679697"/>
            <a:ext cx="87534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0" kern="1200" dirty="0">
                <a:solidFill>
                  <a:srgbClr val="009DBB"/>
                </a:solidFill>
                <a:latin typeface="+mj-lt"/>
                <a:ea typeface="+mj-ea"/>
                <a:cs typeface="+mj-cs"/>
              </a:rPr>
              <a:t>Workflow</a:t>
            </a:r>
            <a:endParaRPr lang="en-IL" sz="4400" b="0" kern="1200" dirty="0">
              <a:solidFill>
                <a:srgbClr val="009DBB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12383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EEDABD8-1012-46AD-89C2-C8E4E06DB9B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3375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C9C71F-AAAB-425C-B1EA-7A7182DF4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FA75E-5AAA-412B-BAE0-CF5F86B37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10143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198C1-7EB5-4CA4-98A0-2833A18F30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1014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65D1C-C98B-44F5-AB2A-FEE3E85D0A94}" type="datetime8">
              <a:rPr lang="he-IL" smtClean="0"/>
              <a:t>23 ספטמבר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97CC5-2317-4D8E-8C89-E7B89F4BE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10543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048FF-C291-43F3-A9DD-3B48AE56F5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8704" y="6476841"/>
            <a:ext cx="4522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AB8EDD-9EF2-4633-A1C2-4D908C1019B4}" type="slidenum">
              <a:rPr lang="he-IL" smtClean="0"/>
              <a:pPr/>
              <a:t>‹#›</a:t>
            </a:fld>
            <a:endParaRPr lang="he-I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1D43D3-8C77-B77A-1D9D-8CDC43D8429F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2957" y="6139952"/>
            <a:ext cx="2642865" cy="79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35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9DBB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9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 descr="A green object on a black surface&#10;&#10;Description automatically generated with low confidence">
            <a:extLst>
              <a:ext uri="{FF2B5EF4-FFF2-40B4-BE49-F238E27FC236}">
                <a16:creationId xmlns:a16="http://schemas.microsoft.com/office/drawing/2014/main" id="{3CB67A20-DF50-FA5C-9F89-051979AEC2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16" r="11818" b="26261"/>
          <a:stretch/>
        </p:blipFill>
        <p:spPr>
          <a:xfrm>
            <a:off x="4547937" y="0"/>
            <a:ext cx="7644062" cy="36567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F2EE9F-F796-A6BB-3045-695978EABEE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830" r="-1" b="7292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220BDD-53D9-474C-9782-2415C685D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956582"/>
            <a:ext cx="6234954" cy="1724819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I Can See </a:t>
            </a:r>
            <a:r>
              <a:rPr lang="en-GB" sz="4000" b="1" dirty="0">
                <a:solidFill>
                  <a:srgbClr val="FF0000"/>
                </a:solidFill>
              </a:rPr>
              <a:t>U</a:t>
            </a:r>
            <a:r>
              <a:rPr lang="en-GB" sz="4000" b="1" dirty="0">
                <a:solidFill>
                  <a:schemeClr val="bg1"/>
                </a:solidFill>
              </a:rPr>
              <a:t>.</a:t>
            </a:r>
            <a:br>
              <a:rPr lang="en-GB" sz="4000" dirty="0">
                <a:solidFill>
                  <a:schemeClr val="bg1"/>
                </a:solidFill>
              </a:rPr>
            </a:br>
            <a:r>
              <a:rPr lang="en-GB" sz="2400" dirty="0">
                <a:solidFill>
                  <a:schemeClr val="bg1"/>
                </a:solidFill>
              </a:rPr>
              <a:t>Indicator-Based Information Operation Detection and Topic-Aware Group Analysis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553B468-8035-4F27-9A10-D7A4E7C75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824627"/>
            <a:ext cx="4361329" cy="1917801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prstClr val="white"/>
                </a:solidFill>
              </a:rPr>
              <a:t>23.09.2026</a:t>
            </a:r>
          </a:p>
          <a:p>
            <a:r>
              <a:rPr lang="en-US" dirty="0"/>
              <a:t>Amit Ner Gaon, Noa Tal, Idan </a:t>
            </a:r>
            <a:r>
              <a:rPr lang="en-GB" dirty="0"/>
              <a:t>Muallem</a:t>
            </a:r>
            <a:endParaRPr lang="en-US" dirty="0"/>
          </a:p>
          <a:p>
            <a:r>
              <a:rPr lang="en-US" dirty="0"/>
              <a:t>Prof. Rami </a:t>
            </a:r>
            <a:r>
              <a:rPr lang="en-US" dirty="0" err="1"/>
              <a:t>Puzis</a:t>
            </a:r>
            <a:endParaRPr lang="en-IL" dirty="0"/>
          </a:p>
          <a:p>
            <a:endParaRPr lang="en-US" b="1" dirty="0">
              <a:solidFill>
                <a:prstClr val="white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E9033-B890-41F0-A499-F7F83D1F0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E6AB8EDD-9EF2-4633-A1C2-4D908C1019B4}" type="slidenum">
              <a:rPr kumimoji="0" lang="he-IL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he-IL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8" name="Title 4">
            <a:extLst>
              <a:ext uri="{FF2B5EF4-FFF2-40B4-BE49-F238E27FC236}">
                <a16:creationId xmlns:a16="http://schemas.microsoft.com/office/drawing/2014/main" id="{6D84A53B-A147-EEC0-9D81-D931915B4D17}"/>
              </a:ext>
            </a:extLst>
          </p:cNvPr>
          <p:cNvSpPr txBox="1">
            <a:spLocks/>
          </p:cNvSpPr>
          <p:nvPr/>
        </p:nvSpPr>
        <p:spPr>
          <a:xfrm>
            <a:off x="838200" y="3706020"/>
            <a:ext cx="3138714" cy="62546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8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DE9F95-0435-3A81-61D6-23ED74B595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03" y="0"/>
            <a:ext cx="2642865" cy="79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60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25F04-2075-5640-5DEC-3A7503627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707E5-B275-6452-62FB-2B98BD269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</p:spPr>
        <p:txBody>
          <a:bodyPr anchor="ctr">
            <a:normAutofit/>
          </a:bodyPr>
          <a:lstStyle/>
          <a:p>
            <a:r>
              <a:rPr lang="en-IL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11588-A0A9-88D4-64DC-E215A71D58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6990" y="1821101"/>
            <a:ext cx="5944860" cy="4749032"/>
          </a:xfrm>
        </p:spPr>
        <p:txBody>
          <a:bodyPr>
            <a:noAutofit/>
          </a:bodyPr>
          <a:lstStyle/>
          <a:p>
            <a:r>
              <a:rPr lang="en-IL" sz="3000" dirty="0"/>
              <a:t>Social media platforms </a:t>
            </a:r>
            <a:r>
              <a:rPr lang="en-US" sz="3000" dirty="0"/>
              <a:t>are</a:t>
            </a:r>
            <a:r>
              <a:rPr lang="en-IL" sz="3000" dirty="0"/>
              <a:t> central spaces for public discourse</a:t>
            </a:r>
            <a:r>
              <a:rPr lang="en-US" sz="3000" dirty="0"/>
              <a:t>. </a:t>
            </a:r>
          </a:p>
          <a:p>
            <a:pPr marL="0" indent="0">
              <a:buNone/>
            </a:pPr>
            <a:r>
              <a:rPr lang="en-IL" sz="1400" dirty="0" err="1"/>
              <a:t>Seckin</a:t>
            </a:r>
            <a:r>
              <a:rPr lang="en-IL" sz="1400" dirty="0"/>
              <a:t> et al. (2025). “Sharing without clicking on news in social media.”</a:t>
            </a:r>
          </a:p>
          <a:p>
            <a:r>
              <a:rPr lang="en-GB" sz="3000" dirty="0"/>
              <a:t>Information operations (IOs) </a:t>
            </a:r>
            <a:r>
              <a:rPr lang="en-US" sz="3000" dirty="0"/>
              <a:t>exploit the </a:t>
            </a:r>
            <a:r>
              <a:rPr lang="en-IL" sz="3000" dirty="0"/>
              <a:t>openness</a:t>
            </a:r>
            <a:r>
              <a:rPr lang="en-US" sz="3000" dirty="0"/>
              <a:t> of social media</a:t>
            </a:r>
            <a:r>
              <a:rPr lang="en-IL" sz="3000" dirty="0"/>
              <a:t> to manipulate online </a:t>
            </a:r>
            <a:r>
              <a:rPr lang="en-US" sz="3000" dirty="0"/>
              <a:t>discourse, </a:t>
            </a:r>
            <a:r>
              <a:rPr lang="en-GB" sz="3000" dirty="0"/>
              <a:t>threatening </a:t>
            </a:r>
            <a:r>
              <a:rPr lang="en-IL" sz="3000" dirty="0"/>
              <a:t>democratic processes, public trust, and societal cohesion</a:t>
            </a:r>
            <a:r>
              <a:rPr lang="en-US" sz="3000" dirty="0"/>
              <a:t>.</a:t>
            </a:r>
          </a:p>
          <a:p>
            <a:pPr marL="0" indent="0">
              <a:buNone/>
            </a:pPr>
            <a:r>
              <a:rPr lang="en-IL" sz="1400" dirty="0"/>
              <a:t>Weedon et al. (2017), “Information Operations and Facebook”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1C13A7-1923-2D9F-B551-824B61A989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582"/>
          <a:stretch>
            <a:fillRect/>
          </a:stretch>
        </p:blipFill>
        <p:spPr>
          <a:xfrm>
            <a:off x="7001397" y="1546558"/>
            <a:ext cx="5181600" cy="42107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5F257-DB4A-FAD3-2097-E17D9C5B1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88943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552B6-F6A0-A5F8-3084-2EFDF779A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383EA-9AD0-8D8C-EF0B-B6A71641A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 &amp; Coordination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55DA2-E1AA-6D41-1CC8-89FE07E75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2987007"/>
          </a:xfrm>
        </p:spPr>
        <p:txBody>
          <a:bodyPr>
            <a:normAutofit fontScale="92500" lnSpcReduction="20000"/>
          </a:bodyPr>
          <a:lstStyle/>
          <a:p>
            <a:r>
              <a:rPr lang="en-IL" sz="3200" dirty="0"/>
              <a:t>IO</a:t>
            </a:r>
            <a:r>
              <a:rPr lang="en-GB" sz="3200" dirty="0"/>
              <a:t>s</a:t>
            </a:r>
            <a:r>
              <a:rPr lang="en-IL" sz="3200" dirty="0"/>
              <a:t> rely on fleets of coordinated accounts acting toward a shared objective</a:t>
            </a:r>
            <a:r>
              <a:rPr lang="en-GB" sz="3200" dirty="0"/>
              <a:t>. Coordination is what amplifies their influence</a:t>
            </a:r>
            <a:r>
              <a:rPr lang="en-IL" sz="3200" dirty="0"/>
              <a:t>.</a:t>
            </a:r>
            <a:r>
              <a:rPr lang="en-US" sz="3200" dirty="0"/>
              <a:t> </a:t>
            </a:r>
          </a:p>
          <a:p>
            <a:pPr marL="0" indent="0">
              <a:buNone/>
            </a:pPr>
            <a:r>
              <a:rPr lang="en-IL" sz="1500" dirty="0"/>
              <a:t>Pacheco et al.</a:t>
            </a:r>
            <a:r>
              <a:rPr lang="en-US" sz="1500" dirty="0"/>
              <a:t> “</a:t>
            </a:r>
            <a:r>
              <a:rPr lang="en-IL" sz="1500" dirty="0"/>
              <a:t>Uncovering Coordinated Networks on Social Media: Methods and Case Studies</a:t>
            </a:r>
            <a:r>
              <a:rPr lang="en-US" sz="1500" dirty="0"/>
              <a:t>”</a:t>
            </a:r>
          </a:p>
          <a:p>
            <a:r>
              <a:rPr lang="en-IL" sz="3200" dirty="0"/>
              <a:t>Coordinated activity leaves observable traces of behavioural similarity</a:t>
            </a:r>
            <a:r>
              <a:rPr lang="en-US" sz="3200" dirty="0"/>
              <a:t>.</a:t>
            </a:r>
            <a:r>
              <a:rPr lang="en-IL" sz="3200" dirty="0"/>
              <a:t> </a:t>
            </a:r>
            <a:endParaRPr lang="en-US" sz="3200" dirty="0"/>
          </a:p>
          <a:p>
            <a:pPr marL="0" indent="0">
              <a:buNone/>
            </a:pPr>
            <a:r>
              <a:rPr lang="en-IL" sz="1500" dirty="0" err="1"/>
              <a:t>Luceri</a:t>
            </a:r>
            <a:r>
              <a:rPr lang="en-IL" sz="1500" dirty="0"/>
              <a:t> et al. (2024), “Unmasking the Web of Deceit: Uncovering Coordinated Activity to Expose Information Operations on Twitter”</a:t>
            </a:r>
            <a:endParaRPr lang="en-US" sz="1500" dirty="0"/>
          </a:p>
          <a:p>
            <a:r>
              <a:rPr lang="en-IL" sz="3200" dirty="0"/>
              <a:t>Therefore, </a:t>
            </a:r>
            <a:r>
              <a:rPr lang="en-IL" sz="3200" dirty="0">
                <a:solidFill>
                  <a:schemeClr val="accent6"/>
                </a:solidFill>
              </a:rPr>
              <a:t>identifying coordination is a key step toward detecting IO drivers.</a:t>
            </a:r>
          </a:p>
          <a:p>
            <a:endParaRPr lang="en-IL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0023A7-90B0-501B-17AB-CF4320671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3</a:t>
            </a:fld>
            <a:endParaRPr lang="he-IL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85EB279-80AA-7F93-2976-F7AAA96AF9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53" b="2865"/>
          <a:stretch>
            <a:fillRect/>
          </a:stretch>
        </p:blipFill>
        <p:spPr bwMode="auto">
          <a:xfrm>
            <a:off x="3603428" y="4398614"/>
            <a:ext cx="4985144" cy="2556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9625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925B1-3CF4-8E9D-B717-3F99155A1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44515-512F-748F-F0F1-FE7A55624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Related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B2338-DB07-7A9B-F0E9-C69CA320E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5303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L" b="1" dirty="0"/>
              <a:t>IO-Driver Detection Methods:</a:t>
            </a:r>
          </a:p>
          <a:p>
            <a:pPr>
              <a:spcBef>
                <a:spcPts val="900"/>
              </a:spcBef>
            </a:pPr>
            <a:r>
              <a:rPr lang="en-IL" b="1" dirty="0"/>
              <a:t>Node-Local: </a:t>
            </a:r>
            <a:r>
              <a:rPr lang="en-IL" dirty="0"/>
              <a:t>detect suspicious users from their individual content, activity, and behaviour.</a:t>
            </a:r>
          </a:p>
          <a:p>
            <a:pPr marL="342900" indent="0">
              <a:buNone/>
            </a:pPr>
            <a:r>
              <a:rPr lang="en-IL" sz="1400" i="1" dirty="0">
                <a:solidFill>
                  <a:srgbClr val="7F7F7F"/>
                </a:solidFill>
              </a:rPr>
              <a:t>Tomaiuolo et al., A Survey on Troll Detection, Future Internet, 2020</a:t>
            </a:r>
          </a:p>
          <a:p>
            <a:pPr>
              <a:spcBef>
                <a:spcPts val="900"/>
              </a:spcBef>
            </a:pPr>
            <a:r>
              <a:rPr lang="en-IL" b="1" dirty="0"/>
              <a:t>Network-Based: </a:t>
            </a:r>
            <a:r>
              <a:rPr lang="en-IL" dirty="0"/>
              <a:t>detect coordinated groups from graph structure and behavioural similarity.</a:t>
            </a:r>
          </a:p>
          <a:p>
            <a:pPr marL="342900" indent="0">
              <a:buNone/>
            </a:pPr>
            <a:r>
              <a:rPr lang="en-IL" sz="1400" i="1" dirty="0">
                <a:solidFill>
                  <a:srgbClr val="7F7F7F"/>
                </a:solidFill>
              </a:rPr>
              <a:t>Pacheco et al., Uncovering Coordinated Networks on Social Media: Methods and Case Studies, ICWSM, 2021</a:t>
            </a:r>
          </a:p>
          <a:p>
            <a:pPr>
              <a:spcBef>
                <a:spcPts val="900"/>
              </a:spcBef>
            </a:pPr>
            <a:r>
              <a:rPr lang="en-IL" b="1" dirty="0"/>
              <a:t>Hybrid: </a:t>
            </a:r>
            <a:r>
              <a:rPr lang="en-IL" dirty="0"/>
              <a:t>combine user content with network information to detect IO drivers.</a:t>
            </a:r>
          </a:p>
          <a:p>
            <a:pPr marL="342900" indent="0">
              <a:buNone/>
            </a:pPr>
            <a:r>
              <a:rPr lang="en-IL" sz="1400" i="1" dirty="0">
                <a:solidFill>
                  <a:srgbClr val="7F7F7F"/>
                </a:solidFill>
              </a:rPr>
              <a:t>Minici et al., IOHunter: Graph Foundation Model to Uncover Online Information Operations, AAAI, 2025</a:t>
            </a:r>
          </a:p>
          <a:p>
            <a:pPr marL="0" indent="0" algn="ctr">
              <a:buNone/>
            </a:pPr>
            <a:r>
              <a:rPr lang="en-IL" sz="2000" b="1" dirty="0"/>
              <a:t>The gap: existing approaches either detect coordinated groups without quantifying each account’s depth of involvement, or implicitly encode structural embeddedness within black-box models. None provides an explicit, interpretable, account-level measure of coordination depth.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68B0A1-1249-8531-140A-79FDF456D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68405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E7EBB-9ADD-4D81-20D6-6746201B9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B3CD8-080B-AA20-3306-2F83ED293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Our 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9CE5C-A0DA-F3F6-800F-09B5FA1E5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769728"/>
          </a:xfrm>
        </p:spPr>
        <p:txBody>
          <a:bodyPr>
            <a:normAutofit/>
          </a:bodyPr>
          <a:lstStyle/>
          <a:p>
            <a:r>
              <a:rPr lang="en-IL" sz="4000" dirty="0"/>
              <a:t>An interpretable, indicator-based approach for account-level IO detection.</a:t>
            </a:r>
            <a:endParaRPr lang="en-US" sz="4000" dirty="0"/>
          </a:p>
          <a:p>
            <a:endParaRPr lang="en-IL" sz="4000" dirty="0"/>
          </a:p>
          <a:p>
            <a:r>
              <a:rPr lang="en-IL" sz="4000" dirty="0"/>
              <a:t>Topic-aware </a:t>
            </a:r>
            <a:r>
              <a:rPr lang="en-US" sz="4000" dirty="0"/>
              <a:t>group </a:t>
            </a:r>
            <a:r>
              <a:rPr lang="en-IL" sz="4000" dirty="0"/>
              <a:t>analysis revealing the campaign’s agenda.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824614-B785-3AAF-F357-019EEE242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1971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23C2B-714F-79A6-069D-72EE11AD9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2392E65-6C94-8CDE-41D1-EAE57436C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49" y="1709738"/>
            <a:ext cx="9914592" cy="2852737"/>
          </a:xfrm>
        </p:spPr>
        <p:txBody>
          <a:bodyPr/>
          <a:lstStyle/>
          <a:p>
            <a:br>
              <a:rPr lang="en-US" dirty="0"/>
            </a:br>
            <a:r>
              <a:rPr lang="en-US" dirty="0"/>
              <a:t>I</a:t>
            </a:r>
            <a:r>
              <a:rPr lang="en-IL" dirty="0" err="1"/>
              <a:t>nterpretable</a:t>
            </a:r>
            <a:r>
              <a:rPr lang="en-IL" dirty="0"/>
              <a:t> Indicators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6BA2255-BB39-901A-505B-15E837C908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06A908-6CE4-A3F7-B678-941DAB5DD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03514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B6E49-358C-1C91-1495-06036A901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E1501-1E19-A862-A5FB-5BF4DE74B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4B174-F87B-BC9E-382B-A5996C0E5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769728"/>
          </a:xfrm>
        </p:spPr>
        <p:txBody>
          <a:bodyPr>
            <a:normAutofit fontScale="85000" lnSpcReduction="20000"/>
          </a:bodyPr>
          <a:lstStyle/>
          <a:p>
            <a:r>
              <a:rPr lang="en-IL" sz="3600" dirty="0"/>
              <a:t>Machine-learning models classify authors using feature vectors. Multiple indicators capture different aspects of author behaviour and may improve classification.</a:t>
            </a:r>
            <a:endParaRPr lang="en-US" sz="3600" dirty="0"/>
          </a:p>
          <a:p>
            <a:r>
              <a:rPr lang="en-IL" sz="3600" dirty="0"/>
              <a:t>Graph-Based Indicators</a:t>
            </a:r>
            <a:endParaRPr lang="en-US" sz="3600" dirty="0"/>
          </a:p>
          <a:p>
            <a:pPr lvl="1"/>
            <a:r>
              <a:rPr lang="en-US" sz="3200" b="1" dirty="0"/>
              <a:t> </a:t>
            </a:r>
            <a:r>
              <a:rPr lang="en-IL" sz="3200" b="1" dirty="0"/>
              <a:t>Quantitative:</a:t>
            </a:r>
            <a:r>
              <a:rPr lang="en-IL" sz="3200" dirty="0"/>
              <a:t> Core number, centralities, and PageRank measure an author’s structural importance.</a:t>
            </a:r>
            <a:endParaRPr lang="en-US" sz="3200" dirty="0"/>
          </a:p>
          <a:p>
            <a:pPr lvl="1"/>
            <a:r>
              <a:rPr lang="en-US" sz="3200" dirty="0"/>
              <a:t> </a:t>
            </a:r>
            <a:r>
              <a:rPr lang="en-IL" sz="3200" b="1" dirty="0"/>
              <a:t>Categorical:</a:t>
            </a:r>
            <a:r>
              <a:rPr lang="en-IL" sz="3200" dirty="0"/>
              <a:t> Community membership shows which </a:t>
            </a:r>
            <a:r>
              <a:rPr lang="en-GB" sz="3200" dirty="0"/>
              <a:t>neighbourhood</a:t>
            </a:r>
            <a:r>
              <a:rPr lang="en-IL" sz="3200" dirty="0"/>
              <a:t> the author belongs to.</a:t>
            </a:r>
            <a:endParaRPr lang="en-US" sz="3600" dirty="0"/>
          </a:p>
          <a:p>
            <a:r>
              <a:rPr lang="en-IL" sz="3600" dirty="0"/>
              <a:t>Topic-Based Indicators</a:t>
            </a:r>
            <a:endParaRPr lang="en-US" sz="3600" dirty="0"/>
          </a:p>
          <a:p>
            <a:pPr lvl="1"/>
            <a:r>
              <a:rPr lang="en-IL" sz="3200" b="1" dirty="0"/>
              <a:t>TF</a:t>
            </a:r>
            <a:r>
              <a:rPr lang="en-US" sz="3200" b="1" dirty="0"/>
              <a:t>-</a:t>
            </a:r>
            <a:r>
              <a:rPr lang="en-IL" sz="3200" b="1" dirty="0"/>
              <a:t>IDF</a:t>
            </a:r>
            <a:r>
              <a:rPr lang="en-US" sz="3200" b="1" dirty="0"/>
              <a:t> </a:t>
            </a:r>
            <a:r>
              <a:rPr lang="en-IL" sz="3200" b="1" dirty="0"/>
              <a:t>based:</a:t>
            </a:r>
            <a:r>
              <a:rPr lang="en-IL" sz="3200" dirty="0"/>
              <a:t> Key score measures how strongly the author uses important entities.</a:t>
            </a:r>
            <a:r>
              <a:rPr lang="en-US" sz="3200" dirty="0"/>
              <a:t> </a:t>
            </a:r>
          </a:p>
          <a:p>
            <a:pPr lvl="1"/>
            <a:r>
              <a:rPr lang="en-US" sz="3200" b="1" dirty="0"/>
              <a:t>Posting-based</a:t>
            </a:r>
            <a:r>
              <a:rPr lang="en-IL" sz="3200" b="1" dirty="0"/>
              <a:t>:</a:t>
            </a:r>
            <a:r>
              <a:rPr lang="en-IL" sz="3200" dirty="0"/>
              <a:t> Posting </a:t>
            </a:r>
            <a:r>
              <a:rPr lang="en-US" sz="3200" dirty="0"/>
              <a:t>activity and distribution across topics </a:t>
            </a:r>
            <a:r>
              <a:rPr lang="en-IL" sz="3200" dirty="0"/>
              <a:t>describe </a:t>
            </a:r>
            <a:r>
              <a:rPr lang="en-US" sz="3200" dirty="0"/>
              <a:t>how and what the </a:t>
            </a:r>
            <a:r>
              <a:rPr lang="en-IL" sz="3200" dirty="0"/>
              <a:t>author posts about</a:t>
            </a:r>
            <a:r>
              <a:rPr lang="en-US" sz="3200" dirty="0"/>
              <a:t>.</a:t>
            </a:r>
            <a:r>
              <a:rPr lang="en-IL" sz="3200" dirty="0"/>
              <a:t> 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E1BB48-E83E-BAE3-A307-B85C0F925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68098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E27CD-C8FF-B185-45D8-666A78A68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98079-07AB-1011-721B-DDEB46873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949044" cy="1325563"/>
          </a:xfrm>
        </p:spPr>
        <p:txBody>
          <a:bodyPr>
            <a:normAutofit/>
          </a:bodyPr>
          <a:lstStyle/>
          <a:p>
            <a:r>
              <a:rPr lang="en-IL" dirty="0"/>
              <a:t>Co-Action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FF6C3-80E1-C75C-69F0-3A7FFA1D1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4"/>
            <a:ext cx="10582656" cy="4441825"/>
          </a:xfrm>
        </p:spPr>
        <p:txBody>
          <a:bodyPr>
            <a:normAutofit/>
          </a:bodyPr>
          <a:lstStyle/>
          <a:p>
            <a:r>
              <a:rPr lang="en-GB" sz="3200" b="1" dirty="0"/>
              <a:t>Nodes:</a:t>
            </a:r>
            <a:r>
              <a:rPr lang="en-GB" sz="3200" dirty="0"/>
              <a:t> authors in the discourse.</a:t>
            </a:r>
          </a:p>
          <a:p>
            <a:r>
              <a:rPr lang="en-GB" sz="3200" b="1" dirty="0"/>
              <a:t>Edges: </a:t>
            </a:r>
            <a:r>
              <a:rPr lang="en-GB" sz="3200" dirty="0"/>
              <a:t>co-action relations between a pair of authors (e.g., posting the same hashtag). Represents </a:t>
            </a:r>
            <a:r>
              <a:rPr lang="en-US" sz="3200" b="1" dirty="0"/>
              <a:t>behavioral similarity</a:t>
            </a:r>
            <a:r>
              <a:rPr lang="en-GB" sz="3200" b="1" dirty="0"/>
              <a:t> </a:t>
            </a:r>
            <a:r>
              <a:rPr lang="en-GB" sz="3200" dirty="0"/>
              <a:t>between the authors.</a:t>
            </a:r>
          </a:p>
          <a:p>
            <a:r>
              <a:rPr lang="en-GB" sz="3200" b="1" dirty="0"/>
              <a:t>Purpose</a:t>
            </a:r>
            <a:r>
              <a:rPr lang="en-GB" sz="3200" dirty="0"/>
              <a:t>: expose coordinated behaviour for IO detection.</a:t>
            </a:r>
          </a:p>
          <a:p>
            <a:endParaRPr lang="en-GB" sz="2800" dirty="0"/>
          </a:p>
          <a:p>
            <a:endParaRPr lang="en-GB" sz="2800" dirty="0"/>
          </a:p>
          <a:p>
            <a:pPr marL="457200" lvl="1" indent="0">
              <a:buNone/>
            </a:pPr>
            <a:endParaRPr lang="en-GB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E3158-F388-D9C9-D303-42FD2F68D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8</a:t>
            </a:fld>
            <a:endParaRPr lang="he-IL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94F46E8E-95AB-4D82-04F7-80C932FEC2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062" b="10900"/>
          <a:stretch>
            <a:fillRect/>
          </a:stretch>
        </p:blipFill>
        <p:spPr bwMode="auto">
          <a:xfrm>
            <a:off x="1243087" y="4439118"/>
            <a:ext cx="9585434" cy="2123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1122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0C904-6A27-8E88-FF68-740AA5CCE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011DC-22C8-9C10-CE8B-B117FA4DA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Graph Indicators</a:t>
            </a:r>
            <a:r>
              <a:rPr lang="en-US" dirty="0"/>
              <a:t> Workflow</a:t>
            </a:r>
            <a:endParaRPr lang="en-IL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583CB65E-CDB4-6CBC-AA68-A7C7589626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7834038"/>
              </p:ext>
            </p:extLst>
          </p:nvPr>
        </p:nvGraphicFramePr>
        <p:xfrm>
          <a:off x="1243087" y="1575486"/>
          <a:ext cx="7072620" cy="51301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7AFC2A-2F88-85E7-E925-FC9979157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9</a:t>
            </a:fld>
            <a:endParaRPr lang="he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9381F6-7806-D125-37C8-2AE3A688B3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0740" y="2295759"/>
            <a:ext cx="3639113" cy="36003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DD7B0B9-5297-2D50-C1DD-1E1487E33B0C}"/>
              </a:ext>
            </a:extLst>
          </p:cNvPr>
          <p:cNvSpPr txBox="1"/>
          <p:nvPr/>
        </p:nvSpPr>
        <p:spPr>
          <a:xfrm>
            <a:off x="8420740" y="1952370"/>
            <a:ext cx="363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Author</a:t>
            </a:r>
            <a:r>
              <a:rPr lang="en-US" dirty="0"/>
              <a:t> </a:t>
            </a:r>
            <a:r>
              <a:rPr lang="en-GB" dirty="0">
                <a:solidFill>
                  <a:prstClr val="black"/>
                </a:solidFill>
              </a:rPr>
              <a:t>feature vector (example)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214639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33D02-87AB-FC45-0EFD-C183617E5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96603-D6AF-F6A3-BAEA-49811954D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</a:t>
            </a:r>
            <a:r>
              <a:rPr lang="en-IL" dirty="0"/>
              <a:t>-Based Indicators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E299B9-D58F-15FE-8E0B-7A07507F3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10</a:t>
            </a:fld>
            <a:endParaRPr lang="he-IL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9F0DA61-6A58-3B1F-17BD-C497225F0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351338"/>
          </a:xfrm>
        </p:spPr>
        <p:txBody>
          <a:bodyPr>
            <a:normAutofit/>
          </a:bodyPr>
          <a:lstStyle/>
          <a:p>
            <a:r>
              <a:rPr lang="en-US" sz="3200" dirty="0"/>
              <a:t>Using the </a:t>
            </a:r>
            <a:r>
              <a:rPr lang="en-IL" sz="3200" dirty="0"/>
              <a:t>Co-Action Graph</a:t>
            </a:r>
            <a:r>
              <a:rPr lang="en-US" sz="3200" dirty="0"/>
              <a:t>, </a:t>
            </a:r>
            <a:r>
              <a:rPr lang="en-GB" sz="3200" dirty="0"/>
              <a:t>we calculate well-established graph indicators for each author (node) to characterize their structural role.</a:t>
            </a:r>
            <a:endParaRPr lang="en-IL" sz="3200" dirty="0"/>
          </a:p>
          <a:p>
            <a:pPr lvl="1"/>
            <a:r>
              <a:rPr lang="en-IL" sz="2800" b="1" dirty="0"/>
              <a:t>Centrality:</a:t>
            </a:r>
            <a:r>
              <a:rPr lang="en-IL" sz="2800" dirty="0"/>
              <a:t> Degree, Harmonic, Eigenvector, Betweenness, PageRank </a:t>
            </a:r>
          </a:p>
          <a:p>
            <a:pPr lvl="1"/>
            <a:r>
              <a:rPr lang="en-IL" sz="2800" b="1" dirty="0"/>
              <a:t>Cohesion:</a:t>
            </a:r>
            <a:r>
              <a:rPr lang="en-IL" sz="2800" dirty="0"/>
              <a:t> Core Number, Clustering Coefficient </a:t>
            </a:r>
          </a:p>
          <a:p>
            <a:pPr lvl="1"/>
            <a:r>
              <a:rPr lang="en-IL" sz="2800" b="1" dirty="0"/>
              <a:t>Community:</a:t>
            </a:r>
            <a:r>
              <a:rPr lang="en-IL" sz="2800" dirty="0"/>
              <a:t> Louvain Community </a:t>
            </a:r>
          </a:p>
          <a:p>
            <a:r>
              <a:rPr lang="en-IL" sz="3200" dirty="0"/>
              <a:t>These indicators provide </a:t>
            </a:r>
            <a:r>
              <a:rPr lang="en-IL" sz="3200" b="1" dirty="0"/>
              <a:t>interpretable structural features</a:t>
            </a:r>
            <a:r>
              <a:rPr lang="en-US" sz="3200" b="1" dirty="0"/>
              <a:t>.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205124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1954D-5A4C-0857-EC07-B5A26F069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19586-6367-13E7-4E9F-5B79E0C2F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Topic-Based Indicators</a:t>
            </a:r>
            <a:r>
              <a:rPr lang="en-GB" dirty="0"/>
              <a:t> - </a:t>
            </a:r>
            <a:r>
              <a:rPr lang="en-US" dirty="0"/>
              <a:t>TF-IDF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E1D45-23D1-B59F-5CEB-74D2E305D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769728"/>
          </a:xfrm>
        </p:spPr>
        <p:txBody>
          <a:bodyPr>
            <a:normAutofit fontScale="92500" lnSpcReduction="20000"/>
          </a:bodyPr>
          <a:lstStyle/>
          <a:p>
            <a:r>
              <a:rPr lang="en-IL" sz="2800" dirty="0"/>
              <a:t>TF-IDF is a statistical method used in natural language processing and information retrieval to evaluate how important a word is to a document</a:t>
            </a:r>
            <a:r>
              <a:rPr lang="en-US" sz="2800" dirty="0"/>
              <a:t> (in our project – topic) </a:t>
            </a:r>
            <a:r>
              <a:rPr lang="en-IL" sz="2800" dirty="0"/>
              <a:t>in relation to a larger collection of documents</a:t>
            </a:r>
            <a:r>
              <a:rPr lang="en-US" sz="2800" dirty="0"/>
              <a:t> (topics)</a:t>
            </a:r>
            <a:r>
              <a:rPr lang="en-IL" sz="2800" dirty="0"/>
              <a:t>.</a:t>
            </a:r>
            <a:endParaRPr lang="en-US" sz="28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IL" sz="2800" dirty="0"/>
              <a:t>This allows TF-IDF to highlight terms that are both frequent within a specific document </a:t>
            </a:r>
            <a:r>
              <a:rPr lang="en-US" sz="2800" dirty="0"/>
              <a:t>(topic) </a:t>
            </a:r>
            <a:r>
              <a:rPr lang="en-IL" sz="2800" dirty="0"/>
              <a:t>and distinctive across the </a:t>
            </a:r>
            <a:r>
              <a:rPr lang="en-US" sz="2800" dirty="0"/>
              <a:t>other</a:t>
            </a:r>
            <a:r>
              <a:rPr lang="en-IL" sz="2800" dirty="0"/>
              <a:t> document</a:t>
            </a:r>
            <a:r>
              <a:rPr lang="en-US" sz="2800" dirty="0"/>
              <a:t>s (topics)</a:t>
            </a:r>
            <a:r>
              <a:rPr lang="en-IL" sz="2800" dirty="0"/>
              <a:t>, making it a useful tool for tasks like search</a:t>
            </a:r>
            <a:r>
              <a:rPr lang="en-US" sz="2800" dirty="0"/>
              <a:t>, </a:t>
            </a:r>
            <a:r>
              <a:rPr lang="en-IL" sz="2800" dirty="0"/>
              <a:t>ranking, text classification</a:t>
            </a:r>
            <a:r>
              <a:rPr lang="en-US" sz="2800" dirty="0"/>
              <a:t>,</a:t>
            </a:r>
            <a:r>
              <a:rPr lang="en-IL" sz="2800" dirty="0"/>
              <a:t> and keyword extraction.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5399C3-8B20-C8B3-F5E8-83FE1E340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11</a:t>
            </a:fld>
            <a:endParaRPr lang="he-IL"/>
          </a:p>
        </p:txBody>
      </p:sp>
      <p:pic>
        <p:nvPicPr>
          <p:cNvPr id="9" name="Picture 8" descr="The-TF-Formula">
            <a:extLst>
              <a:ext uri="{FF2B5EF4-FFF2-40B4-BE49-F238E27FC236}">
                <a16:creationId xmlns:a16="http://schemas.microsoft.com/office/drawing/2014/main" id="{907CD54C-266E-D25F-93AC-9657B7CF1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893" y="3084575"/>
            <a:ext cx="5808578" cy="929372"/>
          </a:xfrm>
          <a:prstGeom prst="rect">
            <a:avLst/>
          </a:prstGeom>
        </p:spPr>
      </p:pic>
      <p:pic>
        <p:nvPicPr>
          <p:cNvPr id="10" name="Picture 9" descr="IDF-Formula">
            <a:extLst>
              <a:ext uri="{FF2B5EF4-FFF2-40B4-BE49-F238E27FC236}">
                <a16:creationId xmlns:a16="http://schemas.microsoft.com/office/drawing/2014/main" id="{81A364B8-4C2A-B11A-94C3-5E62DA848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688" y="3084575"/>
            <a:ext cx="5808578" cy="929372"/>
          </a:xfrm>
          <a:prstGeom prst="rect">
            <a:avLst/>
          </a:prstGeom>
        </p:spPr>
      </p:pic>
      <p:pic>
        <p:nvPicPr>
          <p:cNvPr id="11" name="Picture 10" descr="idf_formula">
            <a:extLst>
              <a:ext uri="{FF2B5EF4-FFF2-40B4-BE49-F238E27FC236}">
                <a16:creationId xmlns:a16="http://schemas.microsoft.com/office/drawing/2014/main" id="{2E808CB6-DC6B-A5E4-A05E-7782B9AB38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594" y="4318287"/>
            <a:ext cx="5569130" cy="89106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55B8F27-461B-530E-A980-9B2519ED219A}"/>
              </a:ext>
            </a:extLst>
          </p:cNvPr>
          <p:cNvSpPr txBox="1"/>
          <p:nvPr/>
        </p:nvSpPr>
        <p:spPr>
          <a:xfrm>
            <a:off x="1329674" y="6598942"/>
            <a:ext cx="626296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sz="900" dirty="0"/>
              <a:t>https://www.geeksforgeeks.org/machine-learning/understanding-tf-idf-term-frequency-inverse-document-frequency/</a:t>
            </a:r>
          </a:p>
        </p:txBody>
      </p:sp>
    </p:spTree>
    <p:extLst>
      <p:ext uri="{BB962C8B-B14F-4D97-AF65-F5344CB8AC3E}">
        <p14:creationId xmlns:p14="http://schemas.microsoft.com/office/powerpoint/2010/main" val="2163896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F7BDE-8AB5-2809-CC36-E39791D3C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6ED3E-8C9D-906E-B977-CB4C09EF7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Topic-Based Indicators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EED24-25E6-99A7-BF59-44F2CC4DD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12</a:t>
            </a:fld>
            <a:endParaRPr lang="he-IL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B5A312C1-6DEB-B571-F05F-5AB1221CE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4"/>
            <a:ext cx="10582656" cy="4546601"/>
          </a:xfrm>
        </p:spPr>
        <p:txBody>
          <a:bodyPr>
            <a:normAutofit fontScale="92500" lnSpcReduction="10000"/>
          </a:bodyPr>
          <a:lstStyle/>
          <a:p>
            <a:r>
              <a:rPr lang="en-IL" dirty="0"/>
              <a:t>Calculated from each </a:t>
            </a:r>
            <a:r>
              <a:rPr lang="en-IL" b="1" dirty="0"/>
              <a:t>author’s posts and hashtags</a:t>
            </a:r>
            <a:r>
              <a:rPr lang="en-IL" dirty="0"/>
              <a:t> to capture their thematic activity.</a:t>
            </a:r>
          </a:p>
          <a:p>
            <a:r>
              <a:rPr lang="en-IL" dirty="0"/>
              <a:t>Activity-Based Indicators</a:t>
            </a:r>
          </a:p>
          <a:p>
            <a:pPr lvl="1"/>
            <a:r>
              <a:rPr lang="en-IL" sz="2400" b="1" dirty="0"/>
              <a:t>Posting Dominance </a:t>
            </a:r>
            <a:r>
              <a:rPr lang="en-US" sz="2400" dirty="0"/>
              <a:t>-</a:t>
            </a:r>
            <a:r>
              <a:rPr lang="en-IL" sz="2400" dirty="0"/>
              <a:t> proportion of an author’s posts assigned to their most frequent topic. </a:t>
            </a:r>
          </a:p>
          <a:p>
            <a:pPr lvl="1"/>
            <a:r>
              <a:rPr lang="en-IL" sz="2400" b="1" dirty="0"/>
              <a:t>Top Topic</a:t>
            </a:r>
            <a:r>
              <a:rPr lang="en-IL" sz="2400" dirty="0"/>
              <a:t> </a:t>
            </a:r>
            <a:r>
              <a:rPr lang="en-US" sz="2400" dirty="0"/>
              <a:t>-</a:t>
            </a:r>
            <a:r>
              <a:rPr lang="en-IL" sz="2400" dirty="0"/>
              <a:t> the author’s dominant topic. </a:t>
            </a:r>
          </a:p>
          <a:p>
            <a:r>
              <a:rPr lang="en-IL" dirty="0"/>
              <a:t>TF</a:t>
            </a:r>
            <a:r>
              <a:rPr lang="en-US" dirty="0"/>
              <a:t>-</a:t>
            </a:r>
            <a:r>
              <a:rPr lang="en-IL" dirty="0"/>
              <a:t>IDF-Based Indicators</a:t>
            </a:r>
            <a:r>
              <a:rPr lang="en-US" dirty="0"/>
              <a:t> </a:t>
            </a:r>
          </a:p>
          <a:p>
            <a:pPr lvl="1"/>
            <a:r>
              <a:rPr lang="en-IL" b="1" dirty="0"/>
              <a:t>Key Score (Topic)</a:t>
            </a:r>
            <a:r>
              <a:rPr lang="en-IL" dirty="0"/>
              <a:t> </a:t>
            </a:r>
            <a:r>
              <a:rPr lang="en-US" dirty="0"/>
              <a:t>-</a:t>
            </a:r>
            <a:r>
              <a:rPr lang="en-IL" dirty="0"/>
              <a:t> author’s relevance to a specific topic, calculated by aggregating the TF</a:t>
            </a:r>
            <a:r>
              <a:rPr lang="en-US" dirty="0"/>
              <a:t>-</a:t>
            </a:r>
            <a:r>
              <a:rPr lang="en-IL" dirty="0"/>
              <a:t>IDF scores of the entities used by the author in that topic, with a penalty for activity across multiple topics. </a:t>
            </a:r>
          </a:p>
          <a:p>
            <a:pPr lvl="1"/>
            <a:r>
              <a:rPr lang="en-IL" sz="2400" b="1" dirty="0"/>
              <a:t>Key Score Sum </a:t>
            </a:r>
            <a:r>
              <a:rPr lang="en-US" sz="2400" dirty="0"/>
              <a:t>-</a:t>
            </a:r>
            <a:r>
              <a:rPr lang="en-IL" sz="2400" dirty="0"/>
              <a:t> sum of the author’s key scores across all topics. </a:t>
            </a:r>
          </a:p>
          <a:p>
            <a:pPr lvl="1"/>
            <a:r>
              <a:rPr lang="en-IL" sz="2400" b="1" dirty="0"/>
              <a:t>Key Score Dominance </a:t>
            </a:r>
            <a:r>
              <a:rPr lang="en-US" sz="2400" dirty="0"/>
              <a:t>-</a:t>
            </a:r>
            <a:r>
              <a:rPr lang="en-IL" sz="2400" dirty="0"/>
              <a:t> proportion of the total key score concentrated in the author’s strongest topic.</a:t>
            </a:r>
          </a:p>
          <a:p>
            <a:r>
              <a:rPr lang="en-IL" dirty="0"/>
              <a:t>Together, these indicators capture the </a:t>
            </a:r>
            <a:r>
              <a:rPr lang="en-IL" b="1" dirty="0"/>
              <a:t>author’s narrative focus and thematic behaviour</a:t>
            </a:r>
            <a:r>
              <a:rPr lang="en-I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92234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8559D-D4AB-1189-6DD0-329C59230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092BBF2-9CA9-26C8-3306-0EF5D22F5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49" y="1709738"/>
            <a:ext cx="9914592" cy="2852737"/>
          </a:xfrm>
        </p:spPr>
        <p:txBody>
          <a:bodyPr/>
          <a:lstStyle/>
          <a:p>
            <a:r>
              <a:rPr lang="en-US" dirty="0"/>
              <a:t>Group </a:t>
            </a:r>
            <a:r>
              <a:rPr lang="en-GB" dirty="0" err="1"/>
              <a:t>Analisys</a:t>
            </a:r>
            <a:endParaRPr lang="en-I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4D75CCD-7268-1EC4-7323-66B1D9D4D0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453DD-F810-AEB1-6C45-0A9E4E59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516551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6B20B-572C-EA3E-CBFD-11BAC61AA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21181-6B71-F107-01AF-62434DE69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K-Core</a:t>
            </a:r>
            <a:r>
              <a:rPr lang="en-GB" dirty="0"/>
              <a:t> </a:t>
            </a:r>
            <a:r>
              <a:rPr lang="en-IL" dirty="0"/>
              <a:t>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6E9C04-4BA0-19E7-9D46-B7C42E213C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43087" y="1825625"/>
                <a:ext cx="10582656" cy="476972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GB" sz="3600" b="1" dirty="0"/>
                  <a:t>Node</a:t>
                </a:r>
                <a:r>
                  <a:rPr lang="en-GB" sz="3600" dirty="0"/>
                  <a:t> - a single actor/account in the graph. </a:t>
                </a:r>
              </a:p>
              <a:p>
                <a:r>
                  <a:rPr lang="en-GB" sz="3600" b="1" dirty="0"/>
                  <a:t>Subgraph</a:t>
                </a:r>
                <a:r>
                  <a:rPr lang="en-GB" sz="3600" dirty="0"/>
                  <a:t> - a smaller graph made from a subset of nodes and edges from the full graph. </a:t>
                </a:r>
              </a:p>
              <a:p>
                <a:r>
                  <a:rPr lang="en-GB" sz="3600" b="1" dirty="0"/>
                  <a:t>Neighbours</a:t>
                </a:r>
                <a:r>
                  <a:rPr lang="en-GB" sz="3600" dirty="0"/>
                  <a:t> - the nodes directly connected to a given node by an edge.</a:t>
                </a:r>
              </a:p>
              <a:p>
                <a:endParaRPr lang="en-GB" sz="3600" b="1" dirty="0"/>
              </a:p>
              <a:p>
                <a:r>
                  <a:rPr lang="en-IL" sz="3600" b="1" dirty="0"/>
                  <a:t>K-Core</a:t>
                </a:r>
                <a:r>
                  <a:rPr lang="en-IL" sz="3600" dirty="0"/>
                  <a:t> </a:t>
                </a:r>
                <a:r>
                  <a:rPr lang="en-US" sz="3600" dirty="0"/>
                  <a:t>-</a:t>
                </a:r>
                <a:r>
                  <a:rPr lang="en-IL" sz="3600" dirty="0"/>
                  <a:t> a subgraph in which every </a:t>
                </a:r>
                <a:r>
                  <a:rPr lang="en-US" sz="3600" dirty="0"/>
                  <a:t>node has at least k neighbors</a:t>
                </a:r>
                <a:r>
                  <a:rPr lang="en-IL" sz="3600" dirty="0"/>
                  <a:t> within that subgraph.</a:t>
                </a:r>
                <a:endParaRPr lang="en-US" sz="3600" dirty="0"/>
              </a:p>
              <a:p>
                <a:r>
                  <a:rPr lang="en-GB" sz="3600" b="1" dirty="0"/>
                  <a:t>Core-number</a:t>
                </a:r>
                <a:r>
                  <a:rPr lang="en-GB" sz="3600" dirty="0"/>
                  <a:t> - the largest </a:t>
                </a:r>
                <a14:m>
                  <m:oMath xmlns:m="http://schemas.openxmlformats.org/officeDocument/2006/math">
                    <m:r>
                      <a:rPr lang="en-GB" sz="360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3600" dirty="0"/>
                  <a:t> </a:t>
                </a:r>
                <a:r>
                  <a:rPr lang="en-GB" sz="3600" dirty="0"/>
                  <a:t>such that the node belongs to a </a:t>
                </a:r>
                <a:r>
                  <a:rPr lang="en-IL" sz="3600" dirty="0"/>
                  <a:t>K-Core</a:t>
                </a:r>
                <a:r>
                  <a:rPr lang="en-US" sz="3600" dirty="0"/>
                  <a:t>.</a:t>
                </a:r>
                <a:endParaRPr lang="en-GB" sz="3600" dirty="0"/>
              </a:p>
              <a:p>
                <a:endParaRPr lang="en-IL" sz="3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6E9C04-4BA0-19E7-9D46-B7C42E213C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43087" y="1825625"/>
                <a:ext cx="10582656" cy="4769728"/>
              </a:xfrm>
              <a:blipFill>
                <a:blip r:embed="rId2"/>
                <a:stretch>
                  <a:fillRect l="-1382" t="-3448" r="-634" b="-434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812F0-E54C-4F7D-05DA-1110FB27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6094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FBF81-1759-7631-FCCD-C2B86D71F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C4968-7120-1977-C518-F3D19EEF9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Core Number</a:t>
            </a:r>
            <a:r>
              <a:rPr lang="en-GB" dirty="0"/>
              <a:t>:</a:t>
            </a:r>
            <a:r>
              <a:rPr lang="en-IL" dirty="0"/>
              <a:t>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09368-FDF4-B047-F86D-A7F727C5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15</a:t>
            </a:fld>
            <a:endParaRPr lang="he-IL"/>
          </a:p>
        </p:txBody>
      </p:sp>
      <p:pic>
        <p:nvPicPr>
          <p:cNvPr id="3" name="Picture 2" descr="k-Core of a graph">
            <a:extLst>
              <a:ext uri="{FF2B5EF4-FFF2-40B4-BE49-F238E27FC236}">
                <a16:creationId xmlns:a16="http://schemas.microsoft.com/office/drawing/2014/main" id="{A1EFBBA8-CA30-26B6-612F-F894F3E62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283" y="1867838"/>
            <a:ext cx="10174718" cy="41070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6D91F2-615E-8B2A-5BF3-DD43C863C4DE}"/>
              </a:ext>
            </a:extLst>
          </p:cNvPr>
          <p:cNvSpPr txBox="1"/>
          <p:nvPr/>
        </p:nvSpPr>
        <p:spPr>
          <a:xfrm rot="21258625">
            <a:off x="6110596" y="1919799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#DeepState</a:t>
            </a:r>
            <a:endParaRPr lang="en-IL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2F4669-9508-4E5A-B24C-22B002FCE751}"/>
              </a:ext>
            </a:extLst>
          </p:cNvPr>
          <p:cNvSpPr txBox="1"/>
          <p:nvPr/>
        </p:nvSpPr>
        <p:spPr>
          <a:xfrm rot="4810671">
            <a:off x="5646712" y="3149197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FC3455-0162-56A7-9F57-73B53C64B549}"/>
              </a:ext>
            </a:extLst>
          </p:cNvPr>
          <p:cNvSpPr txBox="1"/>
          <p:nvPr/>
        </p:nvSpPr>
        <p:spPr>
          <a:xfrm>
            <a:off x="6742558" y="3771025"/>
            <a:ext cx="14773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#TruthExposed</a:t>
            </a:r>
            <a:endParaRPr lang="en-IL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AC6232-205D-E057-9D18-19CA5F579B02}"/>
              </a:ext>
            </a:extLst>
          </p:cNvPr>
          <p:cNvSpPr txBox="1"/>
          <p:nvPr/>
        </p:nvSpPr>
        <p:spPr>
          <a:xfrm rot="4119364">
            <a:off x="7794291" y="2828263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#DeepState</a:t>
            </a:r>
            <a:endParaRPr lang="en-IL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CF02B8-F58B-B4F9-7B80-6387A4DDABE5}"/>
              </a:ext>
            </a:extLst>
          </p:cNvPr>
          <p:cNvSpPr txBox="1"/>
          <p:nvPr/>
        </p:nvSpPr>
        <p:spPr>
          <a:xfrm rot="1762880">
            <a:off x="7204790" y="3201896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ACEDCF-E414-D5DE-B87D-F89D5BA52BA9}"/>
              </a:ext>
            </a:extLst>
          </p:cNvPr>
          <p:cNvSpPr txBox="1"/>
          <p:nvPr/>
        </p:nvSpPr>
        <p:spPr>
          <a:xfrm rot="18366777">
            <a:off x="6630407" y="2490587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#True</a:t>
            </a:r>
            <a:endParaRPr lang="en-IL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09B6A0-DF6A-5CD7-996A-C3A01D11C97C}"/>
              </a:ext>
            </a:extLst>
          </p:cNvPr>
          <p:cNvSpPr txBox="1"/>
          <p:nvPr/>
        </p:nvSpPr>
        <p:spPr>
          <a:xfrm>
            <a:off x="4618686" y="3805712"/>
            <a:ext cx="14773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#Trending</a:t>
            </a:r>
            <a:endParaRPr lang="en-IL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54517A-9D8A-70EB-41D1-4C5261EC4380}"/>
              </a:ext>
            </a:extLst>
          </p:cNvPr>
          <p:cNvSpPr txBox="1"/>
          <p:nvPr/>
        </p:nvSpPr>
        <p:spPr>
          <a:xfrm rot="3114557">
            <a:off x="9656857" y="2508597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#Music</a:t>
            </a:r>
            <a:endParaRPr lang="en-IL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7A3518-5695-0E32-90BD-476955BA4AA6}"/>
              </a:ext>
            </a:extLst>
          </p:cNvPr>
          <p:cNvSpPr txBox="1"/>
          <p:nvPr/>
        </p:nvSpPr>
        <p:spPr>
          <a:xfrm rot="17535076">
            <a:off x="8457906" y="2864984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#DeepState</a:t>
            </a:r>
            <a:endParaRPr lang="en-IL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712921-5011-08A5-CC00-D27AEBF9BD05}"/>
              </a:ext>
            </a:extLst>
          </p:cNvPr>
          <p:cNvSpPr txBox="1"/>
          <p:nvPr/>
        </p:nvSpPr>
        <p:spPr>
          <a:xfrm>
            <a:off x="9656856" y="1791741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#Music</a:t>
            </a:r>
            <a:endParaRPr lang="en-IL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D82200-163E-4905-F370-F28EA4FFE151}"/>
              </a:ext>
            </a:extLst>
          </p:cNvPr>
          <p:cNvSpPr txBox="1"/>
          <p:nvPr/>
        </p:nvSpPr>
        <p:spPr>
          <a:xfrm rot="20634719">
            <a:off x="9166637" y="3480230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 Media</a:t>
            </a:r>
            <a:endParaRPr lang="en-IL" sz="1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1EFE46-D669-1079-661B-A318F9253973}"/>
              </a:ext>
            </a:extLst>
          </p:cNvPr>
          <p:cNvSpPr txBox="1"/>
          <p:nvPr/>
        </p:nvSpPr>
        <p:spPr>
          <a:xfrm rot="15751676">
            <a:off x="8165907" y="4724186"/>
            <a:ext cx="1377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#</a:t>
            </a:r>
            <a:r>
              <a:rPr lang="en-GB" sz="1600" dirty="0"/>
              <a:t>DeepState</a:t>
            </a:r>
            <a:endParaRPr lang="en-IL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15AFAB-8E07-193A-F7ED-27FDDE52CFB0}"/>
              </a:ext>
            </a:extLst>
          </p:cNvPr>
          <p:cNvSpPr txBox="1"/>
          <p:nvPr/>
        </p:nvSpPr>
        <p:spPr>
          <a:xfrm rot="5187585">
            <a:off x="5916302" y="4788727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#True</a:t>
            </a:r>
            <a:endParaRPr lang="en-IL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5B10CE-B78B-A560-406C-D455F3F371B9}"/>
              </a:ext>
            </a:extLst>
          </p:cNvPr>
          <p:cNvSpPr txBox="1"/>
          <p:nvPr/>
        </p:nvSpPr>
        <p:spPr>
          <a:xfrm rot="18445421">
            <a:off x="4377158" y="2864983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7E5B288-8DC3-D387-AF1E-D3C58F4750E5}"/>
              </a:ext>
            </a:extLst>
          </p:cNvPr>
          <p:cNvSpPr txBox="1"/>
          <p:nvPr/>
        </p:nvSpPr>
        <p:spPr>
          <a:xfrm rot="4499005">
            <a:off x="3739807" y="2936281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88BDCC-3776-9674-10AE-CAE67CA8BC28}"/>
              </a:ext>
            </a:extLst>
          </p:cNvPr>
          <p:cNvSpPr txBox="1"/>
          <p:nvPr/>
        </p:nvSpPr>
        <p:spPr>
          <a:xfrm rot="17463090">
            <a:off x="3407513" y="4683885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1DC1E2-CFB8-6380-452E-71770B27D50A}"/>
              </a:ext>
            </a:extLst>
          </p:cNvPr>
          <p:cNvSpPr txBox="1"/>
          <p:nvPr/>
        </p:nvSpPr>
        <p:spPr>
          <a:xfrm rot="1702415">
            <a:off x="7159342" y="4609927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 Media</a:t>
            </a:r>
            <a:endParaRPr lang="en-IL" sz="16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D3B6211-C6E4-1BBA-7030-3820BC8F64FF}"/>
              </a:ext>
            </a:extLst>
          </p:cNvPr>
          <p:cNvSpPr/>
          <p:nvPr/>
        </p:nvSpPr>
        <p:spPr>
          <a:xfrm rot="1340853">
            <a:off x="5185122" y="1691846"/>
            <a:ext cx="4186974" cy="3126336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8576B8-144B-9F99-5CCF-A278CDAFF407}"/>
              </a:ext>
            </a:extLst>
          </p:cNvPr>
          <p:cNvSpPr txBox="1"/>
          <p:nvPr/>
        </p:nvSpPr>
        <p:spPr>
          <a:xfrm rot="1676257">
            <a:off x="7596847" y="1699407"/>
            <a:ext cx="21046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IO Drivers</a:t>
            </a:r>
            <a:endParaRPr lang="en-IL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8FB36E-45DE-CDBF-18E4-24798133D1EE}"/>
              </a:ext>
            </a:extLst>
          </p:cNvPr>
          <p:cNvSpPr txBox="1"/>
          <p:nvPr/>
        </p:nvSpPr>
        <p:spPr>
          <a:xfrm>
            <a:off x="9351225" y="1341654"/>
            <a:ext cx="1953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Co-Action Graph</a:t>
            </a:r>
            <a:endParaRPr lang="en-IL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038791-A184-B391-560C-F39DCF16C891}"/>
              </a:ext>
            </a:extLst>
          </p:cNvPr>
          <p:cNvSpPr txBox="1"/>
          <p:nvPr/>
        </p:nvSpPr>
        <p:spPr>
          <a:xfrm rot="18686069">
            <a:off x="9036591" y="4390791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#Eurovision</a:t>
            </a:r>
            <a:endParaRPr lang="en-IL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B168A8F-FFA2-DA9C-4FE8-2D9B65841E59}"/>
                  </a:ext>
                </a:extLst>
              </p:cNvPr>
              <p:cNvSpPr txBox="1"/>
              <p:nvPr/>
            </p:nvSpPr>
            <p:spPr>
              <a:xfrm>
                <a:off x="9660367" y="4785395"/>
                <a:ext cx="2552699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600" b="1" dirty="0"/>
                  <a:t>Core-number</a:t>
                </a:r>
                <a:r>
                  <a:rPr lang="en-GB" sz="1600" dirty="0"/>
                  <a:t> - the largest number </a:t>
                </a:r>
                <a14:m>
                  <m:oMath xmlns:m="http://schemas.openxmlformats.org/officeDocument/2006/math">
                    <m:r>
                      <a:rPr lang="en-GB" sz="160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GB" sz="1600" dirty="0"/>
                  <a:t>such that the node belongs to a subgraph where every node has at least </a:t>
                </a:r>
                <a14:m>
                  <m:oMath xmlns:m="http://schemas.openxmlformats.org/officeDocument/2006/math">
                    <m:r>
                      <a:rPr lang="en-GB" sz="160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16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600" dirty="0"/>
                  <a:t>neighbours </a:t>
                </a:r>
                <a:r>
                  <a:rPr lang="en-GB" sz="1600" u="sng" dirty="0"/>
                  <a:t>within</a:t>
                </a:r>
                <a:r>
                  <a:rPr lang="en-GB" sz="1600" dirty="0"/>
                  <a:t> that subgraph.</a:t>
                </a:r>
                <a:endParaRPr lang="en-IL" sz="1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B168A8F-FFA2-DA9C-4FE8-2D9B65841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367" y="4785395"/>
                <a:ext cx="2552699" cy="1569660"/>
              </a:xfrm>
              <a:prstGeom prst="rect">
                <a:avLst/>
              </a:prstGeom>
              <a:blipFill>
                <a:blip r:embed="rId3"/>
                <a:stretch>
                  <a:fillRect l="-1435" t="-1167" b="-428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6332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0DA63-958D-B3CC-0304-27F08C2C0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F98E7-B718-85B7-ECA7-94DCCDA29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63424-899C-2A1D-4421-3E966B763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769728"/>
          </a:xfrm>
        </p:spPr>
        <p:txBody>
          <a:bodyPr>
            <a:normAutofit/>
          </a:bodyPr>
          <a:lstStyle/>
          <a:p>
            <a:pPr lvl="0"/>
            <a:r>
              <a:rPr lang="en-IL" sz="3200" dirty="0"/>
              <a:t>At the </a:t>
            </a:r>
            <a:r>
              <a:rPr lang="en-IL" sz="3200" b="1" dirty="0"/>
              <a:t>group level</a:t>
            </a:r>
            <a:r>
              <a:rPr lang="en-IL" sz="3200" dirty="0"/>
              <a:t>, we can reveal </a:t>
            </a:r>
            <a:r>
              <a:rPr lang="en-IL" sz="3200" b="1" dirty="0"/>
              <a:t>shared narratives and thematic patterns</a:t>
            </a:r>
            <a:r>
              <a:rPr lang="en-IL" sz="3200" dirty="0"/>
              <a:t> that may not be visible when analysing individual accounts. </a:t>
            </a:r>
          </a:p>
          <a:p>
            <a:pPr lvl="0"/>
            <a:r>
              <a:rPr lang="en-IL" sz="3200" b="1" dirty="0"/>
              <a:t>Goal:</a:t>
            </a:r>
            <a:r>
              <a:rPr lang="en-IL" sz="3200" dirty="0"/>
              <a:t> Move from </a:t>
            </a:r>
            <a:r>
              <a:rPr lang="en-IL" sz="3200" i="1" dirty="0"/>
              <a:t>“Who participates in an IO?”</a:t>
            </a:r>
            <a:r>
              <a:rPr lang="en-IL" sz="3200" dirty="0"/>
              <a:t> to </a:t>
            </a:r>
            <a:r>
              <a:rPr lang="en-IL" sz="3200" i="1" dirty="0"/>
              <a:t>“How do coordinated groups operate, and what narratives characterize their activity?”</a:t>
            </a:r>
            <a:endParaRPr lang="en-IL" sz="3200" dirty="0"/>
          </a:p>
          <a:p>
            <a:pPr marL="457200" lvl="1" indent="0">
              <a:buNone/>
            </a:pP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F40F2-EA50-BEC5-D38F-8F6DD4350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16</a:t>
            </a:fld>
            <a:endParaRPr lang="he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027892-7F23-7560-E4A0-026837C0C8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198" b="12173"/>
          <a:stretch>
            <a:fillRect/>
          </a:stretch>
        </p:blipFill>
        <p:spPr>
          <a:xfrm>
            <a:off x="2492400" y="5117509"/>
            <a:ext cx="5987999" cy="147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852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DEE1B-0DBB-0BBE-85D3-FA360987F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F77DC-4A73-3FF9-1A1F-BAD9FB219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DD76D-E5BF-D922-7C5D-702EAD478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769728"/>
          </a:xfrm>
        </p:spPr>
        <p:txBody>
          <a:bodyPr>
            <a:normAutofit fontScale="85000" lnSpcReduction="10000"/>
          </a:bodyPr>
          <a:lstStyle/>
          <a:p>
            <a:r>
              <a:rPr lang="en-IL" sz="3200" dirty="0"/>
              <a:t>We </a:t>
            </a:r>
            <a:r>
              <a:rPr lang="en-US" sz="3200" dirty="0"/>
              <a:t>define</a:t>
            </a:r>
            <a:r>
              <a:rPr lang="en-IL" sz="3200" dirty="0"/>
              <a:t> several groups:</a:t>
            </a:r>
          </a:p>
          <a:p>
            <a:pPr lvl="1"/>
            <a:r>
              <a:rPr lang="en-IL" sz="2800" b="1" dirty="0"/>
              <a:t>Maximal k-Core</a:t>
            </a:r>
            <a:r>
              <a:rPr lang="en-US" sz="2800" b="1" dirty="0"/>
              <a:t> Connected</a:t>
            </a:r>
            <a:r>
              <a:rPr lang="en-IL" sz="2800" b="1" dirty="0"/>
              <a:t> Component</a:t>
            </a:r>
            <a:r>
              <a:rPr lang="en-IL" sz="2800" dirty="0"/>
              <a:t> </a:t>
            </a:r>
            <a:r>
              <a:rPr lang="en-US" sz="2800" dirty="0"/>
              <a:t>-</a:t>
            </a:r>
            <a:r>
              <a:rPr lang="en-IL" sz="2800" dirty="0"/>
              <a:t> accounts belonging to the same connected component within their maximal k-core. </a:t>
            </a:r>
          </a:p>
          <a:p>
            <a:pPr lvl="1"/>
            <a:r>
              <a:rPr lang="en-IL" sz="2800" b="1" dirty="0"/>
              <a:t>Direct Neighbours</a:t>
            </a:r>
            <a:r>
              <a:rPr lang="en-IL" sz="2800" dirty="0"/>
              <a:t> </a:t>
            </a:r>
            <a:r>
              <a:rPr lang="en-US" sz="2800" dirty="0"/>
              <a:t>-</a:t>
            </a:r>
            <a:r>
              <a:rPr lang="en-IL" sz="2800" dirty="0"/>
              <a:t> accounts directly connected to the focal account. </a:t>
            </a:r>
          </a:p>
          <a:p>
            <a:pPr lvl="1"/>
            <a:r>
              <a:rPr lang="en-IL" sz="2800" b="1" dirty="0"/>
              <a:t>Louvain Community</a:t>
            </a:r>
            <a:r>
              <a:rPr lang="en-IL" sz="2800" dirty="0"/>
              <a:t> </a:t>
            </a:r>
            <a:r>
              <a:rPr lang="en-US" sz="2800" dirty="0"/>
              <a:t>-</a:t>
            </a:r>
            <a:r>
              <a:rPr lang="en-IL" sz="2800" dirty="0"/>
              <a:t> accounts assigned to the same graph community. </a:t>
            </a:r>
          </a:p>
          <a:p>
            <a:pPr lvl="1"/>
            <a:r>
              <a:rPr lang="en-IL" sz="2800" b="1" dirty="0"/>
              <a:t>Top Topic</a:t>
            </a:r>
            <a:r>
              <a:rPr lang="en-IL" sz="2800" dirty="0"/>
              <a:t> </a:t>
            </a:r>
            <a:r>
              <a:rPr lang="en-US" sz="2800" dirty="0"/>
              <a:t>-</a:t>
            </a:r>
            <a:r>
              <a:rPr lang="en-IL" sz="2800" dirty="0"/>
              <a:t> accounts sharing the same dominant topic. </a:t>
            </a:r>
          </a:p>
          <a:p>
            <a:pPr lvl="1"/>
            <a:r>
              <a:rPr lang="en-IL" sz="2800" b="1" dirty="0"/>
              <a:t>RF-Predicted IO</a:t>
            </a:r>
            <a:r>
              <a:rPr lang="en-IL" sz="2800" dirty="0"/>
              <a:t> </a:t>
            </a:r>
            <a:r>
              <a:rPr lang="en-US" sz="2800" dirty="0"/>
              <a:t>-</a:t>
            </a:r>
            <a:r>
              <a:rPr lang="en-IL" sz="2800" dirty="0"/>
              <a:t> accounts classified as IO by Random Forest. </a:t>
            </a:r>
          </a:p>
          <a:p>
            <a:pPr lvl="1"/>
            <a:r>
              <a:rPr lang="en-IL" sz="2800" b="1" dirty="0" err="1"/>
              <a:t>XGBoost</a:t>
            </a:r>
            <a:r>
              <a:rPr lang="en-IL" sz="2800" b="1" dirty="0"/>
              <a:t>-Predicted IO</a:t>
            </a:r>
            <a:r>
              <a:rPr lang="en-IL" sz="2800" dirty="0"/>
              <a:t> </a:t>
            </a:r>
            <a:r>
              <a:rPr lang="en-US" sz="2800" dirty="0"/>
              <a:t>-</a:t>
            </a:r>
            <a:r>
              <a:rPr lang="en-IL" sz="2800" dirty="0"/>
              <a:t> accounts classified as IO by </a:t>
            </a:r>
            <a:r>
              <a:rPr lang="en-IL" sz="2800" dirty="0" err="1"/>
              <a:t>XGBoost</a:t>
            </a:r>
            <a:r>
              <a:rPr lang="en-IL" sz="2800" dirty="0"/>
              <a:t>. </a:t>
            </a:r>
          </a:p>
          <a:p>
            <a:r>
              <a:rPr lang="en-IL" sz="3200" dirty="0"/>
              <a:t>We evaluated each group based on </a:t>
            </a:r>
            <a:r>
              <a:rPr lang="en-IL" sz="3200" b="1" dirty="0"/>
              <a:t>IO concentration</a:t>
            </a:r>
            <a:r>
              <a:rPr lang="en-IL" sz="3200" dirty="0"/>
              <a:t> (the proportion of authors </a:t>
            </a:r>
            <a:r>
              <a:rPr lang="en-IL" sz="3200" dirty="0" err="1"/>
              <a:t>labeled</a:t>
            </a:r>
            <a:r>
              <a:rPr lang="en-IL" sz="3200" dirty="0"/>
              <a:t> as IO) and </a:t>
            </a:r>
            <a:r>
              <a:rPr lang="en-IL" sz="3200" b="1" dirty="0"/>
              <a:t>topic alignment</a:t>
            </a:r>
            <a:r>
              <a:rPr lang="en-IL" sz="3200" dirty="0"/>
              <a:t> among the authors.</a:t>
            </a:r>
            <a:endParaRPr lang="en-US" sz="3200" dirty="0"/>
          </a:p>
          <a:p>
            <a:r>
              <a:rPr lang="en-US" sz="3200" dirty="0"/>
              <a:t>K</a:t>
            </a:r>
            <a:r>
              <a:rPr lang="en-IL" sz="3200" dirty="0"/>
              <a:t>-Core </a:t>
            </a:r>
            <a:r>
              <a:rPr lang="en-US" sz="3200" dirty="0"/>
              <a:t>CC</a:t>
            </a:r>
            <a:r>
              <a:rPr lang="en-IL" sz="3200" dirty="0"/>
              <a:t> were selected because they showed strong performance and a good </a:t>
            </a:r>
            <a:r>
              <a:rPr lang="en-US" sz="3200" dirty="0"/>
              <a:t>trade-off</a:t>
            </a:r>
            <a:r>
              <a:rPr lang="en-IL" sz="3200" dirty="0"/>
              <a:t> between IO concentration and topic alignment.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EAE485-9A48-4F07-B3C1-3D692449F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454400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1CE1C-C84E-C83F-4718-819CFC8BD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6EB9B-BE1C-70F7-2356-0A5004880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Maximal K-Core</a:t>
            </a:r>
            <a:r>
              <a:rPr lang="en-IL" dirty="0"/>
              <a:t> Motivation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FAE095A-A6CC-3AE0-573F-0B18CE379A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4142786"/>
              </p:ext>
            </p:extLst>
          </p:nvPr>
        </p:nvGraphicFramePr>
        <p:xfrm>
          <a:off x="1243087" y="1543455"/>
          <a:ext cx="10582656" cy="46538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752ADA-4957-7A03-0405-5150E47F4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18</a:t>
            </a:fld>
            <a:endParaRPr lang="he-IL"/>
          </a:p>
        </p:txBody>
      </p:sp>
      <p:sp>
        <p:nvSpPr>
          <p:cNvPr id="30" name="Callout">
            <a:extLst>
              <a:ext uri="{FF2B5EF4-FFF2-40B4-BE49-F238E27FC236}">
                <a16:creationId xmlns:a16="http://schemas.microsoft.com/office/drawing/2014/main" id="{17EC245C-9322-9076-690D-B09964DD700C}"/>
              </a:ext>
            </a:extLst>
          </p:cNvPr>
          <p:cNvSpPr/>
          <p:nvPr/>
        </p:nvSpPr>
        <p:spPr>
          <a:xfrm>
            <a:off x="1554480" y="6327648"/>
            <a:ext cx="7589520" cy="475488"/>
          </a:xfrm>
          <a:prstGeom prst="rect">
            <a:avLst/>
          </a:prstGeom>
          <a:noFill/>
        </p:spPr>
        <p:txBody>
          <a:bodyPr lIns="0" tIns="0"/>
          <a:lstStyle/>
          <a:p>
            <a:r>
              <a:rPr lang="en-IL" sz="1300" b="1" dirty="0"/>
              <a:t>Similarity with one or two accounts is not enough. </a:t>
            </a:r>
            <a:endParaRPr lang="en-US" sz="1300" b="1" dirty="0"/>
          </a:p>
          <a:p>
            <a:r>
              <a:rPr lang="en-IL" sz="1300" dirty="0"/>
              <a:t>Only many accounts coordinating with one another produce a </a:t>
            </a:r>
            <a:r>
              <a:rPr lang="en-US" sz="1300" dirty="0"/>
              <a:t>large k core</a:t>
            </a:r>
            <a:r>
              <a:rPr lang="en-IL" sz="13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061492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1039E-B86D-D32C-4EF0-FA604B11E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2D6560F-A6DA-C278-D8DD-8FC517515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49" y="1709738"/>
            <a:ext cx="9914592" cy="2852737"/>
          </a:xfrm>
        </p:spPr>
        <p:txBody>
          <a:bodyPr/>
          <a:lstStyle/>
          <a:p>
            <a:r>
              <a:rPr lang="en-GB" dirty="0"/>
              <a:t>Experiments</a:t>
            </a:r>
            <a:endParaRPr lang="en-I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975D23-C7EF-CD33-D494-5CC3F0365E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402CA-E680-684E-0F51-51C82A1E2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61430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B8A1B-6E6A-156B-7385-FEFC10B73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B950C-37EA-B68F-70CC-0EE487FBC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6BA14-975F-64EA-B301-9184DCBAD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7697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L" sz="3600" b="1" dirty="0"/>
              <a:t>Labeled IO Dataset</a:t>
            </a:r>
          </a:p>
          <a:p>
            <a:pPr lvl="0"/>
            <a:r>
              <a:rPr lang="en-IL" sz="3600" dirty="0"/>
              <a:t>26 verified IO campaigns linked to 16 stat</a:t>
            </a:r>
            <a:r>
              <a:rPr lang="en-US" sz="3600" dirty="0"/>
              <a:t>s</a:t>
            </a:r>
            <a:r>
              <a:rPr lang="en-IL" sz="3600" dirty="0"/>
              <a:t>. </a:t>
            </a:r>
          </a:p>
          <a:p>
            <a:pPr lvl="0"/>
            <a:r>
              <a:rPr lang="en-IL" sz="3600" dirty="0"/>
              <a:t>Contains IO accounts and matched control accounts discussing similar topics during the same periods. </a:t>
            </a:r>
          </a:p>
          <a:p>
            <a:pPr lvl="0"/>
            <a:r>
              <a:rPr lang="en-IL" sz="3600" dirty="0"/>
              <a:t>Includes 303K+ accounts and 13M+ control posts. </a:t>
            </a:r>
          </a:p>
          <a:p>
            <a:pPr lvl="0"/>
            <a:r>
              <a:rPr lang="en-IL" sz="3600" dirty="0"/>
              <a:t>Rich activity data: posts, reposts, hashtags</a:t>
            </a:r>
            <a:r>
              <a:rPr lang="en-US" sz="3600" dirty="0"/>
              <a:t>, and more.</a:t>
            </a:r>
          </a:p>
          <a:p>
            <a:pPr lvl="0"/>
            <a:r>
              <a:rPr lang="en-US" sz="3600" dirty="0"/>
              <a:t>Each account is labeled</a:t>
            </a:r>
            <a:r>
              <a:rPr lang="en-IL" sz="3600" dirty="0"/>
              <a:t> IO </a:t>
            </a:r>
            <a:r>
              <a:rPr lang="en-US" sz="3600" dirty="0"/>
              <a:t>or non-IO.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1E59F8-C083-3E1E-E9C9-1F0811DCF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20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667918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FF864-D059-1831-22C5-4C1644981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EAC59-80A0-E6A7-57CB-C44882DA8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200" b="0">
                <a:solidFill>
                  <a:srgbClr val="00A0BD"/>
                </a:solidFill>
                <a:latin typeface="Calibri"/>
                <a:ea typeface="Calibri"/>
                <a:cs typeface="Calibri"/>
              </a:defRPr>
            </a:pPr>
            <a:r>
              <a:rPr lang="en-IL" dirty="0">
                <a:latin typeface="Calibri Light (Headings)"/>
              </a:rPr>
              <a:t>Evaluation Settings</a:t>
            </a:r>
            <a:endParaRPr lang="en-GB" dirty="0">
              <a:latin typeface="Calibri Light (Headings)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A27E2-5AA3-7AD7-18CB-2C34475D9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769728"/>
          </a:xfrm>
        </p:spPr>
        <p:txBody>
          <a:bodyPr>
            <a:normAutofit/>
          </a:bodyPr>
          <a:lstStyle/>
          <a:p>
            <a:r>
              <a:rPr lang="en-IL" sz="3600" b="1" dirty="0"/>
              <a:t>Within-Campaign </a:t>
            </a:r>
            <a:r>
              <a:rPr lang="en-US" sz="3600" b="1" dirty="0"/>
              <a:t>(</a:t>
            </a:r>
            <a:r>
              <a:rPr lang="en-IL" sz="3600" b="1" dirty="0"/>
              <a:t>Transductive</a:t>
            </a:r>
            <a:r>
              <a:rPr lang="en-US" sz="3600" b="1" dirty="0"/>
              <a:t>)</a:t>
            </a:r>
            <a:endParaRPr lang="en-IL" sz="3600" dirty="0"/>
          </a:p>
          <a:p>
            <a:pPr lvl="1"/>
            <a:r>
              <a:rPr lang="en-IL" sz="3200" dirty="0"/>
              <a:t>Train and test on accounts from the same campaign. </a:t>
            </a:r>
          </a:p>
          <a:p>
            <a:r>
              <a:rPr lang="en-IL" sz="3600" b="1" dirty="0"/>
              <a:t>Cross-Campaign </a:t>
            </a:r>
            <a:r>
              <a:rPr lang="en-US" sz="3600" b="1" dirty="0"/>
              <a:t>(</a:t>
            </a:r>
            <a:r>
              <a:rPr lang="en-IL" sz="3600" b="1" dirty="0"/>
              <a:t>Inductive</a:t>
            </a:r>
            <a:r>
              <a:rPr lang="en-US" sz="3600" b="1" dirty="0"/>
              <a:t>)</a:t>
            </a:r>
            <a:endParaRPr lang="en-IL" sz="3600" dirty="0"/>
          </a:p>
          <a:p>
            <a:pPr lvl="1"/>
            <a:r>
              <a:rPr lang="en-IL" sz="3200" dirty="0"/>
              <a:t>Train on other campaigns and test on an unseen campaign. </a:t>
            </a:r>
          </a:p>
          <a:p>
            <a:pPr lvl="1"/>
            <a:r>
              <a:rPr lang="en-IL" sz="3200" dirty="0"/>
              <a:t>Uses a leave-one-campaign-out setting. </a:t>
            </a:r>
          </a:p>
          <a:p>
            <a:pPr lvl="1"/>
            <a:r>
              <a:rPr lang="en-IL" sz="3200" dirty="0"/>
              <a:t>Evaluates whether structural patterns generalize to new IO campaigns.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4C47C-E286-3F0B-F185-E2E32E612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21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650126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87C98-022F-3CFA-B475-FE8E119F7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1E7EB-EA44-1B2A-F83F-AE5ED6CED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A0BD"/>
                </a:solidFill>
                <a:latin typeface="Calibri Light (Headings)"/>
                <a:ea typeface="Calibri"/>
                <a:cs typeface="Calibri"/>
              </a:rPr>
              <a:t>Evaluated Campaigns</a:t>
            </a:r>
            <a:endParaRPr lang="en-IL" dirty="0">
              <a:solidFill>
                <a:srgbClr val="00A0BD"/>
              </a:solidFill>
              <a:latin typeface="Calibri Light (Headings)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16AD6-2F5E-1530-EDFB-8A6E79B79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22</a:t>
            </a:fld>
            <a:endParaRPr lang="he-IL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490C3D4-460A-A0EB-E16F-294FCD4E1D7F}"/>
              </a:ext>
            </a:extLst>
          </p:cNvPr>
          <p:cNvGraphicFramePr/>
          <p:nvPr/>
        </p:nvGraphicFramePr>
        <p:xfrm>
          <a:off x="1381125" y="1809750"/>
          <a:ext cx="10096500" cy="3810002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42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Campaign</a:t>
                      </a:r>
                    </a:p>
                  </a:txBody>
                  <a:tcPr marL="114300" marR="114300" marT="38100" marB="38100" anchor="ctr">
                    <a:solidFill>
                      <a:srgbClr val="00A0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Period</a:t>
                      </a:r>
                    </a:p>
                  </a:txBody>
                  <a:tcPr marL="114300" marR="114300" marT="38100" marB="38100" anchor="ctr">
                    <a:solidFill>
                      <a:srgbClr val="00A0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IO accounts</a:t>
                      </a:r>
                    </a:p>
                  </a:txBody>
                  <a:tcPr marL="114300" marR="114300" marT="38100" marB="38100" anchor="ctr">
                    <a:solidFill>
                      <a:srgbClr val="00A0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Controls</a:t>
                      </a:r>
                    </a:p>
                  </a:txBody>
                  <a:tcPr marL="114300" marR="114300" marT="38100" marB="38100" anchor="ctr">
                    <a:solidFill>
                      <a:srgbClr val="00A0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Posts</a:t>
                      </a:r>
                    </a:p>
                  </a:txBody>
                  <a:tcPr marL="114300" marR="114300" marT="38100" marB="38100" anchor="ctr">
                    <a:solidFill>
                      <a:srgbClr val="00A0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China-1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2008–2019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699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42,120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3,670,754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Cuba</a:t>
                      </a:r>
                    </a:p>
                  </a:txBody>
                  <a:tcPr marL="114300" marR="114300" marT="38100" marB="38100" anchor="ctr"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 dirty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2010–2020</a:t>
                      </a:r>
                    </a:p>
                  </a:txBody>
                  <a:tcPr marL="114300" marR="114300" marT="38100" marB="38100" anchor="ctr"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503</a:t>
                      </a:r>
                    </a:p>
                  </a:txBody>
                  <a:tcPr marL="114300" marR="114300" marT="38100" marB="38100" anchor="ctr"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30,099</a:t>
                      </a:r>
                    </a:p>
                  </a:txBody>
                  <a:tcPr marL="114300" marR="114300" marT="38100" marB="38100" anchor="ctr"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6,155,331</a:t>
                      </a:r>
                    </a:p>
                  </a:txBody>
                  <a:tcPr marL="114300" marR="114300" marT="38100" marB="38100" anchor="ctr">
                    <a:solidFill>
                      <a:srgbClr val="EE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 dirty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Iran-1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2010–2018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660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5,015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1,322,789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Russia-1</a:t>
                      </a:r>
                    </a:p>
                  </a:txBody>
                  <a:tcPr marL="114300" marR="114300" marT="38100" marB="38100" anchor="ctr"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2009–2018</a:t>
                      </a:r>
                    </a:p>
                  </a:txBody>
                  <a:tcPr marL="114300" marR="114300" marT="38100" marB="38100" anchor="ctr"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3,293</a:t>
                      </a:r>
                    </a:p>
                  </a:txBody>
                  <a:tcPr marL="114300" marR="114300" marT="38100" marB="38100" anchor="ctr"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31,299</a:t>
                      </a:r>
                    </a:p>
                  </a:txBody>
                  <a:tcPr marL="114300" marR="114300" marT="38100" marB="38100" anchor="ctr"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3,650,083</a:t>
                      </a:r>
                    </a:p>
                  </a:txBody>
                  <a:tcPr marL="114300" marR="114300" marT="38100" marB="38100" anchor="ctr">
                    <a:solidFill>
                      <a:srgbClr val="EE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UAE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2011–2019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3,658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10,545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1,707,792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Venezuela</a:t>
                      </a:r>
                    </a:p>
                  </a:txBody>
                  <a:tcPr marL="114300" marR="114300" marT="38100" marB="38100" anchor="ctr"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2012–2019</a:t>
                      </a:r>
                    </a:p>
                  </a:txBody>
                  <a:tcPr marL="114300" marR="114300" marT="38100" marB="38100" anchor="ctr"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611</a:t>
                      </a:r>
                    </a:p>
                  </a:txBody>
                  <a:tcPr marL="114300" marR="114300" marT="38100" marB="38100" anchor="ctr"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9,745</a:t>
                      </a:r>
                    </a:p>
                  </a:txBody>
                  <a:tcPr marL="114300" marR="114300" marT="38100" marB="38100" anchor="ctr"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 dirty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1,972,732</a:t>
                      </a:r>
                    </a:p>
                  </a:txBody>
                  <a:tcPr marL="114300" marR="114300" marT="38100" marB="38100" anchor="ctr">
                    <a:solidFill>
                      <a:srgbClr val="EE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Controls used the same hashtags on the same dates as IO acco">
            <a:extLst>
              <a:ext uri="{FF2B5EF4-FFF2-40B4-BE49-F238E27FC236}">
                <a16:creationId xmlns:a16="http://schemas.microsoft.com/office/drawing/2014/main" id="{96A88D5C-6AA2-E3A3-7847-898B42EF19A7}"/>
              </a:ext>
            </a:extLst>
          </p:cNvPr>
          <p:cNvSpPr>
            <a:spLocks noGrp="1"/>
          </p:cNvSpPr>
          <p:nvPr/>
        </p:nvSpPr>
        <p:spPr>
          <a:xfrm>
            <a:off x="1381125" y="5810250"/>
            <a:ext cx="10001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6060"/>
                </a:solidFill>
                <a:latin typeface="Calibri"/>
                <a:ea typeface="Calibri"/>
                <a:cs typeface="Calibri"/>
              </a:defRPr>
            </a:pPr>
            <a:r>
              <a:rPr sz="1725" b="0" dirty="0">
                <a:solidFill>
                  <a:srgbClr val="606060"/>
                </a:solidFill>
                <a:latin typeface="Calibri"/>
                <a:ea typeface="Calibri"/>
                <a:cs typeface="Calibri"/>
              </a:rPr>
              <a:t>18.5 million posts across 138,247 accounts.</a:t>
            </a:r>
          </a:p>
          <a:p>
            <a:pPr>
              <a:buNone/>
              <a:defRPr sz="1725" b="0">
                <a:solidFill>
                  <a:srgbClr val="606060"/>
                </a:solidFill>
                <a:latin typeface="Calibri"/>
                <a:ea typeface="Calibri"/>
                <a:cs typeface="Calibri"/>
              </a:defRPr>
            </a:pPr>
            <a:r>
              <a:rPr sz="1725" b="0" dirty="0">
                <a:solidFill>
                  <a:srgbClr val="606060"/>
                </a:solidFill>
                <a:latin typeface="Calibri"/>
                <a:ea typeface="Calibri"/>
                <a:cs typeface="Calibri"/>
              </a:rPr>
              <a:t>Controls matched by hashtag and date.</a:t>
            </a:r>
          </a:p>
        </p:txBody>
      </p:sp>
    </p:spTree>
    <p:extLst>
      <p:ext uri="{BB962C8B-B14F-4D97-AF65-F5344CB8AC3E}">
        <p14:creationId xmlns:p14="http://schemas.microsoft.com/office/powerpoint/2010/main" val="17465023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73C6E-5D04-1502-D2A7-AC32F50B2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9D69B-CA03-EE89-F943-1001359FE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200" b="0">
                <a:solidFill>
                  <a:srgbClr val="00A0BD"/>
                </a:solidFill>
                <a:latin typeface="Calibri"/>
                <a:ea typeface="Calibri"/>
                <a:cs typeface="Calibri"/>
              </a:defRPr>
            </a:pPr>
            <a:r>
              <a:rPr lang="en-GB" sz="4000" dirty="0">
                <a:latin typeface="Calibri Light (Headings)"/>
              </a:rPr>
              <a:t>Which Indicators Matter?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0ADB10-D72A-D2E9-5B5E-9246822B8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23</a:t>
            </a:fld>
            <a:endParaRPr lang="he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AFA6FE-3C68-6985-BD91-EEF3E9C2AB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02"/>
          <a:stretch>
            <a:fillRect/>
          </a:stretch>
        </p:blipFill>
        <p:spPr>
          <a:xfrm>
            <a:off x="1814288" y="1407397"/>
            <a:ext cx="8918765" cy="48834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959349-8F70-A874-F2C0-9EB013B156DC}"/>
              </a:ext>
            </a:extLst>
          </p:cNvPr>
          <p:cNvSpPr txBox="1"/>
          <p:nvPr/>
        </p:nvSpPr>
        <p:spPr>
          <a:xfrm>
            <a:off x="1381124" y="6444734"/>
            <a:ext cx="789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dirty="0" err="1"/>
              <a:t>XGBoost</a:t>
            </a:r>
            <a:r>
              <a:rPr lang="en-IL" dirty="0"/>
              <a:t>: indicator importance varies across campaigns (</a:t>
            </a:r>
            <a:r>
              <a:rPr lang="en-US" dirty="0" err="1"/>
              <a:t>transductive</a:t>
            </a:r>
            <a:r>
              <a:rPr lang="en-IL" dirty="0"/>
              <a:t> setting).</a:t>
            </a:r>
          </a:p>
        </p:txBody>
      </p:sp>
    </p:spTree>
    <p:extLst>
      <p:ext uri="{BB962C8B-B14F-4D97-AF65-F5344CB8AC3E}">
        <p14:creationId xmlns:p14="http://schemas.microsoft.com/office/powerpoint/2010/main" val="30650092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etection Across Campaigns">
            <a:extLst>
              <a:ext uri="{FF2B5EF4-FFF2-40B4-BE49-F238E27FC236}">
                <a16:creationId xmlns:a16="http://schemas.microsoft.com/office/drawing/2014/main" id="{24255433-1B27-43F5-BFE0-1EF14859CCBC}"/>
              </a:ext>
            </a:extLst>
          </p:cNvPr>
          <p:cNvSpPr>
            <a:spLocks noGrp="1"/>
          </p:cNvSpPr>
          <p:nvPr/>
        </p:nvSpPr>
        <p:spPr>
          <a:xfrm>
            <a:off x="3143250" y="619125"/>
            <a:ext cx="85725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4200" b="0">
                <a:solidFill>
                  <a:srgbClr val="00A0BD"/>
                </a:solidFill>
                <a:latin typeface="Calibri"/>
                <a:ea typeface="Calibri"/>
                <a:cs typeface="Calibri"/>
              </a:defRPr>
            </a:pPr>
            <a:r>
              <a:rPr sz="4400" dirty="0">
                <a:solidFill>
                  <a:srgbClr val="009DBB"/>
                </a:solidFill>
                <a:latin typeface="+mj-lt"/>
                <a:ea typeface="+mj-ea"/>
                <a:cs typeface="+mj-cs"/>
              </a:rPr>
              <a:t>Detection Across Campaigns</a:t>
            </a:r>
          </a:p>
        </p:txBody>
      </p:sp>
      <p:sp>
        <p:nvSpPr>
          <p:cNvPr id="4" name="0.990">
            <a:extLst>
              <a:ext uri="{FF2B5EF4-FFF2-40B4-BE49-F238E27FC236}">
                <a16:creationId xmlns:a16="http://schemas.microsoft.com/office/drawing/2014/main" id="{C8ACFCBD-22DC-47B9-8F29-267B3A1BAB30}"/>
              </a:ext>
            </a:extLst>
          </p:cNvPr>
          <p:cNvSpPr>
            <a:spLocks noGrp="1"/>
          </p:cNvSpPr>
          <p:nvPr/>
        </p:nvSpPr>
        <p:spPr>
          <a:xfrm>
            <a:off x="1381125" y="1619250"/>
            <a:ext cx="43815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4125" b="1">
                <a:solidFill>
                  <a:srgbClr val="00A0BD"/>
                </a:solidFill>
                <a:latin typeface="Calibri"/>
                <a:ea typeface="Calibri"/>
                <a:cs typeface="Calibri"/>
              </a:defRPr>
            </a:pPr>
            <a:r>
              <a:rPr sz="4125" b="1">
                <a:solidFill>
                  <a:srgbClr val="00A0BD"/>
                </a:solidFill>
                <a:latin typeface="Calibri"/>
                <a:ea typeface="Calibri"/>
                <a:cs typeface="Calibri"/>
              </a:rPr>
              <a:t>0.990</a:t>
            </a:r>
          </a:p>
        </p:txBody>
      </p:sp>
      <p:sp>
        <p:nvSpPr>
          <p:cNvPr id="5" name="Mean within-campaign ROC-AUC">
            <a:extLst>
              <a:ext uri="{FF2B5EF4-FFF2-40B4-BE49-F238E27FC236}">
                <a16:creationId xmlns:a16="http://schemas.microsoft.com/office/drawing/2014/main" id="{88BECC5A-9F85-4FFE-922E-06F633C87224}"/>
              </a:ext>
            </a:extLst>
          </p:cNvPr>
          <p:cNvSpPr>
            <a:spLocks noGrp="1"/>
          </p:cNvSpPr>
          <p:nvPr/>
        </p:nvSpPr>
        <p:spPr>
          <a:xfrm>
            <a:off x="1381125" y="2333625"/>
            <a:ext cx="47625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17171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1717"/>
                </a:solidFill>
                <a:latin typeface="Calibri"/>
                <a:ea typeface="Calibri"/>
                <a:cs typeface="Calibri"/>
              </a:rPr>
              <a:t>Mean within-campaign ROC-AUC</a:t>
            </a:r>
          </a:p>
        </p:txBody>
      </p:sp>
      <p:sp>
        <p:nvSpPr>
          <p:cNvPr id="6" name="0.933">
            <a:extLst>
              <a:ext uri="{FF2B5EF4-FFF2-40B4-BE49-F238E27FC236}">
                <a16:creationId xmlns:a16="http://schemas.microsoft.com/office/drawing/2014/main" id="{A0A82FC7-115B-49E0-8CD3-BB199934A574}"/>
              </a:ext>
            </a:extLst>
          </p:cNvPr>
          <p:cNvSpPr>
            <a:spLocks noGrp="1"/>
          </p:cNvSpPr>
          <p:nvPr/>
        </p:nvSpPr>
        <p:spPr>
          <a:xfrm>
            <a:off x="6905625" y="1619250"/>
            <a:ext cx="43815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4125" b="1">
                <a:solidFill>
                  <a:srgbClr val="00A0BD"/>
                </a:solidFill>
                <a:latin typeface="Calibri"/>
                <a:ea typeface="Calibri"/>
                <a:cs typeface="Calibri"/>
              </a:defRPr>
            </a:pPr>
            <a:r>
              <a:rPr sz="4125" b="1">
                <a:solidFill>
                  <a:srgbClr val="00A0BD"/>
                </a:solidFill>
                <a:latin typeface="Calibri"/>
                <a:ea typeface="Calibri"/>
                <a:cs typeface="Calibri"/>
              </a:rPr>
              <a:t>0.933</a:t>
            </a:r>
          </a:p>
        </p:txBody>
      </p:sp>
      <p:sp>
        <p:nvSpPr>
          <p:cNvPr id="7" name="Mean cross-campaign ROC-AUC">
            <a:extLst>
              <a:ext uri="{FF2B5EF4-FFF2-40B4-BE49-F238E27FC236}">
                <a16:creationId xmlns:a16="http://schemas.microsoft.com/office/drawing/2014/main" id="{C049B299-0352-4821-9936-1E12D421E351}"/>
              </a:ext>
            </a:extLst>
          </p:cNvPr>
          <p:cNvSpPr>
            <a:spLocks noGrp="1"/>
          </p:cNvSpPr>
          <p:nvPr/>
        </p:nvSpPr>
        <p:spPr>
          <a:xfrm>
            <a:off x="6905625" y="2333625"/>
            <a:ext cx="47625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17171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1717"/>
                </a:solidFill>
                <a:latin typeface="Calibri"/>
                <a:ea typeface="Calibri"/>
                <a:cs typeface="Calibri"/>
              </a:rPr>
              <a:t>Mean cross-campaign ROC-AUC</a:t>
            </a:r>
          </a:p>
        </p:txBody>
      </p:sp>
      <p:graphicFrame>
        <p:nvGraphicFramePr>
          <p:cNvPr id="22" name="Table 21"/>
          <p:cNvGraphicFramePr/>
          <p:nvPr/>
        </p:nvGraphicFramePr>
        <p:xfrm>
          <a:off x="1381125" y="2743200"/>
          <a:ext cx="10096500" cy="2867025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Campaign</a:t>
                      </a:r>
                    </a:p>
                  </a:txBody>
                  <a:tcPr marL="114300" marR="114300" marT="38100" marB="38100" anchor="ctr">
                    <a:solidFill>
                      <a:srgbClr val="00A0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Within ROC</a:t>
                      </a:r>
                    </a:p>
                  </a:txBody>
                  <a:tcPr marL="114300" marR="114300" marT="38100" marB="38100" anchor="ctr">
                    <a:solidFill>
                      <a:srgbClr val="00A0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Within PR</a:t>
                      </a:r>
                    </a:p>
                  </a:txBody>
                  <a:tcPr marL="114300" marR="114300" marT="38100" marB="38100" anchor="ctr">
                    <a:solidFill>
                      <a:srgbClr val="00A0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Across ROC</a:t>
                      </a:r>
                    </a:p>
                  </a:txBody>
                  <a:tcPr marL="114300" marR="114300" marT="38100" marB="38100" anchor="ctr">
                    <a:solidFill>
                      <a:srgbClr val="00A0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Across PR</a:t>
                      </a:r>
                    </a:p>
                  </a:txBody>
                  <a:tcPr marL="114300" marR="114300" marT="38100" marB="38100" anchor="ctr">
                    <a:solidFill>
                      <a:srgbClr val="00A0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Iran-1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0.991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0.983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0.989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0.963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UAE</a:t>
                      </a:r>
                    </a:p>
                  </a:txBody>
                  <a:tcPr marL="114300" marR="114300" marT="38100" marB="38100" anchor="ctr"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0.995</a:t>
                      </a:r>
                    </a:p>
                  </a:txBody>
                  <a:tcPr marL="114300" marR="114300" marT="38100" marB="38100" anchor="ctr"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0.992</a:t>
                      </a:r>
                    </a:p>
                  </a:txBody>
                  <a:tcPr marL="114300" marR="114300" marT="38100" marB="38100" anchor="ctr"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0.976</a:t>
                      </a:r>
                    </a:p>
                  </a:txBody>
                  <a:tcPr marL="114300" marR="114300" marT="38100" marB="38100" anchor="ctr"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0.943</a:t>
                      </a:r>
                    </a:p>
                  </a:txBody>
                  <a:tcPr marL="114300" marR="114300" marT="38100" marB="38100" anchor="ctr">
                    <a:solidFill>
                      <a:srgbClr val="EE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Venezuela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0.984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0.964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0.889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0.649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China-1</a:t>
                      </a:r>
                    </a:p>
                  </a:txBody>
                  <a:tcPr marL="114300" marR="114300" marT="38100" marB="38100" anchor="ctr"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0.986</a:t>
                      </a:r>
                    </a:p>
                  </a:txBody>
                  <a:tcPr marL="114300" marR="114300" marT="38100" marB="38100" anchor="ctr"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0.940</a:t>
                      </a:r>
                    </a:p>
                  </a:txBody>
                  <a:tcPr marL="114300" marR="114300" marT="38100" marB="38100" anchor="ctr"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0.822</a:t>
                      </a:r>
                    </a:p>
                  </a:txBody>
                  <a:tcPr marL="114300" marR="114300" marT="38100" marB="38100" anchor="ctr"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0.072</a:t>
                      </a:r>
                    </a:p>
                  </a:txBody>
                  <a:tcPr marL="114300" marR="114300" marT="38100" marB="38100" anchor="ctr">
                    <a:solidFill>
                      <a:srgbClr val="EE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Cuba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0.985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0.966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0.992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0.920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Russia-1</a:t>
                      </a:r>
                    </a:p>
                  </a:txBody>
                  <a:tcPr marL="114300" marR="114300" marT="38100" marB="38100" anchor="ctr"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0.999</a:t>
                      </a:r>
                    </a:p>
                  </a:txBody>
                  <a:tcPr marL="114300" marR="114300" marT="38100" marB="38100" anchor="ctr"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0.994</a:t>
                      </a:r>
                    </a:p>
                  </a:txBody>
                  <a:tcPr marL="114300" marR="114300" marT="38100" marB="38100" anchor="ctr"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0.929</a:t>
                      </a:r>
                    </a:p>
                  </a:txBody>
                  <a:tcPr marL="114300" marR="114300" marT="38100" marB="38100" anchor="ctr"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71717"/>
                          </a:solidFill>
                          <a:latin typeface="Calibri"/>
                          <a:ea typeface="Calibri"/>
                          <a:cs typeface="Calibri"/>
                        </a:rPr>
                        <a:t>0.794</a:t>
                      </a:r>
                    </a:p>
                  </a:txBody>
                  <a:tcPr marL="114300" marR="114300" marT="38100" marB="38100" anchor="ctr">
                    <a:solidFill>
                      <a:srgbClr val="EE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andom Forest AUC. Across: train on five campaigns, test on ">
            <a:extLst>
              <a:ext uri="{FF2B5EF4-FFF2-40B4-BE49-F238E27FC236}">
                <a16:creationId xmlns:a16="http://schemas.microsoft.com/office/drawing/2014/main" id="{4F48DA0C-68B0-4A52-ABD8-30ECFF0C7A7D}"/>
              </a:ext>
            </a:extLst>
          </p:cNvPr>
          <p:cNvSpPr>
            <a:spLocks noGrp="1"/>
          </p:cNvSpPr>
          <p:nvPr/>
        </p:nvSpPr>
        <p:spPr>
          <a:xfrm>
            <a:off x="1381125" y="5734050"/>
            <a:ext cx="10191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650" b="0">
                <a:solidFill>
                  <a:srgbClr val="60606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06060"/>
                </a:solidFill>
                <a:latin typeface="Calibri"/>
                <a:ea typeface="Calibri"/>
                <a:cs typeface="Calibri"/>
              </a:rPr>
              <a:t>Random Forest AUC. Across: train on five campaigns, test on one.</a:t>
            </a:r>
          </a:p>
        </p:txBody>
      </p:sp>
      <p:sp>
        <p:nvSpPr>
          <p:cNvPr id="10" name="Mean PR-AUC: 0.973 within campaign / 0.723 across campaigns.">
            <a:extLst>
              <a:ext uri="{FF2B5EF4-FFF2-40B4-BE49-F238E27FC236}">
                <a16:creationId xmlns:a16="http://schemas.microsoft.com/office/drawing/2014/main" id="{63DD2D39-7880-4700-9459-3EDD8CDAC1CE}"/>
              </a:ext>
            </a:extLst>
          </p:cNvPr>
          <p:cNvSpPr>
            <a:spLocks noGrp="1"/>
          </p:cNvSpPr>
          <p:nvPr/>
        </p:nvSpPr>
        <p:spPr>
          <a:xfrm>
            <a:off x="1381125" y="6048375"/>
            <a:ext cx="752475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650" b="0">
                <a:solidFill>
                  <a:srgbClr val="60606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06060"/>
                </a:solidFill>
                <a:latin typeface="Calibri"/>
                <a:ea typeface="Calibri"/>
                <a:cs typeface="Calibri"/>
              </a:rPr>
              <a:t>Mean PR-AUC: 0.973 within campaign / 0.723 across campaigns.</a:t>
            </a:r>
          </a:p>
        </p:txBody>
      </p:sp>
      <p:sp>
        <p:nvSpPr>
          <p:cNvPr id="11" name="Macro-F1: ICSU 0.804 vs. IOHunter 0.793 (different training ">
            <a:extLst>
              <a:ext uri="{FF2B5EF4-FFF2-40B4-BE49-F238E27FC236}">
                <a16:creationId xmlns:a16="http://schemas.microsoft.com/office/drawing/2014/main" id="{B1C830EF-C968-428C-9804-3C5F7C4CEB1D}"/>
              </a:ext>
            </a:extLst>
          </p:cNvPr>
          <p:cNvSpPr>
            <a:spLocks noGrp="1"/>
          </p:cNvSpPr>
          <p:nvPr/>
        </p:nvSpPr>
        <p:spPr>
          <a:xfrm>
            <a:off x="1381125" y="6410325"/>
            <a:ext cx="752475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606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06060"/>
                </a:solidFill>
                <a:latin typeface="Calibri"/>
                <a:ea typeface="Calibri"/>
                <a:cs typeface="Calibri"/>
              </a:rPr>
              <a:t>Macro-F1: ICSU 0.804 vs. IOHunter 0.793 (different training coverage).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B8918E9-041D-B80C-2A81-5E64D9D9C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24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4640818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ppendix: Group Analysis">
            <a:extLst>
              <a:ext uri="{FF2B5EF4-FFF2-40B4-BE49-F238E27FC236}">
                <a16:creationId xmlns:a16="http://schemas.microsoft.com/office/drawing/2014/main" id="{1DD6CE70-C1FF-44D9-BC91-6B57F19508A8}"/>
              </a:ext>
            </a:extLst>
          </p:cNvPr>
          <p:cNvSpPr>
            <a:spLocks noGrp="1"/>
          </p:cNvSpPr>
          <p:nvPr/>
        </p:nvSpPr>
        <p:spPr>
          <a:xfrm>
            <a:off x="3143250" y="619125"/>
            <a:ext cx="85725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4200" b="0">
                <a:solidFill>
                  <a:srgbClr val="00A0BD"/>
                </a:solidFill>
                <a:latin typeface="Calibri"/>
                <a:ea typeface="Calibri"/>
                <a:cs typeface="Calibri"/>
              </a:defRPr>
            </a:pPr>
            <a:r>
              <a:rPr sz="4400" dirty="0">
                <a:solidFill>
                  <a:srgbClr val="009DBB"/>
                </a:solidFill>
                <a:latin typeface="+mj-lt"/>
                <a:ea typeface="+mj-ea"/>
                <a:cs typeface="+mj-cs"/>
              </a:rPr>
              <a:t>Group Analysis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78738" y="1860636"/>
            <a:ext cx="10860862" cy="3454314"/>
          </a:xfrm>
          <a:prstGeom prst="rect">
            <a:avLst/>
          </a:prstGeom>
        </p:spPr>
      </p:pic>
      <p:sp>
        <p:nvSpPr>
          <p:cNvPr id="5" name="K-core groups balance IO concentration and topic alignment. ">
            <a:extLst>
              <a:ext uri="{FF2B5EF4-FFF2-40B4-BE49-F238E27FC236}">
                <a16:creationId xmlns:a16="http://schemas.microsoft.com/office/drawing/2014/main" id="{4077DB98-F078-43B7-9863-A247B4F38688}"/>
              </a:ext>
            </a:extLst>
          </p:cNvPr>
          <p:cNvSpPr>
            <a:spLocks noGrp="1"/>
          </p:cNvSpPr>
          <p:nvPr/>
        </p:nvSpPr>
        <p:spPr>
          <a:xfrm>
            <a:off x="1381125" y="5562600"/>
            <a:ext cx="10096500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325" b="0">
                <a:solidFill>
                  <a:srgbClr val="171717"/>
                </a:solidFill>
                <a:latin typeface="Calibri"/>
                <a:ea typeface="Calibri"/>
                <a:cs typeface="Calibri"/>
              </a:defRPr>
            </a:pPr>
            <a:r>
              <a:rPr sz="2325" b="0" dirty="0">
                <a:solidFill>
                  <a:srgbClr val="171717"/>
                </a:solidFill>
                <a:latin typeface="Calibri"/>
                <a:ea typeface="Calibri"/>
                <a:cs typeface="Calibri"/>
              </a:rPr>
              <a:t>K-core groups balance IO concentration and topic alignment.</a:t>
            </a:r>
            <a:endParaRPr lang="en-US" sz="2325" b="0" dirty="0">
              <a:solidFill>
                <a:srgbClr val="171717"/>
              </a:solidFill>
              <a:latin typeface="Calibri"/>
              <a:ea typeface="Calibri"/>
              <a:cs typeface="Calibri"/>
            </a:endParaRPr>
          </a:p>
          <a:p>
            <a:pPr>
              <a:buNone/>
              <a:defRPr sz="2325" b="0">
                <a:solidFill>
                  <a:srgbClr val="171717"/>
                </a:solidFill>
                <a:latin typeface="Calibri"/>
                <a:ea typeface="Calibri"/>
                <a:cs typeface="Calibri"/>
              </a:defRPr>
            </a:pPr>
            <a:r>
              <a:rPr sz="2325" b="0" dirty="0">
                <a:solidFill>
                  <a:srgbClr val="171717"/>
                </a:solidFill>
                <a:latin typeface="Calibri"/>
                <a:ea typeface="Calibri"/>
                <a:cs typeface="Calibri"/>
              </a:rPr>
              <a:t>Direct neighbors also perform well.</a:t>
            </a:r>
          </a:p>
        </p:txBody>
      </p:sp>
      <p:sp>
        <p:nvSpPr>
          <p:cNvPr id="6" name="Top: XGBoost-predicted IO accounts. Bottom: all accounts.">
            <a:extLst>
              <a:ext uri="{FF2B5EF4-FFF2-40B4-BE49-F238E27FC236}">
                <a16:creationId xmlns:a16="http://schemas.microsoft.com/office/drawing/2014/main" id="{DDFEED6A-F454-4027-AC9A-ED175958BB5D}"/>
              </a:ext>
            </a:extLst>
          </p:cNvPr>
          <p:cNvSpPr>
            <a:spLocks noGrp="1"/>
          </p:cNvSpPr>
          <p:nvPr/>
        </p:nvSpPr>
        <p:spPr>
          <a:xfrm>
            <a:off x="1381125" y="6419850"/>
            <a:ext cx="10001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6060"/>
                </a:solidFill>
                <a:latin typeface="Calibri"/>
                <a:ea typeface="Calibri"/>
                <a:cs typeface="Calibri"/>
              </a:defRPr>
            </a:pPr>
            <a:r>
              <a:rPr sz="1725" b="0" dirty="0">
                <a:solidFill>
                  <a:srgbClr val="606060"/>
                </a:solidFill>
                <a:latin typeface="Calibri"/>
                <a:ea typeface="Calibri"/>
                <a:cs typeface="Calibri"/>
              </a:rPr>
              <a:t>Top: </a:t>
            </a:r>
            <a:r>
              <a:rPr sz="1725" b="0" dirty="0" err="1">
                <a:solidFill>
                  <a:srgbClr val="606060"/>
                </a:solidFill>
                <a:latin typeface="Calibri"/>
                <a:ea typeface="Calibri"/>
                <a:cs typeface="Calibri"/>
              </a:rPr>
              <a:t>XGBoost</a:t>
            </a:r>
            <a:r>
              <a:rPr sz="1725" b="0" dirty="0">
                <a:solidFill>
                  <a:srgbClr val="606060"/>
                </a:solidFill>
                <a:latin typeface="Calibri"/>
                <a:ea typeface="Calibri"/>
                <a:cs typeface="Calibri"/>
              </a:rPr>
              <a:t>-predicted IO accounts. Bottom: all accounts.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D15F5CE-A275-71AC-34C5-914683A24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25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2066198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he Iran-1 Network">
            <a:extLst>
              <a:ext uri="{FF2B5EF4-FFF2-40B4-BE49-F238E27FC236}">
                <a16:creationId xmlns:a16="http://schemas.microsoft.com/office/drawing/2014/main" id="{1618F927-0986-4937-837D-F0EEC3D75D2F}"/>
              </a:ext>
            </a:extLst>
          </p:cNvPr>
          <p:cNvSpPr>
            <a:spLocks noGrp="1"/>
          </p:cNvSpPr>
          <p:nvPr/>
        </p:nvSpPr>
        <p:spPr>
          <a:xfrm>
            <a:off x="3143250" y="619125"/>
            <a:ext cx="85725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4200" b="0">
                <a:solidFill>
                  <a:srgbClr val="00A0BD"/>
                </a:solidFill>
                <a:latin typeface="Calibri"/>
                <a:ea typeface="Calibri"/>
                <a:cs typeface="Calibri"/>
              </a:defRPr>
            </a:pPr>
            <a:r>
              <a:rPr lang="en-GB" sz="4400" dirty="0">
                <a:latin typeface="Calibri Light (Headings)"/>
              </a:rPr>
              <a:t>Group Analysis </a:t>
            </a:r>
            <a:r>
              <a:rPr lang="en-US" sz="4400" dirty="0">
                <a:latin typeface="Calibri Light (Headings)"/>
              </a:rPr>
              <a:t>Case Study - Iran 1</a:t>
            </a:r>
            <a:endParaRPr sz="4400" dirty="0">
              <a:solidFill>
                <a:srgbClr val="009DBB"/>
              </a:solidFill>
              <a:latin typeface="Calibri Light (Headings)"/>
              <a:ea typeface="+mj-ea"/>
              <a:cs typeface="+mj-cs"/>
            </a:endParaRPr>
          </a:p>
        </p:txBody>
      </p:sp>
      <p:sp>
        <p:nvSpPr>
          <p:cNvPr id="4" name="Core number">
            <a:extLst>
              <a:ext uri="{FF2B5EF4-FFF2-40B4-BE49-F238E27FC236}">
                <a16:creationId xmlns:a16="http://schemas.microsoft.com/office/drawing/2014/main" id="{3D4131FF-8FC4-4E34-BFC9-6E948CFE424F}"/>
              </a:ext>
            </a:extLst>
          </p:cNvPr>
          <p:cNvSpPr>
            <a:spLocks noGrp="1"/>
          </p:cNvSpPr>
          <p:nvPr/>
        </p:nvSpPr>
        <p:spPr>
          <a:xfrm>
            <a:off x="1123950" y="1762125"/>
            <a:ext cx="4876802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2325" b="1">
                <a:solidFill>
                  <a:srgbClr val="00A0BD"/>
                </a:solidFill>
                <a:latin typeface="Calibri"/>
                <a:ea typeface="Calibri"/>
                <a:cs typeface="Calibri"/>
              </a:defRPr>
            </a:pPr>
            <a:r>
              <a:rPr sz="2325" b="1" dirty="0">
                <a:solidFill>
                  <a:srgbClr val="00A0BD"/>
                </a:solidFill>
                <a:latin typeface="Calibri"/>
                <a:ea typeface="Calibri"/>
                <a:cs typeface="Calibri"/>
              </a:rPr>
              <a:t>Core number</a:t>
            </a:r>
          </a:p>
        </p:txBody>
      </p:sp>
      <p:sp>
        <p:nvSpPr>
          <p:cNvPr id="5" name="Known IO labels">
            <a:extLst>
              <a:ext uri="{FF2B5EF4-FFF2-40B4-BE49-F238E27FC236}">
                <a16:creationId xmlns:a16="http://schemas.microsoft.com/office/drawing/2014/main" id="{7D03C70D-99F7-4AE5-8164-C7A39B6900F6}"/>
              </a:ext>
            </a:extLst>
          </p:cNvPr>
          <p:cNvSpPr>
            <a:spLocks noGrp="1"/>
          </p:cNvSpPr>
          <p:nvPr/>
        </p:nvSpPr>
        <p:spPr>
          <a:xfrm>
            <a:off x="6191250" y="1762125"/>
            <a:ext cx="528637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2325" b="1">
                <a:solidFill>
                  <a:srgbClr val="00A0BD"/>
                </a:solidFill>
                <a:latin typeface="Calibri"/>
                <a:ea typeface="Calibri"/>
                <a:cs typeface="Calibri"/>
              </a:defRPr>
            </a:pPr>
            <a:r>
              <a:rPr sz="2325" dirty="0">
                <a:solidFill>
                  <a:srgbClr val="00A0BD"/>
                </a:solidFill>
                <a:latin typeface="Calibri"/>
                <a:ea typeface="Calibri"/>
                <a:cs typeface="Calibri"/>
              </a:rPr>
              <a:t>Known IO labels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23558" y="2276475"/>
            <a:ext cx="9681502" cy="3800475"/>
          </a:xfrm>
          <a:prstGeom prst="rect">
            <a:avLst/>
          </a:prstGeom>
        </p:spPr>
      </p:pic>
      <p:sp>
        <p:nvSpPr>
          <p:cNvPr id="7" name="High-core regions overlap with concentrations of IO accounts">
            <a:extLst>
              <a:ext uri="{FF2B5EF4-FFF2-40B4-BE49-F238E27FC236}">
                <a16:creationId xmlns:a16="http://schemas.microsoft.com/office/drawing/2014/main" id="{A36B19FB-4798-48CF-9CC7-1A29A3E4D1AC}"/>
              </a:ext>
            </a:extLst>
          </p:cNvPr>
          <p:cNvSpPr>
            <a:spLocks noGrp="1"/>
          </p:cNvSpPr>
          <p:nvPr/>
        </p:nvSpPr>
        <p:spPr>
          <a:xfrm>
            <a:off x="1381125" y="6319837"/>
            <a:ext cx="100965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75" b="0">
                <a:solidFill>
                  <a:srgbClr val="171717"/>
                </a:solidFill>
                <a:latin typeface="Calibri"/>
                <a:ea typeface="Calibri"/>
                <a:cs typeface="Calibri"/>
              </a:defRPr>
            </a:pPr>
            <a:r>
              <a:rPr sz="2175" b="0" dirty="0">
                <a:solidFill>
                  <a:srgbClr val="171717"/>
                </a:solidFill>
                <a:latin typeface="Calibri"/>
                <a:ea typeface="Calibri"/>
                <a:cs typeface="Calibri"/>
              </a:rPr>
              <a:t>High-core regions overlap with concentrations of IO accounts.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68C35B99-0216-931F-036F-FF52249EB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26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2452606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071E3-2BCE-5587-145E-16C70E8AE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3082B-5669-8FAE-27AB-9055326CF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9108669" cy="1325563"/>
          </a:xfrm>
        </p:spPr>
        <p:txBody>
          <a:bodyPr/>
          <a:lstStyle/>
          <a:p>
            <a:r>
              <a:rPr lang="en-GB" dirty="0"/>
              <a:t>Group Analysis </a:t>
            </a:r>
            <a:r>
              <a:rPr lang="en-US" dirty="0"/>
              <a:t>Case Study - Iran 1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26034-F9A8-5B75-12A8-2F1CD244B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7697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L" sz="3600" b="1" dirty="0"/>
              <a:t>How Was the Group Selected?</a:t>
            </a:r>
          </a:p>
          <a:p>
            <a:pPr marL="742950" lvl="0" indent="-742950">
              <a:buAutoNum type="arabicPeriod"/>
            </a:pPr>
            <a:r>
              <a:rPr lang="en-IL" sz="3600" dirty="0"/>
              <a:t>Build the Iran-1 co-action graph</a:t>
            </a:r>
            <a:endParaRPr lang="en-US" sz="3600" dirty="0"/>
          </a:p>
          <a:p>
            <a:pPr marL="742950" lvl="0" indent="-742950">
              <a:buAutoNum type="arabicPeriod"/>
            </a:pPr>
            <a:r>
              <a:rPr lang="en-IL" sz="3600" dirty="0"/>
              <a:t>Find the maximum k-core</a:t>
            </a:r>
            <a:endParaRPr lang="en-US" sz="3600" dirty="0"/>
          </a:p>
          <a:p>
            <a:pPr marL="742950" lvl="0" indent="-742950">
              <a:buAutoNum type="arabicPeriod"/>
            </a:pPr>
            <a:r>
              <a:rPr lang="en-IL" sz="3600" dirty="0"/>
              <a:t>Select a connected component </a:t>
            </a:r>
            <a:r>
              <a:rPr lang="en-US" sz="3600" dirty="0"/>
              <a:t>from the k core</a:t>
            </a:r>
          </a:p>
          <a:p>
            <a:pPr marL="742950" lvl="0" indent="-742950">
              <a:buAutoNum type="arabicPeriod"/>
            </a:pPr>
            <a:r>
              <a:rPr lang="en-IL" sz="3600" dirty="0"/>
              <a:t>Find the peak coordination window: rank 15-minute intervals by the number of account pairs sharing hashtags.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85122-0760-36F3-3FF5-C6ACC2277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27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733764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72547-CD44-8D0A-9C89-059A4808B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DF9DA-C124-E516-1B89-C50581D3C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9108669" cy="1325563"/>
          </a:xfrm>
        </p:spPr>
        <p:txBody>
          <a:bodyPr/>
          <a:lstStyle/>
          <a:p>
            <a:r>
              <a:rPr lang="en-GB" dirty="0"/>
              <a:t>Group Analysis </a:t>
            </a:r>
            <a:r>
              <a:rPr lang="en-US" dirty="0"/>
              <a:t>Case Study - Iran 1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44E42-368E-7739-6CC9-78FCA5FB3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730375"/>
            <a:ext cx="10582656" cy="4769728"/>
          </a:xfrm>
        </p:spPr>
        <p:txBody>
          <a:bodyPr>
            <a:normAutofit fontScale="92500" lnSpcReduction="10000"/>
          </a:bodyPr>
          <a:lstStyle/>
          <a:p>
            <a:r>
              <a:rPr lang="en-IL" sz="3900" dirty="0"/>
              <a:t>In the selected group and during the selected 15-minute interval:</a:t>
            </a:r>
            <a:endParaRPr lang="en-US" sz="3900" dirty="0"/>
          </a:p>
          <a:p>
            <a:pPr lvl="1"/>
            <a:r>
              <a:rPr lang="en-IL" sz="3500" dirty="0"/>
              <a:t>15 accounts produced 244 posts. </a:t>
            </a:r>
          </a:p>
          <a:p>
            <a:pPr lvl="1"/>
            <a:r>
              <a:rPr lang="en-IL" sz="3500" dirty="0"/>
              <a:t>242 of 244 posts were reposts. </a:t>
            </a:r>
          </a:p>
          <a:p>
            <a:pPr lvl="1"/>
            <a:r>
              <a:rPr lang="en-IL" sz="3500" dirty="0"/>
              <a:t>The activity included 30 shared hashtags. </a:t>
            </a:r>
          </a:p>
          <a:p>
            <a:pPr lvl="1"/>
            <a:r>
              <a:rPr lang="en-IL" sz="3500" dirty="0"/>
              <a:t>16 of 19 reposted source posts focused on U.S. politics. </a:t>
            </a:r>
          </a:p>
          <a:p>
            <a:pPr lvl="1"/>
            <a:r>
              <a:rPr lang="en-IL" sz="3500" dirty="0"/>
              <a:t>The dominant narrative included criticism of Donald Trump and opposition to tax legislation.</a:t>
            </a:r>
            <a:endParaRPr lang="en-US" sz="3900" dirty="0"/>
          </a:p>
          <a:p>
            <a:r>
              <a:rPr lang="en-IL" sz="3900" dirty="0"/>
              <a:t>Key finding: The analysis revealed a shared narrative amplified through highly coordinated activity. </a:t>
            </a:r>
          </a:p>
          <a:p>
            <a:endParaRPr lang="en-IL" sz="3600" dirty="0"/>
          </a:p>
          <a:p>
            <a:pPr marL="457200" lvl="1" indent="0">
              <a:buNone/>
            </a:pPr>
            <a:endParaRPr lang="en-IL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BB227-D589-733B-8134-DC61E33D9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28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853024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EA0ED-19B6-F573-1394-3FF4A6D4E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43645-2361-2EDD-3E3E-483138A66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9108669" cy="1325563"/>
          </a:xfrm>
        </p:spPr>
        <p:txBody>
          <a:bodyPr/>
          <a:lstStyle/>
          <a:p>
            <a:r>
              <a:rPr lang="en-IL" dirty="0"/>
              <a:t>Summary of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58D7B-3CC2-F04A-D214-9CF189CC1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730375"/>
            <a:ext cx="10582656" cy="4769728"/>
          </a:xfrm>
        </p:spPr>
        <p:txBody>
          <a:bodyPr>
            <a:normAutofit fontScale="77500" lnSpcReduction="20000"/>
          </a:bodyPr>
          <a:lstStyle/>
          <a:p>
            <a:r>
              <a:rPr lang="en-IL" sz="4000" b="1" dirty="0"/>
              <a:t>Account Detection</a:t>
            </a:r>
            <a:endParaRPr lang="en-US" sz="4000" b="1" dirty="0"/>
          </a:p>
          <a:p>
            <a:pPr lvl="1"/>
            <a:r>
              <a:rPr lang="en-IL" sz="3600" dirty="0"/>
              <a:t>Interpretable Indicators</a:t>
            </a:r>
            <a:endParaRPr lang="en-IL" sz="4000" dirty="0"/>
          </a:p>
          <a:p>
            <a:pPr lvl="1"/>
            <a:r>
              <a:rPr lang="en-IL" sz="3600" dirty="0"/>
              <a:t>Mean ROC–AUC: </a:t>
            </a:r>
            <a:r>
              <a:rPr lang="en-IL" sz="3600" b="1" dirty="0"/>
              <a:t>0.990 within campaigns</a:t>
            </a:r>
            <a:r>
              <a:rPr lang="en-IL" sz="3600" dirty="0"/>
              <a:t> and </a:t>
            </a:r>
            <a:r>
              <a:rPr lang="en-IL" sz="3600" b="1" dirty="0"/>
              <a:t>0.933 across campaigns</a:t>
            </a:r>
            <a:r>
              <a:rPr lang="en-IL" sz="3600" dirty="0"/>
              <a:t> </a:t>
            </a:r>
          </a:p>
          <a:p>
            <a:pPr lvl="0"/>
            <a:r>
              <a:rPr lang="en-IL" sz="4000" dirty="0"/>
              <a:t>Indicator importance varied across campaigns </a:t>
            </a:r>
          </a:p>
          <a:p>
            <a:r>
              <a:rPr lang="en-IL" sz="4000" b="1" dirty="0"/>
              <a:t>Group Analysis</a:t>
            </a:r>
            <a:endParaRPr lang="en-IL" sz="4000" dirty="0"/>
          </a:p>
          <a:p>
            <a:pPr lvl="1"/>
            <a:r>
              <a:rPr lang="en-IL" sz="3600" dirty="0"/>
              <a:t>K-core groups showed a strong balance between IO concentration and topic alignment </a:t>
            </a:r>
          </a:p>
          <a:p>
            <a:r>
              <a:rPr lang="en-IL" sz="4000" b="1" dirty="0"/>
              <a:t>Iran-1 Case Study</a:t>
            </a:r>
            <a:endParaRPr lang="en-IL" sz="4000" dirty="0"/>
          </a:p>
          <a:p>
            <a:pPr lvl="1"/>
            <a:r>
              <a:rPr lang="en-IL" sz="3600" dirty="0"/>
              <a:t>15 accounts → 244 posts in 15 minutes → 242 reposts </a:t>
            </a:r>
          </a:p>
          <a:p>
            <a:pPr lvl="1"/>
            <a:r>
              <a:rPr lang="en-IL" sz="3600" dirty="0"/>
              <a:t>16 of 19 reposted source posts focused on U.S. politics </a:t>
            </a:r>
          </a:p>
          <a:p>
            <a:pPr lvl="1"/>
            <a:r>
              <a:rPr lang="en-IL" sz="3600" dirty="0"/>
              <a:t>Revealed the shared narrative behind coordinated activity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25888-5ED4-B66F-208D-2ED929AC2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29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142049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50B2B-6484-39A3-1828-79F1FCB87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D00B5-FD8D-35F9-98FD-594FF7147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9108669" cy="1325563"/>
          </a:xfrm>
        </p:spPr>
        <p:txBody>
          <a:bodyPr/>
          <a:lstStyle/>
          <a:p>
            <a:r>
              <a:rPr lang="en-IL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B1F4A-B9B0-5ED1-77E3-E10DFC06C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730375"/>
            <a:ext cx="10582656" cy="4769728"/>
          </a:xfrm>
        </p:spPr>
        <p:txBody>
          <a:bodyPr>
            <a:normAutofit/>
          </a:bodyPr>
          <a:lstStyle/>
          <a:p>
            <a:r>
              <a:rPr lang="en-IL" sz="4000" b="1" dirty="0"/>
              <a:t>Psychological Characterization</a:t>
            </a:r>
            <a:endParaRPr lang="en-US" sz="4000" b="1" dirty="0"/>
          </a:p>
          <a:p>
            <a:pPr lvl="1"/>
            <a:r>
              <a:rPr lang="en-IL" sz="3600" dirty="0"/>
              <a:t>Use prompt-based psychological questionnaires to explore characteristics that distinguish IO accounts from other accounts.</a:t>
            </a:r>
            <a:endParaRPr lang="en-US" sz="3600" dirty="0"/>
          </a:p>
          <a:p>
            <a:pPr lvl="1"/>
            <a:endParaRPr lang="en-US" sz="3600" dirty="0"/>
          </a:p>
          <a:p>
            <a:pPr lvl="1"/>
            <a:endParaRPr lang="en-IL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9DD1BA-00BE-9ADF-C58A-F2E9BE641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30</a:t>
            </a:fld>
            <a:endParaRPr lang="he-IL"/>
          </a:p>
        </p:txBody>
      </p:sp>
      <p:pic>
        <p:nvPicPr>
          <p:cNvPr id="5" name="Picture 4" descr="Social media addiction brain - Social Media Psychology">
            <a:extLst>
              <a:ext uri="{FF2B5EF4-FFF2-40B4-BE49-F238E27FC236}">
                <a16:creationId xmlns:a16="http://schemas.microsoft.com/office/drawing/2014/main" id="{58BB54EE-05D6-D1B2-8A58-1E901FE7720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4043112" y="3992784"/>
            <a:ext cx="3952875" cy="24718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032A23-2EA8-292E-6C46-3B4016CA43B0}"/>
              </a:ext>
            </a:extLst>
          </p:cNvPr>
          <p:cNvSpPr txBox="1"/>
          <p:nvPr/>
        </p:nvSpPr>
        <p:spPr>
          <a:xfrm>
            <a:off x="4043112" y="6456363"/>
            <a:ext cx="39528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L" sz="1200" dirty="0"/>
              <a:t>https://netpsychology.org/social-media-psychology/</a:t>
            </a:r>
          </a:p>
        </p:txBody>
      </p:sp>
    </p:spTree>
    <p:extLst>
      <p:ext uri="{BB962C8B-B14F-4D97-AF65-F5344CB8AC3E}">
        <p14:creationId xmlns:p14="http://schemas.microsoft.com/office/powerpoint/2010/main" val="816259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16675</TotalTime>
  <Words>1800</Words>
  <Application>Microsoft Office PowerPoint</Application>
  <PresentationFormat>Widescreen</PresentationFormat>
  <Paragraphs>292</Paragraphs>
  <Slides>30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Arial</vt:lpstr>
      <vt:lpstr>Calibri</vt:lpstr>
      <vt:lpstr>Calibri Light</vt:lpstr>
      <vt:lpstr>Calibri Light (Headings)</vt:lpstr>
      <vt:lpstr>Cambria Math</vt:lpstr>
      <vt:lpstr>Courier New</vt:lpstr>
      <vt:lpstr>Wingdings</vt:lpstr>
      <vt:lpstr>Office Theme</vt:lpstr>
      <vt:lpstr>I Can See U. Indicator-Based Information Operation Detection and Topic-Aware Group Analysis</vt:lpstr>
      <vt:lpstr>Motivation</vt:lpstr>
      <vt:lpstr>IO &amp; Coordination</vt:lpstr>
      <vt:lpstr>Related Work</vt:lpstr>
      <vt:lpstr>Our Contributions</vt:lpstr>
      <vt:lpstr> Interpretable Indicators</vt:lpstr>
      <vt:lpstr>Overview</vt:lpstr>
      <vt:lpstr>Co-Action Graph</vt:lpstr>
      <vt:lpstr>Graph Indicators Workflow</vt:lpstr>
      <vt:lpstr>Graph-Based Indicators</vt:lpstr>
      <vt:lpstr>Topic-Based Indicators - TF-IDF</vt:lpstr>
      <vt:lpstr>Topic-Based Indicators</vt:lpstr>
      <vt:lpstr>Group Analisys</vt:lpstr>
      <vt:lpstr>K-Core  Definition</vt:lpstr>
      <vt:lpstr>Core Number: Example</vt:lpstr>
      <vt:lpstr>Overview</vt:lpstr>
      <vt:lpstr>Overview</vt:lpstr>
      <vt:lpstr>Maximal K-Core Motivation</vt:lpstr>
      <vt:lpstr>Experiments</vt:lpstr>
      <vt:lpstr>Dataset</vt:lpstr>
      <vt:lpstr>Evaluation Settings</vt:lpstr>
      <vt:lpstr>Evaluated Campaigns</vt:lpstr>
      <vt:lpstr>Which Indicators Matter?</vt:lpstr>
      <vt:lpstr>PowerPoint Presentation</vt:lpstr>
      <vt:lpstr>PowerPoint Presentation</vt:lpstr>
      <vt:lpstr>PowerPoint Presentation</vt:lpstr>
      <vt:lpstr>Group Analysis Case Study - Iran 1</vt:lpstr>
      <vt:lpstr>Group Analysis Case Study - Iran 1</vt:lpstr>
      <vt:lpstr>Summary of Results</vt:lpstr>
      <vt:lpstr>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Edita Grolman</dc:creator>
  <cp:lastModifiedBy>Amit Ner Gaon</cp:lastModifiedBy>
  <cp:revision>588</cp:revision>
  <dcterms:created xsi:type="dcterms:W3CDTF">2021-05-04T15:24:24Z</dcterms:created>
  <dcterms:modified xsi:type="dcterms:W3CDTF">2026-09-23T12:13:18Z</dcterms:modified>
</cp:coreProperties>
</file>