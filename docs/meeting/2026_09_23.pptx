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1574" r:id="rId2"/>
    <p:sldId id="1762" r:id="rId3"/>
    <p:sldId id="1763" r:id="rId4"/>
    <p:sldId id="1764" r:id="rId5"/>
    <p:sldId id="1780" r:id="rId6"/>
    <p:sldId id="1792" r:id="rId7"/>
    <p:sldId id="1793" r:id="rId8"/>
    <p:sldId id="1795" r:id="rId9"/>
    <p:sldId id="1591" r:id="rId10"/>
    <p:sldId id="1797" r:id="rId11"/>
    <p:sldId id="1796" r:id="rId12"/>
    <p:sldId id="1794" r:id="rId13"/>
    <p:sldId id="1740" r:id="rId14"/>
    <p:sldId id="1798" r:id="rId15"/>
    <p:sldId id="1799" r:id="rId16"/>
    <p:sldId id="1738" r:id="rId17"/>
    <p:sldId id="1749" r:id="rId18"/>
    <p:sldId id="1785" r:id="rId19"/>
    <p:sldId id="1768" r:id="rId20"/>
    <p:sldId id="1800" r:id="rId21"/>
    <p:sldId id="1802" r:id="rId22"/>
    <p:sldId id="262" r:id="rId23"/>
    <p:sldId id="264" r:id="rId24"/>
    <p:sldId id="265" r:id="rId25"/>
    <p:sldId id="267" r:id="rId26"/>
    <p:sldId id="268" r:id="rId27"/>
    <p:sldId id="1803" r:id="rId28"/>
    <p:sldId id="1804" r:id="rId29"/>
    <p:sldId id="1805" r:id="rId30"/>
    <p:sldId id="1806" r:id="rId31"/>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A84E6CC-2EA2-4553-A6A4-DAF877036261}">
          <p14:sldIdLst>
            <p14:sldId id="1574"/>
            <p14:sldId id="1762"/>
            <p14:sldId id="1763"/>
            <p14:sldId id="1764"/>
            <p14:sldId id="1780"/>
          </p14:sldIdLst>
        </p14:section>
        <p14:section name="Indicators" id="{2D1FC5E9-1614-4CA8-8D36-FD1706ADDBFF}">
          <p14:sldIdLst>
            <p14:sldId id="1792"/>
            <p14:sldId id="1793"/>
            <p14:sldId id="1795"/>
            <p14:sldId id="1591"/>
            <p14:sldId id="1797"/>
            <p14:sldId id="1796"/>
            <p14:sldId id="1794"/>
          </p14:sldIdLst>
        </p14:section>
        <p14:section name="Group analysis" id="{2F1E73D5-870F-4091-9492-A1102BE33EA1}">
          <p14:sldIdLst>
            <p14:sldId id="1740"/>
            <p14:sldId id="1798"/>
            <p14:sldId id="1799"/>
            <p14:sldId id="1738"/>
            <p14:sldId id="1749"/>
            <p14:sldId id="1785"/>
          </p14:sldIdLst>
        </p14:section>
        <p14:section name="Experiments" id="{493216A2-119A-47B2-AF7D-722A84F378AE}">
          <p14:sldIdLst>
            <p14:sldId id="1768"/>
            <p14:sldId id="1800"/>
            <p14:sldId id="1802"/>
            <p14:sldId id="262"/>
            <p14:sldId id="264"/>
            <p14:sldId id="265"/>
            <p14:sldId id="267"/>
            <p14:sldId id="268"/>
            <p14:sldId id="1803"/>
            <p14:sldId id="1804"/>
            <p14:sldId id="1805"/>
            <p14:sldId id="180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A0808"/>
    <a:srgbClr val="800000"/>
    <a:srgbClr val="F59120"/>
    <a:srgbClr val="FE0101"/>
    <a:srgbClr val="F58377"/>
    <a:srgbClr val="FF4343"/>
    <a:srgbClr val="548235"/>
    <a:srgbClr val="009DBB"/>
    <a:srgbClr val="0688BA"/>
    <a:srgbClr val="00548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95000" autoAdjust="0"/>
  </p:normalViewPr>
  <p:slideViewPr>
    <p:cSldViewPr snapToGrid="0">
      <p:cViewPr varScale="1">
        <p:scale>
          <a:sx n="101" d="100"/>
          <a:sy n="101" d="100"/>
        </p:scale>
        <p:origin x="1002" y="108"/>
      </p:cViewPr>
      <p:guideLst/>
    </p:cSldViewPr>
  </p:slideViewPr>
  <p:notesTextViewPr>
    <p:cViewPr>
      <p:scale>
        <a:sx n="3" d="2"/>
        <a:sy n="3" d="2"/>
      </p:scale>
      <p:origin x="0" y="0"/>
    </p:cViewPr>
  </p:notesTextViewPr>
  <p:notesViewPr>
    <p:cSldViewPr snapToGrid="0">
      <p:cViewPr varScale="1">
        <p:scale>
          <a:sx n="81" d="100"/>
          <a:sy n="81" d="100"/>
        </p:scale>
        <p:origin x="3894" y="10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1">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790C58F-1623-4B30-8E09-2CA0F33BB139}" type="doc">
      <dgm:prSet loTypeId="urn:microsoft.com/office/officeart/2005/8/layout/process4" loCatId="list" qsTypeId="urn:microsoft.com/office/officeart/2005/8/quickstyle/simple3#1" qsCatId="simple" csTypeId="urn:microsoft.com/office/officeart/2005/8/colors/accent1_2#1" csCatId="accent1" phldr="1"/>
      <dgm:spPr/>
      <dgm:t>
        <a:bodyPr/>
        <a:lstStyle/>
        <a:p>
          <a:endParaRPr lang="en-IL"/>
        </a:p>
      </dgm:t>
    </dgm:pt>
    <dgm:pt modelId="{4BC2FB94-54C5-4AA4-8613-4ABB9F2FB0D5}">
      <dgm:prSet custT="1"/>
      <dgm:spPr/>
      <dgm:t>
        <a:bodyPr/>
        <a:lstStyle/>
        <a:p>
          <a:r>
            <a:rPr lang="en-GB" sz="2400" dirty="0"/>
            <a:t>1) Building a co-action graph represents author similarity (see next slide).</a:t>
          </a:r>
          <a:endParaRPr lang="en-IL" sz="2400" dirty="0"/>
        </a:p>
      </dgm:t>
    </dgm:pt>
    <dgm:pt modelId="{81142ADE-1E42-4CE9-83A4-2B0D9F638559}" type="parTrans" cxnId="{BFFBDADC-868D-420E-9208-8F65BF16916D}">
      <dgm:prSet/>
      <dgm:spPr/>
      <dgm:t>
        <a:bodyPr/>
        <a:lstStyle/>
        <a:p>
          <a:endParaRPr lang="en-IL"/>
        </a:p>
      </dgm:t>
    </dgm:pt>
    <dgm:pt modelId="{1E17B9C2-D2AB-4D01-8569-00D12B23D4C7}" type="sibTrans" cxnId="{BFFBDADC-868D-420E-9208-8F65BF16916D}">
      <dgm:prSet/>
      <dgm:spPr/>
      <dgm:t>
        <a:bodyPr/>
        <a:lstStyle/>
        <a:p>
          <a:endParaRPr lang="en-IL"/>
        </a:p>
      </dgm:t>
    </dgm:pt>
    <dgm:pt modelId="{7D320D05-8BC7-49AB-93E1-F512A65ADBB4}">
      <dgm:prSet custT="1"/>
      <dgm:spPr/>
      <dgm:t>
        <a:bodyPr/>
        <a:lstStyle/>
        <a:p>
          <a:r>
            <a:rPr lang="en-GB" sz="2400" kern="1200" dirty="0"/>
            <a:t>2) IO drivers tend to be embedded in dense communities.</a:t>
          </a:r>
          <a:endParaRPr lang="en-IL" sz="2400" kern="1200" dirty="0">
            <a:latin typeface="Calibri" panose="020F0502020204030204"/>
            <a:ea typeface="+mn-ea"/>
            <a:cs typeface="+mn-cs"/>
          </a:endParaRPr>
        </a:p>
      </dgm:t>
    </dgm:pt>
    <dgm:pt modelId="{76729AB0-F7FB-43B8-8268-2879B72FF758}" type="parTrans" cxnId="{D6404C00-BB8F-47F6-A3E0-E9AE5168B69E}">
      <dgm:prSet/>
      <dgm:spPr/>
      <dgm:t>
        <a:bodyPr/>
        <a:lstStyle/>
        <a:p>
          <a:endParaRPr lang="en-IL"/>
        </a:p>
      </dgm:t>
    </dgm:pt>
    <dgm:pt modelId="{7A6195CC-C5B6-499B-8C5A-C59F05E11EE6}" type="sibTrans" cxnId="{D6404C00-BB8F-47F6-A3E0-E9AE5168B69E}">
      <dgm:prSet/>
      <dgm:spPr/>
      <dgm:t>
        <a:bodyPr/>
        <a:lstStyle/>
        <a:p>
          <a:endParaRPr lang="en-IL"/>
        </a:p>
      </dgm:t>
    </dgm:pt>
    <dgm:pt modelId="{A7B258C5-DA38-4321-BB19-D9CB5619264C}">
      <dgm:prSet custT="1"/>
      <dgm:spPr/>
      <dgm:t>
        <a:bodyPr/>
        <a:lstStyle/>
        <a:p>
          <a:r>
            <a:rPr lang="en-GB" sz="2400" dirty="0"/>
            <a:t>3) Graph-based indicators are used to measure     author’s embeddedness.</a:t>
          </a:r>
          <a:endParaRPr lang="en-IL" sz="2400" dirty="0"/>
        </a:p>
      </dgm:t>
    </dgm:pt>
    <dgm:pt modelId="{203A4A45-D67F-4111-8115-F39D8B161CDD}" type="parTrans" cxnId="{601BA4A4-5D6C-40ED-8F48-667E9AF2836A}">
      <dgm:prSet/>
      <dgm:spPr/>
      <dgm:t>
        <a:bodyPr/>
        <a:lstStyle/>
        <a:p>
          <a:endParaRPr lang="en-IL"/>
        </a:p>
      </dgm:t>
    </dgm:pt>
    <dgm:pt modelId="{CFB66835-E5CB-4D8A-B6C8-1B3B8DF01259}" type="sibTrans" cxnId="{601BA4A4-5D6C-40ED-8F48-667E9AF2836A}">
      <dgm:prSet/>
      <dgm:spPr/>
      <dgm:t>
        <a:bodyPr/>
        <a:lstStyle/>
        <a:p>
          <a:endParaRPr lang="en-IL"/>
        </a:p>
      </dgm:t>
    </dgm:pt>
    <dgm:pt modelId="{5D7624BE-F238-4C3B-897B-9536540A45EC}">
      <dgm:prSet custT="1"/>
      <dgm:spPr/>
      <dgm:t>
        <a:bodyPr/>
        <a:lstStyle/>
        <a:p>
          <a:r>
            <a:rPr lang="en-GB" sz="2400" kern="1200" dirty="0">
              <a:latin typeface="Calibri" panose="020F0502020204030204"/>
              <a:ea typeface="+mn-ea"/>
              <a:cs typeface="+mn-cs"/>
            </a:rPr>
            <a:t>4) </a:t>
          </a:r>
          <a:r>
            <a:rPr lang="en-IL" sz="2400" kern="1200" dirty="0"/>
            <a:t>Each user is represented by a human-readable feature </a:t>
          </a:r>
          <a:r>
            <a:rPr lang="en-IL" sz="2400" kern="1200" dirty="0" err="1"/>
            <a:t>vecto</a:t>
          </a:r>
          <a:r>
            <a:rPr lang="en-US" sz="2400" kern="1200" dirty="0"/>
            <a:t>r.</a:t>
          </a:r>
          <a:endParaRPr lang="en-IL" sz="2400" kern="1200" dirty="0">
            <a:latin typeface="Calibri" panose="020F0502020204030204"/>
            <a:ea typeface="+mn-ea"/>
            <a:cs typeface="+mn-cs"/>
          </a:endParaRPr>
        </a:p>
      </dgm:t>
    </dgm:pt>
    <dgm:pt modelId="{DE3ECAEC-D217-4ACD-8F26-7D253DBBBB46}" type="parTrans" cxnId="{D548CB56-4B7F-4832-B855-6F1B2D31D122}">
      <dgm:prSet/>
      <dgm:spPr/>
      <dgm:t>
        <a:bodyPr/>
        <a:lstStyle/>
        <a:p>
          <a:endParaRPr lang="en-IL"/>
        </a:p>
      </dgm:t>
    </dgm:pt>
    <dgm:pt modelId="{312170D2-ED7B-4054-82B8-1D60C8F68B7F}" type="sibTrans" cxnId="{D548CB56-4B7F-4832-B855-6F1B2D31D122}">
      <dgm:prSet/>
      <dgm:spPr/>
      <dgm:t>
        <a:bodyPr/>
        <a:lstStyle/>
        <a:p>
          <a:endParaRPr lang="en-IL"/>
        </a:p>
      </dgm:t>
    </dgm:pt>
    <dgm:pt modelId="{F5835A2A-6EED-4CF0-AD6D-9C43F08E8106}">
      <dgm:prSet custT="1"/>
      <dgm:spPr/>
      <dgm:t>
        <a:bodyPr/>
        <a:lstStyle/>
        <a:p>
          <a:pPr marL="0" lvl="0" indent="0" algn="ctr" defTabSz="1066800">
            <a:lnSpc>
              <a:spcPct val="90000"/>
            </a:lnSpc>
            <a:spcBef>
              <a:spcPct val="0"/>
            </a:spcBef>
            <a:spcAft>
              <a:spcPct val="35000"/>
            </a:spcAft>
            <a:buNone/>
          </a:pPr>
          <a:r>
            <a:rPr lang="en-GB" sz="2400" b="0" kern="1200" dirty="0">
              <a:solidFill>
                <a:prstClr val="black"/>
              </a:solidFill>
              <a:latin typeface="Calibri" panose="020F0502020204030204"/>
              <a:ea typeface="+mn-ea"/>
              <a:cs typeface="+mn-cs"/>
            </a:rPr>
            <a:t>5) </a:t>
          </a:r>
          <a:r>
            <a:rPr lang="en-IL" sz="2400" kern="1200" dirty="0"/>
            <a:t>The feature vectors are used by a machine-learning model to classify each author as an IO driver or </a:t>
          </a:r>
          <a:r>
            <a:rPr lang="en-US" sz="2400" kern="1200" dirty="0"/>
            <a:t>not.</a:t>
          </a:r>
          <a:endParaRPr lang="en-IL" sz="2400" b="0" kern="1200" dirty="0">
            <a:solidFill>
              <a:prstClr val="black"/>
            </a:solidFill>
            <a:latin typeface="Calibri" panose="020F0502020204030204"/>
            <a:ea typeface="+mn-ea"/>
            <a:cs typeface="+mn-cs"/>
          </a:endParaRPr>
        </a:p>
      </dgm:t>
    </dgm:pt>
    <dgm:pt modelId="{3B3A9903-4669-470D-9A03-4D8FCA8E328C}" type="parTrans" cxnId="{02F270AA-4ABA-474A-B88D-AF4118A95DC5}">
      <dgm:prSet/>
      <dgm:spPr/>
      <dgm:t>
        <a:bodyPr/>
        <a:lstStyle/>
        <a:p>
          <a:endParaRPr lang="en-IL"/>
        </a:p>
      </dgm:t>
    </dgm:pt>
    <dgm:pt modelId="{687F42B4-C2AD-4C27-B6FA-0BF9E906535E}" type="sibTrans" cxnId="{02F270AA-4ABA-474A-B88D-AF4118A95DC5}">
      <dgm:prSet/>
      <dgm:spPr/>
      <dgm:t>
        <a:bodyPr/>
        <a:lstStyle/>
        <a:p>
          <a:endParaRPr lang="en-IL"/>
        </a:p>
      </dgm:t>
    </dgm:pt>
    <dgm:pt modelId="{E3D2F466-9D2B-489B-8FD7-00A269198811}" type="pres">
      <dgm:prSet presAssocID="{4790C58F-1623-4B30-8E09-2CA0F33BB139}" presName="Name0" presStyleCnt="0">
        <dgm:presLayoutVars>
          <dgm:dir/>
          <dgm:animLvl val="lvl"/>
          <dgm:resizeHandles val="exact"/>
        </dgm:presLayoutVars>
      </dgm:prSet>
      <dgm:spPr/>
    </dgm:pt>
    <dgm:pt modelId="{088EA719-2472-4684-87F4-629B6808F521}" type="pres">
      <dgm:prSet presAssocID="{F5835A2A-6EED-4CF0-AD6D-9C43F08E8106}" presName="boxAndChildren" presStyleCnt="0"/>
      <dgm:spPr/>
    </dgm:pt>
    <dgm:pt modelId="{BF4415FE-1BEA-4AAF-8504-EF442423F26C}" type="pres">
      <dgm:prSet presAssocID="{F5835A2A-6EED-4CF0-AD6D-9C43F08E8106}" presName="parentTextBox" presStyleLbl="node1" presStyleIdx="0" presStyleCnt="5" custLinFactNeighborX="-4106"/>
      <dgm:spPr/>
    </dgm:pt>
    <dgm:pt modelId="{089D2F7B-F14C-4A92-BB3A-DAA08CAE5848}" type="pres">
      <dgm:prSet presAssocID="{312170D2-ED7B-4054-82B8-1D60C8F68B7F}" presName="sp" presStyleCnt="0"/>
      <dgm:spPr/>
    </dgm:pt>
    <dgm:pt modelId="{F9478C95-2D8F-4B5D-9198-EA05C72041D6}" type="pres">
      <dgm:prSet presAssocID="{5D7624BE-F238-4C3B-897B-9536540A45EC}" presName="arrowAndChildren" presStyleCnt="0"/>
      <dgm:spPr/>
    </dgm:pt>
    <dgm:pt modelId="{6679C54E-D9B3-42D4-8579-0F059BE402E7}" type="pres">
      <dgm:prSet presAssocID="{5D7624BE-F238-4C3B-897B-9536540A45EC}" presName="parentTextArrow" presStyleLbl="node1" presStyleIdx="1" presStyleCnt="5"/>
      <dgm:spPr/>
    </dgm:pt>
    <dgm:pt modelId="{9EEDCD11-2912-410C-BF8F-FB8C0E08B1DE}" type="pres">
      <dgm:prSet presAssocID="{CFB66835-E5CB-4D8A-B6C8-1B3B8DF01259}" presName="sp" presStyleCnt="0"/>
      <dgm:spPr/>
    </dgm:pt>
    <dgm:pt modelId="{67F4FDC1-DDD2-4281-BAE2-FB77EAC45D98}" type="pres">
      <dgm:prSet presAssocID="{A7B258C5-DA38-4321-BB19-D9CB5619264C}" presName="arrowAndChildren" presStyleCnt="0"/>
      <dgm:spPr/>
    </dgm:pt>
    <dgm:pt modelId="{1286EBB1-156A-4900-80F5-B7DA82846AFD}" type="pres">
      <dgm:prSet presAssocID="{A7B258C5-DA38-4321-BB19-D9CB5619264C}" presName="parentTextArrow" presStyleLbl="node1" presStyleIdx="2" presStyleCnt="5"/>
      <dgm:spPr/>
    </dgm:pt>
    <dgm:pt modelId="{E5FC2BC1-7FA9-42C4-A969-06EE33CAE6B9}" type="pres">
      <dgm:prSet presAssocID="{7A6195CC-C5B6-499B-8C5A-C59F05E11EE6}" presName="sp" presStyleCnt="0"/>
      <dgm:spPr/>
    </dgm:pt>
    <dgm:pt modelId="{1B190E91-BA0B-443D-8EBB-2D0FBA24695A}" type="pres">
      <dgm:prSet presAssocID="{7D320D05-8BC7-49AB-93E1-F512A65ADBB4}" presName="arrowAndChildren" presStyleCnt="0"/>
      <dgm:spPr/>
    </dgm:pt>
    <dgm:pt modelId="{EC9EF89E-2EC9-4197-83CE-6F0E9635859A}" type="pres">
      <dgm:prSet presAssocID="{7D320D05-8BC7-49AB-93E1-F512A65ADBB4}" presName="parentTextArrow" presStyleLbl="node1" presStyleIdx="3" presStyleCnt="5"/>
      <dgm:spPr/>
    </dgm:pt>
    <dgm:pt modelId="{5FA7D69C-ADC5-4D3E-A63E-3177E18C39D9}" type="pres">
      <dgm:prSet presAssocID="{1E17B9C2-D2AB-4D01-8569-00D12B23D4C7}" presName="sp" presStyleCnt="0"/>
      <dgm:spPr/>
    </dgm:pt>
    <dgm:pt modelId="{9C5F784D-3A5B-40B8-BC6E-96C4885D6DD5}" type="pres">
      <dgm:prSet presAssocID="{4BC2FB94-54C5-4AA4-8613-4ABB9F2FB0D5}" presName="arrowAndChildren" presStyleCnt="0"/>
      <dgm:spPr/>
    </dgm:pt>
    <dgm:pt modelId="{449265AB-55D8-4494-95A0-FB133CF562A6}" type="pres">
      <dgm:prSet presAssocID="{4BC2FB94-54C5-4AA4-8613-4ABB9F2FB0D5}" presName="parentTextArrow" presStyleLbl="node1" presStyleIdx="4" presStyleCnt="5"/>
      <dgm:spPr/>
    </dgm:pt>
  </dgm:ptLst>
  <dgm:cxnLst>
    <dgm:cxn modelId="{D6404C00-BB8F-47F6-A3E0-E9AE5168B69E}" srcId="{4790C58F-1623-4B30-8E09-2CA0F33BB139}" destId="{7D320D05-8BC7-49AB-93E1-F512A65ADBB4}" srcOrd="1" destOrd="0" parTransId="{76729AB0-F7FB-43B8-8268-2879B72FF758}" sibTransId="{7A6195CC-C5B6-499B-8C5A-C59F05E11EE6}"/>
    <dgm:cxn modelId="{DC654E60-F4C9-4839-B9F7-FF7CD85FC243}" type="presOf" srcId="{4790C58F-1623-4B30-8E09-2CA0F33BB139}" destId="{E3D2F466-9D2B-489B-8FD7-00A269198811}" srcOrd="0" destOrd="0" presId="urn:microsoft.com/office/officeart/2005/8/layout/process4"/>
    <dgm:cxn modelId="{9CD98B73-AB6F-4E84-90D8-47F6FFBAC76D}" type="presOf" srcId="{F5835A2A-6EED-4CF0-AD6D-9C43F08E8106}" destId="{BF4415FE-1BEA-4AAF-8504-EF442423F26C}" srcOrd="0" destOrd="0" presId="urn:microsoft.com/office/officeart/2005/8/layout/process4"/>
    <dgm:cxn modelId="{BA2A9C55-DAE0-4FAA-B51F-3227B1490E8B}" type="presOf" srcId="{4BC2FB94-54C5-4AA4-8613-4ABB9F2FB0D5}" destId="{449265AB-55D8-4494-95A0-FB133CF562A6}" srcOrd="0" destOrd="0" presId="urn:microsoft.com/office/officeart/2005/8/layout/process4"/>
    <dgm:cxn modelId="{D548CB56-4B7F-4832-B855-6F1B2D31D122}" srcId="{4790C58F-1623-4B30-8E09-2CA0F33BB139}" destId="{5D7624BE-F238-4C3B-897B-9536540A45EC}" srcOrd="3" destOrd="0" parTransId="{DE3ECAEC-D217-4ACD-8F26-7D253DBBBB46}" sibTransId="{312170D2-ED7B-4054-82B8-1D60C8F68B7F}"/>
    <dgm:cxn modelId="{E5EFFFA0-A070-4C0A-9F9B-56FFA56576C5}" type="presOf" srcId="{5D7624BE-F238-4C3B-897B-9536540A45EC}" destId="{6679C54E-D9B3-42D4-8579-0F059BE402E7}" srcOrd="0" destOrd="0" presId="urn:microsoft.com/office/officeart/2005/8/layout/process4"/>
    <dgm:cxn modelId="{601BA4A4-5D6C-40ED-8F48-667E9AF2836A}" srcId="{4790C58F-1623-4B30-8E09-2CA0F33BB139}" destId="{A7B258C5-DA38-4321-BB19-D9CB5619264C}" srcOrd="2" destOrd="0" parTransId="{203A4A45-D67F-4111-8115-F39D8B161CDD}" sibTransId="{CFB66835-E5CB-4D8A-B6C8-1B3B8DF01259}"/>
    <dgm:cxn modelId="{02F270AA-4ABA-474A-B88D-AF4118A95DC5}" srcId="{4790C58F-1623-4B30-8E09-2CA0F33BB139}" destId="{F5835A2A-6EED-4CF0-AD6D-9C43F08E8106}" srcOrd="4" destOrd="0" parTransId="{3B3A9903-4669-470D-9A03-4D8FCA8E328C}" sibTransId="{687F42B4-C2AD-4C27-B6FA-0BF9E906535E}"/>
    <dgm:cxn modelId="{262235C1-EFC5-4940-8DEA-0CA0F4B91211}" type="presOf" srcId="{A7B258C5-DA38-4321-BB19-D9CB5619264C}" destId="{1286EBB1-156A-4900-80F5-B7DA82846AFD}" srcOrd="0" destOrd="0" presId="urn:microsoft.com/office/officeart/2005/8/layout/process4"/>
    <dgm:cxn modelId="{481E6ECA-7582-476F-9F6F-F6D456E97373}" type="presOf" srcId="{7D320D05-8BC7-49AB-93E1-F512A65ADBB4}" destId="{EC9EF89E-2EC9-4197-83CE-6F0E9635859A}" srcOrd="0" destOrd="0" presId="urn:microsoft.com/office/officeart/2005/8/layout/process4"/>
    <dgm:cxn modelId="{BFFBDADC-868D-420E-9208-8F65BF16916D}" srcId="{4790C58F-1623-4B30-8E09-2CA0F33BB139}" destId="{4BC2FB94-54C5-4AA4-8613-4ABB9F2FB0D5}" srcOrd="0" destOrd="0" parTransId="{81142ADE-1E42-4CE9-83A4-2B0D9F638559}" sibTransId="{1E17B9C2-D2AB-4D01-8569-00D12B23D4C7}"/>
    <dgm:cxn modelId="{5C85148E-5CCC-4A95-8B36-C6A100D3BF1C}" type="presParOf" srcId="{E3D2F466-9D2B-489B-8FD7-00A269198811}" destId="{088EA719-2472-4684-87F4-629B6808F521}" srcOrd="0" destOrd="0" presId="urn:microsoft.com/office/officeart/2005/8/layout/process4"/>
    <dgm:cxn modelId="{0BC62B70-DEC5-4EC3-899B-9B33A2D8EEC6}" type="presParOf" srcId="{088EA719-2472-4684-87F4-629B6808F521}" destId="{BF4415FE-1BEA-4AAF-8504-EF442423F26C}" srcOrd="0" destOrd="0" presId="urn:microsoft.com/office/officeart/2005/8/layout/process4"/>
    <dgm:cxn modelId="{FC75D633-9762-46D5-A2F4-24F65D3B523D}" type="presParOf" srcId="{E3D2F466-9D2B-489B-8FD7-00A269198811}" destId="{089D2F7B-F14C-4A92-BB3A-DAA08CAE5848}" srcOrd="1" destOrd="0" presId="urn:microsoft.com/office/officeart/2005/8/layout/process4"/>
    <dgm:cxn modelId="{B93D662E-CE66-4059-BF0F-FCC54DD7B492}" type="presParOf" srcId="{E3D2F466-9D2B-489B-8FD7-00A269198811}" destId="{F9478C95-2D8F-4B5D-9198-EA05C72041D6}" srcOrd="2" destOrd="0" presId="urn:microsoft.com/office/officeart/2005/8/layout/process4"/>
    <dgm:cxn modelId="{E713E305-CD0A-4951-AF0B-3CD82D972D3C}" type="presParOf" srcId="{F9478C95-2D8F-4B5D-9198-EA05C72041D6}" destId="{6679C54E-D9B3-42D4-8579-0F059BE402E7}" srcOrd="0" destOrd="0" presId="urn:microsoft.com/office/officeart/2005/8/layout/process4"/>
    <dgm:cxn modelId="{9723B319-800F-4F9F-A081-17EE5046C0DD}" type="presParOf" srcId="{E3D2F466-9D2B-489B-8FD7-00A269198811}" destId="{9EEDCD11-2912-410C-BF8F-FB8C0E08B1DE}" srcOrd="3" destOrd="0" presId="urn:microsoft.com/office/officeart/2005/8/layout/process4"/>
    <dgm:cxn modelId="{2B5BF700-293F-431D-8048-AF1D14C5AC67}" type="presParOf" srcId="{E3D2F466-9D2B-489B-8FD7-00A269198811}" destId="{67F4FDC1-DDD2-4281-BAE2-FB77EAC45D98}" srcOrd="4" destOrd="0" presId="urn:microsoft.com/office/officeart/2005/8/layout/process4"/>
    <dgm:cxn modelId="{2729B8A6-53C7-460C-A50D-21285C79B0E2}" type="presParOf" srcId="{67F4FDC1-DDD2-4281-BAE2-FB77EAC45D98}" destId="{1286EBB1-156A-4900-80F5-B7DA82846AFD}" srcOrd="0" destOrd="0" presId="urn:microsoft.com/office/officeart/2005/8/layout/process4"/>
    <dgm:cxn modelId="{ABFF2785-B058-4AEA-AB3B-5018FCF77D1E}" type="presParOf" srcId="{E3D2F466-9D2B-489B-8FD7-00A269198811}" destId="{E5FC2BC1-7FA9-42C4-A969-06EE33CAE6B9}" srcOrd="5" destOrd="0" presId="urn:microsoft.com/office/officeart/2005/8/layout/process4"/>
    <dgm:cxn modelId="{12C57EE2-AB40-41F5-A1B2-289C3675A96F}" type="presParOf" srcId="{E3D2F466-9D2B-489B-8FD7-00A269198811}" destId="{1B190E91-BA0B-443D-8EBB-2D0FBA24695A}" srcOrd="6" destOrd="0" presId="urn:microsoft.com/office/officeart/2005/8/layout/process4"/>
    <dgm:cxn modelId="{05E3B187-F9C8-4F12-B9FB-6721722B836C}" type="presParOf" srcId="{1B190E91-BA0B-443D-8EBB-2D0FBA24695A}" destId="{EC9EF89E-2EC9-4197-83CE-6F0E9635859A}" srcOrd="0" destOrd="0" presId="urn:microsoft.com/office/officeart/2005/8/layout/process4"/>
    <dgm:cxn modelId="{A17624A7-2852-43C6-9EE1-61852C7708A8}" type="presParOf" srcId="{E3D2F466-9D2B-489B-8FD7-00A269198811}" destId="{5FA7D69C-ADC5-4D3E-A63E-3177E18C39D9}" srcOrd="7" destOrd="0" presId="urn:microsoft.com/office/officeart/2005/8/layout/process4"/>
    <dgm:cxn modelId="{79ED58EA-1F48-4978-ACA1-C59BFFD3E494}" type="presParOf" srcId="{E3D2F466-9D2B-489B-8FD7-00A269198811}" destId="{9C5F784D-3A5B-40B8-BC6E-96C4885D6DD5}" srcOrd="8" destOrd="0" presId="urn:microsoft.com/office/officeart/2005/8/layout/process4"/>
    <dgm:cxn modelId="{283B2D46-AE72-4B9F-A2F5-B9632C0247FA}" type="presParOf" srcId="{9C5F784D-3A5B-40B8-BC6E-96C4885D6DD5}" destId="{449265AB-55D8-4494-95A0-FB133CF562A6}"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48AFC2CC-272E-41C7-BFE3-402C8025BCAD}" type="doc">
      <dgm:prSet loTypeId="urn:microsoft.com/office/officeart/2005/8/layout/process4" loCatId="list" qsTypeId="urn:microsoft.com/office/officeart/2005/8/quickstyle/simple1#1" qsCatId="simple" csTypeId="urn:microsoft.com/office/officeart/2005/8/colors/colorful2#1" csCatId="colorful" phldr="1"/>
      <dgm:spPr/>
      <dgm:t>
        <a:bodyPr/>
        <a:lstStyle/>
        <a:p>
          <a:endParaRPr lang="en-IL"/>
        </a:p>
      </dgm:t>
    </dgm:pt>
    <dgm:pt modelId="{E1DB4969-C241-47FC-B362-D33B7566A7C1}">
      <dgm:prSet custT="1"/>
      <dgm:spPr/>
      <dgm:t>
        <a:bodyPr/>
        <a:lstStyle/>
        <a:p>
          <a:r>
            <a:rPr lang="en-IL" sz="2400" dirty="0"/>
            <a:t>Coordinated authors are highly inter</a:t>
          </a:r>
          <a:r>
            <a:rPr lang="en-GB" sz="2400" dirty="0"/>
            <a:t>-</a:t>
          </a:r>
          <a:r>
            <a:rPr lang="en-IL" sz="2400" dirty="0"/>
            <a:t>connected in the</a:t>
          </a:r>
          <a:r>
            <a:rPr lang="en-GB" sz="2400" dirty="0"/>
            <a:t> co-action</a:t>
          </a:r>
          <a:r>
            <a:rPr lang="en-IL" sz="2400" dirty="0"/>
            <a:t> graph.</a:t>
          </a:r>
          <a:endParaRPr lang="en-GB" sz="2400" dirty="0"/>
        </a:p>
      </dgm:t>
    </dgm:pt>
    <dgm:pt modelId="{33E3E7A2-0F5B-4428-AAA6-F11ED572BD3A}" type="parTrans" cxnId="{B587AE82-CBB6-43F0-8D75-88AF70AAB86E}">
      <dgm:prSet/>
      <dgm:spPr/>
      <dgm:t>
        <a:bodyPr/>
        <a:lstStyle/>
        <a:p>
          <a:endParaRPr lang="en-IL"/>
        </a:p>
      </dgm:t>
    </dgm:pt>
    <dgm:pt modelId="{EDDA025F-C4A6-4E68-A864-31D80BB865E6}" type="sibTrans" cxnId="{B587AE82-CBB6-43F0-8D75-88AF70AAB86E}">
      <dgm:prSet/>
      <dgm:spPr/>
      <dgm:t>
        <a:bodyPr/>
        <a:lstStyle/>
        <a:p>
          <a:endParaRPr lang="en-IL"/>
        </a:p>
      </dgm:t>
    </dgm:pt>
    <dgm:pt modelId="{1B5A5607-E945-4BE9-814D-B0EF59B1C430}">
      <dgm:prSet custT="1"/>
      <dgm:spPr/>
      <dgm:t>
        <a:bodyPr/>
        <a:lstStyle/>
        <a:p>
          <a:r>
            <a:rPr lang="en-IL" sz="2400" dirty="0"/>
            <a:t>IO</a:t>
          </a:r>
          <a:r>
            <a:rPr lang="en-US" sz="2400" dirty="0"/>
            <a:t> accounts are in a large k-core.</a:t>
          </a:r>
          <a:endParaRPr lang="en-IL" sz="2400" dirty="0"/>
        </a:p>
      </dgm:t>
    </dgm:pt>
    <dgm:pt modelId="{DB69DBA9-156D-4A15-9B2E-C28CADCBDCB3}" type="parTrans" cxnId="{AF219688-CE54-47B6-B599-F97074769732}">
      <dgm:prSet/>
      <dgm:spPr/>
      <dgm:t>
        <a:bodyPr/>
        <a:lstStyle/>
        <a:p>
          <a:endParaRPr lang="en-IL"/>
        </a:p>
      </dgm:t>
    </dgm:pt>
    <dgm:pt modelId="{A67FF2E3-02ED-4648-A2B6-DC4F7E2CC307}" type="sibTrans" cxnId="{AF219688-CE54-47B6-B599-F97074769732}">
      <dgm:prSet/>
      <dgm:spPr/>
      <dgm:t>
        <a:bodyPr/>
        <a:lstStyle/>
        <a:p>
          <a:endParaRPr lang="en-IL"/>
        </a:p>
      </dgm:t>
    </dgm:pt>
    <dgm:pt modelId="{1D3C4817-7970-4B83-AF07-61B7E50C9996}">
      <dgm:prSet custT="1"/>
      <dgm:spPr/>
      <dgm:t>
        <a:bodyPr/>
        <a:lstStyle/>
        <a:p>
          <a:r>
            <a:rPr lang="en-IL" sz="2400" dirty="0"/>
            <a:t>Since IO requires coordination, IO drivers are expected to appear in </a:t>
          </a:r>
          <a:r>
            <a:rPr lang="en-GB" sz="2400" dirty="0"/>
            <a:t>the coordinated</a:t>
          </a:r>
          <a:r>
            <a:rPr lang="en-IL" sz="2400" dirty="0"/>
            <a:t> groups. </a:t>
          </a:r>
        </a:p>
      </dgm:t>
    </dgm:pt>
    <dgm:pt modelId="{3EA88241-E0A1-43FA-B7B7-F715EBE467EC}" type="parTrans" cxnId="{6587C595-A3F4-4EB8-97BB-102DD6B18937}">
      <dgm:prSet/>
      <dgm:spPr/>
      <dgm:t>
        <a:bodyPr/>
        <a:lstStyle/>
        <a:p>
          <a:endParaRPr lang="en-IL"/>
        </a:p>
      </dgm:t>
    </dgm:pt>
    <dgm:pt modelId="{73DEDEEA-F614-422F-A1FA-F2DA54935A22}" type="sibTrans" cxnId="{6587C595-A3F4-4EB8-97BB-102DD6B18937}">
      <dgm:prSet/>
      <dgm:spPr/>
      <dgm:t>
        <a:bodyPr/>
        <a:lstStyle/>
        <a:p>
          <a:endParaRPr lang="en-IL"/>
        </a:p>
      </dgm:t>
    </dgm:pt>
    <dgm:pt modelId="{2B972B0F-9F24-4FC0-BA51-EEBB0A7F8A73}">
      <dgm:prSet phldrT="[Text]" custT="1"/>
      <dgm:spPr/>
      <dgm:t>
        <a:bodyPr/>
        <a:lstStyle/>
        <a:p>
          <a:pPr>
            <a:buNone/>
          </a:pPr>
          <a:r>
            <a:rPr lang="en-IL" sz="2400" dirty="0"/>
            <a:t>The co-action graph represents behavioural similarity between authors.</a:t>
          </a:r>
        </a:p>
      </dgm:t>
    </dgm:pt>
    <dgm:pt modelId="{823A6176-1344-4AAD-A081-89EB5DCC4093}" type="parTrans" cxnId="{19261AE1-CDAA-437C-82BB-F32380991E11}">
      <dgm:prSet/>
      <dgm:spPr/>
      <dgm:t>
        <a:bodyPr/>
        <a:lstStyle/>
        <a:p>
          <a:endParaRPr lang="en-IL"/>
        </a:p>
      </dgm:t>
    </dgm:pt>
    <dgm:pt modelId="{D9926E93-0033-4EAE-8105-B122F3529813}" type="sibTrans" cxnId="{19261AE1-CDAA-437C-82BB-F32380991E11}">
      <dgm:prSet/>
      <dgm:spPr/>
      <dgm:t>
        <a:bodyPr/>
        <a:lstStyle/>
        <a:p>
          <a:endParaRPr lang="en-IL"/>
        </a:p>
      </dgm:t>
    </dgm:pt>
    <dgm:pt modelId="{2BD634B8-DA83-49F5-9D02-0914F5E00507}" type="pres">
      <dgm:prSet presAssocID="{48AFC2CC-272E-41C7-BFE3-402C8025BCAD}" presName="Name0" presStyleCnt="0">
        <dgm:presLayoutVars>
          <dgm:dir/>
          <dgm:animLvl val="lvl"/>
          <dgm:resizeHandles val="exact"/>
        </dgm:presLayoutVars>
      </dgm:prSet>
      <dgm:spPr/>
    </dgm:pt>
    <dgm:pt modelId="{03B30CF2-AE31-4DED-84D9-3487159AD3E3}" type="pres">
      <dgm:prSet presAssocID="{1B5A5607-E945-4BE9-814D-B0EF59B1C430}" presName="boxAndChildren" presStyleCnt="0"/>
      <dgm:spPr/>
    </dgm:pt>
    <dgm:pt modelId="{75B552A5-6396-4106-9A4A-445AED3E3CC6}" type="pres">
      <dgm:prSet presAssocID="{1B5A5607-E945-4BE9-814D-B0EF59B1C430}" presName="parentTextBox" presStyleLbl="node1" presStyleIdx="0" presStyleCnt="4"/>
      <dgm:spPr/>
    </dgm:pt>
    <dgm:pt modelId="{F70F5C23-80D2-4CDF-B637-5C57A37CD123}" type="pres">
      <dgm:prSet presAssocID="{73DEDEEA-F614-422F-A1FA-F2DA54935A22}" presName="sp" presStyleCnt="0"/>
      <dgm:spPr/>
    </dgm:pt>
    <dgm:pt modelId="{CD00B53B-13EB-400D-88F7-193FA1084681}" type="pres">
      <dgm:prSet presAssocID="{1D3C4817-7970-4B83-AF07-61B7E50C9996}" presName="arrowAndChildren" presStyleCnt="0"/>
      <dgm:spPr/>
    </dgm:pt>
    <dgm:pt modelId="{3D88F0F6-5629-4C7E-A8D9-55126A1A5A1D}" type="pres">
      <dgm:prSet presAssocID="{1D3C4817-7970-4B83-AF07-61B7E50C9996}" presName="parentTextArrow" presStyleLbl="node1" presStyleIdx="1" presStyleCnt="4"/>
      <dgm:spPr/>
    </dgm:pt>
    <dgm:pt modelId="{ACD862B6-D655-498A-8FA6-1987A91783C3}" type="pres">
      <dgm:prSet presAssocID="{EDDA025F-C4A6-4E68-A864-31D80BB865E6}" presName="sp" presStyleCnt="0"/>
      <dgm:spPr/>
    </dgm:pt>
    <dgm:pt modelId="{2F84B48E-D500-42B4-9D8F-F46FB2AC86EF}" type="pres">
      <dgm:prSet presAssocID="{E1DB4969-C241-47FC-B362-D33B7566A7C1}" presName="arrowAndChildren" presStyleCnt="0"/>
      <dgm:spPr/>
    </dgm:pt>
    <dgm:pt modelId="{5E247E41-6DA2-446C-849F-383AA9AB749B}" type="pres">
      <dgm:prSet presAssocID="{E1DB4969-C241-47FC-B362-D33B7566A7C1}" presName="parentTextArrow" presStyleLbl="node1" presStyleIdx="2" presStyleCnt="4"/>
      <dgm:spPr/>
    </dgm:pt>
    <dgm:pt modelId="{736A69BE-A220-4144-BEB1-04BD59BF1329}" type="pres">
      <dgm:prSet presAssocID="{D9926E93-0033-4EAE-8105-B122F3529813}" presName="sp" presStyleCnt="0"/>
      <dgm:spPr/>
    </dgm:pt>
    <dgm:pt modelId="{6647F38C-A354-4E92-82DD-B24CA78D34F1}" type="pres">
      <dgm:prSet presAssocID="{2B972B0F-9F24-4FC0-BA51-EEBB0A7F8A73}" presName="arrowAndChildren" presStyleCnt="0"/>
      <dgm:spPr/>
    </dgm:pt>
    <dgm:pt modelId="{534D5A28-AA1C-4672-B587-DC2D8696AAD8}" type="pres">
      <dgm:prSet presAssocID="{2B972B0F-9F24-4FC0-BA51-EEBB0A7F8A73}" presName="parentTextArrow" presStyleLbl="node1" presStyleIdx="3" presStyleCnt="4"/>
      <dgm:spPr/>
    </dgm:pt>
  </dgm:ptLst>
  <dgm:cxnLst>
    <dgm:cxn modelId="{D01A194B-4902-4AEB-984F-89B74A0CA810}" type="presOf" srcId="{1D3C4817-7970-4B83-AF07-61B7E50C9996}" destId="{3D88F0F6-5629-4C7E-A8D9-55126A1A5A1D}" srcOrd="0" destOrd="0" presId="urn:microsoft.com/office/officeart/2005/8/layout/process4"/>
    <dgm:cxn modelId="{06589951-9DEE-4002-8EB3-2A6687FE8434}" type="presOf" srcId="{E1DB4969-C241-47FC-B362-D33B7566A7C1}" destId="{5E247E41-6DA2-446C-849F-383AA9AB749B}" srcOrd="0" destOrd="0" presId="urn:microsoft.com/office/officeart/2005/8/layout/process4"/>
    <dgm:cxn modelId="{B587AE82-CBB6-43F0-8D75-88AF70AAB86E}" srcId="{48AFC2CC-272E-41C7-BFE3-402C8025BCAD}" destId="{E1DB4969-C241-47FC-B362-D33B7566A7C1}" srcOrd="1" destOrd="0" parTransId="{33E3E7A2-0F5B-4428-AAA6-F11ED572BD3A}" sibTransId="{EDDA025F-C4A6-4E68-A864-31D80BB865E6}"/>
    <dgm:cxn modelId="{AF219688-CE54-47B6-B599-F97074769732}" srcId="{48AFC2CC-272E-41C7-BFE3-402C8025BCAD}" destId="{1B5A5607-E945-4BE9-814D-B0EF59B1C430}" srcOrd="3" destOrd="0" parTransId="{DB69DBA9-156D-4A15-9B2E-C28CADCBDCB3}" sibTransId="{A67FF2E3-02ED-4648-A2B6-DC4F7E2CC307}"/>
    <dgm:cxn modelId="{6587C595-A3F4-4EB8-97BB-102DD6B18937}" srcId="{48AFC2CC-272E-41C7-BFE3-402C8025BCAD}" destId="{1D3C4817-7970-4B83-AF07-61B7E50C9996}" srcOrd="2" destOrd="0" parTransId="{3EA88241-E0A1-43FA-B7B7-F715EBE467EC}" sibTransId="{73DEDEEA-F614-422F-A1FA-F2DA54935A22}"/>
    <dgm:cxn modelId="{2EDE7EBC-03E1-4B2B-9628-91C115BBE909}" type="presOf" srcId="{48AFC2CC-272E-41C7-BFE3-402C8025BCAD}" destId="{2BD634B8-DA83-49F5-9D02-0914F5E00507}" srcOrd="0" destOrd="0" presId="urn:microsoft.com/office/officeart/2005/8/layout/process4"/>
    <dgm:cxn modelId="{19261AE1-CDAA-437C-82BB-F32380991E11}" srcId="{48AFC2CC-272E-41C7-BFE3-402C8025BCAD}" destId="{2B972B0F-9F24-4FC0-BA51-EEBB0A7F8A73}" srcOrd="0" destOrd="0" parTransId="{823A6176-1344-4AAD-A081-89EB5DCC4093}" sibTransId="{D9926E93-0033-4EAE-8105-B122F3529813}"/>
    <dgm:cxn modelId="{1A3FA7F3-8CBB-413E-949D-A397A86417F4}" type="presOf" srcId="{2B972B0F-9F24-4FC0-BA51-EEBB0A7F8A73}" destId="{534D5A28-AA1C-4672-B587-DC2D8696AAD8}" srcOrd="0" destOrd="0" presId="urn:microsoft.com/office/officeart/2005/8/layout/process4"/>
    <dgm:cxn modelId="{D6D2B3FA-1ED9-49B5-B8F0-0D4F5075905A}" type="presOf" srcId="{1B5A5607-E945-4BE9-814D-B0EF59B1C430}" destId="{75B552A5-6396-4106-9A4A-445AED3E3CC6}" srcOrd="0" destOrd="0" presId="urn:microsoft.com/office/officeart/2005/8/layout/process4"/>
    <dgm:cxn modelId="{524811A3-ED31-4575-8340-647BFFE9B39F}" type="presParOf" srcId="{2BD634B8-DA83-49F5-9D02-0914F5E00507}" destId="{03B30CF2-AE31-4DED-84D9-3487159AD3E3}" srcOrd="0" destOrd="0" presId="urn:microsoft.com/office/officeart/2005/8/layout/process4"/>
    <dgm:cxn modelId="{0E485E5A-0BFB-44E3-91C8-C99EE7848A6A}" type="presParOf" srcId="{03B30CF2-AE31-4DED-84D9-3487159AD3E3}" destId="{75B552A5-6396-4106-9A4A-445AED3E3CC6}" srcOrd="0" destOrd="0" presId="urn:microsoft.com/office/officeart/2005/8/layout/process4"/>
    <dgm:cxn modelId="{4DD398C9-EA8F-4A43-88D9-5ECF6461BDF5}" type="presParOf" srcId="{2BD634B8-DA83-49F5-9D02-0914F5E00507}" destId="{F70F5C23-80D2-4CDF-B637-5C57A37CD123}" srcOrd="1" destOrd="0" presId="urn:microsoft.com/office/officeart/2005/8/layout/process4"/>
    <dgm:cxn modelId="{896EA0C7-4528-4DF7-9D51-8C03109F497C}" type="presParOf" srcId="{2BD634B8-DA83-49F5-9D02-0914F5E00507}" destId="{CD00B53B-13EB-400D-88F7-193FA1084681}" srcOrd="2" destOrd="0" presId="urn:microsoft.com/office/officeart/2005/8/layout/process4"/>
    <dgm:cxn modelId="{60B6883C-5FE5-4D3F-AEA7-F4621454E926}" type="presParOf" srcId="{CD00B53B-13EB-400D-88F7-193FA1084681}" destId="{3D88F0F6-5629-4C7E-A8D9-55126A1A5A1D}" srcOrd="0" destOrd="0" presId="urn:microsoft.com/office/officeart/2005/8/layout/process4"/>
    <dgm:cxn modelId="{C181981F-2F4E-4A88-8C42-009A0D018EC4}" type="presParOf" srcId="{2BD634B8-DA83-49F5-9D02-0914F5E00507}" destId="{ACD862B6-D655-498A-8FA6-1987A91783C3}" srcOrd="3" destOrd="0" presId="urn:microsoft.com/office/officeart/2005/8/layout/process4"/>
    <dgm:cxn modelId="{E7C5AD75-B35D-43EE-B5B9-33458A1E0BE1}" type="presParOf" srcId="{2BD634B8-DA83-49F5-9D02-0914F5E00507}" destId="{2F84B48E-D500-42B4-9D8F-F46FB2AC86EF}" srcOrd="4" destOrd="0" presId="urn:microsoft.com/office/officeart/2005/8/layout/process4"/>
    <dgm:cxn modelId="{A3A7EADA-DAB5-45EA-8BA4-34F5EEC1AE81}" type="presParOf" srcId="{2F84B48E-D500-42B4-9D8F-F46FB2AC86EF}" destId="{5E247E41-6DA2-446C-849F-383AA9AB749B}" srcOrd="0" destOrd="0" presId="urn:microsoft.com/office/officeart/2005/8/layout/process4"/>
    <dgm:cxn modelId="{1EE2F2DD-C6B7-403D-B437-7A63CE12D223}" type="presParOf" srcId="{2BD634B8-DA83-49F5-9D02-0914F5E00507}" destId="{736A69BE-A220-4144-BEB1-04BD59BF1329}" srcOrd="5" destOrd="0" presId="urn:microsoft.com/office/officeart/2005/8/layout/process4"/>
    <dgm:cxn modelId="{56A9B7E7-EE27-45BC-9061-F46AF766C1EB}" type="presParOf" srcId="{2BD634B8-DA83-49F5-9D02-0914F5E00507}" destId="{6647F38C-A354-4E92-82DD-B24CA78D34F1}" srcOrd="6" destOrd="0" presId="urn:microsoft.com/office/officeart/2005/8/layout/process4"/>
    <dgm:cxn modelId="{395EDE8F-1677-4206-A0B7-D62421760E0C}" type="presParOf" srcId="{6647F38C-A354-4E92-82DD-B24CA78D34F1}" destId="{534D5A28-AA1C-4672-B587-DC2D8696AAD8}"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4415FE-1BEA-4AAF-8504-EF442423F26C}">
      <dsp:nvSpPr>
        <dsp:cNvPr id="0" name=""/>
        <dsp:cNvSpPr/>
      </dsp:nvSpPr>
      <dsp:spPr>
        <a:xfrm>
          <a:off x="0" y="4404986"/>
          <a:ext cx="7072620" cy="722674"/>
        </a:xfrm>
        <a:prstGeom prst="rec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GB" sz="2400" b="0" kern="1200" dirty="0">
              <a:solidFill>
                <a:prstClr val="black"/>
              </a:solidFill>
              <a:latin typeface="Calibri" panose="020F0502020204030204"/>
              <a:ea typeface="+mn-ea"/>
              <a:cs typeface="+mn-cs"/>
            </a:rPr>
            <a:t>5) </a:t>
          </a:r>
          <a:r>
            <a:rPr lang="en-IL" sz="2400" kern="1200" dirty="0"/>
            <a:t>The feature vectors are used by a machine-learning model to classify each author as an IO driver or </a:t>
          </a:r>
          <a:r>
            <a:rPr lang="en-US" sz="2400" kern="1200" dirty="0"/>
            <a:t>not.</a:t>
          </a:r>
          <a:endParaRPr lang="en-IL" sz="2400" b="0" kern="1200" dirty="0">
            <a:solidFill>
              <a:prstClr val="black"/>
            </a:solidFill>
            <a:latin typeface="Calibri" panose="020F0502020204030204"/>
            <a:ea typeface="+mn-ea"/>
            <a:cs typeface="+mn-cs"/>
          </a:endParaRPr>
        </a:p>
      </dsp:txBody>
      <dsp:txXfrm>
        <a:off x="0" y="4404986"/>
        <a:ext cx="7072620" cy="722674"/>
      </dsp:txXfrm>
    </dsp:sp>
    <dsp:sp modelId="{6679C54E-D9B3-42D4-8579-0F059BE402E7}">
      <dsp:nvSpPr>
        <dsp:cNvPr id="0" name=""/>
        <dsp:cNvSpPr/>
      </dsp:nvSpPr>
      <dsp:spPr>
        <a:xfrm rot="10800000">
          <a:off x="0" y="3304353"/>
          <a:ext cx="7072620" cy="1111473"/>
        </a:xfrm>
        <a:prstGeom prst="upArrowCallou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GB" sz="2400" kern="1200" dirty="0">
              <a:latin typeface="Calibri" panose="020F0502020204030204"/>
              <a:ea typeface="+mn-ea"/>
              <a:cs typeface="+mn-cs"/>
            </a:rPr>
            <a:t>4) </a:t>
          </a:r>
          <a:r>
            <a:rPr lang="en-IL" sz="2400" kern="1200" dirty="0"/>
            <a:t>Each user is represented by a human-readable feature </a:t>
          </a:r>
          <a:r>
            <a:rPr lang="en-IL" sz="2400" kern="1200" dirty="0" err="1"/>
            <a:t>vecto</a:t>
          </a:r>
          <a:r>
            <a:rPr lang="en-US" sz="2400" kern="1200" dirty="0"/>
            <a:t>r.</a:t>
          </a:r>
          <a:endParaRPr lang="en-IL" sz="2400" kern="1200" dirty="0">
            <a:latin typeface="Calibri" panose="020F0502020204030204"/>
            <a:ea typeface="+mn-ea"/>
            <a:cs typeface="+mn-cs"/>
          </a:endParaRPr>
        </a:p>
      </dsp:txBody>
      <dsp:txXfrm rot="10800000">
        <a:off x="0" y="3304353"/>
        <a:ext cx="7072620" cy="722202"/>
      </dsp:txXfrm>
    </dsp:sp>
    <dsp:sp modelId="{1286EBB1-156A-4900-80F5-B7DA82846AFD}">
      <dsp:nvSpPr>
        <dsp:cNvPr id="0" name=""/>
        <dsp:cNvSpPr/>
      </dsp:nvSpPr>
      <dsp:spPr>
        <a:xfrm rot="10800000">
          <a:off x="0" y="2203719"/>
          <a:ext cx="7072620" cy="1111473"/>
        </a:xfrm>
        <a:prstGeom prst="upArrowCallou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GB" sz="2400" kern="1200" dirty="0"/>
            <a:t>3) Graph-based indicators are used to measure     author’s embeddedness.</a:t>
          </a:r>
          <a:endParaRPr lang="en-IL" sz="2400" kern="1200" dirty="0"/>
        </a:p>
      </dsp:txBody>
      <dsp:txXfrm rot="10800000">
        <a:off x="0" y="2203719"/>
        <a:ext cx="7072620" cy="722202"/>
      </dsp:txXfrm>
    </dsp:sp>
    <dsp:sp modelId="{EC9EF89E-2EC9-4197-83CE-6F0E9635859A}">
      <dsp:nvSpPr>
        <dsp:cNvPr id="0" name=""/>
        <dsp:cNvSpPr/>
      </dsp:nvSpPr>
      <dsp:spPr>
        <a:xfrm rot="10800000">
          <a:off x="0" y="1103085"/>
          <a:ext cx="7072620" cy="1111473"/>
        </a:xfrm>
        <a:prstGeom prst="upArrowCallou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GB" sz="2400" kern="1200" dirty="0"/>
            <a:t>2) IO drivers tend to be embedded in dense communities.</a:t>
          </a:r>
          <a:endParaRPr lang="en-IL" sz="2400" kern="1200" dirty="0">
            <a:latin typeface="Calibri" panose="020F0502020204030204"/>
            <a:ea typeface="+mn-ea"/>
            <a:cs typeface="+mn-cs"/>
          </a:endParaRPr>
        </a:p>
      </dsp:txBody>
      <dsp:txXfrm rot="10800000">
        <a:off x="0" y="1103085"/>
        <a:ext cx="7072620" cy="722202"/>
      </dsp:txXfrm>
    </dsp:sp>
    <dsp:sp modelId="{449265AB-55D8-4494-95A0-FB133CF562A6}">
      <dsp:nvSpPr>
        <dsp:cNvPr id="0" name=""/>
        <dsp:cNvSpPr/>
      </dsp:nvSpPr>
      <dsp:spPr>
        <a:xfrm rot="10800000">
          <a:off x="0" y="2452"/>
          <a:ext cx="7072620" cy="1111473"/>
        </a:xfrm>
        <a:prstGeom prst="upArrowCallout">
          <a:avLst/>
        </a:prstGeom>
        <a:gradFill rotWithShape="0">
          <a:gsLst>
            <a:gs pos="0">
              <a:schemeClr val="accent1">
                <a:hueOff val="0"/>
                <a:satOff val="0"/>
                <a:lumOff val="0"/>
                <a:alphaOff val="0"/>
                <a:lumMod val="110000"/>
                <a:satMod val="105000"/>
                <a:tint val="67000"/>
              </a:schemeClr>
            </a:gs>
            <a:gs pos="50000">
              <a:schemeClr val="accent1">
                <a:hueOff val="0"/>
                <a:satOff val="0"/>
                <a:lumOff val="0"/>
                <a:alphaOff val="0"/>
                <a:lumMod val="105000"/>
                <a:satMod val="103000"/>
                <a:tint val="73000"/>
              </a:schemeClr>
            </a:gs>
            <a:gs pos="100000">
              <a:schemeClr val="accent1">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GB" sz="2400" kern="1200" dirty="0"/>
            <a:t>1) Building a co-action graph represents author similarity (see next slide).</a:t>
          </a:r>
          <a:endParaRPr lang="en-IL" sz="2400" kern="1200" dirty="0"/>
        </a:p>
      </dsp:txBody>
      <dsp:txXfrm rot="10800000">
        <a:off x="0" y="2452"/>
        <a:ext cx="7072620" cy="7222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B552A5-6396-4106-9A4A-445AED3E3CC6}">
      <dsp:nvSpPr>
        <dsp:cNvPr id="0" name=""/>
        <dsp:cNvSpPr/>
      </dsp:nvSpPr>
      <dsp:spPr>
        <a:xfrm>
          <a:off x="0" y="3817172"/>
          <a:ext cx="10582656" cy="83510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IL" sz="2400" kern="1200" dirty="0"/>
            <a:t>IO</a:t>
          </a:r>
          <a:r>
            <a:rPr lang="en-US" sz="2400" kern="1200" dirty="0"/>
            <a:t> accounts are in a large k-core.</a:t>
          </a:r>
          <a:endParaRPr lang="en-IL" sz="2400" kern="1200" dirty="0"/>
        </a:p>
      </dsp:txBody>
      <dsp:txXfrm>
        <a:off x="0" y="3817172"/>
        <a:ext cx="10582656" cy="835104"/>
      </dsp:txXfrm>
    </dsp:sp>
    <dsp:sp modelId="{3D88F0F6-5629-4C7E-A8D9-55126A1A5A1D}">
      <dsp:nvSpPr>
        <dsp:cNvPr id="0" name=""/>
        <dsp:cNvSpPr/>
      </dsp:nvSpPr>
      <dsp:spPr>
        <a:xfrm rot="10800000">
          <a:off x="0" y="2545309"/>
          <a:ext cx="10582656" cy="1284390"/>
        </a:xfrm>
        <a:prstGeom prst="upArrowCallou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IL" sz="2400" kern="1200" dirty="0"/>
            <a:t>Since IO requires coordination, IO drivers are expected to appear in </a:t>
          </a:r>
          <a:r>
            <a:rPr lang="en-GB" sz="2400" kern="1200" dirty="0"/>
            <a:t>the coordinated</a:t>
          </a:r>
          <a:r>
            <a:rPr lang="en-IL" sz="2400" kern="1200" dirty="0"/>
            <a:t> groups. </a:t>
          </a:r>
        </a:p>
      </dsp:txBody>
      <dsp:txXfrm rot="10800000">
        <a:off x="0" y="2545309"/>
        <a:ext cx="10582656" cy="834558"/>
      </dsp:txXfrm>
    </dsp:sp>
    <dsp:sp modelId="{5E247E41-6DA2-446C-849F-383AA9AB749B}">
      <dsp:nvSpPr>
        <dsp:cNvPr id="0" name=""/>
        <dsp:cNvSpPr/>
      </dsp:nvSpPr>
      <dsp:spPr>
        <a:xfrm rot="10800000">
          <a:off x="0" y="1273445"/>
          <a:ext cx="10582656" cy="1284390"/>
        </a:xfrm>
        <a:prstGeom prst="upArrowCallou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IL" sz="2400" kern="1200" dirty="0"/>
            <a:t>Coordinated authors are highly inter</a:t>
          </a:r>
          <a:r>
            <a:rPr lang="en-GB" sz="2400" kern="1200" dirty="0"/>
            <a:t>-</a:t>
          </a:r>
          <a:r>
            <a:rPr lang="en-IL" sz="2400" kern="1200" dirty="0"/>
            <a:t>connected in the</a:t>
          </a:r>
          <a:r>
            <a:rPr lang="en-GB" sz="2400" kern="1200" dirty="0"/>
            <a:t> co-action</a:t>
          </a:r>
          <a:r>
            <a:rPr lang="en-IL" sz="2400" kern="1200" dirty="0"/>
            <a:t> graph.</a:t>
          </a:r>
          <a:endParaRPr lang="en-GB" sz="2400" kern="1200" dirty="0"/>
        </a:p>
      </dsp:txBody>
      <dsp:txXfrm rot="10800000">
        <a:off x="0" y="1273445"/>
        <a:ext cx="10582656" cy="834558"/>
      </dsp:txXfrm>
    </dsp:sp>
    <dsp:sp modelId="{534D5A28-AA1C-4672-B587-DC2D8696AAD8}">
      <dsp:nvSpPr>
        <dsp:cNvPr id="0" name=""/>
        <dsp:cNvSpPr/>
      </dsp:nvSpPr>
      <dsp:spPr>
        <a:xfrm rot="10800000">
          <a:off x="0" y="1582"/>
          <a:ext cx="10582656" cy="1284390"/>
        </a:xfrm>
        <a:prstGeom prst="upArrowCallou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en-IL" sz="2400" kern="1200" dirty="0"/>
            <a:t>The co-action graph represents behavioural similarity between authors.</a:t>
          </a:r>
        </a:p>
      </dsp:txBody>
      <dsp:txXfrm rot="10800000">
        <a:off x="0" y="1582"/>
        <a:ext cx="10582656" cy="834558"/>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1">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2915196C-CDBC-4DEE-A220-849C85FC22AC}" type="datetimeFigureOut">
              <a:rPr lang="he-IL" smtClean="0"/>
              <a:t>י"ב/תשרי/תשפ"ז</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7F6CD5E7-A5BE-4430-AD67-E129D63AAC5C}" type="slidenum">
              <a:rPr lang="he-IL" smtClean="0"/>
              <a:t>‹#›</a:t>
            </a:fld>
            <a:endParaRPr lang="he-IL"/>
          </a:p>
        </p:txBody>
      </p:sp>
    </p:spTree>
    <p:extLst>
      <p:ext uri="{BB962C8B-B14F-4D97-AF65-F5344CB8AC3E}">
        <p14:creationId xmlns:p14="http://schemas.microsoft.com/office/powerpoint/2010/main" val="4193829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D1760-78DB-D18D-FBB8-239E0A7E7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EC71B-5AA6-886B-0231-A74B41DE5028}"/>
              </a:ext>
            </a:extLst>
          </p:cNvPr>
          <p:cNvSpPr>
            <a:spLocks noGrp="1" noRot="1" noChangeAspect="1"/>
          </p:cNvSpPr>
          <p:nvPr>
            <p:ph type="sldImg"/>
          </p:nvPr>
        </p:nvSpPr>
        <p:spPr/>
        <p:txBody>
          <a:bodyPr/>
          <a:lstStyle/>
          <a:p>
            <a:endParaRPr lang="en-IL"/>
          </a:p>
        </p:txBody>
      </p:sp>
      <p:sp>
        <p:nvSpPr>
          <p:cNvPr id="3" name="Notes Placeholder 2">
            <a:extLst>
              <a:ext uri="{FF2B5EF4-FFF2-40B4-BE49-F238E27FC236}">
                <a16:creationId xmlns:a16="http://schemas.microsoft.com/office/drawing/2014/main" id="{0FD997CC-4715-39C7-93DD-C967C30807B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1C57815-7BE0-C4B1-B3D0-083C2D02FC95}"/>
              </a:ext>
            </a:extLst>
          </p:cNvPr>
          <p:cNvSpPr>
            <a:spLocks noGrp="1"/>
          </p:cNvSpPr>
          <p:nvPr>
            <p:ph type="sldNum" sz="quarter" idx="5"/>
          </p:nvPr>
        </p:nvSpPr>
        <p:spPr/>
        <p:txBody>
          <a:bodyPr/>
          <a:lstStyle/>
          <a:p>
            <a:fld id="{7F6CD5E7-A5BE-4430-AD67-E129D63AAC5C}" type="slidenum">
              <a:rPr lang="he-IL" smtClean="0"/>
              <a:t>9</a:t>
            </a:fld>
            <a:endParaRPr lang="he-IL"/>
          </a:p>
        </p:txBody>
      </p:sp>
    </p:spTree>
    <p:extLst>
      <p:ext uri="{BB962C8B-B14F-4D97-AF65-F5344CB8AC3E}">
        <p14:creationId xmlns:p14="http://schemas.microsoft.com/office/powerpoint/2010/main" val="1668725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I Can See U: Indicator-Based Detection of Information Operations and Topic-Aware Group Analysis. Uploaded manuscript Backbone_Graph (1).pdf. Table 1, pp. 3–4.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lgn="r">
              <a:buNone/>
            </a:pPr>
            <a:r>
              <a:rPr b="1" dirty="0" err="1"/>
              <a:t>האיור</a:t>
            </a:r>
            <a:r>
              <a:rPr b="1" dirty="0"/>
              <a:t> </a:t>
            </a:r>
            <a:r>
              <a:rPr b="1" dirty="0" err="1"/>
              <a:t>מציג</a:t>
            </a:r>
            <a:r>
              <a:rPr b="1" dirty="0"/>
              <a:t> </a:t>
            </a:r>
            <a:r>
              <a:rPr b="1" dirty="0" err="1"/>
              <a:t>את</a:t>
            </a:r>
            <a:r>
              <a:rPr b="1" dirty="0"/>
              <a:t> </a:t>
            </a:r>
            <a:r>
              <a:rPr b="1" dirty="0" err="1"/>
              <a:t>חשיבות</a:t>
            </a:r>
            <a:r>
              <a:rPr b="1" dirty="0"/>
              <a:t> </a:t>
            </a:r>
            <a:r>
              <a:rPr b="1" dirty="0" err="1"/>
              <a:t>המדדים</a:t>
            </a:r>
            <a:r>
              <a:rPr b="1" dirty="0"/>
              <a:t> </a:t>
            </a:r>
            <a:r>
              <a:rPr b="1" dirty="0" err="1"/>
              <a:t>בכל</a:t>
            </a:r>
            <a:r>
              <a:rPr b="1" dirty="0"/>
              <a:t> </a:t>
            </a:r>
            <a:r>
              <a:rPr b="1" dirty="0" err="1"/>
              <a:t>קמפיין</a:t>
            </a:r>
            <a:r>
              <a:rPr b="1" dirty="0"/>
              <a:t> </a:t>
            </a:r>
            <a:r>
              <a:rPr b="1" dirty="0" err="1"/>
              <a:t>עבור</a:t>
            </a:r>
            <a:r>
              <a:rPr b="1" dirty="0"/>
              <a:t> </a:t>
            </a:r>
            <a:r>
              <a:rPr b="1" dirty="0" err="1"/>
              <a:t>מסווג</a:t>
            </a:r>
            <a:r>
              <a:rPr b="1" dirty="0"/>
              <a:t> </a:t>
            </a:r>
            <a:r>
              <a:rPr b="1" dirty="0" err="1"/>
              <a:t>העצים</a:t>
            </a:r>
            <a:r>
              <a:rPr b="1" dirty="0"/>
              <a:t> </a:t>
            </a:r>
            <a:r>
              <a:rPr b="1" dirty="0" err="1"/>
              <a:t>המשופר</a:t>
            </a:r>
            <a:r>
              <a:rPr b="1" dirty="0"/>
              <a:t>, </a:t>
            </a:r>
            <a:r>
              <a:rPr b="1" dirty="0" err="1"/>
              <a:t>לפי</a:t>
            </a:r>
            <a:r>
              <a:rPr b="1" dirty="0"/>
              <a:t> </a:t>
            </a:r>
            <a:r>
              <a:rPr b="1" dirty="0" err="1"/>
              <a:t>ממוצע</a:t>
            </a:r>
            <a:r>
              <a:rPr b="1" dirty="0"/>
              <a:t> </a:t>
            </a:r>
            <a:r>
              <a:rPr b="1" dirty="0" err="1"/>
              <a:t>הערך</a:t>
            </a:r>
            <a:r>
              <a:rPr b="1" dirty="0"/>
              <a:t> </a:t>
            </a:r>
            <a:r>
              <a:rPr b="1" dirty="0" err="1"/>
              <a:t>המוחלט</a:t>
            </a:r>
            <a:r>
              <a:rPr b="1" dirty="0"/>
              <a:t> </a:t>
            </a:r>
            <a:r>
              <a:rPr b="1" dirty="0" err="1"/>
              <a:t>של</a:t>
            </a:r>
            <a:r>
              <a:rPr b="1" dirty="0"/>
              <a:t> </a:t>
            </a:r>
            <a:r>
              <a:rPr b="1" dirty="0" err="1"/>
              <a:t>תרומת</a:t>
            </a:r>
            <a:r>
              <a:rPr b="1" dirty="0"/>
              <a:t> </a:t>
            </a:r>
            <a:r>
              <a:rPr b="1" dirty="0" err="1"/>
              <a:t>כל</a:t>
            </a:r>
            <a:r>
              <a:rPr b="1" dirty="0"/>
              <a:t> </a:t>
            </a:r>
            <a:r>
              <a:rPr b="1" dirty="0" err="1"/>
              <a:t>מדד</a:t>
            </a:r>
            <a:r>
              <a:rPr b="1" dirty="0"/>
              <a:t> </a:t>
            </a:r>
            <a:r>
              <a:rPr b="1" dirty="0" err="1"/>
              <a:t>לתחזיות</a:t>
            </a:r>
            <a:r>
              <a:rPr b="1" dirty="0"/>
              <a:t>. </a:t>
            </a:r>
            <a:r>
              <a:rPr b="1" dirty="0" err="1"/>
              <a:t>עמודה</a:t>
            </a:r>
            <a:r>
              <a:rPr b="1" dirty="0"/>
              <a:t> </a:t>
            </a:r>
            <a:r>
              <a:rPr b="1" dirty="0" err="1"/>
              <a:t>ארוכה</a:t>
            </a:r>
            <a:r>
              <a:rPr b="1" dirty="0"/>
              <a:t> </a:t>
            </a:r>
            <a:r>
              <a:rPr b="1" dirty="0" err="1"/>
              <a:t>יותר</a:t>
            </a:r>
            <a:r>
              <a:rPr b="1" dirty="0"/>
              <a:t> </a:t>
            </a:r>
            <a:r>
              <a:rPr b="1" dirty="0" err="1"/>
              <a:t>משמעה</a:t>
            </a:r>
            <a:r>
              <a:rPr b="1" dirty="0"/>
              <a:t> </a:t>
            </a:r>
            <a:r>
              <a:rPr b="1" dirty="0" err="1"/>
              <a:t>השפעה</a:t>
            </a:r>
            <a:r>
              <a:rPr b="1" dirty="0"/>
              <a:t> </a:t>
            </a:r>
            <a:r>
              <a:rPr b="1" dirty="0" err="1"/>
              <a:t>גדולה</a:t>
            </a:r>
            <a:r>
              <a:rPr b="1" dirty="0"/>
              <a:t> </a:t>
            </a:r>
            <a:r>
              <a:rPr b="1" dirty="0" err="1"/>
              <a:t>יותר</a:t>
            </a:r>
            <a:r>
              <a:rPr b="1" dirty="0"/>
              <a:t> </a:t>
            </a:r>
            <a:r>
              <a:rPr b="1" dirty="0" err="1"/>
              <a:t>על</a:t>
            </a:r>
            <a:r>
              <a:rPr b="1" dirty="0"/>
              <a:t> </a:t>
            </a:r>
            <a:r>
              <a:rPr b="1" dirty="0" err="1"/>
              <a:t>פלט</a:t>
            </a:r>
            <a:r>
              <a:rPr b="1" dirty="0"/>
              <a:t> </a:t>
            </a:r>
            <a:r>
              <a:rPr b="1" dirty="0" err="1"/>
              <a:t>המודל</a:t>
            </a:r>
            <a:r>
              <a:rPr b="1" dirty="0"/>
              <a:t> </a:t>
            </a:r>
            <a:r>
              <a:rPr b="1" dirty="0" err="1"/>
              <a:t>בממוצע</a:t>
            </a:r>
            <a:r>
              <a:rPr b="1" dirty="0"/>
              <a:t>, </a:t>
            </a:r>
            <a:r>
              <a:rPr b="1" dirty="0" err="1"/>
              <a:t>ולא</a:t>
            </a:r>
            <a:r>
              <a:rPr b="1" dirty="0"/>
              <a:t> </a:t>
            </a:r>
            <a:r>
              <a:rPr b="1" dirty="0" err="1"/>
              <a:t>בהכרח</a:t>
            </a:r>
            <a:r>
              <a:rPr b="1" dirty="0"/>
              <a:t> </a:t>
            </a:r>
            <a:r>
              <a:rPr b="1" dirty="0" err="1"/>
              <a:t>השפעה</a:t>
            </a:r>
            <a:r>
              <a:rPr b="1" dirty="0"/>
              <a:t> </a:t>
            </a:r>
            <a:r>
              <a:rPr b="1" dirty="0" err="1"/>
              <a:t>חיובית</a:t>
            </a:r>
            <a:r>
              <a:rPr b="1" dirty="0"/>
              <a:t> </a:t>
            </a:r>
            <a:r>
              <a:rPr b="1" dirty="0" err="1"/>
              <a:t>או</a:t>
            </a:r>
            <a:r>
              <a:rPr b="1" dirty="0"/>
              <a:t> </a:t>
            </a:r>
            <a:r>
              <a:rPr b="1" dirty="0" err="1"/>
              <a:t>הוכחה</a:t>
            </a:r>
            <a:r>
              <a:rPr b="1" dirty="0"/>
              <a:t> </a:t>
            </a:r>
            <a:r>
              <a:rPr b="1" dirty="0" err="1"/>
              <a:t>לסיבתיות</a:t>
            </a:r>
            <a:r>
              <a:rPr b="1" dirty="0"/>
              <a:t>.</a:t>
            </a:r>
          </a:p>
          <a:p>
            <a:pPr lvl="0" algn="r">
              <a:buNone/>
            </a:pPr>
            <a:r>
              <a:rPr b="1" dirty="0" err="1"/>
              <a:t>המדד</a:t>
            </a:r>
            <a:r>
              <a:rPr b="1" dirty="0"/>
              <a:t> </a:t>
            </a:r>
            <a:r>
              <a:rPr b="1" dirty="0" err="1"/>
              <a:t>המוביל</a:t>
            </a:r>
            <a:r>
              <a:rPr b="1" dirty="0"/>
              <a:t> </a:t>
            </a:r>
            <a:r>
              <a:rPr b="1" dirty="0" err="1"/>
              <a:t>משתנה</a:t>
            </a:r>
            <a:r>
              <a:rPr b="1" dirty="0"/>
              <a:t> </a:t>
            </a:r>
            <a:r>
              <a:rPr b="1" dirty="0" err="1"/>
              <a:t>בין</a:t>
            </a:r>
            <a:r>
              <a:rPr b="1" dirty="0"/>
              <a:t> </a:t>
            </a:r>
            <a:r>
              <a:rPr b="1" dirty="0" err="1"/>
              <a:t>קמפיינים</a:t>
            </a:r>
            <a:r>
              <a:rPr b="1" dirty="0"/>
              <a:t>. </a:t>
            </a:r>
            <a:r>
              <a:rPr b="1" dirty="0" err="1"/>
              <a:t>ברוסיה</a:t>
            </a:r>
            <a:r>
              <a:rPr b="1" dirty="0"/>
              <a:t> </a:t>
            </a:r>
            <a:r>
              <a:rPr b="1" dirty="0" err="1"/>
              <a:t>ובאיחוד</a:t>
            </a:r>
            <a:r>
              <a:rPr b="1" dirty="0"/>
              <a:t> </a:t>
            </a:r>
            <a:r>
              <a:rPr b="1" dirty="0" err="1"/>
              <a:t>האמירויות</a:t>
            </a:r>
            <a:r>
              <a:rPr b="1" dirty="0"/>
              <a:t> </a:t>
            </a:r>
            <a:r>
              <a:rPr b="1" dirty="0" err="1"/>
              <a:t>זהו</a:t>
            </a:r>
            <a:r>
              <a:rPr b="1" dirty="0"/>
              <a:t> </a:t>
            </a:r>
            <a:r>
              <a:rPr b="1" dirty="0" err="1"/>
              <a:t>שיוך</a:t>
            </a:r>
            <a:r>
              <a:rPr b="1" dirty="0"/>
              <a:t> </a:t>
            </a:r>
            <a:r>
              <a:rPr b="1" dirty="0" err="1"/>
              <a:t>הקהילה</a:t>
            </a:r>
            <a:r>
              <a:rPr b="1" dirty="0"/>
              <a:t>, </a:t>
            </a:r>
            <a:r>
              <a:rPr b="1" dirty="0" err="1"/>
              <a:t>בסין</a:t>
            </a:r>
            <a:r>
              <a:rPr b="1" dirty="0"/>
              <a:t> </a:t>
            </a:r>
            <a:r>
              <a:rPr b="1" dirty="0" err="1"/>
              <a:t>הנושא</a:t>
            </a:r>
            <a:r>
              <a:rPr b="1" dirty="0"/>
              <a:t> </a:t>
            </a:r>
            <a:r>
              <a:rPr b="1" dirty="0" err="1"/>
              <a:t>המוביל</a:t>
            </a:r>
            <a:r>
              <a:rPr b="1" dirty="0"/>
              <a:t>, </a:t>
            </a:r>
            <a:r>
              <a:rPr b="1" dirty="0" err="1"/>
              <a:t>בוונצואלה</a:t>
            </a:r>
            <a:r>
              <a:rPr b="1" dirty="0"/>
              <a:t> </a:t>
            </a:r>
            <a:r>
              <a:rPr b="1" dirty="0" err="1"/>
              <a:t>מקדם</a:t>
            </a:r>
            <a:r>
              <a:rPr b="1" dirty="0"/>
              <a:t> </a:t>
            </a:r>
            <a:r>
              <a:rPr b="1" dirty="0" err="1"/>
              <a:t>ההתקבצות</a:t>
            </a:r>
            <a:r>
              <a:rPr b="1" dirty="0"/>
              <a:t>, </a:t>
            </a:r>
            <a:r>
              <a:rPr b="1" dirty="0" err="1"/>
              <a:t>ובקובה</a:t>
            </a:r>
            <a:r>
              <a:rPr b="1" dirty="0"/>
              <a:t> </a:t>
            </a:r>
            <a:r>
              <a:rPr b="1" dirty="0" err="1"/>
              <a:t>ובאיראן</a:t>
            </a:r>
            <a:r>
              <a:rPr b="1" dirty="0"/>
              <a:t> </a:t>
            </a:r>
            <a:r>
              <a:rPr b="1" dirty="0" err="1"/>
              <a:t>דירוג</a:t>
            </a:r>
            <a:r>
              <a:rPr b="1" dirty="0"/>
              <a:t> </a:t>
            </a:r>
            <a:r>
              <a:rPr b="1" dirty="0" err="1"/>
              <a:t>הדף</a:t>
            </a:r>
            <a:r>
              <a:rPr b="1" dirty="0"/>
              <a:t>. </a:t>
            </a:r>
            <a:r>
              <a:rPr b="1" dirty="0" err="1"/>
              <a:t>מספר</a:t>
            </a:r>
            <a:r>
              <a:rPr b="1" dirty="0"/>
              <a:t> </a:t>
            </a:r>
            <a:r>
              <a:rPr b="1" dirty="0" err="1"/>
              <a:t>הליבה</a:t>
            </a:r>
            <a:r>
              <a:rPr b="1" dirty="0"/>
              <a:t> </a:t>
            </a:r>
            <a:r>
              <a:rPr b="1" dirty="0" err="1"/>
              <a:t>חשוב</a:t>
            </a:r>
            <a:r>
              <a:rPr b="1" dirty="0"/>
              <a:t> </a:t>
            </a:r>
            <a:r>
              <a:rPr b="1" dirty="0" err="1"/>
              <a:t>בכמה</a:t>
            </a:r>
            <a:r>
              <a:rPr b="1" dirty="0"/>
              <a:t> </a:t>
            </a:r>
            <a:r>
              <a:rPr b="1" dirty="0" err="1"/>
              <a:t>קמפיינים</a:t>
            </a:r>
            <a:r>
              <a:rPr b="1" dirty="0"/>
              <a:t>, </a:t>
            </a:r>
            <a:r>
              <a:rPr b="1" dirty="0" err="1"/>
              <a:t>אך</a:t>
            </a:r>
            <a:r>
              <a:rPr b="1" dirty="0"/>
              <a:t> </a:t>
            </a:r>
            <a:r>
              <a:rPr b="1" dirty="0" err="1"/>
              <a:t>הוא</a:t>
            </a:r>
            <a:r>
              <a:rPr b="1" dirty="0"/>
              <a:t> </a:t>
            </a:r>
            <a:r>
              <a:rPr b="1" dirty="0" err="1"/>
              <a:t>חלק</a:t>
            </a:r>
            <a:r>
              <a:rPr b="1" dirty="0"/>
              <a:t> </a:t>
            </a:r>
            <a:r>
              <a:rPr b="1" dirty="0" err="1"/>
              <a:t>ממכלול</a:t>
            </a:r>
            <a:r>
              <a:rPr b="1" dirty="0"/>
              <a:t> </a:t>
            </a:r>
            <a:r>
              <a:rPr b="1" dirty="0" err="1"/>
              <a:t>מדדים</a:t>
            </a:r>
            <a:r>
              <a:rPr b="1" dirty="0"/>
              <a:t> </a:t>
            </a:r>
            <a:r>
              <a:rPr b="1" dirty="0" err="1"/>
              <a:t>משלימים</a:t>
            </a:r>
            <a:r>
              <a:rPr b="1" dirty="0"/>
              <a:t>. </a:t>
            </a:r>
            <a:r>
              <a:rPr b="1" dirty="0" err="1"/>
              <a:t>המסקנה</a:t>
            </a:r>
            <a:r>
              <a:rPr b="1" dirty="0"/>
              <a:t> </a:t>
            </a:r>
            <a:r>
              <a:rPr b="1" dirty="0" err="1"/>
              <a:t>היא</a:t>
            </a:r>
            <a:r>
              <a:rPr b="1" dirty="0"/>
              <a:t> </a:t>
            </a:r>
            <a:r>
              <a:rPr b="1" dirty="0" err="1"/>
              <a:t>שיש</a:t>
            </a:r>
            <a:r>
              <a:rPr b="1" dirty="0"/>
              <a:t> </a:t>
            </a:r>
            <a:r>
              <a:rPr b="1" dirty="0" err="1"/>
              <a:t>ערך</a:t>
            </a:r>
            <a:r>
              <a:rPr b="1" dirty="0"/>
              <a:t> </a:t>
            </a:r>
            <a:r>
              <a:rPr b="1" dirty="0" err="1"/>
              <a:t>לבחינת</a:t>
            </a:r>
            <a:r>
              <a:rPr b="1" dirty="0"/>
              <a:t> </a:t>
            </a:r>
            <a:r>
              <a:rPr b="1" dirty="0" err="1"/>
              <a:t>כמה</a:t>
            </a:r>
            <a:r>
              <a:rPr b="1" dirty="0"/>
              <a:t> </a:t>
            </a:r>
            <a:r>
              <a:rPr b="1" dirty="0" err="1"/>
              <a:t>היבטים</a:t>
            </a:r>
            <a:r>
              <a:rPr b="1" dirty="0"/>
              <a:t> </a:t>
            </a:r>
            <a:r>
              <a:rPr b="1" dirty="0" err="1"/>
              <a:t>של</a:t>
            </a:r>
            <a:r>
              <a:rPr b="1" dirty="0"/>
              <a:t> </a:t>
            </a:r>
            <a:r>
              <a:rPr b="1" dirty="0" err="1"/>
              <a:t>פעילות</a:t>
            </a:r>
            <a:r>
              <a:rPr b="1" dirty="0"/>
              <a:t> </a:t>
            </a:r>
            <a:r>
              <a:rPr b="1" dirty="0" err="1"/>
              <a:t>החשבון</a:t>
            </a:r>
            <a:r>
              <a:rPr b="1" dirty="0"/>
              <a:t>. </a:t>
            </a:r>
            <a:r>
              <a:rPr b="1" dirty="0" err="1"/>
              <a:t>האיור</a:t>
            </a:r>
            <a:r>
              <a:rPr b="1" dirty="0"/>
              <a:t> </a:t>
            </a:r>
            <a:r>
              <a:rPr b="1" dirty="0" err="1"/>
              <a:t>המקורי</a:t>
            </a:r>
            <a:r>
              <a:rPr b="1" dirty="0"/>
              <a:t> </a:t>
            </a:r>
            <a:r>
              <a:rPr b="1" dirty="0" err="1"/>
              <a:t>מהמאמר</a:t>
            </a:r>
            <a:r>
              <a:rPr b="1" dirty="0"/>
              <a:t> </a:t>
            </a:r>
            <a:r>
              <a:rPr b="1" dirty="0" err="1"/>
              <a:t>נשמר</a:t>
            </a:r>
            <a:r>
              <a:rPr b="1" dirty="0"/>
              <a:t> </a:t>
            </a:r>
            <a:r>
              <a:rPr b="1" dirty="0" err="1"/>
              <a:t>בשלמותו</a:t>
            </a:r>
            <a:r>
              <a:rPr b="1"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lgn="r"/>
            <a:r>
              <a:rPr lang="en-IL" b="1" dirty="0"/>
              <a:t>היקף הבדיקה:</a:t>
            </a:r>
            <a:r>
              <a:rPr lang="en-IL" dirty="0"/>
              <a:t> בחנו שישה קמפיינים, הכוללים כ־18.5 מיליון פרסומים של 138,247 חשבונות. </a:t>
            </a:r>
          </a:p>
          <a:p>
            <a:pPr lvl="0" algn="r"/>
            <a:r>
              <a:rPr lang="en-IL" b="1" dirty="0"/>
              <a:t>בדיקה בתוך אותו קמפיין:</a:t>
            </a:r>
            <a:r>
              <a:rPr lang="en-IL" dirty="0"/>
              <a:t> אימנו את המודל על חלק מהחשבונות ובדקנו אותו על חשבונות אחרים מאותו קמפיין. מדד ההבחנה הממוצע היה </a:t>
            </a:r>
            <a:r>
              <a:rPr lang="en-IL" b="1" dirty="0"/>
              <a:t>0.990</a:t>
            </a:r>
            <a:r>
              <a:rPr lang="en-IL" dirty="0"/>
              <a:t>. </a:t>
            </a:r>
          </a:p>
          <a:p>
            <a:pPr lvl="0" algn="r"/>
            <a:r>
              <a:rPr lang="en-IL" b="1" dirty="0"/>
              <a:t>בדיקה על קמפיין שלא השתתף באימון:</a:t>
            </a:r>
            <a:r>
              <a:rPr lang="en-IL" dirty="0"/>
              <a:t> אימנו על חמישה קמפיינים ובדקנו על השישי, וחזרנו על התהליך עבור כל קמפיין. מדד ההבחנה הממוצע היה </a:t>
            </a:r>
            <a:r>
              <a:rPr lang="en-IL" b="1" dirty="0"/>
              <a:t>0.933</a:t>
            </a:r>
            <a:r>
              <a:rPr lang="en-IL" dirty="0"/>
              <a:t>. </a:t>
            </a:r>
          </a:p>
          <a:p>
            <a:pPr lvl="0" algn="r"/>
            <a:r>
              <a:rPr lang="en-IL" b="1" dirty="0"/>
              <a:t>המשמעות:</a:t>
            </a:r>
            <a:r>
              <a:rPr lang="en-IL" dirty="0"/>
              <a:t> המדדים מאפשרים הבחנה טובה גם בקמפיינים שלא שימשו לאימון, אך הביצועים משתנים בין הקמפיינים.</a:t>
            </a:r>
          </a:p>
          <a:p>
            <a:pPr algn="r"/>
            <a:endParaRPr lang="he-IL" dirty="0"/>
          </a:p>
          <a:p>
            <a:pPr algn="r"/>
            <a:endParaRPr lang="he-IL" dirty="0"/>
          </a:p>
          <a:p>
            <a:pPr algn="r"/>
            <a:r>
              <a:rPr lang="en-IL" dirty="0"/>
              <a:t>ההערה בתחתית מוסיפה שמדד משלים, המתמקד באיכות זיהוי החשבונות החיוביים, הגיע לממוצע של </a:t>
            </a:r>
            <a:r>
              <a:rPr lang="en-IL" b="1" dirty="0"/>
              <a:t>0.723</a:t>
            </a:r>
            <a:r>
              <a:rPr lang="en-IL" dirty="0"/>
              <a:t> בבדיקה בין קמפיינים. היא מסייגת את התמונה ומבהירה שעדיין יש מקום לשיפור.</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dirty="0" err="1"/>
              <a:t>הסבר</a:t>
            </a:r>
            <a:r>
              <a:rPr dirty="0"/>
              <a:t> </a:t>
            </a:r>
            <a:r>
              <a:rPr dirty="0" err="1"/>
              <a:t>להצגה</a:t>
            </a:r>
            <a:r>
              <a:rPr dirty="0"/>
              <a:t>:</a:t>
            </a:r>
          </a:p>
          <a:p>
            <a:pPr algn="r" rtl="1"/>
            <a:r>
              <a:rPr dirty="0" err="1"/>
              <a:t>שקופית</a:t>
            </a:r>
            <a:r>
              <a:rPr dirty="0"/>
              <a:t> 12 </a:t>
            </a:r>
            <a:r>
              <a:rPr dirty="0" err="1"/>
              <a:t>מציגה</a:t>
            </a:r>
            <a:r>
              <a:rPr dirty="0"/>
              <a:t> </a:t>
            </a:r>
            <a:r>
              <a:rPr dirty="0" err="1"/>
              <a:t>את</a:t>
            </a:r>
            <a:r>
              <a:rPr dirty="0"/>
              <a:t> </a:t>
            </a:r>
            <a:r>
              <a:rPr dirty="0" err="1"/>
              <a:t>התוצאות</a:t>
            </a:r>
            <a:r>
              <a:rPr dirty="0"/>
              <a:t> </a:t>
            </a:r>
            <a:r>
              <a:rPr dirty="0" err="1"/>
              <a:t>של</a:t>
            </a:r>
            <a:r>
              <a:rPr dirty="0"/>
              <a:t> </a:t>
            </a:r>
            <a:r>
              <a:rPr dirty="0" err="1"/>
              <a:t>ההשוואה</a:t>
            </a:r>
            <a:r>
              <a:rPr dirty="0"/>
              <a:t> </a:t>
            </a:r>
            <a:r>
              <a:rPr dirty="0" err="1"/>
              <a:t>שהסברנו</a:t>
            </a:r>
            <a:r>
              <a:rPr dirty="0"/>
              <a:t> </a:t>
            </a:r>
            <a:r>
              <a:rPr dirty="0" err="1"/>
              <a:t>בשקופית</a:t>
            </a:r>
            <a:r>
              <a:rPr dirty="0"/>
              <a:t> 11: </a:t>
            </a:r>
            <a:r>
              <a:rPr dirty="0" err="1"/>
              <a:t>מה</a:t>
            </a:r>
            <a:r>
              <a:rPr dirty="0"/>
              <a:t> </a:t>
            </a:r>
            <a:r>
              <a:rPr dirty="0" err="1"/>
              <a:t>מתקבל</a:t>
            </a:r>
            <a:r>
              <a:rPr dirty="0"/>
              <a:t> </a:t>
            </a:r>
            <a:r>
              <a:rPr dirty="0" err="1"/>
              <a:t>כשמגדירים</a:t>
            </a:r>
            <a:r>
              <a:rPr dirty="0"/>
              <a:t> </a:t>
            </a:r>
            <a:r>
              <a:rPr dirty="0" err="1"/>
              <a:t>קבוצות</a:t>
            </a:r>
            <a:r>
              <a:rPr dirty="0"/>
              <a:t> </a:t>
            </a:r>
            <a:r>
              <a:rPr dirty="0" err="1"/>
              <a:t>בדרכים</a:t>
            </a:r>
            <a:r>
              <a:rPr dirty="0"/>
              <a:t> </a:t>
            </a:r>
            <a:r>
              <a:rPr dirty="0" err="1"/>
              <a:t>שונות</a:t>
            </a:r>
            <a:r>
              <a:rPr dirty="0"/>
              <a:t>.</a:t>
            </a:r>
          </a:p>
          <a:p>
            <a:pPr algn="r" rtl="1"/>
            <a:r>
              <a:rPr dirty="0" err="1"/>
              <a:t>כך</a:t>
            </a:r>
            <a:r>
              <a:rPr dirty="0"/>
              <a:t> </a:t>
            </a:r>
            <a:r>
              <a:rPr dirty="0" err="1"/>
              <a:t>קוראים</a:t>
            </a:r>
            <a:r>
              <a:rPr dirty="0"/>
              <a:t> </a:t>
            </a:r>
            <a:r>
              <a:rPr dirty="0" err="1"/>
              <a:t>את</a:t>
            </a:r>
            <a:r>
              <a:rPr dirty="0"/>
              <a:t> </a:t>
            </a:r>
            <a:r>
              <a:rPr dirty="0" err="1"/>
              <a:t>הגרף</a:t>
            </a:r>
            <a:r>
              <a:rPr dirty="0"/>
              <a:t>:</a:t>
            </a:r>
          </a:p>
          <a:p>
            <a:pPr algn="r" rtl="1"/>
            <a:r>
              <a:rPr dirty="0"/>
              <a:t>• </a:t>
            </a:r>
            <a:r>
              <a:rPr dirty="0" err="1"/>
              <a:t>כל</a:t>
            </a:r>
            <a:r>
              <a:rPr dirty="0"/>
              <a:t> </a:t>
            </a:r>
            <a:r>
              <a:rPr dirty="0" err="1"/>
              <a:t>עמודה</a:t>
            </a:r>
            <a:r>
              <a:rPr dirty="0"/>
              <a:t> </a:t>
            </a:r>
            <a:r>
              <a:rPr dirty="0" err="1"/>
              <a:t>היא</a:t>
            </a:r>
            <a:r>
              <a:rPr dirty="0"/>
              <a:t> </a:t>
            </a:r>
            <a:r>
              <a:rPr dirty="0" err="1"/>
              <a:t>קמפיין</a:t>
            </a:r>
            <a:r>
              <a:rPr dirty="0"/>
              <a:t> </a:t>
            </a:r>
            <a:r>
              <a:rPr dirty="0" err="1"/>
              <a:t>אחר</a:t>
            </a:r>
            <a:r>
              <a:rPr dirty="0"/>
              <a:t>, </a:t>
            </a:r>
            <a:r>
              <a:rPr dirty="0" err="1"/>
              <a:t>וכל</a:t>
            </a:r>
            <a:r>
              <a:rPr dirty="0"/>
              <a:t> </a:t>
            </a:r>
            <a:r>
              <a:rPr dirty="0" err="1"/>
              <a:t>צבע</a:t>
            </a:r>
            <a:r>
              <a:rPr dirty="0"/>
              <a:t> </a:t>
            </a:r>
            <a:r>
              <a:rPr dirty="0" err="1"/>
              <a:t>מייצג</a:t>
            </a:r>
            <a:r>
              <a:rPr dirty="0"/>
              <a:t> </a:t>
            </a:r>
            <a:r>
              <a:rPr dirty="0" err="1"/>
              <a:t>שיטה</a:t>
            </a:r>
            <a:r>
              <a:rPr dirty="0"/>
              <a:t> </a:t>
            </a:r>
            <a:r>
              <a:rPr dirty="0" err="1"/>
              <a:t>להגדרת</a:t>
            </a:r>
            <a:r>
              <a:rPr dirty="0"/>
              <a:t> </a:t>
            </a:r>
            <a:r>
              <a:rPr dirty="0" err="1"/>
              <a:t>קבוצה</a:t>
            </a:r>
            <a:r>
              <a:rPr dirty="0"/>
              <a:t>. </a:t>
            </a:r>
            <a:r>
              <a:rPr dirty="0" err="1"/>
              <a:t>כל</a:t>
            </a:r>
            <a:r>
              <a:rPr dirty="0"/>
              <a:t> </a:t>
            </a:r>
            <a:r>
              <a:rPr dirty="0" err="1"/>
              <a:t>נקודה</a:t>
            </a:r>
            <a:r>
              <a:rPr dirty="0"/>
              <a:t> </a:t>
            </a:r>
            <a:r>
              <a:rPr dirty="0" err="1"/>
              <a:t>מציגה</a:t>
            </a:r>
            <a:r>
              <a:rPr dirty="0"/>
              <a:t> </a:t>
            </a:r>
            <a:r>
              <a:rPr dirty="0" err="1"/>
              <a:t>את</a:t>
            </a:r>
            <a:r>
              <a:rPr dirty="0"/>
              <a:t> </a:t>
            </a:r>
            <a:r>
              <a:rPr dirty="0" err="1"/>
              <a:t>הממוצע</a:t>
            </a:r>
            <a:r>
              <a:rPr dirty="0"/>
              <a:t> </a:t>
            </a:r>
            <a:r>
              <a:rPr dirty="0" err="1"/>
              <a:t>של</a:t>
            </a:r>
            <a:r>
              <a:rPr dirty="0"/>
              <a:t> </a:t>
            </a:r>
            <a:r>
              <a:rPr dirty="0" err="1"/>
              <a:t>אותה</a:t>
            </a:r>
            <a:r>
              <a:rPr dirty="0"/>
              <a:t> </a:t>
            </a:r>
            <a:r>
              <a:rPr dirty="0" err="1"/>
              <a:t>שיטה</a:t>
            </a:r>
            <a:r>
              <a:rPr dirty="0"/>
              <a:t>.</a:t>
            </a:r>
          </a:p>
          <a:p>
            <a:pPr algn="r" rtl="1"/>
            <a:r>
              <a:rPr dirty="0"/>
              <a:t>• </a:t>
            </a:r>
            <a:r>
              <a:rPr dirty="0" err="1"/>
              <a:t>ככל</a:t>
            </a:r>
            <a:r>
              <a:rPr dirty="0"/>
              <a:t> </a:t>
            </a:r>
            <a:r>
              <a:rPr dirty="0" err="1"/>
              <a:t>שהנקודה</a:t>
            </a:r>
            <a:r>
              <a:rPr dirty="0"/>
              <a:t> </a:t>
            </a:r>
            <a:r>
              <a:rPr dirty="0" err="1"/>
              <a:t>ימינה</a:t>
            </a:r>
            <a:r>
              <a:rPr dirty="0"/>
              <a:t>, </a:t>
            </a:r>
            <a:r>
              <a:rPr dirty="0" err="1"/>
              <a:t>שיעור</a:t>
            </a:r>
            <a:r>
              <a:rPr dirty="0"/>
              <a:t> </a:t>
            </a:r>
            <a:r>
              <a:rPr dirty="0" err="1"/>
              <a:t>החשבונות</a:t>
            </a:r>
            <a:r>
              <a:rPr dirty="0"/>
              <a:t> </a:t>
            </a:r>
            <a:r>
              <a:rPr dirty="0" err="1"/>
              <a:t>של</a:t>
            </a:r>
            <a:r>
              <a:rPr dirty="0"/>
              <a:t> </a:t>
            </a:r>
            <a:r>
              <a:rPr dirty="0" err="1"/>
              <a:t>מבצע</a:t>
            </a:r>
            <a:r>
              <a:rPr dirty="0"/>
              <a:t> </a:t>
            </a:r>
            <a:r>
              <a:rPr dirty="0" err="1"/>
              <a:t>ההשפעה</a:t>
            </a:r>
            <a:r>
              <a:rPr dirty="0"/>
              <a:t> </a:t>
            </a:r>
            <a:r>
              <a:rPr dirty="0" err="1"/>
              <a:t>בקבוצות</a:t>
            </a:r>
            <a:r>
              <a:rPr dirty="0"/>
              <a:t> </a:t>
            </a:r>
            <a:r>
              <a:rPr dirty="0" err="1"/>
              <a:t>גבוה</a:t>
            </a:r>
            <a:r>
              <a:rPr dirty="0"/>
              <a:t> </a:t>
            </a:r>
            <a:r>
              <a:rPr dirty="0" err="1"/>
              <a:t>יותר</a:t>
            </a:r>
            <a:r>
              <a:rPr dirty="0"/>
              <a:t>.</a:t>
            </a:r>
          </a:p>
          <a:p>
            <a:pPr algn="r" rtl="1"/>
            <a:r>
              <a:rPr dirty="0"/>
              <a:t>• </a:t>
            </a:r>
            <a:r>
              <a:rPr dirty="0" err="1"/>
              <a:t>ככל</a:t>
            </a:r>
            <a:r>
              <a:rPr dirty="0"/>
              <a:t> </a:t>
            </a:r>
            <a:r>
              <a:rPr dirty="0" err="1"/>
              <a:t>שהנקודה</a:t>
            </a:r>
            <a:r>
              <a:rPr dirty="0"/>
              <a:t> </a:t>
            </a:r>
            <a:r>
              <a:rPr dirty="0" err="1"/>
              <a:t>למעלה</a:t>
            </a:r>
            <a:r>
              <a:rPr dirty="0"/>
              <a:t>, </a:t>
            </a:r>
            <a:r>
              <a:rPr dirty="0" err="1"/>
              <a:t>יותר</a:t>
            </a:r>
            <a:r>
              <a:rPr dirty="0"/>
              <a:t> </a:t>
            </a:r>
            <a:r>
              <a:rPr dirty="0" err="1"/>
              <a:t>חשבונות</a:t>
            </a:r>
            <a:r>
              <a:rPr dirty="0"/>
              <a:t> </a:t>
            </a:r>
            <a:r>
              <a:rPr dirty="0" err="1"/>
              <a:t>בקבוצות</a:t>
            </a:r>
            <a:r>
              <a:rPr dirty="0"/>
              <a:t> </a:t>
            </a:r>
            <a:r>
              <a:rPr dirty="0" err="1"/>
              <a:t>חולקים</a:t>
            </a:r>
            <a:r>
              <a:rPr dirty="0"/>
              <a:t> </a:t>
            </a:r>
            <a:r>
              <a:rPr dirty="0" err="1"/>
              <a:t>את</a:t>
            </a:r>
            <a:r>
              <a:rPr dirty="0"/>
              <a:t> </a:t>
            </a:r>
            <a:r>
              <a:rPr dirty="0" err="1"/>
              <a:t>הנושא</a:t>
            </a:r>
            <a:r>
              <a:rPr dirty="0"/>
              <a:t> </a:t>
            </a:r>
            <a:r>
              <a:rPr dirty="0" err="1"/>
              <a:t>המוביל</a:t>
            </a:r>
            <a:r>
              <a:rPr dirty="0"/>
              <a:t> </a:t>
            </a:r>
            <a:r>
              <a:rPr dirty="0" err="1"/>
              <a:t>של</a:t>
            </a:r>
            <a:r>
              <a:rPr dirty="0"/>
              <a:t> </a:t>
            </a:r>
            <a:r>
              <a:rPr dirty="0" err="1"/>
              <a:t>החשבון</a:t>
            </a:r>
            <a:r>
              <a:rPr dirty="0"/>
              <a:t> </a:t>
            </a:r>
            <a:r>
              <a:rPr dirty="0" err="1"/>
              <a:t>שבוחנים</a:t>
            </a:r>
            <a:r>
              <a:rPr dirty="0"/>
              <a:t>.</a:t>
            </a:r>
          </a:p>
          <a:p>
            <a:pPr algn="r" rtl="1"/>
            <a:r>
              <a:rPr dirty="0"/>
              <a:t>• </a:t>
            </a:r>
            <a:r>
              <a:rPr dirty="0" err="1"/>
              <a:t>לכן</a:t>
            </a:r>
            <a:r>
              <a:rPr dirty="0"/>
              <a:t> </a:t>
            </a:r>
            <a:r>
              <a:rPr dirty="0" err="1"/>
              <a:t>מחפשים</a:t>
            </a:r>
            <a:r>
              <a:rPr dirty="0"/>
              <a:t> </a:t>
            </a:r>
            <a:r>
              <a:rPr dirty="0" err="1"/>
              <a:t>שילוב</a:t>
            </a:r>
            <a:r>
              <a:rPr dirty="0"/>
              <a:t> </a:t>
            </a:r>
            <a:r>
              <a:rPr dirty="0" err="1"/>
              <a:t>של</a:t>
            </a:r>
            <a:r>
              <a:rPr dirty="0"/>
              <a:t> </a:t>
            </a:r>
            <a:r>
              <a:rPr dirty="0" err="1"/>
              <a:t>ימינה</a:t>
            </a:r>
            <a:r>
              <a:rPr dirty="0"/>
              <a:t> </a:t>
            </a:r>
            <a:r>
              <a:rPr dirty="0" err="1"/>
              <a:t>ולמעלה</a:t>
            </a:r>
            <a:r>
              <a:rPr dirty="0"/>
              <a:t>.</a:t>
            </a:r>
          </a:p>
          <a:p>
            <a:pPr algn="r" rtl="1"/>
            <a:r>
              <a:rPr dirty="0"/>
              <a:t>• </a:t>
            </a:r>
            <a:r>
              <a:rPr dirty="0" err="1"/>
              <a:t>בשורה</a:t>
            </a:r>
            <a:r>
              <a:rPr dirty="0"/>
              <a:t> </a:t>
            </a:r>
            <a:r>
              <a:rPr dirty="0" err="1"/>
              <a:t>התחתונה</a:t>
            </a:r>
            <a:r>
              <a:rPr dirty="0"/>
              <a:t> </a:t>
            </a:r>
            <a:r>
              <a:rPr dirty="0" err="1"/>
              <a:t>הניתוח</a:t>
            </a:r>
            <a:r>
              <a:rPr dirty="0"/>
              <a:t> </a:t>
            </a:r>
            <a:r>
              <a:rPr dirty="0" err="1"/>
              <a:t>כולל</a:t>
            </a:r>
            <a:r>
              <a:rPr dirty="0"/>
              <a:t> </a:t>
            </a:r>
            <a:r>
              <a:rPr dirty="0" err="1"/>
              <a:t>את</a:t>
            </a:r>
            <a:r>
              <a:rPr dirty="0"/>
              <a:t> </a:t>
            </a:r>
            <a:r>
              <a:rPr dirty="0" err="1"/>
              <a:t>כלל</a:t>
            </a:r>
            <a:r>
              <a:rPr dirty="0"/>
              <a:t> </a:t>
            </a:r>
            <a:r>
              <a:rPr dirty="0" err="1"/>
              <a:t>החשבונות</a:t>
            </a:r>
            <a:r>
              <a:rPr dirty="0"/>
              <a:t>. </a:t>
            </a:r>
            <a:r>
              <a:rPr dirty="0" err="1"/>
              <a:t>בשורה</a:t>
            </a:r>
            <a:r>
              <a:rPr dirty="0"/>
              <a:t> </a:t>
            </a:r>
            <a:r>
              <a:rPr dirty="0" err="1"/>
              <a:t>העליונה</a:t>
            </a:r>
            <a:r>
              <a:rPr dirty="0"/>
              <a:t> </a:t>
            </a:r>
            <a:r>
              <a:rPr dirty="0" err="1"/>
              <a:t>מגבילים</a:t>
            </a:r>
            <a:r>
              <a:rPr dirty="0"/>
              <a:t> </a:t>
            </a:r>
            <a:r>
              <a:rPr dirty="0" err="1"/>
              <a:t>את</a:t>
            </a:r>
            <a:r>
              <a:rPr dirty="0"/>
              <a:t> </a:t>
            </a:r>
            <a:r>
              <a:rPr dirty="0" err="1"/>
              <a:t>בניית</a:t>
            </a:r>
            <a:r>
              <a:rPr dirty="0"/>
              <a:t> </a:t>
            </a:r>
            <a:r>
              <a:rPr dirty="0" err="1"/>
              <a:t>הקבוצות</a:t>
            </a:r>
            <a:r>
              <a:rPr dirty="0"/>
              <a:t> </a:t>
            </a:r>
            <a:r>
              <a:rPr dirty="0" err="1"/>
              <a:t>לחשבונות</a:t>
            </a:r>
            <a:r>
              <a:rPr dirty="0"/>
              <a:t> </a:t>
            </a:r>
            <a:r>
              <a:rPr dirty="0" err="1"/>
              <a:t>שהמודל</a:t>
            </a:r>
            <a:r>
              <a:rPr dirty="0"/>
              <a:t> </a:t>
            </a:r>
            <a:r>
              <a:rPr dirty="0" err="1"/>
              <a:t>סיווג</a:t>
            </a:r>
            <a:r>
              <a:rPr dirty="0"/>
              <a:t> </a:t>
            </a:r>
            <a:r>
              <a:rPr dirty="0" err="1"/>
              <a:t>כחשבונות</a:t>
            </a:r>
            <a:r>
              <a:rPr dirty="0"/>
              <a:t> </a:t>
            </a:r>
            <a:r>
              <a:rPr dirty="0" err="1"/>
              <a:t>של</a:t>
            </a:r>
            <a:r>
              <a:rPr dirty="0"/>
              <a:t> </a:t>
            </a:r>
            <a:r>
              <a:rPr dirty="0" err="1"/>
              <a:t>מבצע</a:t>
            </a:r>
            <a:r>
              <a:rPr dirty="0"/>
              <a:t> </a:t>
            </a:r>
            <a:r>
              <a:rPr dirty="0" err="1"/>
              <a:t>השפעה</a:t>
            </a:r>
            <a:r>
              <a:rPr dirty="0"/>
              <a:t>.</a:t>
            </a:r>
          </a:p>
          <a:p>
            <a:pPr algn="r" rtl="1"/>
            <a:r>
              <a:rPr dirty="0" err="1"/>
              <a:t>מה</a:t>
            </a:r>
            <a:r>
              <a:rPr dirty="0"/>
              <a:t> </a:t>
            </a:r>
            <a:r>
              <a:rPr dirty="0" err="1"/>
              <a:t>לומדים</a:t>
            </a:r>
            <a:r>
              <a:rPr dirty="0"/>
              <a:t>?</a:t>
            </a:r>
          </a:p>
          <a:p>
            <a:pPr algn="r" rtl="1"/>
            <a:r>
              <a:rPr dirty="0"/>
              <a:t>• </a:t>
            </a:r>
            <a:r>
              <a:rPr dirty="0" err="1"/>
              <a:t>קבוצות</a:t>
            </a:r>
            <a:r>
              <a:rPr dirty="0"/>
              <a:t> </a:t>
            </a:r>
            <a:r>
              <a:rPr dirty="0" err="1"/>
              <a:t>לפי</a:t>
            </a:r>
            <a:r>
              <a:rPr dirty="0"/>
              <a:t> </a:t>
            </a:r>
            <a:r>
              <a:rPr dirty="0" err="1"/>
              <a:t>נושא</a:t>
            </a:r>
            <a:r>
              <a:rPr dirty="0"/>
              <a:t> </a:t>
            </a:r>
            <a:r>
              <a:rPr dirty="0" err="1"/>
              <a:t>משותף</a:t>
            </a:r>
            <a:r>
              <a:rPr dirty="0"/>
              <a:t> </a:t>
            </a:r>
            <a:r>
              <a:rPr dirty="0" err="1"/>
              <a:t>נמצאות</a:t>
            </a:r>
            <a:r>
              <a:rPr dirty="0"/>
              <a:t> </a:t>
            </a:r>
            <a:r>
              <a:rPr dirty="0" err="1"/>
              <a:t>למעלה</a:t>
            </a:r>
            <a:r>
              <a:rPr dirty="0"/>
              <a:t>, </a:t>
            </a:r>
            <a:r>
              <a:rPr dirty="0" err="1"/>
              <a:t>כי</a:t>
            </a:r>
            <a:r>
              <a:rPr dirty="0"/>
              <a:t> </a:t>
            </a:r>
            <a:r>
              <a:rPr dirty="0" err="1"/>
              <a:t>זו</a:t>
            </a:r>
            <a:r>
              <a:rPr dirty="0"/>
              <a:t> </a:t>
            </a:r>
            <a:r>
              <a:rPr dirty="0" err="1"/>
              <a:t>ההגדרה</a:t>
            </a:r>
            <a:r>
              <a:rPr dirty="0"/>
              <a:t> </a:t>
            </a:r>
            <a:r>
              <a:rPr dirty="0" err="1"/>
              <a:t>שלהן</a:t>
            </a:r>
            <a:r>
              <a:rPr dirty="0"/>
              <a:t>, </a:t>
            </a:r>
            <a:r>
              <a:rPr dirty="0" err="1"/>
              <a:t>אבל</a:t>
            </a:r>
            <a:r>
              <a:rPr dirty="0"/>
              <a:t> </a:t>
            </a:r>
            <a:r>
              <a:rPr dirty="0" err="1"/>
              <a:t>הן</a:t>
            </a:r>
            <a:r>
              <a:rPr dirty="0"/>
              <a:t> </a:t>
            </a:r>
            <a:r>
              <a:rPr dirty="0" err="1"/>
              <a:t>עשויות</a:t>
            </a:r>
            <a:r>
              <a:rPr dirty="0"/>
              <a:t> </a:t>
            </a:r>
            <a:r>
              <a:rPr dirty="0" err="1"/>
              <a:t>לכלול</a:t>
            </a:r>
            <a:r>
              <a:rPr dirty="0"/>
              <a:t> </a:t>
            </a:r>
            <a:r>
              <a:rPr dirty="0" err="1"/>
              <a:t>הרבה</a:t>
            </a:r>
            <a:r>
              <a:rPr dirty="0"/>
              <a:t> </a:t>
            </a:r>
            <a:r>
              <a:rPr dirty="0" err="1"/>
              <a:t>חשבונות</a:t>
            </a:r>
            <a:r>
              <a:rPr dirty="0"/>
              <a:t> </a:t>
            </a:r>
            <a:r>
              <a:rPr dirty="0" err="1"/>
              <a:t>שאינם</a:t>
            </a:r>
            <a:r>
              <a:rPr dirty="0"/>
              <a:t> </a:t>
            </a:r>
            <a:r>
              <a:rPr dirty="0" err="1"/>
              <a:t>חלק</a:t>
            </a:r>
            <a:r>
              <a:rPr dirty="0"/>
              <a:t> </a:t>
            </a:r>
            <a:r>
              <a:rPr dirty="0" err="1"/>
              <a:t>ממבצע</a:t>
            </a:r>
            <a:r>
              <a:rPr dirty="0"/>
              <a:t> </a:t>
            </a:r>
            <a:r>
              <a:rPr dirty="0" err="1"/>
              <a:t>השפעה</a:t>
            </a:r>
            <a:r>
              <a:rPr dirty="0"/>
              <a:t>.</a:t>
            </a:r>
          </a:p>
          <a:p>
            <a:pPr algn="r" rtl="1"/>
            <a:r>
              <a:rPr dirty="0"/>
              <a:t>• </a:t>
            </a:r>
            <a:r>
              <a:rPr dirty="0" err="1"/>
              <a:t>קבוצות</a:t>
            </a:r>
            <a:r>
              <a:rPr dirty="0"/>
              <a:t> </a:t>
            </a:r>
            <a:r>
              <a:rPr dirty="0" err="1"/>
              <a:t>המבוססות</a:t>
            </a:r>
            <a:r>
              <a:rPr dirty="0"/>
              <a:t> </a:t>
            </a:r>
            <a:r>
              <a:rPr dirty="0" err="1"/>
              <a:t>על</a:t>
            </a:r>
            <a:r>
              <a:rPr dirty="0"/>
              <a:t> </a:t>
            </a:r>
            <a:r>
              <a:rPr dirty="0" err="1"/>
              <a:t>ליבה</a:t>
            </a:r>
            <a:r>
              <a:rPr dirty="0"/>
              <a:t> </a:t>
            </a:r>
            <a:r>
              <a:rPr dirty="0" err="1"/>
              <a:t>ושכנים</a:t>
            </a:r>
            <a:r>
              <a:rPr dirty="0"/>
              <a:t> </a:t>
            </a:r>
            <a:r>
              <a:rPr dirty="0" err="1"/>
              <a:t>ישירים</a:t>
            </a:r>
            <a:r>
              <a:rPr dirty="0"/>
              <a:t> </a:t>
            </a:r>
            <a:r>
              <a:rPr dirty="0" err="1"/>
              <a:t>מציעות</a:t>
            </a:r>
            <a:r>
              <a:rPr dirty="0"/>
              <a:t> </a:t>
            </a:r>
            <a:r>
              <a:rPr dirty="0" err="1"/>
              <a:t>שילוב</a:t>
            </a:r>
            <a:r>
              <a:rPr dirty="0"/>
              <a:t> </a:t>
            </a:r>
            <a:r>
              <a:rPr dirty="0" err="1"/>
              <a:t>מועיל</a:t>
            </a:r>
            <a:r>
              <a:rPr dirty="0"/>
              <a:t> </a:t>
            </a:r>
            <a:r>
              <a:rPr dirty="0" err="1"/>
              <a:t>של</a:t>
            </a:r>
            <a:r>
              <a:rPr dirty="0"/>
              <a:t> </a:t>
            </a:r>
            <a:r>
              <a:rPr dirty="0" err="1"/>
              <a:t>ריכוז</a:t>
            </a:r>
            <a:r>
              <a:rPr dirty="0"/>
              <a:t> </a:t>
            </a:r>
            <a:r>
              <a:rPr dirty="0" err="1"/>
              <a:t>חשבונות</a:t>
            </a:r>
            <a:r>
              <a:rPr dirty="0"/>
              <a:t> </a:t>
            </a:r>
            <a:r>
              <a:rPr dirty="0" err="1"/>
              <a:t>מבצע</a:t>
            </a:r>
            <a:r>
              <a:rPr dirty="0"/>
              <a:t> </a:t>
            </a:r>
            <a:r>
              <a:rPr dirty="0" err="1"/>
              <a:t>השפעה</a:t>
            </a:r>
            <a:r>
              <a:rPr dirty="0"/>
              <a:t> </a:t>
            </a:r>
            <a:r>
              <a:rPr dirty="0" err="1"/>
              <a:t>והתאמה</a:t>
            </a:r>
            <a:r>
              <a:rPr dirty="0"/>
              <a:t> </a:t>
            </a:r>
            <a:r>
              <a:rPr dirty="0" err="1"/>
              <a:t>בנושא</a:t>
            </a:r>
            <a:r>
              <a:rPr dirty="0"/>
              <a:t>. </a:t>
            </a:r>
            <a:r>
              <a:rPr dirty="0" err="1"/>
              <a:t>האיזון</a:t>
            </a:r>
            <a:r>
              <a:rPr dirty="0"/>
              <a:t> </a:t>
            </a:r>
            <a:r>
              <a:rPr dirty="0" err="1"/>
              <a:t>משתנה</a:t>
            </a:r>
            <a:r>
              <a:rPr dirty="0"/>
              <a:t> </a:t>
            </a:r>
            <a:r>
              <a:rPr dirty="0" err="1"/>
              <a:t>בין</a:t>
            </a:r>
            <a:r>
              <a:rPr dirty="0"/>
              <a:t> </a:t>
            </a:r>
            <a:r>
              <a:rPr dirty="0" err="1"/>
              <a:t>הקמפיינים</a:t>
            </a:r>
            <a:r>
              <a:rPr dirty="0"/>
              <a:t>.</a:t>
            </a:r>
          </a:p>
          <a:p>
            <a:pPr algn="r" rtl="1"/>
            <a:r>
              <a:rPr dirty="0" err="1"/>
              <a:t>אפשר</a:t>
            </a:r>
            <a:r>
              <a:rPr dirty="0"/>
              <a:t> </a:t>
            </a:r>
            <a:r>
              <a:rPr dirty="0" err="1"/>
              <a:t>לומר</a:t>
            </a:r>
            <a:r>
              <a:rPr dirty="0"/>
              <a:t> </a:t>
            </a:r>
            <a:r>
              <a:rPr dirty="0" err="1"/>
              <a:t>בהצגה</a:t>
            </a:r>
            <a:r>
              <a:rPr dirty="0"/>
              <a:t>: </a:t>
            </a:r>
            <a:r>
              <a:rPr dirty="0" err="1"/>
              <a:t>בדקנו</a:t>
            </a:r>
            <a:r>
              <a:rPr dirty="0"/>
              <a:t> </a:t>
            </a:r>
            <a:r>
              <a:rPr dirty="0" err="1"/>
              <a:t>אילו</a:t>
            </a:r>
            <a:r>
              <a:rPr dirty="0"/>
              <a:t> </a:t>
            </a:r>
            <a:r>
              <a:rPr dirty="0" err="1"/>
              <a:t>קבוצות</a:t>
            </a:r>
            <a:r>
              <a:rPr dirty="0"/>
              <a:t> </a:t>
            </a:r>
            <a:r>
              <a:rPr dirty="0" err="1"/>
              <a:t>מרכזות</a:t>
            </a:r>
            <a:r>
              <a:rPr dirty="0"/>
              <a:t> </a:t>
            </a:r>
            <a:r>
              <a:rPr dirty="0" err="1"/>
              <a:t>גם</a:t>
            </a:r>
            <a:r>
              <a:rPr dirty="0"/>
              <a:t> </a:t>
            </a:r>
            <a:r>
              <a:rPr dirty="0" err="1"/>
              <a:t>חשבונות</a:t>
            </a:r>
            <a:r>
              <a:rPr dirty="0"/>
              <a:t> </a:t>
            </a:r>
            <a:r>
              <a:rPr dirty="0" err="1"/>
              <a:t>של</a:t>
            </a:r>
            <a:r>
              <a:rPr dirty="0"/>
              <a:t> </a:t>
            </a:r>
            <a:r>
              <a:rPr dirty="0" err="1"/>
              <a:t>מבצע</a:t>
            </a:r>
            <a:r>
              <a:rPr dirty="0"/>
              <a:t> </a:t>
            </a:r>
            <a:r>
              <a:rPr dirty="0" err="1"/>
              <a:t>השפעה</a:t>
            </a:r>
            <a:r>
              <a:rPr dirty="0"/>
              <a:t> </a:t>
            </a:r>
            <a:r>
              <a:rPr dirty="0" err="1"/>
              <a:t>וגם</a:t>
            </a:r>
            <a:r>
              <a:rPr dirty="0"/>
              <a:t> </a:t>
            </a:r>
            <a:r>
              <a:rPr dirty="0" err="1"/>
              <a:t>פעילות</a:t>
            </a:r>
            <a:r>
              <a:rPr dirty="0"/>
              <a:t> </a:t>
            </a:r>
            <a:r>
              <a:rPr dirty="0" err="1"/>
              <a:t>בנושא</a:t>
            </a:r>
            <a:r>
              <a:rPr dirty="0"/>
              <a:t> </a:t>
            </a:r>
            <a:r>
              <a:rPr dirty="0" err="1"/>
              <a:t>משותף</a:t>
            </a:r>
            <a:r>
              <a:rPr dirty="0"/>
              <a:t>. </a:t>
            </a:r>
            <a:r>
              <a:rPr dirty="0" err="1"/>
              <a:t>קבוצות</a:t>
            </a:r>
            <a:r>
              <a:rPr dirty="0"/>
              <a:t> </a:t>
            </a:r>
            <a:r>
              <a:rPr dirty="0" err="1"/>
              <a:t>המבוססות</a:t>
            </a:r>
            <a:r>
              <a:rPr dirty="0"/>
              <a:t> </a:t>
            </a:r>
            <a:r>
              <a:rPr dirty="0" err="1"/>
              <a:t>על</a:t>
            </a:r>
            <a:r>
              <a:rPr dirty="0"/>
              <a:t> </a:t>
            </a:r>
            <a:r>
              <a:rPr dirty="0" err="1"/>
              <a:t>ליבה</a:t>
            </a:r>
            <a:r>
              <a:rPr dirty="0"/>
              <a:t> </a:t>
            </a:r>
            <a:r>
              <a:rPr dirty="0" err="1"/>
              <a:t>ושכנים</a:t>
            </a:r>
            <a:r>
              <a:rPr dirty="0"/>
              <a:t> </a:t>
            </a:r>
            <a:r>
              <a:rPr dirty="0" err="1"/>
              <a:t>ישירים</a:t>
            </a:r>
            <a:r>
              <a:rPr dirty="0"/>
              <a:t> </a:t>
            </a:r>
            <a:r>
              <a:rPr dirty="0" err="1"/>
              <a:t>סיפקו</a:t>
            </a:r>
            <a:r>
              <a:rPr dirty="0"/>
              <a:t> </a:t>
            </a:r>
            <a:r>
              <a:rPr dirty="0" err="1"/>
              <a:t>בסיס</a:t>
            </a:r>
            <a:r>
              <a:rPr dirty="0"/>
              <a:t> </a:t>
            </a:r>
            <a:r>
              <a:rPr dirty="0" err="1"/>
              <a:t>מועיל</a:t>
            </a:r>
            <a:r>
              <a:rPr dirty="0"/>
              <a:t> </a:t>
            </a:r>
            <a:r>
              <a:rPr dirty="0" err="1"/>
              <a:t>להמשך</a:t>
            </a:r>
            <a:r>
              <a:rPr dirty="0"/>
              <a:t> </a:t>
            </a:r>
            <a:r>
              <a:rPr dirty="0" err="1"/>
              <a:t>החקירה</a:t>
            </a:r>
            <a:r>
              <a:rPr dirty="0"/>
              <a:t>.</a:t>
            </a:r>
          </a:p>
          <a:p>
            <a:pPr algn="r" rtl="1"/>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lgn="r">
              <a:buNone/>
            </a:pPr>
            <a:r>
              <a:rPr b="1"/>
              <a:t>Source: Backbone_Graph (1).pdf, Figure 4 and Section 4.3, pp. 9–10.</a:t>
            </a:r>
          </a:p>
          <a:p>
            <a:pPr lvl="0" algn="r">
              <a:buNone/>
            </a:pPr>
            <a:r>
              <a:rPr b="1"/>
              <a:t>בשני חלקי האיור מוצג אותו גרף, עם אותם חשבונות ובאותם מיקומים. משמאל הצבע מייצג את מספר הליבה. מימין הצבע מייצג את תיוג האמת: אדום לחשבונות של מבצע השפעה וכחול לחשבונות ביקורת. אלה אינם צבעים של תחזיות המודל.</a:t>
            </a:r>
          </a:p>
          <a:p>
            <a:pPr lvl="0" algn="r">
              <a:buNone/>
            </a:pPr>
            <a:r>
              <a:rPr b="1"/>
              <a:t>אפשר לראות שאזורים בעלי מספר ליבה גבוה חופפים לריכוזים של חשבונות מבצע השפעה. זו המחשה מבנית לתפקיד האפשרי של המדד, לצד שאר המדדים שהוצגו. האיור אינו מסמן במפורש איזה רכיב נבחר לדוגמה, ואינו מוכיח שכל חשבון בליבה הוא חשבון של מבצע השפעה. בשקופית הבאה נסביר איך נבחר רכיב קשיר של 312 חשבונות מתוך הליבה המרבית, ולאחר מכן נבחן את התוכן שפורסם.</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783E6-A85C-4E94-BAD4-349975C5C1DC}"/>
              </a:ext>
            </a:extLst>
          </p:cNvPr>
          <p:cNvSpPr>
            <a:spLocks noGrp="1"/>
          </p:cNvSpPr>
          <p:nvPr>
            <p:ph type="ctrTitle"/>
          </p:nvPr>
        </p:nvSpPr>
        <p:spPr>
          <a:xfrm>
            <a:off x="1865376" y="1354011"/>
            <a:ext cx="9144000" cy="2387600"/>
          </a:xfrm>
        </p:spPr>
        <p:txBody>
          <a:bodyPr anchor="b">
            <a:normAutofit/>
          </a:bodyPr>
          <a:lstStyle>
            <a:lvl1pPr algn="l" defTabSz="914400" rtl="0" eaLnBrk="1" latinLnBrk="0" hangingPunct="1">
              <a:lnSpc>
                <a:spcPct val="90000"/>
              </a:lnSpc>
              <a:spcBef>
                <a:spcPct val="0"/>
              </a:spcBef>
              <a:buNone/>
              <a:defRPr lang="he-IL" sz="4800" kern="1200" dirty="0">
                <a:solidFill>
                  <a:srgbClr val="009DBB"/>
                </a:solidFill>
                <a:latin typeface="+mj-lt"/>
                <a:ea typeface="+mj-ea"/>
                <a:cs typeface="+mj-cs"/>
              </a:defRPr>
            </a:lvl1pPr>
          </a:lstStyle>
          <a:p>
            <a:r>
              <a:rPr lang="en-US" dirty="0"/>
              <a:t>Click to edit Master title style</a:t>
            </a:r>
            <a:endParaRPr lang="he-IL" dirty="0"/>
          </a:p>
        </p:txBody>
      </p:sp>
      <p:sp>
        <p:nvSpPr>
          <p:cNvPr id="3" name="Subtitle 2">
            <a:extLst>
              <a:ext uri="{FF2B5EF4-FFF2-40B4-BE49-F238E27FC236}">
                <a16:creationId xmlns:a16="http://schemas.microsoft.com/office/drawing/2014/main" id="{4DA3D7B5-5BE4-46C1-BA83-AEDFF303DE62}"/>
              </a:ext>
            </a:extLst>
          </p:cNvPr>
          <p:cNvSpPr>
            <a:spLocks noGrp="1"/>
          </p:cNvSpPr>
          <p:nvPr>
            <p:ph type="subTitle" idx="1"/>
          </p:nvPr>
        </p:nvSpPr>
        <p:spPr>
          <a:xfrm>
            <a:off x="1865376" y="4218431"/>
            <a:ext cx="9144000" cy="1374013"/>
          </a:xfrm>
        </p:spPr>
        <p:txBody>
          <a:bodyPr>
            <a:normAutofit/>
          </a:bodyPr>
          <a:lstStyle>
            <a:lvl1pPr marL="0" indent="0" algn="l">
              <a:buNone/>
              <a:defRPr lang="he-IL" sz="2000" kern="1200" dirty="0">
                <a:solidFill>
                  <a:schemeClr val="tx1">
                    <a:tint val="75000"/>
                  </a:schemeClr>
                </a:solidFill>
                <a:latin typeface="+mn-lt"/>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 Master subtitle style</a:t>
            </a:r>
            <a:endParaRPr lang="he-IL" dirty="0"/>
          </a:p>
        </p:txBody>
      </p:sp>
      <p:sp>
        <p:nvSpPr>
          <p:cNvPr id="4" name="Date Placeholder 3">
            <a:extLst>
              <a:ext uri="{FF2B5EF4-FFF2-40B4-BE49-F238E27FC236}">
                <a16:creationId xmlns:a16="http://schemas.microsoft.com/office/drawing/2014/main" id="{DE103C65-1526-4474-93EA-92201F973ADE}"/>
              </a:ext>
            </a:extLst>
          </p:cNvPr>
          <p:cNvSpPr>
            <a:spLocks noGrp="1"/>
          </p:cNvSpPr>
          <p:nvPr>
            <p:ph type="dt" sz="half" idx="10"/>
          </p:nvPr>
        </p:nvSpPr>
        <p:spPr/>
        <p:txBody>
          <a:bodyPr/>
          <a:lstStyle/>
          <a:p>
            <a:fld id="{FC6B3A86-AB79-4388-8CA5-9FC4B834779B}" type="datetime8">
              <a:rPr lang="he-IL" smtClean="0"/>
              <a:t>23 ספטמבר 26</a:t>
            </a:fld>
            <a:endParaRPr lang="he-IL"/>
          </a:p>
        </p:txBody>
      </p:sp>
      <p:sp>
        <p:nvSpPr>
          <p:cNvPr id="5" name="Footer Placeholder 4">
            <a:extLst>
              <a:ext uri="{FF2B5EF4-FFF2-40B4-BE49-F238E27FC236}">
                <a16:creationId xmlns:a16="http://schemas.microsoft.com/office/drawing/2014/main" id="{8984A285-90E9-4F27-9CCA-0A2DBEB472CE}"/>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B119B0E-8F10-4832-ADC3-EA2B0C4574BE}"/>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2061723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65C3A-1C12-429A-B672-CB062EE35E83}"/>
              </a:ext>
            </a:extLst>
          </p:cNvPr>
          <p:cNvSpPr>
            <a:spLocks noGrp="1"/>
          </p:cNvSpPr>
          <p:nvPr>
            <p:ph type="title"/>
          </p:nvPr>
        </p:nvSpPr>
        <p:spPr/>
        <p:txBody>
          <a:bodyPr/>
          <a:lstStyle/>
          <a:p>
            <a:r>
              <a:rPr lang="en-US" dirty="0"/>
              <a:t>Click to edit Master title style</a:t>
            </a:r>
            <a:endParaRPr lang="he-IL" dirty="0"/>
          </a:p>
        </p:txBody>
      </p:sp>
      <p:sp>
        <p:nvSpPr>
          <p:cNvPr id="3" name="Content Placeholder 2">
            <a:extLst>
              <a:ext uri="{FF2B5EF4-FFF2-40B4-BE49-F238E27FC236}">
                <a16:creationId xmlns:a16="http://schemas.microsoft.com/office/drawing/2014/main" id="{F002D984-D254-42A5-88FD-71A5B8FF61E1}"/>
              </a:ext>
            </a:extLst>
          </p:cNvPr>
          <p:cNvSpPr>
            <a:spLocks noGrp="1"/>
          </p:cNvSpPr>
          <p:nvPr>
            <p:ph idx="1"/>
          </p:nvPr>
        </p:nvSpPr>
        <p:spPr>
          <a:xfrm>
            <a:off x="1243087" y="1825625"/>
            <a:ext cx="10582656" cy="4351338"/>
          </a:xfrm>
        </p:spPr>
        <p:txBody>
          <a:bodyPr>
            <a:normAutofit/>
          </a:bodyPr>
          <a:lstStyle>
            <a:lvl1pPr>
              <a:defRPr sz="2400"/>
            </a:lvl1pPr>
            <a:lvl2pPr>
              <a:buFont typeface="Courier New" panose="02070309020205020404" pitchFamily="49" charset="0"/>
              <a:buChar char="o"/>
              <a:defRPr sz="2000"/>
            </a:lvl2pPr>
            <a:lvl3pPr>
              <a:buFont typeface="Wingdings" panose="05000000000000000000" pitchFamily="2" charset="2"/>
              <a:buChar char="Ø"/>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678C169-3299-4F42-91D0-7AF77E3982BA}"/>
              </a:ext>
            </a:extLst>
          </p:cNvPr>
          <p:cNvSpPr>
            <a:spLocks noGrp="1"/>
          </p:cNvSpPr>
          <p:nvPr>
            <p:ph type="dt" sz="half" idx="10"/>
          </p:nvPr>
        </p:nvSpPr>
        <p:spPr/>
        <p:txBody>
          <a:bodyPr/>
          <a:lstStyle/>
          <a:p>
            <a:fld id="{7634CBFB-2532-48BA-BAE2-ADD925390740}" type="datetime8">
              <a:rPr lang="he-IL" smtClean="0"/>
              <a:t>23 ספטמבר 26</a:t>
            </a:fld>
            <a:endParaRPr lang="he-IL"/>
          </a:p>
        </p:txBody>
      </p:sp>
      <p:sp>
        <p:nvSpPr>
          <p:cNvPr id="5" name="Footer Placeholder 4">
            <a:extLst>
              <a:ext uri="{FF2B5EF4-FFF2-40B4-BE49-F238E27FC236}">
                <a16:creationId xmlns:a16="http://schemas.microsoft.com/office/drawing/2014/main" id="{A602A088-F9A8-4123-A1D2-FE11250361A1}"/>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8AA253D-F657-44F9-AA3F-37F3CF175CEB}"/>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6145477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E174-92FD-46FC-9A31-EF351510250B}"/>
              </a:ext>
            </a:extLst>
          </p:cNvPr>
          <p:cNvSpPr>
            <a:spLocks noGrp="1"/>
          </p:cNvSpPr>
          <p:nvPr>
            <p:ph type="title"/>
          </p:nvPr>
        </p:nvSpPr>
        <p:spPr>
          <a:xfrm>
            <a:off x="1479550" y="1709738"/>
            <a:ext cx="7852146" cy="2852737"/>
          </a:xfrm>
        </p:spPr>
        <p:txBody>
          <a:bodyPr anchor="b">
            <a:normAutofit/>
          </a:bodyPr>
          <a:lstStyle>
            <a:lvl1pPr>
              <a:defRPr sz="5400"/>
            </a:lvl1p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BA261C8F-4A58-4042-B898-A57C837DF59F}"/>
              </a:ext>
            </a:extLst>
          </p:cNvPr>
          <p:cNvSpPr>
            <a:spLocks noGrp="1"/>
          </p:cNvSpPr>
          <p:nvPr>
            <p:ph type="body" idx="1"/>
          </p:nvPr>
        </p:nvSpPr>
        <p:spPr>
          <a:xfrm>
            <a:off x="14795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A46B49A7-5C76-42AD-8811-4CADE0447CB6}"/>
              </a:ext>
            </a:extLst>
          </p:cNvPr>
          <p:cNvSpPr>
            <a:spLocks noGrp="1"/>
          </p:cNvSpPr>
          <p:nvPr>
            <p:ph type="dt" sz="half" idx="10"/>
          </p:nvPr>
        </p:nvSpPr>
        <p:spPr/>
        <p:txBody>
          <a:bodyPr/>
          <a:lstStyle/>
          <a:p>
            <a:fld id="{8EAC1FDD-37C4-4A6B-BF31-779943CE32CF}" type="datetime8">
              <a:rPr lang="he-IL" smtClean="0"/>
              <a:t>23 ספטמבר 26</a:t>
            </a:fld>
            <a:endParaRPr lang="he-IL"/>
          </a:p>
        </p:txBody>
      </p:sp>
      <p:sp>
        <p:nvSpPr>
          <p:cNvPr id="5" name="Footer Placeholder 4">
            <a:extLst>
              <a:ext uri="{FF2B5EF4-FFF2-40B4-BE49-F238E27FC236}">
                <a16:creationId xmlns:a16="http://schemas.microsoft.com/office/drawing/2014/main" id="{0BBF3F55-C2A3-4A87-96C0-A01E9BCA6660}"/>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177976F6-B98E-4B7D-839A-27BF9494420D}"/>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499088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15C3C-CE9E-4F7A-B728-9A335B51FB27}"/>
              </a:ext>
            </a:extLst>
          </p:cNvPr>
          <p:cNvSpPr>
            <a:spLocks noGrp="1"/>
          </p:cNvSpPr>
          <p:nvPr>
            <p:ph type="title" hasCustomPrompt="1"/>
          </p:nvPr>
        </p:nvSpPr>
        <p:spPr/>
        <p:txBody>
          <a:bodyPr/>
          <a:lstStyle>
            <a:lvl1pPr>
              <a:defRPr/>
            </a:lvl1pPr>
          </a:lstStyle>
          <a:p>
            <a:r>
              <a:rPr lang="en-US" dirty="0"/>
              <a:t>Click to edit Master title style </a:t>
            </a:r>
            <a:endParaRPr lang="he-IL" dirty="0"/>
          </a:p>
        </p:txBody>
      </p:sp>
      <p:sp>
        <p:nvSpPr>
          <p:cNvPr id="3" name="Content Placeholder 2">
            <a:extLst>
              <a:ext uri="{FF2B5EF4-FFF2-40B4-BE49-F238E27FC236}">
                <a16:creationId xmlns:a16="http://schemas.microsoft.com/office/drawing/2014/main" id="{62B48EB9-480D-4A31-8BC3-B899B4AABD3A}"/>
              </a:ext>
            </a:extLst>
          </p:cNvPr>
          <p:cNvSpPr>
            <a:spLocks noGrp="1"/>
          </p:cNvSpPr>
          <p:nvPr>
            <p:ph sz="half" idx="1"/>
          </p:nvPr>
        </p:nvSpPr>
        <p:spPr>
          <a:xfrm>
            <a:off x="1236991" y="1821101"/>
            <a:ext cx="5181600" cy="4351338"/>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Content Placeholder 3">
            <a:extLst>
              <a:ext uri="{FF2B5EF4-FFF2-40B4-BE49-F238E27FC236}">
                <a16:creationId xmlns:a16="http://schemas.microsoft.com/office/drawing/2014/main" id="{D2CAF003-9AC3-4B4C-A1AA-89972395A094}"/>
              </a:ext>
            </a:extLst>
          </p:cNvPr>
          <p:cNvSpPr>
            <a:spLocks noGrp="1"/>
          </p:cNvSpPr>
          <p:nvPr>
            <p:ph sz="half" idx="2"/>
          </p:nvPr>
        </p:nvSpPr>
        <p:spPr>
          <a:xfrm>
            <a:off x="6570991" y="1821101"/>
            <a:ext cx="51816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FB39E07C-7B13-4A7C-AEAC-814BACFD917D}"/>
              </a:ext>
            </a:extLst>
          </p:cNvPr>
          <p:cNvSpPr>
            <a:spLocks noGrp="1"/>
          </p:cNvSpPr>
          <p:nvPr>
            <p:ph type="dt" sz="half" idx="10"/>
          </p:nvPr>
        </p:nvSpPr>
        <p:spPr/>
        <p:txBody>
          <a:bodyPr/>
          <a:lstStyle/>
          <a:p>
            <a:fld id="{C73C226C-A76A-4927-8F1D-1BD4AC033ABB}" type="datetime8">
              <a:rPr lang="he-IL" smtClean="0"/>
              <a:t>23 ספטמבר 26</a:t>
            </a:fld>
            <a:endParaRPr lang="he-IL"/>
          </a:p>
        </p:txBody>
      </p:sp>
      <p:sp>
        <p:nvSpPr>
          <p:cNvPr id="6" name="Footer Placeholder 5">
            <a:extLst>
              <a:ext uri="{FF2B5EF4-FFF2-40B4-BE49-F238E27FC236}">
                <a16:creationId xmlns:a16="http://schemas.microsoft.com/office/drawing/2014/main" id="{4936D24B-DA20-4CC6-87E7-866505B0C57D}"/>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5BBE9C41-8689-47B3-A905-634220202EE1}"/>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237299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DD0EE-D523-4780-A9CF-B6EE518CD287}"/>
              </a:ext>
            </a:extLst>
          </p:cNvPr>
          <p:cNvSpPr>
            <a:spLocks noGrp="1"/>
          </p:cNvSpPr>
          <p:nvPr>
            <p:ph type="title"/>
          </p:nvPr>
        </p:nvSpPr>
        <p:spPr>
          <a:xfrm>
            <a:off x="3083117" y="355600"/>
            <a:ext cx="8743124" cy="1325563"/>
          </a:xfrm>
        </p:spPr>
        <p:txBody>
          <a:bodyPr>
            <a:normAutofit/>
          </a:bodyPr>
          <a:lstStyle>
            <a:lvl1pPr algn="l" defTabSz="914400" rtl="0" eaLnBrk="1" latinLnBrk="0" hangingPunct="1">
              <a:lnSpc>
                <a:spcPct val="90000"/>
              </a:lnSpc>
              <a:spcBef>
                <a:spcPct val="0"/>
              </a:spcBef>
              <a:buNone/>
              <a:defRPr lang="he-IL" sz="4400" kern="1200" dirty="0">
                <a:solidFill>
                  <a:srgbClr val="009DBB"/>
                </a:solidFill>
                <a:latin typeface="+mj-lt"/>
                <a:ea typeface="+mj-ea"/>
                <a:cs typeface="+mj-cs"/>
              </a:defRPr>
            </a:lvl1p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09B6447D-A16E-4B99-8F74-2BA51BF54CAD}"/>
              </a:ext>
            </a:extLst>
          </p:cNvPr>
          <p:cNvSpPr>
            <a:spLocks noGrp="1"/>
          </p:cNvSpPr>
          <p:nvPr>
            <p:ph type="body" idx="1"/>
          </p:nvPr>
        </p:nvSpPr>
        <p:spPr>
          <a:xfrm>
            <a:off x="1053148" y="1717419"/>
            <a:ext cx="5157787" cy="823912"/>
          </a:xfrm>
        </p:spPr>
        <p:txBody>
          <a:bodyPr anchor="ctr">
            <a:noAutofit/>
          </a:bodyPr>
          <a:lstStyle>
            <a:lvl1pPr marL="0" indent="0" algn="ctr">
              <a:buNone/>
              <a:defRPr lang="en-US" sz="2400" kern="1200" dirty="0">
                <a:solidFill>
                  <a:srgbClr val="009DBB"/>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189B268A-D31A-4C35-948F-BF312EE597E7}"/>
              </a:ext>
            </a:extLst>
          </p:cNvPr>
          <p:cNvSpPr>
            <a:spLocks noGrp="1"/>
          </p:cNvSpPr>
          <p:nvPr>
            <p:ph sz="half" idx="2"/>
          </p:nvPr>
        </p:nvSpPr>
        <p:spPr>
          <a:xfrm>
            <a:off x="1053148" y="2511171"/>
            <a:ext cx="5157787" cy="3684588"/>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5" name="Text Placeholder 4">
            <a:extLst>
              <a:ext uri="{FF2B5EF4-FFF2-40B4-BE49-F238E27FC236}">
                <a16:creationId xmlns:a16="http://schemas.microsoft.com/office/drawing/2014/main" id="{17D0F3C6-09D4-4383-99DD-32F9053ACE28}"/>
              </a:ext>
            </a:extLst>
          </p:cNvPr>
          <p:cNvSpPr>
            <a:spLocks noGrp="1"/>
          </p:cNvSpPr>
          <p:nvPr>
            <p:ph type="body" sz="quarter" idx="3"/>
          </p:nvPr>
        </p:nvSpPr>
        <p:spPr>
          <a:xfrm>
            <a:off x="6641752" y="1717419"/>
            <a:ext cx="5183188" cy="823912"/>
          </a:xfrm>
        </p:spPr>
        <p:txBody>
          <a:bodyPr anchor="ctr">
            <a:noAutofit/>
          </a:bodyPr>
          <a:lstStyle>
            <a:lvl1pPr marL="0" indent="0" algn="ctr">
              <a:buNone/>
              <a:defRPr lang="en-US" sz="2400" kern="1200" dirty="0">
                <a:solidFill>
                  <a:srgbClr val="009DBB"/>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ctr" defTabSz="914400" rtl="0" eaLnBrk="1" latinLnBrk="0" hangingPunct="1">
              <a:lnSpc>
                <a:spcPct val="90000"/>
              </a:lnSpc>
              <a:spcBef>
                <a:spcPts val="1000"/>
              </a:spcBef>
              <a:buFont typeface="Arial" panose="020B0604020202020204" pitchFamily="34" charset="0"/>
              <a:buNone/>
            </a:pPr>
            <a:r>
              <a:rPr lang="en-US" dirty="0"/>
              <a:t>Click to edit Master text styles</a:t>
            </a:r>
          </a:p>
        </p:txBody>
      </p:sp>
      <p:sp>
        <p:nvSpPr>
          <p:cNvPr id="6" name="Content Placeholder 5">
            <a:extLst>
              <a:ext uri="{FF2B5EF4-FFF2-40B4-BE49-F238E27FC236}">
                <a16:creationId xmlns:a16="http://schemas.microsoft.com/office/drawing/2014/main" id="{EA91A8D3-C002-4BA1-96FF-375F70D21879}"/>
              </a:ext>
            </a:extLst>
          </p:cNvPr>
          <p:cNvSpPr>
            <a:spLocks noGrp="1"/>
          </p:cNvSpPr>
          <p:nvPr>
            <p:ph sz="quarter" idx="4"/>
          </p:nvPr>
        </p:nvSpPr>
        <p:spPr>
          <a:xfrm>
            <a:off x="6641752" y="2517267"/>
            <a:ext cx="5183188" cy="368458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1A5CAC5E-E4EB-4131-AAEF-73C3479688F4}"/>
              </a:ext>
            </a:extLst>
          </p:cNvPr>
          <p:cNvSpPr>
            <a:spLocks noGrp="1"/>
          </p:cNvSpPr>
          <p:nvPr>
            <p:ph type="dt" sz="half" idx="10"/>
          </p:nvPr>
        </p:nvSpPr>
        <p:spPr/>
        <p:txBody>
          <a:bodyPr/>
          <a:lstStyle/>
          <a:p>
            <a:fld id="{430DF2BF-D428-43E9-B36B-6DD16CF93579}" type="datetime8">
              <a:rPr lang="he-IL" smtClean="0"/>
              <a:t>23 ספטמבר 26</a:t>
            </a:fld>
            <a:endParaRPr lang="he-IL"/>
          </a:p>
        </p:txBody>
      </p:sp>
      <p:sp>
        <p:nvSpPr>
          <p:cNvPr id="8" name="Footer Placeholder 7">
            <a:extLst>
              <a:ext uri="{FF2B5EF4-FFF2-40B4-BE49-F238E27FC236}">
                <a16:creationId xmlns:a16="http://schemas.microsoft.com/office/drawing/2014/main" id="{5FEC57A3-285F-4D36-851E-593C5F2874FF}"/>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126F8AB8-B698-4176-96F8-B833FE013984}"/>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342569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FBF78-4DF0-407A-8E5A-BEF1E0D8B0F4}"/>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6C9A3A88-6914-48FB-BE6F-948C3C66FBB0}"/>
              </a:ext>
            </a:extLst>
          </p:cNvPr>
          <p:cNvSpPr>
            <a:spLocks noGrp="1"/>
          </p:cNvSpPr>
          <p:nvPr>
            <p:ph type="dt" sz="half" idx="10"/>
          </p:nvPr>
        </p:nvSpPr>
        <p:spPr/>
        <p:txBody>
          <a:bodyPr/>
          <a:lstStyle/>
          <a:p>
            <a:fld id="{390A9136-4922-4C74-B05C-12CD0951E601}" type="datetime8">
              <a:rPr lang="he-IL" smtClean="0"/>
              <a:t>23 ספטמבר 26</a:t>
            </a:fld>
            <a:endParaRPr lang="he-IL"/>
          </a:p>
        </p:txBody>
      </p:sp>
      <p:sp>
        <p:nvSpPr>
          <p:cNvPr id="4" name="Footer Placeholder 3">
            <a:extLst>
              <a:ext uri="{FF2B5EF4-FFF2-40B4-BE49-F238E27FC236}">
                <a16:creationId xmlns:a16="http://schemas.microsoft.com/office/drawing/2014/main" id="{D350A1D4-4FBF-400A-B2CE-30A42EF7FB3C}"/>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DD8B1F93-B2D0-4E42-B3CE-E85D6FC90C39}"/>
              </a:ext>
            </a:extLst>
          </p:cNvPr>
          <p:cNvSpPr>
            <a:spLocks noGrp="1"/>
          </p:cNvSpPr>
          <p:nvPr>
            <p:ph type="sldNum" sz="quarter" idx="12"/>
          </p:nvPr>
        </p:nvSpPr>
        <p:spPr>
          <a:xfrm>
            <a:off x="11728704" y="6452457"/>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7885006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213734-3C5F-473D-9DD6-0C484ADFB555}"/>
              </a:ext>
            </a:extLst>
          </p:cNvPr>
          <p:cNvSpPr>
            <a:spLocks noGrp="1"/>
          </p:cNvSpPr>
          <p:nvPr>
            <p:ph type="dt" sz="half" idx="10"/>
          </p:nvPr>
        </p:nvSpPr>
        <p:spPr/>
        <p:txBody>
          <a:bodyPr/>
          <a:lstStyle/>
          <a:p>
            <a:fld id="{C29F3CA8-2E63-412C-AA06-0D760EBE5965}" type="datetime8">
              <a:rPr lang="he-IL" smtClean="0"/>
              <a:t>23 ספטמבר 26</a:t>
            </a:fld>
            <a:endParaRPr lang="he-IL"/>
          </a:p>
        </p:txBody>
      </p:sp>
      <p:sp>
        <p:nvSpPr>
          <p:cNvPr id="3" name="Footer Placeholder 2">
            <a:extLst>
              <a:ext uri="{FF2B5EF4-FFF2-40B4-BE49-F238E27FC236}">
                <a16:creationId xmlns:a16="http://schemas.microsoft.com/office/drawing/2014/main" id="{8F48D2E8-A18C-4B06-AF11-07B4F9C53F0A}"/>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C5A7CBE2-2F2D-43B9-8BC3-25BA1DDA4021}"/>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4078659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80516-8B4A-495E-BFE5-33BF2DA504BD}"/>
              </a:ext>
            </a:extLst>
          </p:cNvPr>
          <p:cNvSpPr>
            <a:spLocks noGrp="1"/>
          </p:cNvSpPr>
          <p:nvPr>
            <p:ph type="title"/>
          </p:nvPr>
        </p:nvSpPr>
        <p:spPr>
          <a:xfrm>
            <a:off x="1912684" y="981329"/>
            <a:ext cx="3932237" cy="1600200"/>
          </a:xfrm>
        </p:spPr>
        <p:txBody>
          <a:bodyPr anchor="b"/>
          <a:lstStyle>
            <a:lvl1pPr>
              <a:defRPr sz="3200"/>
            </a:lvl1pPr>
          </a:lstStyle>
          <a:p>
            <a:r>
              <a:rPr lang="en-US" dirty="0"/>
              <a:t>Click to edit Master title style</a:t>
            </a:r>
            <a:endParaRPr lang="he-IL" dirty="0"/>
          </a:p>
        </p:txBody>
      </p:sp>
      <p:sp>
        <p:nvSpPr>
          <p:cNvPr id="3" name="Content Placeholder 2">
            <a:extLst>
              <a:ext uri="{FF2B5EF4-FFF2-40B4-BE49-F238E27FC236}">
                <a16:creationId xmlns:a16="http://schemas.microsoft.com/office/drawing/2014/main" id="{36353460-117E-457C-9F0F-1AA7B34F212D}"/>
              </a:ext>
            </a:extLst>
          </p:cNvPr>
          <p:cNvSpPr>
            <a:spLocks noGrp="1"/>
          </p:cNvSpPr>
          <p:nvPr>
            <p:ph idx="1"/>
          </p:nvPr>
        </p:nvSpPr>
        <p:spPr>
          <a:xfrm>
            <a:off x="5920804" y="987425"/>
            <a:ext cx="6172200"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Text Placeholder 3">
            <a:extLst>
              <a:ext uri="{FF2B5EF4-FFF2-40B4-BE49-F238E27FC236}">
                <a16:creationId xmlns:a16="http://schemas.microsoft.com/office/drawing/2014/main" id="{283E485A-1FF8-4FDD-A659-6ACC79989968}"/>
              </a:ext>
            </a:extLst>
          </p:cNvPr>
          <p:cNvSpPr>
            <a:spLocks noGrp="1"/>
          </p:cNvSpPr>
          <p:nvPr>
            <p:ph type="body" sz="half" idx="2"/>
          </p:nvPr>
        </p:nvSpPr>
        <p:spPr>
          <a:xfrm>
            <a:off x="1912684" y="2581529"/>
            <a:ext cx="3932237" cy="329514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31A78A4-064B-49BB-9360-FC686D8B5A2C}"/>
              </a:ext>
            </a:extLst>
          </p:cNvPr>
          <p:cNvSpPr>
            <a:spLocks noGrp="1"/>
          </p:cNvSpPr>
          <p:nvPr>
            <p:ph type="dt" sz="half" idx="10"/>
          </p:nvPr>
        </p:nvSpPr>
        <p:spPr/>
        <p:txBody>
          <a:bodyPr/>
          <a:lstStyle/>
          <a:p>
            <a:fld id="{7AC7B867-AA4A-4FF3-AD8B-0AD0F18EE595}" type="datetime8">
              <a:rPr lang="he-IL" smtClean="0"/>
              <a:t>23 ספטמבר 26</a:t>
            </a:fld>
            <a:endParaRPr lang="he-IL"/>
          </a:p>
        </p:txBody>
      </p:sp>
      <p:sp>
        <p:nvSpPr>
          <p:cNvPr id="6" name="Footer Placeholder 5">
            <a:extLst>
              <a:ext uri="{FF2B5EF4-FFF2-40B4-BE49-F238E27FC236}">
                <a16:creationId xmlns:a16="http://schemas.microsoft.com/office/drawing/2014/main" id="{3CD0114A-6704-44C0-BCAE-EAB756E64776}"/>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3E98D20-B7C4-4CE0-812C-9B6976E08A8C}"/>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312465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181F6-3528-4A38-B435-490FC2AFC360}"/>
              </a:ext>
            </a:extLst>
          </p:cNvPr>
          <p:cNvSpPr>
            <a:spLocks noGrp="1"/>
          </p:cNvSpPr>
          <p:nvPr>
            <p:ph type="title"/>
          </p:nvPr>
        </p:nvSpPr>
        <p:spPr>
          <a:xfrm>
            <a:off x="2127173" y="987424"/>
            <a:ext cx="3932237" cy="1069975"/>
          </a:xfrm>
        </p:spPr>
        <p:txBody>
          <a:bodyPr anchor="b"/>
          <a:lstStyle>
            <a:lvl1pPr>
              <a:defRPr sz="3200"/>
            </a:lvl1pPr>
          </a:lstStyle>
          <a:p>
            <a:r>
              <a:rPr lang="en-US" dirty="0"/>
              <a:t>Click to edit Master title style</a:t>
            </a:r>
            <a:endParaRPr lang="he-IL" dirty="0"/>
          </a:p>
        </p:txBody>
      </p:sp>
      <p:sp>
        <p:nvSpPr>
          <p:cNvPr id="3" name="Picture Placeholder 2">
            <a:extLst>
              <a:ext uri="{FF2B5EF4-FFF2-40B4-BE49-F238E27FC236}">
                <a16:creationId xmlns:a16="http://schemas.microsoft.com/office/drawing/2014/main" id="{AE7A6AE1-0DCE-4A5A-AC24-95C331B15D57}"/>
              </a:ext>
            </a:extLst>
          </p:cNvPr>
          <p:cNvSpPr>
            <a:spLocks noGrp="1"/>
          </p:cNvSpPr>
          <p:nvPr>
            <p:ph type="pic" idx="1"/>
          </p:nvPr>
        </p:nvSpPr>
        <p:spPr>
          <a:xfrm>
            <a:off x="6096000" y="987425"/>
            <a:ext cx="5259387" cy="4873625"/>
          </a:xfrm>
        </p:spPr>
        <p:txBody>
          <a:bodyPr>
            <a:normAutofit/>
          </a:bodyPr>
          <a:lstStyle>
            <a:lvl1pPr marL="0" indent="0">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dirty="0"/>
          </a:p>
        </p:txBody>
      </p:sp>
      <p:sp>
        <p:nvSpPr>
          <p:cNvPr id="4" name="Text Placeholder 3">
            <a:extLst>
              <a:ext uri="{FF2B5EF4-FFF2-40B4-BE49-F238E27FC236}">
                <a16:creationId xmlns:a16="http://schemas.microsoft.com/office/drawing/2014/main" id="{24CD3E13-E71C-4EE3-BA14-54D61F7290F0}"/>
              </a:ext>
            </a:extLst>
          </p:cNvPr>
          <p:cNvSpPr>
            <a:spLocks noGrp="1"/>
          </p:cNvSpPr>
          <p:nvPr>
            <p:ph type="body" sz="half" idx="2"/>
          </p:nvPr>
        </p:nvSpPr>
        <p:spPr>
          <a:xfrm>
            <a:off x="2127173" y="2057400"/>
            <a:ext cx="3932237" cy="3811588"/>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3A2D14-BF1B-420A-B0DF-91CD6E771237}"/>
              </a:ext>
            </a:extLst>
          </p:cNvPr>
          <p:cNvSpPr>
            <a:spLocks noGrp="1"/>
          </p:cNvSpPr>
          <p:nvPr>
            <p:ph type="dt" sz="half" idx="10"/>
          </p:nvPr>
        </p:nvSpPr>
        <p:spPr/>
        <p:txBody>
          <a:bodyPr/>
          <a:lstStyle/>
          <a:p>
            <a:fld id="{F5E9EBD3-88E8-46DB-BD3B-F935B7013014}" type="datetime8">
              <a:rPr lang="he-IL" smtClean="0"/>
              <a:t>23 ספטמבר 26</a:t>
            </a:fld>
            <a:endParaRPr lang="he-IL"/>
          </a:p>
        </p:txBody>
      </p:sp>
      <p:sp>
        <p:nvSpPr>
          <p:cNvPr id="6" name="Footer Placeholder 5">
            <a:extLst>
              <a:ext uri="{FF2B5EF4-FFF2-40B4-BE49-F238E27FC236}">
                <a16:creationId xmlns:a16="http://schemas.microsoft.com/office/drawing/2014/main" id="{C0227BD5-73FD-47B4-BCDF-92BB6EA156CF}"/>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4E5EAC3-6043-41F9-B8D4-7F41DABB26A7}"/>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372402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CA57A-6715-4A64-AF19-74F32284171F}"/>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A7D19522-954F-44AB-A8B2-881237A98ACD}"/>
              </a:ext>
            </a:extLst>
          </p:cNvPr>
          <p:cNvSpPr>
            <a:spLocks noGrp="1"/>
          </p:cNvSpPr>
          <p:nvPr>
            <p:ph type="body" orient="vert" idx="1"/>
          </p:nvPr>
        </p:nvSpPr>
        <p:spPr/>
        <p:txBody>
          <a:bodyPr vert="eaVert">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3CC7FD09-CBF4-4ADA-B2BB-979C1F74B252}"/>
              </a:ext>
            </a:extLst>
          </p:cNvPr>
          <p:cNvSpPr>
            <a:spLocks noGrp="1"/>
          </p:cNvSpPr>
          <p:nvPr>
            <p:ph type="dt" sz="half" idx="10"/>
          </p:nvPr>
        </p:nvSpPr>
        <p:spPr/>
        <p:txBody>
          <a:bodyPr/>
          <a:lstStyle/>
          <a:p>
            <a:fld id="{18F56BC8-8E7D-4896-9980-77BC87FB8E3E}" type="datetime8">
              <a:rPr lang="he-IL" smtClean="0"/>
              <a:t>23 ספטמבר 26</a:t>
            </a:fld>
            <a:endParaRPr lang="he-IL"/>
          </a:p>
        </p:txBody>
      </p:sp>
      <p:sp>
        <p:nvSpPr>
          <p:cNvPr id="5" name="Footer Placeholder 4">
            <a:extLst>
              <a:ext uri="{FF2B5EF4-FFF2-40B4-BE49-F238E27FC236}">
                <a16:creationId xmlns:a16="http://schemas.microsoft.com/office/drawing/2014/main" id="{7A3DEA1C-6A3E-4E8A-94C4-85129424B90B}"/>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A81897DB-9E67-41A9-B2B3-D6E613340B7A}"/>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1651003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7C7D7B8-0F66-43EC-B9A2-C261F37BC432}"/>
              </a:ext>
            </a:extLst>
          </p:cNvPr>
          <p:cNvSpPr>
            <a:spLocks noGrp="1"/>
          </p:cNvSpPr>
          <p:nvPr>
            <p:ph type="title" orient="vert"/>
          </p:nvPr>
        </p:nvSpPr>
        <p:spPr>
          <a:xfrm>
            <a:off x="8724900" y="365125"/>
            <a:ext cx="2628900" cy="5811838"/>
          </a:xfrm>
        </p:spPr>
        <p:txBody>
          <a:bodyPr vert="eaVert"/>
          <a:lstStyle/>
          <a:p>
            <a:r>
              <a:rPr lang="en-US" dirty="0"/>
              <a:t>Click to edit Master title style</a:t>
            </a:r>
            <a:endParaRPr lang="he-IL" dirty="0"/>
          </a:p>
        </p:txBody>
      </p:sp>
      <p:sp>
        <p:nvSpPr>
          <p:cNvPr id="3" name="Vertical Text Placeholder 2">
            <a:extLst>
              <a:ext uri="{FF2B5EF4-FFF2-40B4-BE49-F238E27FC236}">
                <a16:creationId xmlns:a16="http://schemas.microsoft.com/office/drawing/2014/main" id="{360B89D3-E69A-49EE-8D8C-EAC8400E34B6}"/>
              </a:ext>
            </a:extLst>
          </p:cNvPr>
          <p:cNvSpPr>
            <a:spLocks noGrp="1"/>
          </p:cNvSpPr>
          <p:nvPr>
            <p:ph type="body" orient="vert" idx="1"/>
          </p:nvPr>
        </p:nvSpPr>
        <p:spPr>
          <a:xfrm>
            <a:off x="1310142" y="365125"/>
            <a:ext cx="7262357" cy="5811838"/>
          </a:xfrm>
        </p:spPr>
        <p:txBody>
          <a:bodyPr vert="eaVert">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B0A9B41-D269-4701-B27C-CDDBCF201A07}"/>
              </a:ext>
            </a:extLst>
          </p:cNvPr>
          <p:cNvSpPr>
            <a:spLocks noGrp="1"/>
          </p:cNvSpPr>
          <p:nvPr>
            <p:ph type="dt" sz="half" idx="10"/>
          </p:nvPr>
        </p:nvSpPr>
        <p:spPr/>
        <p:txBody>
          <a:bodyPr/>
          <a:lstStyle/>
          <a:p>
            <a:fld id="{0FE327C8-CB36-417E-834B-544633ADCE63}" type="datetime8">
              <a:rPr lang="he-IL" smtClean="0"/>
              <a:t>23 ספטמבר 26</a:t>
            </a:fld>
            <a:endParaRPr lang="he-IL"/>
          </a:p>
        </p:txBody>
      </p:sp>
      <p:sp>
        <p:nvSpPr>
          <p:cNvPr id="5" name="Footer Placeholder 4">
            <a:extLst>
              <a:ext uri="{FF2B5EF4-FFF2-40B4-BE49-F238E27FC236}">
                <a16:creationId xmlns:a16="http://schemas.microsoft.com/office/drawing/2014/main" id="{6CBD14E7-5E00-4D30-9BDD-9B32BEA0F91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8C81914F-9592-4EB2-998B-B922F8A28199}"/>
              </a:ext>
            </a:extLst>
          </p:cNvPr>
          <p:cNvSpPr>
            <a:spLocks noGrp="1"/>
          </p:cNvSpPr>
          <p:nvPr>
            <p:ph type="sldNum" sz="quarter" idx="12"/>
          </p:nvPr>
        </p:nvSpPr>
        <p:spPr>
          <a:xfrm>
            <a:off x="11728704" y="6464649"/>
            <a:ext cx="452233" cy="365125"/>
          </a:xfrm>
        </p:spPr>
        <p:txBody>
          <a:bodyPr/>
          <a:lstStyle/>
          <a:p>
            <a:fld id="{E6AB8EDD-9EF2-4633-A1C2-4D908C1019B4}" type="slidenum">
              <a:rPr lang="he-IL" smtClean="0"/>
              <a:t>‹#›</a:t>
            </a:fld>
            <a:endParaRPr lang="he-IL"/>
          </a:p>
        </p:txBody>
      </p:sp>
    </p:spTree>
    <p:extLst>
      <p:ext uri="{BB962C8B-B14F-4D97-AF65-F5344CB8AC3E}">
        <p14:creationId xmlns:p14="http://schemas.microsoft.com/office/powerpoint/2010/main" val="261555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Workflow">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9072684E-6693-F58C-BC24-150353E83C70}"/>
              </a:ext>
            </a:extLst>
          </p:cNvPr>
          <p:cNvSpPr>
            <a:spLocks noGrp="1"/>
          </p:cNvSpPr>
          <p:nvPr>
            <p:ph type="dt" sz="half" idx="10"/>
          </p:nvPr>
        </p:nvSpPr>
        <p:spPr/>
        <p:txBody>
          <a:bodyPr/>
          <a:lstStyle/>
          <a:p>
            <a:fld id="{8E065D1C-C98B-44F5-AB2A-FEE3E85D0A94}" type="datetime8">
              <a:rPr lang="he-IL" smtClean="0"/>
              <a:t>23 ספטמבר 26</a:t>
            </a:fld>
            <a:endParaRPr lang="he-IL"/>
          </a:p>
        </p:txBody>
      </p:sp>
      <p:sp>
        <p:nvSpPr>
          <p:cNvPr id="4" name="Footer Placeholder 3">
            <a:extLst>
              <a:ext uri="{FF2B5EF4-FFF2-40B4-BE49-F238E27FC236}">
                <a16:creationId xmlns:a16="http://schemas.microsoft.com/office/drawing/2014/main" id="{212C0620-C9BE-4C99-2D6C-A02A9A6778BE}"/>
              </a:ext>
            </a:extLst>
          </p:cNvPr>
          <p:cNvSpPr>
            <a:spLocks noGrp="1"/>
          </p:cNvSpPr>
          <p:nvPr>
            <p:ph type="ftr" sz="quarter" idx="11"/>
          </p:nvPr>
        </p:nvSpPr>
        <p:spPr/>
        <p:txBody>
          <a:bodyPr/>
          <a:lstStyle/>
          <a:p>
            <a:endParaRPr lang="he-IL" dirty="0"/>
          </a:p>
        </p:txBody>
      </p:sp>
      <p:sp>
        <p:nvSpPr>
          <p:cNvPr id="5" name="Slide Number Placeholder 4">
            <a:extLst>
              <a:ext uri="{FF2B5EF4-FFF2-40B4-BE49-F238E27FC236}">
                <a16:creationId xmlns:a16="http://schemas.microsoft.com/office/drawing/2014/main" id="{8748F728-5692-0756-E6BD-FFB67E1A33CD}"/>
              </a:ext>
            </a:extLst>
          </p:cNvPr>
          <p:cNvSpPr>
            <a:spLocks noGrp="1"/>
          </p:cNvSpPr>
          <p:nvPr>
            <p:ph type="sldNum" sz="quarter" idx="12"/>
          </p:nvPr>
        </p:nvSpPr>
        <p:spPr/>
        <p:txBody>
          <a:bodyPr/>
          <a:lstStyle/>
          <a:p>
            <a:fld id="{E6AB8EDD-9EF2-4633-A1C2-4D908C1019B4}" type="slidenum">
              <a:rPr lang="he-IL" smtClean="0"/>
              <a:pPr/>
              <a:t>‹#›</a:t>
            </a:fld>
            <a:endParaRPr lang="he-IL" dirty="0"/>
          </a:p>
        </p:txBody>
      </p:sp>
      <p:pic>
        <p:nvPicPr>
          <p:cNvPr id="7" name="Picture 6" descr="A document with text on it&#10;&#10;AI-generated content may be incorrect.">
            <a:extLst>
              <a:ext uri="{FF2B5EF4-FFF2-40B4-BE49-F238E27FC236}">
                <a16:creationId xmlns:a16="http://schemas.microsoft.com/office/drawing/2014/main" id="{221434F7-1295-8CB3-5E53-891A52C3D78D}"/>
              </a:ext>
            </a:extLst>
          </p:cNvPr>
          <p:cNvPicPr>
            <a:picLocks noChangeAspect="1"/>
          </p:cNvPicPr>
          <p:nvPr userDrawn="1"/>
        </p:nvPicPr>
        <p:blipFill>
          <a:blip r:embed="rId2">
            <a:extLst>
              <a:ext uri="{28A0092B-C50C-407E-A947-70E740481C1C}">
                <a14:useLocalDpi xmlns:a14="http://schemas.microsoft.com/office/drawing/2010/main" val="0"/>
              </a:ext>
            </a:extLst>
          </a:blip>
          <a:srcRect l="11606" t="8664" r="8034" b="78094"/>
          <a:stretch>
            <a:fillRect/>
          </a:stretch>
        </p:blipFill>
        <p:spPr>
          <a:xfrm>
            <a:off x="1038256" y="2478278"/>
            <a:ext cx="10821413" cy="2294289"/>
          </a:xfrm>
          <a:prstGeom prst="rect">
            <a:avLst/>
          </a:prstGeom>
        </p:spPr>
      </p:pic>
      <p:sp>
        <p:nvSpPr>
          <p:cNvPr id="11" name="TextBox 10">
            <a:extLst>
              <a:ext uri="{FF2B5EF4-FFF2-40B4-BE49-F238E27FC236}">
                <a16:creationId xmlns:a16="http://schemas.microsoft.com/office/drawing/2014/main" id="{3DFF33BC-21D6-16B0-C505-3CEE5CDF6D13}"/>
              </a:ext>
            </a:extLst>
          </p:cNvPr>
          <p:cNvSpPr txBox="1"/>
          <p:nvPr userDrawn="1"/>
        </p:nvSpPr>
        <p:spPr>
          <a:xfrm>
            <a:off x="3072268" y="679697"/>
            <a:ext cx="8753475" cy="769441"/>
          </a:xfrm>
          <a:prstGeom prst="rect">
            <a:avLst/>
          </a:prstGeom>
          <a:noFill/>
        </p:spPr>
        <p:txBody>
          <a:bodyPr wrap="square" rtlCol="0">
            <a:spAutoFit/>
          </a:bodyPr>
          <a:lstStyle/>
          <a:p>
            <a:r>
              <a:rPr lang="en-GB" sz="4400" b="0" kern="1200" dirty="0">
                <a:solidFill>
                  <a:srgbClr val="009DBB"/>
                </a:solidFill>
                <a:latin typeface="+mj-lt"/>
                <a:ea typeface="+mj-ea"/>
                <a:cs typeface="+mj-cs"/>
              </a:rPr>
              <a:t>Workflow</a:t>
            </a:r>
            <a:endParaRPr lang="en-IL" sz="4400" b="0" kern="1200" dirty="0">
              <a:solidFill>
                <a:srgbClr val="009DBB"/>
              </a:solidFill>
              <a:latin typeface="+mj-lt"/>
              <a:ea typeface="+mj-ea"/>
              <a:cs typeface="+mj-cs"/>
            </a:endParaRPr>
          </a:p>
        </p:txBody>
      </p:sp>
    </p:spTree>
    <p:extLst>
      <p:ext uri="{BB962C8B-B14F-4D97-AF65-F5344CB8AC3E}">
        <p14:creationId xmlns:p14="http://schemas.microsoft.com/office/powerpoint/2010/main" val="1912383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EEDABD8-1012-46AD-89C2-C8E4E06DB9B5}"/>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33375" y="0"/>
            <a:ext cx="12192000" cy="6858000"/>
          </a:xfrm>
          <a:prstGeom prst="rect">
            <a:avLst/>
          </a:prstGeom>
        </p:spPr>
      </p:pic>
      <p:sp>
        <p:nvSpPr>
          <p:cNvPr id="2" name="Title Placeholder 1">
            <a:extLst>
              <a:ext uri="{FF2B5EF4-FFF2-40B4-BE49-F238E27FC236}">
                <a16:creationId xmlns:a16="http://schemas.microsoft.com/office/drawing/2014/main" id="{47C9C71F-AAAB-425C-B1EA-7A7182DF4078}"/>
              </a:ext>
            </a:extLst>
          </p:cNvPr>
          <p:cNvSpPr>
            <a:spLocks noGrp="1"/>
          </p:cNvSpPr>
          <p:nvPr>
            <p:ph type="title"/>
          </p:nvPr>
        </p:nvSpPr>
        <p:spPr>
          <a:xfrm>
            <a:off x="3072268" y="401637"/>
            <a:ext cx="8753475" cy="1325563"/>
          </a:xfrm>
          <a:prstGeom prst="rect">
            <a:avLst/>
          </a:prstGeom>
        </p:spPr>
        <p:txBody>
          <a:bodyPr vert="horz" lIns="91440" tIns="45720" rIns="91440" bIns="45720" rtlCol="0" anchor="ctr">
            <a:normAutofit/>
          </a:bodyPr>
          <a:lstStyle/>
          <a:p>
            <a:r>
              <a:rPr lang="en-US" dirty="0"/>
              <a:t>Click to edit Master title style</a:t>
            </a:r>
            <a:endParaRPr lang="he-IL" dirty="0"/>
          </a:p>
        </p:txBody>
      </p:sp>
      <p:sp>
        <p:nvSpPr>
          <p:cNvPr id="3" name="Text Placeholder 2">
            <a:extLst>
              <a:ext uri="{FF2B5EF4-FFF2-40B4-BE49-F238E27FC236}">
                <a16:creationId xmlns:a16="http://schemas.microsoft.com/office/drawing/2014/main" id="{32EFA75E-5AAA-412B-BAE0-CF5F86B37FAD}"/>
              </a:ext>
            </a:extLst>
          </p:cNvPr>
          <p:cNvSpPr>
            <a:spLocks noGrp="1"/>
          </p:cNvSpPr>
          <p:nvPr>
            <p:ph type="body" idx="1"/>
          </p:nvPr>
        </p:nvSpPr>
        <p:spPr>
          <a:xfrm>
            <a:off x="1310143"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e-IL" dirty="0"/>
          </a:p>
        </p:txBody>
      </p:sp>
      <p:sp>
        <p:nvSpPr>
          <p:cNvPr id="4" name="Date Placeholder 3">
            <a:extLst>
              <a:ext uri="{FF2B5EF4-FFF2-40B4-BE49-F238E27FC236}">
                <a16:creationId xmlns:a16="http://schemas.microsoft.com/office/drawing/2014/main" id="{1D5198C1-7EB5-4CA4-98A0-2833A18F30E8}"/>
              </a:ext>
            </a:extLst>
          </p:cNvPr>
          <p:cNvSpPr>
            <a:spLocks noGrp="1"/>
          </p:cNvSpPr>
          <p:nvPr>
            <p:ph type="dt" sz="half" idx="2"/>
          </p:nvPr>
        </p:nvSpPr>
        <p:spPr>
          <a:xfrm>
            <a:off x="1310143"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65D1C-C98B-44F5-AB2A-FEE3E85D0A94}" type="datetime8">
              <a:rPr lang="he-IL" smtClean="0"/>
              <a:t>23 ספטמבר 26</a:t>
            </a:fld>
            <a:endParaRPr lang="he-IL"/>
          </a:p>
        </p:txBody>
      </p:sp>
      <p:sp>
        <p:nvSpPr>
          <p:cNvPr id="5" name="Footer Placeholder 4">
            <a:extLst>
              <a:ext uri="{FF2B5EF4-FFF2-40B4-BE49-F238E27FC236}">
                <a16:creationId xmlns:a16="http://schemas.microsoft.com/office/drawing/2014/main" id="{E8897CC5-2317-4D8E-8C89-E7B89F4BE955}"/>
              </a:ext>
            </a:extLst>
          </p:cNvPr>
          <p:cNvSpPr>
            <a:spLocks noGrp="1"/>
          </p:cNvSpPr>
          <p:nvPr>
            <p:ph type="ftr" sz="quarter" idx="3"/>
          </p:nvPr>
        </p:nvSpPr>
        <p:spPr>
          <a:xfrm>
            <a:off x="4510543"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e-IL"/>
          </a:p>
        </p:txBody>
      </p:sp>
      <p:sp>
        <p:nvSpPr>
          <p:cNvPr id="6" name="Slide Number Placeholder 5">
            <a:extLst>
              <a:ext uri="{FF2B5EF4-FFF2-40B4-BE49-F238E27FC236}">
                <a16:creationId xmlns:a16="http://schemas.microsoft.com/office/drawing/2014/main" id="{25F048FF-C291-43F3-A9DD-3B48AE56F5BB}"/>
              </a:ext>
            </a:extLst>
          </p:cNvPr>
          <p:cNvSpPr>
            <a:spLocks noGrp="1"/>
          </p:cNvSpPr>
          <p:nvPr>
            <p:ph type="sldNum" sz="quarter" idx="4"/>
          </p:nvPr>
        </p:nvSpPr>
        <p:spPr>
          <a:xfrm>
            <a:off x="11728704" y="6476841"/>
            <a:ext cx="45223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E6AB8EDD-9EF2-4633-A1C2-4D908C1019B4}" type="slidenum">
              <a:rPr lang="he-IL" smtClean="0"/>
              <a:pPr/>
              <a:t>‹#›</a:t>
            </a:fld>
            <a:endParaRPr lang="he-IL" dirty="0"/>
          </a:p>
        </p:txBody>
      </p:sp>
      <p:pic>
        <p:nvPicPr>
          <p:cNvPr id="8" name="Picture 7">
            <a:extLst>
              <a:ext uri="{FF2B5EF4-FFF2-40B4-BE49-F238E27FC236}">
                <a16:creationId xmlns:a16="http://schemas.microsoft.com/office/drawing/2014/main" id="{B61D43D3-8C77-B77A-1D9D-8CDC43D8429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052957" y="6139952"/>
            <a:ext cx="2642865" cy="797919"/>
          </a:xfrm>
          <a:prstGeom prst="rect">
            <a:avLst/>
          </a:prstGeom>
        </p:spPr>
      </p:pic>
    </p:spTree>
    <p:extLst>
      <p:ext uri="{BB962C8B-B14F-4D97-AF65-F5344CB8AC3E}">
        <p14:creationId xmlns:p14="http://schemas.microsoft.com/office/powerpoint/2010/main" val="195335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rgbClr val="009DBB"/>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8.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27BDFED6-6E33-4606-AFE2-886ADB1C01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2" name="Picture 1" descr="A green object on a black surface&#10;&#10;Description automatically generated with low confidence">
            <a:extLst>
              <a:ext uri="{FF2B5EF4-FFF2-40B4-BE49-F238E27FC236}">
                <a16:creationId xmlns:a16="http://schemas.microsoft.com/office/drawing/2014/main" id="{3CB67A20-DF50-FA5C-9F89-051979AEC244}"/>
              </a:ext>
            </a:extLst>
          </p:cNvPr>
          <p:cNvPicPr>
            <a:picLocks noChangeAspect="1"/>
          </p:cNvPicPr>
          <p:nvPr/>
        </p:nvPicPr>
        <p:blipFill rotWithShape="1">
          <a:blip r:embed="rId2">
            <a:extLst>
              <a:ext uri="{28A0092B-C50C-407E-A947-70E740481C1C}">
                <a14:useLocalDpi xmlns:a14="http://schemas.microsoft.com/office/drawing/2010/main" val="0"/>
              </a:ext>
            </a:extLst>
          </a:blip>
          <a:srcRect t="20416" r="11818" b="26261"/>
          <a:stretch/>
        </p:blipFill>
        <p:spPr>
          <a:xfrm>
            <a:off x="4547937" y="0"/>
            <a:ext cx="7644062" cy="3656797"/>
          </a:xfrm>
          <a:prstGeom prst="rect">
            <a:avLst/>
          </a:prstGeom>
        </p:spPr>
      </p:pic>
      <p:pic>
        <p:nvPicPr>
          <p:cNvPr id="10" name="Picture 9">
            <a:extLst>
              <a:ext uri="{FF2B5EF4-FFF2-40B4-BE49-F238E27FC236}">
                <a16:creationId xmlns:a16="http://schemas.microsoft.com/office/drawing/2014/main" id="{A6F2EE9F-F796-A6BB-3045-695978EABEE3}"/>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t="18830" r="-1" b="7292"/>
          <a:stretch/>
        </p:blipFill>
        <p:spPr>
          <a:xfrm>
            <a:off x="4547938" y="3681409"/>
            <a:ext cx="7644062" cy="3176595"/>
          </a:xfrm>
          <a:prstGeom prst="rect">
            <a:avLst/>
          </a:prstGeom>
        </p:spPr>
      </p:pic>
      <p:sp>
        <p:nvSpPr>
          <p:cNvPr id="19" name="Rectangle 18">
            <a:extLst>
              <a:ext uri="{FF2B5EF4-FFF2-40B4-BE49-F238E27FC236}">
                <a16:creationId xmlns:a16="http://schemas.microsoft.com/office/drawing/2014/main" id="{890DEF05-784E-4B61-89E4-04C4ECF4E5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36000">
                <a:schemeClr val="tx1">
                  <a:lumMod val="95000"/>
                  <a:lumOff val="5000"/>
                </a:schemeClr>
              </a:gs>
              <a:gs pos="81000">
                <a:schemeClr val="tx1">
                  <a:lumMod val="95000"/>
                  <a:lumOff val="5000"/>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F8220BDD-53D9-474C-9782-2415C685DF93}"/>
              </a:ext>
            </a:extLst>
          </p:cNvPr>
          <p:cNvSpPr>
            <a:spLocks noGrp="1"/>
          </p:cNvSpPr>
          <p:nvPr>
            <p:ph type="ctrTitle"/>
          </p:nvPr>
        </p:nvSpPr>
        <p:spPr>
          <a:xfrm>
            <a:off x="838199" y="1956582"/>
            <a:ext cx="6234954" cy="1724819"/>
          </a:xfrm>
        </p:spPr>
        <p:txBody>
          <a:bodyPr>
            <a:noAutofit/>
          </a:bodyPr>
          <a:lstStyle/>
          <a:p>
            <a:r>
              <a:rPr lang="en-GB" sz="4000" dirty="0">
                <a:solidFill>
                  <a:schemeClr val="bg1"/>
                </a:solidFill>
              </a:rPr>
              <a:t>I Can See </a:t>
            </a:r>
            <a:r>
              <a:rPr lang="en-GB" sz="4000" b="1" dirty="0">
                <a:solidFill>
                  <a:srgbClr val="FF0000"/>
                </a:solidFill>
              </a:rPr>
              <a:t>U</a:t>
            </a:r>
            <a:r>
              <a:rPr lang="en-GB" sz="4000" b="1" dirty="0">
                <a:solidFill>
                  <a:schemeClr val="bg1"/>
                </a:solidFill>
              </a:rPr>
              <a:t>.</a:t>
            </a:r>
            <a:br>
              <a:rPr lang="en-GB" sz="4000" dirty="0">
                <a:solidFill>
                  <a:schemeClr val="bg1"/>
                </a:solidFill>
              </a:rPr>
            </a:br>
            <a:r>
              <a:rPr lang="en-GB" sz="2400" dirty="0">
                <a:solidFill>
                  <a:schemeClr val="bg1"/>
                </a:solidFill>
              </a:rPr>
              <a:t>Indicator-Based Information Operation Detection and Topic-Aware Group Analysis</a:t>
            </a:r>
            <a:endParaRPr lang="en-US" sz="4000" dirty="0">
              <a:solidFill>
                <a:schemeClr val="bg1"/>
              </a:solidFill>
            </a:endParaRPr>
          </a:p>
        </p:txBody>
      </p:sp>
      <p:sp>
        <p:nvSpPr>
          <p:cNvPr id="6" name="Subtitle 5">
            <a:extLst>
              <a:ext uri="{FF2B5EF4-FFF2-40B4-BE49-F238E27FC236}">
                <a16:creationId xmlns:a16="http://schemas.microsoft.com/office/drawing/2014/main" id="{B553B468-8035-4F27-9A10-D7A4E7C759F1}"/>
              </a:ext>
            </a:extLst>
          </p:cNvPr>
          <p:cNvSpPr>
            <a:spLocks noGrp="1"/>
          </p:cNvSpPr>
          <p:nvPr>
            <p:ph type="subTitle" idx="1"/>
          </p:nvPr>
        </p:nvSpPr>
        <p:spPr>
          <a:xfrm>
            <a:off x="838200" y="3824627"/>
            <a:ext cx="4361329" cy="1917801"/>
          </a:xfrm>
        </p:spPr>
        <p:txBody>
          <a:bodyPr>
            <a:noAutofit/>
          </a:bodyPr>
          <a:lstStyle/>
          <a:p>
            <a:r>
              <a:rPr lang="en-US" b="1" dirty="0">
                <a:solidFill>
                  <a:prstClr val="white"/>
                </a:solidFill>
              </a:rPr>
              <a:t>23.09.2026</a:t>
            </a:r>
          </a:p>
          <a:p>
            <a:r>
              <a:rPr lang="en-US" dirty="0"/>
              <a:t>Amit Ner Gaon, Noa Tal, Idan </a:t>
            </a:r>
            <a:r>
              <a:rPr lang="en-GB" dirty="0"/>
              <a:t>Muallem</a:t>
            </a:r>
            <a:endParaRPr lang="en-US" dirty="0"/>
          </a:p>
          <a:p>
            <a:r>
              <a:rPr lang="en-US" dirty="0"/>
              <a:t>Prof. Rami </a:t>
            </a:r>
            <a:r>
              <a:rPr lang="en-US" dirty="0" err="1"/>
              <a:t>Puzis</a:t>
            </a:r>
            <a:endParaRPr lang="en-IL" dirty="0"/>
          </a:p>
          <a:p>
            <a:endParaRPr lang="en-US" b="1" dirty="0">
              <a:solidFill>
                <a:prstClr val="white"/>
              </a:solidFill>
            </a:endParaRPr>
          </a:p>
        </p:txBody>
      </p:sp>
      <p:cxnSp>
        <p:nvCxnSpPr>
          <p:cNvPr id="21" name="Straight Connector 20">
            <a:extLst>
              <a:ext uri="{FF2B5EF4-FFF2-40B4-BE49-F238E27FC236}">
                <a16:creationId xmlns:a16="http://schemas.microsoft.com/office/drawing/2014/main" id="{C41BAEC7-F7B0-4224-8B18-8F74B7D87F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3681408"/>
            <a:ext cx="11353799"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1D9E9033-B890-41F0-A499-F7F83D1F0E70}"/>
              </a:ext>
            </a:extLst>
          </p:cNvPr>
          <p:cNvSpPr>
            <a:spLocks noGrp="1"/>
          </p:cNvSpPr>
          <p:nvPr>
            <p:ph type="sldNum" sz="quarter" idx="12"/>
          </p:nvPr>
        </p:nvSpPr>
        <p:spPr>
          <a:xfrm>
            <a:off x="8610600" y="6356350"/>
            <a:ext cx="27432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E6AB8EDD-9EF2-4633-A1C2-4D908C1019B4}" type="slidenum">
              <a:rPr kumimoji="0" lang="he-IL" sz="1200" b="0" i="0" u="none" strike="noStrike" kern="1200" cap="none" spc="0" normalizeH="0" baseline="0" noProof="0">
                <a:ln>
                  <a:noFill/>
                </a:ln>
                <a:solidFill>
                  <a:srgbClr val="FFFFFF"/>
                </a:solidFill>
                <a:effectLst/>
                <a:uLnTx/>
                <a:uFillTx/>
                <a:latin typeface="Calibri" panose="020F0502020204030204"/>
                <a:ea typeface="+mn-ea"/>
                <a:cs typeface="Arial" panose="020B0604020202020204" pitchFamily="34" charset="0"/>
              </a:rPr>
              <a:pPr marL="0" marR="0" lvl="0" indent="0" algn="ctr" defTabSz="914400" rtl="0" eaLnBrk="1" fontAlgn="auto" latinLnBrk="0" hangingPunct="1">
                <a:lnSpc>
                  <a:spcPct val="100000"/>
                </a:lnSpc>
                <a:spcBef>
                  <a:spcPts val="0"/>
                </a:spcBef>
                <a:spcAft>
                  <a:spcPts val="600"/>
                </a:spcAft>
                <a:buClrTx/>
                <a:buSzTx/>
                <a:buFontTx/>
                <a:buNone/>
                <a:tabLst/>
                <a:defRPr/>
              </a:pPr>
              <a:t>1</a:t>
            </a:fld>
            <a:endParaRPr kumimoji="0" lang="he-IL" sz="1200" b="0" i="0" u="none" strike="noStrike" kern="1200" cap="none" spc="0" normalizeH="0" baseline="0" noProof="0">
              <a:ln>
                <a:noFill/>
              </a:ln>
              <a:solidFill>
                <a:srgbClr val="FFFFFF"/>
              </a:solidFill>
              <a:effectLst/>
              <a:uLnTx/>
              <a:uFillTx/>
              <a:latin typeface="Calibri" panose="020F0502020204030204"/>
              <a:ea typeface="+mn-ea"/>
              <a:cs typeface="Arial" panose="020B0604020202020204" pitchFamily="34" charset="0"/>
            </a:endParaRPr>
          </a:p>
        </p:txBody>
      </p:sp>
      <p:sp>
        <p:nvSpPr>
          <p:cNvPr id="28" name="Title 4">
            <a:extLst>
              <a:ext uri="{FF2B5EF4-FFF2-40B4-BE49-F238E27FC236}">
                <a16:creationId xmlns:a16="http://schemas.microsoft.com/office/drawing/2014/main" id="{6D84A53B-A147-EEC0-9D81-D931915B4D17}"/>
              </a:ext>
            </a:extLst>
          </p:cNvPr>
          <p:cNvSpPr txBox="1">
            <a:spLocks/>
          </p:cNvSpPr>
          <p:nvPr/>
        </p:nvSpPr>
        <p:spPr>
          <a:xfrm>
            <a:off x="838200" y="3706020"/>
            <a:ext cx="3138714" cy="625462"/>
          </a:xfrm>
          <a:prstGeom prst="rect">
            <a:avLst/>
          </a:prstGeom>
        </p:spPr>
        <p:txBody>
          <a:bodyPr vert="horz" lIns="91440" tIns="45720" rIns="91440" bIns="45720" rtlCol="0" anchor="b">
            <a:normAutofit lnSpcReduction="10000"/>
          </a:bodyPr>
          <a:lstStyle>
            <a:lvl1pPr algn="l" defTabSz="914400" rtl="0" eaLnBrk="1" latinLnBrk="0" hangingPunct="1">
              <a:lnSpc>
                <a:spcPct val="90000"/>
              </a:lnSpc>
              <a:spcBef>
                <a:spcPct val="0"/>
              </a:spcBef>
              <a:buNone/>
              <a:defRPr lang="he-IL" sz="4800" kern="1200" dirty="0">
                <a:solidFill>
                  <a:srgbClr val="009DBB"/>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4000" b="0" i="0" u="none" strike="noStrike" kern="1200" cap="none" spc="0" normalizeH="0" baseline="0" noProof="0" dirty="0">
              <a:ln>
                <a:noFill/>
              </a:ln>
              <a:solidFill>
                <a:prstClr val="white"/>
              </a:solidFill>
              <a:effectLst/>
              <a:uLnTx/>
              <a:uFillTx/>
              <a:latin typeface="Calibri Light" panose="020F0302020204030204"/>
              <a:ea typeface="+mj-ea"/>
              <a:cs typeface="+mj-cs"/>
            </a:endParaRPr>
          </a:p>
        </p:txBody>
      </p:sp>
      <p:pic>
        <p:nvPicPr>
          <p:cNvPr id="3" name="Picture 2">
            <a:extLst>
              <a:ext uri="{FF2B5EF4-FFF2-40B4-BE49-F238E27FC236}">
                <a16:creationId xmlns:a16="http://schemas.microsoft.com/office/drawing/2014/main" id="{B9DE9F95-0435-3A81-61D6-23ED74B595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03" y="0"/>
            <a:ext cx="2642865" cy="797919"/>
          </a:xfrm>
          <a:prstGeom prst="rect">
            <a:avLst/>
          </a:prstGeom>
        </p:spPr>
      </p:pic>
    </p:spTree>
    <p:extLst>
      <p:ext uri="{BB962C8B-B14F-4D97-AF65-F5344CB8AC3E}">
        <p14:creationId xmlns:p14="http://schemas.microsoft.com/office/powerpoint/2010/main" val="132160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25F04-2075-5640-5DEC-3A75036277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4707E5-B275-6452-62FB-2B98BD269FB1}"/>
              </a:ext>
            </a:extLst>
          </p:cNvPr>
          <p:cNvSpPr>
            <a:spLocks noGrp="1"/>
          </p:cNvSpPr>
          <p:nvPr>
            <p:ph type="title"/>
          </p:nvPr>
        </p:nvSpPr>
        <p:spPr>
          <a:xfrm>
            <a:off x="3072268" y="401637"/>
            <a:ext cx="8753475" cy="1325563"/>
          </a:xfrm>
        </p:spPr>
        <p:txBody>
          <a:bodyPr anchor="ctr">
            <a:normAutofit/>
          </a:bodyPr>
          <a:lstStyle/>
          <a:p>
            <a:r>
              <a:rPr lang="en-IL" dirty="0"/>
              <a:t>Motivation</a:t>
            </a:r>
          </a:p>
        </p:txBody>
      </p:sp>
      <p:sp>
        <p:nvSpPr>
          <p:cNvPr id="3" name="Content Placeholder 2">
            <a:extLst>
              <a:ext uri="{FF2B5EF4-FFF2-40B4-BE49-F238E27FC236}">
                <a16:creationId xmlns:a16="http://schemas.microsoft.com/office/drawing/2014/main" id="{DFC11588-A0A9-88D4-64DC-E215A71D589A}"/>
              </a:ext>
            </a:extLst>
          </p:cNvPr>
          <p:cNvSpPr>
            <a:spLocks noGrp="1"/>
          </p:cNvSpPr>
          <p:nvPr>
            <p:ph sz="half" idx="1"/>
          </p:nvPr>
        </p:nvSpPr>
        <p:spPr>
          <a:xfrm>
            <a:off x="1236990" y="1821101"/>
            <a:ext cx="5944860" cy="4749032"/>
          </a:xfrm>
        </p:spPr>
        <p:txBody>
          <a:bodyPr>
            <a:noAutofit/>
          </a:bodyPr>
          <a:lstStyle/>
          <a:p>
            <a:r>
              <a:rPr lang="en-IL" sz="3000" dirty="0"/>
              <a:t>Social media platforms </a:t>
            </a:r>
            <a:r>
              <a:rPr lang="en-US" sz="3000" dirty="0"/>
              <a:t>are</a:t>
            </a:r>
            <a:r>
              <a:rPr lang="en-IL" sz="3000" dirty="0"/>
              <a:t> central spaces for public discourse</a:t>
            </a:r>
            <a:r>
              <a:rPr lang="en-US" sz="3000" dirty="0"/>
              <a:t>. </a:t>
            </a:r>
          </a:p>
          <a:p>
            <a:pPr marL="0" indent="0">
              <a:buNone/>
            </a:pPr>
            <a:r>
              <a:rPr lang="en-IL" sz="1400" dirty="0" err="1"/>
              <a:t>Seckin</a:t>
            </a:r>
            <a:r>
              <a:rPr lang="en-IL" sz="1400" dirty="0"/>
              <a:t> et al. (2025). “Sharing without clicking on news in social media.”</a:t>
            </a:r>
          </a:p>
          <a:p>
            <a:r>
              <a:rPr lang="en-GB" sz="3000" dirty="0"/>
              <a:t>Information operations (IOs) </a:t>
            </a:r>
            <a:r>
              <a:rPr lang="en-US" sz="3000" dirty="0"/>
              <a:t>exploit the </a:t>
            </a:r>
            <a:r>
              <a:rPr lang="en-IL" sz="3000" dirty="0"/>
              <a:t>openness</a:t>
            </a:r>
            <a:r>
              <a:rPr lang="en-US" sz="3000" dirty="0"/>
              <a:t> of social media</a:t>
            </a:r>
            <a:r>
              <a:rPr lang="en-IL" sz="3000" dirty="0"/>
              <a:t> to manipulate online </a:t>
            </a:r>
            <a:r>
              <a:rPr lang="en-US" sz="3000" dirty="0"/>
              <a:t>discourse, </a:t>
            </a:r>
            <a:r>
              <a:rPr lang="en-GB" sz="3000" dirty="0"/>
              <a:t>threatening </a:t>
            </a:r>
            <a:r>
              <a:rPr lang="en-IL" sz="3000" dirty="0"/>
              <a:t>democratic processes, public trust, and societal cohesion</a:t>
            </a:r>
            <a:r>
              <a:rPr lang="en-US" sz="3000" dirty="0"/>
              <a:t>.</a:t>
            </a:r>
          </a:p>
          <a:p>
            <a:pPr marL="0" indent="0">
              <a:buNone/>
            </a:pPr>
            <a:r>
              <a:rPr lang="en-IL" sz="1400" dirty="0"/>
              <a:t>Weedon et al. (2017), “Information Operations and Facebook”</a:t>
            </a:r>
          </a:p>
        </p:txBody>
      </p:sp>
      <p:pic>
        <p:nvPicPr>
          <p:cNvPr id="8" name="Picture 7">
            <a:extLst>
              <a:ext uri="{FF2B5EF4-FFF2-40B4-BE49-F238E27FC236}">
                <a16:creationId xmlns:a16="http://schemas.microsoft.com/office/drawing/2014/main" id="{4D1C13A7-1923-2D9F-B551-824B61A989A1}"/>
              </a:ext>
            </a:extLst>
          </p:cNvPr>
          <p:cNvPicPr>
            <a:picLocks noChangeAspect="1"/>
          </p:cNvPicPr>
          <p:nvPr/>
        </p:nvPicPr>
        <p:blipFill>
          <a:blip r:embed="rId2"/>
          <a:srcRect b="9582"/>
          <a:stretch>
            <a:fillRect/>
          </a:stretch>
        </p:blipFill>
        <p:spPr>
          <a:xfrm>
            <a:off x="7001397" y="1546558"/>
            <a:ext cx="5181600" cy="4210775"/>
          </a:xfrm>
          <a:prstGeom prst="rect">
            <a:avLst/>
          </a:prstGeom>
          <a:noFill/>
        </p:spPr>
      </p:pic>
      <p:sp>
        <p:nvSpPr>
          <p:cNvPr id="4" name="Slide Number Placeholder 3">
            <a:extLst>
              <a:ext uri="{FF2B5EF4-FFF2-40B4-BE49-F238E27FC236}">
                <a16:creationId xmlns:a16="http://schemas.microsoft.com/office/drawing/2014/main" id="{C0B5F257-DB4A-FAD3-2097-E17D9C5B1528}"/>
              </a:ext>
            </a:extLst>
          </p:cNvPr>
          <p:cNvSpPr>
            <a:spLocks noGrp="1"/>
          </p:cNvSpPr>
          <p:nvPr>
            <p:ph type="sldNum" sz="quarter" idx="12"/>
          </p:nvPr>
        </p:nvSpPr>
        <p:spPr>
          <a:xfrm>
            <a:off x="11728704" y="6464649"/>
            <a:ext cx="452233" cy="365125"/>
          </a:xfrm>
        </p:spPr>
        <p:txBody>
          <a:bodyPr anchor="ctr">
            <a:normAutofit/>
          </a:bodyPr>
          <a:lstStyle/>
          <a:p>
            <a:pPr>
              <a:spcAft>
                <a:spcPts val="600"/>
              </a:spcAft>
            </a:pPr>
            <a:fld id="{E6AB8EDD-9EF2-4633-A1C2-4D908C1019B4}" type="slidenum">
              <a:rPr lang="he-IL" smtClean="0"/>
              <a:pPr>
                <a:spcAft>
                  <a:spcPts val="600"/>
                </a:spcAft>
              </a:pPr>
              <a:t>2</a:t>
            </a:fld>
            <a:endParaRPr lang="he-IL"/>
          </a:p>
        </p:txBody>
      </p:sp>
    </p:spTree>
    <p:extLst>
      <p:ext uri="{BB962C8B-B14F-4D97-AF65-F5344CB8AC3E}">
        <p14:creationId xmlns:p14="http://schemas.microsoft.com/office/powerpoint/2010/main" val="39889438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552B6-F6A0-A5F8-3084-2EFDF779A0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383EA-9AD0-8D8C-EF0B-B6A71641A60E}"/>
              </a:ext>
            </a:extLst>
          </p:cNvPr>
          <p:cNvSpPr>
            <a:spLocks noGrp="1"/>
          </p:cNvSpPr>
          <p:nvPr>
            <p:ph type="title"/>
          </p:nvPr>
        </p:nvSpPr>
        <p:spPr/>
        <p:txBody>
          <a:bodyPr/>
          <a:lstStyle/>
          <a:p>
            <a:r>
              <a:rPr lang="en-US" dirty="0"/>
              <a:t>IO &amp; Coordination</a:t>
            </a:r>
            <a:endParaRPr lang="en-IL" dirty="0"/>
          </a:p>
        </p:txBody>
      </p:sp>
      <p:sp>
        <p:nvSpPr>
          <p:cNvPr id="3" name="Content Placeholder 2">
            <a:extLst>
              <a:ext uri="{FF2B5EF4-FFF2-40B4-BE49-F238E27FC236}">
                <a16:creationId xmlns:a16="http://schemas.microsoft.com/office/drawing/2014/main" id="{05C55DA2-E1AA-6D41-1CC8-89FE07E7563E}"/>
              </a:ext>
            </a:extLst>
          </p:cNvPr>
          <p:cNvSpPr>
            <a:spLocks noGrp="1"/>
          </p:cNvSpPr>
          <p:nvPr>
            <p:ph idx="1"/>
          </p:nvPr>
        </p:nvSpPr>
        <p:spPr>
          <a:xfrm>
            <a:off x="1243087" y="1825625"/>
            <a:ext cx="10582656" cy="2987007"/>
          </a:xfrm>
        </p:spPr>
        <p:txBody>
          <a:bodyPr>
            <a:normAutofit fontScale="92500" lnSpcReduction="20000"/>
          </a:bodyPr>
          <a:lstStyle/>
          <a:p>
            <a:r>
              <a:rPr lang="en-IL" sz="3200" dirty="0"/>
              <a:t>IO</a:t>
            </a:r>
            <a:r>
              <a:rPr lang="en-GB" sz="3200" dirty="0"/>
              <a:t>s</a:t>
            </a:r>
            <a:r>
              <a:rPr lang="en-IL" sz="3200" dirty="0"/>
              <a:t> rely on fleets of coordinated accounts acting toward a shared objective</a:t>
            </a:r>
            <a:r>
              <a:rPr lang="en-GB" sz="3200" dirty="0"/>
              <a:t>. Coordination is what amplifies their influence</a:t>
            </a:r>
            <a:r>
              <a:rPr lang="en-IL" sz="3200" dirty="0"/>
              <a:t>.</a:t>
            </a:r>
            <a:r>
              <a:rPr lang="en-US" sz="3200" dirty="0"/>
              <a:t> </a:t>
            </a:r>
          </a:p>
          <a:p>
            <a:pPr marL="0" indent="0">
              <a:buNone/>
            </a:pPr>
            <a:r>
              <a:rPr lang="en-IL" sz="1500" dirty="0"/>
              <a:t>Pacheco et al.</a:t>
            </a:r>
            <a:r>
              <a:rPr lang="en-US" sz="1500" dirty="0"/>
              <a:t> “</a:t>
            </a:r>
            <a:r>
              <a:rPr lang="en-IL" sz="1500" dirty="0"/>
              <a:t>Uncovering Coordinated Networks on Social Media: Methods and Case Studies</a:t>
            </a:r>
            <a:r>
              <a:rPr lang="en-US" sz="1500" dirty="0"/>
              <a:t>”</a:t>
            </a:r>
          </a:p>
          <a:p>
            <a:r>
              <a:rPr lang="en-IL" sz="3200" dirty="0"/>
              <a:t>Coordinated activity leaves observable traces of behavioural similarity</a:t>
            </a:r>
            <a:r>
              <a:rPr lang="en-US" sz="3200" dirty="0"/>
              <a:t>.</a:t>
            </a:r>
            <a:r>
              <a:rPr lang="en-IL" sz="3200" dirty="0"/>
              <a:t> </a:t>
            </a:r>
            <a:endParaRPr lang="en-US" sz="3200" dirty="0"/>
          </a:p>
          <a:p>
            <a:pPr marL="0" indent="0">
              <a:buNone/>
            </a:pPr>
            <a:r>
              <a:rPr lang="en-IL" sz="1500" dirty="0" err="1"/>
              <a:t>Luceri</a:t>
            </a:r>
            <a:r>
              <a:rPr lang="en-IL" sz="1500" dirty="0"/>
              <a:t> et al. (2024), “Unmasking the Web of Deceit: Uncovering Coordinated Activity to Expose Information Operations on Twitter”</a:t>
            </a:r>
            <a:endParaRPr lang="en-US" sz="1500" dirty="0"/>
          </a:p>
          <a:p>
            <a:r>
              <a:rPr lang="en-IL" sz="3200" dirty="0"/>
              <a:t>Therefore, </a:t>
            </a:r>
            <a:r>
              <a:rPr lang="en-IL" sz="3200" dirty="0">
                <a:solidFill>
                  <a:schemeClr val="accent6"/>
                </a:solidFill>
              </a:rPr>
              <a:t>identifying coordination is a key step toward detecting IO drivers.</a:t>
            </a:r>
          </a:p>
          <a:p>
            <a:endParaRPr lang="en-IL" sz="3200" dirty="0"/>
          </a:p>
        </p:txBody>
      </p:sp>
      <p:sp>
        <p:nvSpPr>
          <p:cNvPr id="4" name="Slide Number Placeholder 3">
            <a:extLst>
              <a:ext uri="{FF2B5EF4-FFF2-40B4-BE49-F238E27FC236}">
                <a16:creationId xmlns:a16="http://schemas.microsoft.com/office/drawing/2014/main" id="{9D0023A7-90B0-501B-17AB-CF4320671447}"/>
              </a:ext>
            </a:extLst>
          </p:cNvPr>
          <p:cNvSpPr>
            <a:spLocks noGrp="1"/>
          </p:cNvSpPr>
          <p:nvPr>
            <p:ph type="sldNum" sz="quarter" idx="12"/>
          </p:nvPr>
        </p:nvSpPr>
        <p:spPr/>
        <p:txBody>
          <a:bodyPr/>
          <a:lstStyle/>
          <a:p>
            <a:fld id="{E6AB8EDD-9EF2-4633-A1C2-4D908C1019B4}" type="slidenum">
              <a:rPr lang="he-IL" smtClean="0"/>
              <a:t>3</a:t>
            </a:fld>
            <a:endParaRPr lang="he-IL"/>
          </a:p>
        </p:txBody>
      </p:sp>
      <p:pic>
        <p:nvPicPr>
          <p:cNvPr id="7" name="Picture 2">
            <a:extLst>
              <a:ext uri="{FF2B5EF4-FFF2-40B4-BE49-F238E27FC236}">
                <a16:creationId xmlns:a16="http://schemas.microsoft.com/office/drawing/2014/main" id="{D85EB279-80AA-7F93-2976-F7AAA96AF9A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4253" b="2865"/>
          <a:stretch>
            <a:fillRect/>
          </a:stretch>
        </p:blipFill>
        <p:spPr bwMode="auto">
          <a:xfrm>
            <a:off x="3603428" y="4398614"/>
            <a:ext cx="4985144" cy="25562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96251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925B1-3CF4-8E9D-B717-3F99155A1E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F44515-512F-748F-F0F1-FE7A55624E8E}"/>
              </a:ext>
            </a:extLst>
          </p:cNvPr>
          <p:cNvSpPr>
            <a:spLocks noGrp="1"/>
          </p:cNvSpPr>
          <p:nvPr>
            <p:ph type="title"/>
          </p:nvPr>
        </p:nvSpPr>
        <p:spPr/>
        <p:txBody>
          <a:bodyPr/>
          <a:lstStyle/>
          <a:p>
            <a:r>
              <a:rPr lang="en-IL" dirty="0"/>
              <a:t>Related Work</a:t>
            </a:r>
          </a:p>
        </p:txBody>
      </p:sp>
      <p:sp>
        <p:nvSpPr>
          <p:cNvPr id="3" name="Content Placeholder 2">
            <a:extLst>
              <a:ext uri="{FF2B5EF4-FFF2-40B4-BE49-F238E27FC236}">
                <a16:creationId xmlns:a16="http://schemas.microsoft.com/office/drawing/2014/main" id="{E82B2338-DB07-7A9B-F0E9-C69CA320E15E}"/>
              </a:ext>
            </a:extLst>
          </p:cNvPr>
          <p:cNvSpPr>
            <a:spLocks noGrp="1"/>
          </p:cNvSpPr>
          <p:nvPr>
            <p:ph idx="1"/>
          </p:nvPr>
        </p:nvSpPr>
        <p:spPr>
          <a:xfrm>
            <a:off x="1243087" y="1825625"/>
            <a:ext cx="10582656" cy="4530351"/>
          </a:xfrm>
        </p:spPr>
        <p:txBody>
          <a:bodyPr>
            <a:normAutofit/>
          </a:bodyPr>
          <a:lstStyle/>
          <a:p>
            <a:pPr marL="0" indent="0">
              <a:buNone/>
            </a:pPr>
            <a:r>
              <a:rPr lang="en-IL" b="1" dirty="0"/>
              <a:t>IO-Driver Detection Methods:</a:t>
            </a:r>
          </a:p>
          <a:p>
            <a:pPr>
              <a:spcBef>
                <a:spcPts val="900"/>
              </a:spcBef>
            </a:pPr>
            <a:r>
              <a:rPr lang="en-IL" b="1" dirty="0"/>
              <a:t>Node-Local: </a:t>
            </a:r>
            <a:r>
              <a:rPr lang="en-IL" dirty="0"/>
              <a:t>detect suspicious users from their individual content, activity, and behaviour.</a:t>
            </a:r>
          </a:p>
          <a:p>
            <a:pPr marL="342900" indent="0">
              <a:buNone/>
            </a:pPr>
            <a:r>
              <a:rPr lang="en-IL" sz="1400" i="1" dirty="0">
                <a:solidFill>
                  <a:srgbClr val="7F7F7F"/>
                </a:solidFill>
              </a:rPr>
              <a:t>Tomaiuolo et al., A Survey on Troll Detection, Future Internet, 2020</a:t>
            </a:r>
          </a:p>
          <a:p>
            <a:pPr>
              <a:spcBef>
                <a:spcPts val="900"/>
              </a:spcBef>
            </a:pPr>
            <a:r>
              <a:rPr lang="en-IL" b="1" dirty="0"/>
              <a:t>Network-Based: </a:t>
            </a:r>
            <a:r>
              <a:rPr lang="en-IL" dirty="0"/>
              <a:t>detect coordinated groups from graph structure and behavioural similarity.</a:t>
            </a:r>
          </a:p>
          <a:p>
            <a:pPr marL="342900" indent="0">
              <a:buNone/>
            </a:pPr>
            <a:r>
              <a:rPr lang="en-IL" sz="1400" i="1" dirty="0">
                <a:solidFill>
                  <a:srgbClr val="7F7F7F"/>
                </a:solidFill>
              </a:rPr>
              <a:t>Pacheco et al., Uncovering Coordinated Networks on Social Media: Methods and Case Studies, ICWSM, 2021</a:t>
            </a:r>
          </a:p>
          <a:p>
            <a:pPr>
              <a:spcBef>
                <a:spcPts val="900"/>
              </a:spcBef>
            </a:pPr>
            <a:r>
              <a:rPr lang="en-IL" b="1" dirty="0"/>
              <a:t>Hybrid: </a:t>
            </a:r>
            <a:r>
              <a:rPr lang="en-IL" dirty="0"/>
              <a:t>combine user content with network information to detect IO drivers.</a:t>
            </a:r>
          </a:p>
          <a:p>
            <a:pPr marL="342900" indent="0">
              <a:buNone/>
            </a:pPr>
            <a:r>
              <a:rPr lang="en-IL" sz="1400" i="1" dirty="0">
                <a:solidFill>
                  <a:srgbClr val="7F7F7F"/>
                </a:solidFill>
              </a:rPr>
              <a:t>Minici et al., IOHunter: Graph Foundation Model to Uncover Online Information Operations, AAAI, 2025</a:t>
            </a:r>
          </a:p>
          <a:p>
            <a:pPr marL="0" indent="0" algn="ctr">
              <a:buNone/>
            </a:pPr>
            <a:r>
              <a:rPr lang="en-IL" sz="2000" b="1" dirty="0"/>
              <a:t>The gap: existing approaches either detect coordinated groups without quantifying each account’s depth of involvement, or implicitly encode structural embeddedness within black-box models. None provides an explicit, interpretable, account-level measure of coordination depth.</a:t>
            </a:r>
          </a:p>
        </p:txBody>
      </p:sp>
      <p:sp>
        <p:nvSpPr>
          <p:cNvPr id="4" name="Slide Number Placeholder 3">
            <a:extLst>
              <a:ext uri="{FF2B5EF4-FFF2-40B4-BE49-F238E27FC236}">
                <a16:creationId xmlns:a16="http://schemas.microsoft.com/office/drawing/2014/main" id="{5568B0A1-1249-8531-140A-79FDF456DD07}"/>
              </a:ext>
            </a:extLst>
          </p:cNvPr>
          <p:cNvSpPr>
            <a:spLocks noGrp="1"/>
          </p:cNvSpPr>
          <p:nvPr>
            <p:ph type="sldNum" sz="quarter" idx="12"/>
          </p:nvPr>
        </p:nvSpPr>
        <p:spPr/>
        <p:txBody>
          <a:bodyPr/>
          <a:lstStyle/>
          <a:p>
            <a:fld id="{E6AB8EDD-9EF2-4633-A1C2-4D908C1019B4}" type="slidenum">
              <a:rPr lang="he-IL" smtClean="0"/>
              <a:t>4</a:t>
            </a:fld>
            <a:endParaRPr lang="he-IL"/>
          </a:p>
        </p:txBody>
      </p:sp>
    </p:spTree>
    <p:extLst>
      <p:ext uri="{BB962C8B-B14F-4D97-AF65-F5344CB8AC3E}">
        <p14:creationId xmlns:p14="http://schemas.microsoft.com/office/powerpoint/2010/main" val="35684059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E7EBB-9ADD-4D81-20D6-6746201B9A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B3CD8-080B-AA20-3306-2F83ED29368C}"/>
              </a:ext>
            </a:extLst>
          </p:cNvPr>
          <p:cNvSpPr>
            <a:spLocks noGrp="1"/>
          </p:cNvSpPr>
          <p:nvPr>
            <p:ph type="title"/>
          </p:nvPr>
        </p:nvSpPr>
        <p:spPr/>
        <p:txBody>
          <a:bodyPr/>
          <a:lstStyle/>
          <a:p>
            <a:r>
              <a:rPr lang="en-IL" dirty="0"/>
              <a:t>Our Contributions</a:t>
            </a:r>
          </a:p>
        </p:txBody>
      </p:sp>
      <p:sp>
        <p:nvSpPr>
          <p:cNvPr id="3" name="Content Placeholder 2">
            <a:extLst>
              <a:ext uri="{FF2B5EF4-FFF2-40B4-BE49-F238E27FC236}">
                <a16:creationId xmlns:a16="http://schemas.microsoft.com/office/drawing/2014/main" id="{FDC9CE5C-A0DA-F3F6-800F-09B5FA1E5C43}"/>
              </a:ext>
            </a:extLst>
          </p:cNvPr>
          <p:cNvSpPr>
            <a:spLocks noGrp="1"/>
          </p:cNvSpPr>
          <p:nvPr>
            <p:ph idx="1"/>
          </p:nvPr>
        </p:nvSpPr>
        <p:spPr>
          <a:xfrm>
            <a:off x="1243087" y="1825625"/>
            <a:ext cx="10582656" cy="4769728"/>
          </a:xfrm>
        </p:spPr>
        <p:txBody>
          <a:bodyPr>
            <a:normAutofit/>
          </a:bodyPr>
          <a:lstStyle/>
          <a:p>
            <a:r>
              <a:rPr lang="en-IL" sz="4000" dirty="0"/>
              <a:t>An interpretable, indicator-based approach for account-level IO detection.</a:t>
            </a:r>
            <a:endParaRPr lang="en-US" sz="4000" dirty="0"/>
          </a:p>
          <a:p>
            <a:endParaRPr lang="en-IL" sz="4000" dirty="0"/>
          </a:p>
          <a:p>
            <a:r>
              <a:rPr lang="en-IL" sz="4000" dirty="0"/>
              <a:t>Topic-aware </a:t>
            </a:r>
            <a:r>
              <a:rPr lang="en-US" sz="4000" dirty="0"/>
              <a:t>Group </a:t>
            </a:r>
            <a:r>
              <a:rPr lang="en-IL" sz="4000" dirty="0"/>
              <a:t>analysis of the detected coordinated group (k-core), revealing the campaign’s agenda.</a:t>
            </a:r>
          </a:p>
        </p:txBody>
      </p:sp>
      <p:sp>
        <p:nvSpPr>
          <p:cNvPr id="4" name="Slide Number Placeholder 3">
            <a:extLst>
              <a:ext uri="{FF2B5EF4-FFF2-40B4-BE49-F238E27FC236}">
                <a16:creationId xmlns:a16="http://schemas.microsoft.com/office/drawing/2014/main" id="{82824614-B785-3AAF-F357-019EEE24257E}"/>
              </a:ext>
            </a:extLst>
          </p:cNvPr>
          <p:cNvSpPr>
            <a:spLocks noGrp="1"/>
          </p:cNvSpPr>
          <p:nvPr>
            <p:ph type="sldNum" sz="quarter" idx="12"/>
          </p:nvPr>
        </p:nvSpPr>
        <p:spPr/>
        <p:txBody>
          <a:bodyPr/>
          <a:lstStyle/>
          <a:p>
            <a:fld id="{E6AB8EDD-9EF2-4633-A1C2-4D908C1019B4}" type="slidenum">
              <a:rPr lang="he-IL" smtClean="0"/>
              <a:t>5</a:t>
            </a:fld>
            <a:endParaRPr lang="he-IL"/>
          </a:p>
        </p:txBody>
      </p:sp>
    </p:spTree>
    <p:extLst>
      <p:ext uri="{BB962C8B-B14F-4D97-AF65-F5344CB8AC3E}">
        <p14:creationId xmlns:p14="http://schemas.microsoft.com/office/powerpoint/2010/main" val="311971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3C2B-714F-79A6-069D-72EE11AD93E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2392E65-6C94-8CDE-41D1-EAE57436C5C8}"/>
              </a:ext>
            </a:extLst>
          </p:cNvPr>
          <p:cNvSpPr>
            <a:spLocks noGrp="1"/>
          </p:cNvSpPr>
          <p:nvPr>
            <p:ph type="title"/>
          </p:nvPr>
        </p:nvSpPr>
        <p:spPr>
          <a:xfrm>
            <a:off x="1479549" y="1709738"/>
            <a:ext cx="9914592" cy="2852737"/>
          </a:xfrm>
        </p:spPr>
        <p:txBody>
          <a:bodyPr/>
          <a:lstStyle/>
          <a:p>
            <a:br>
              <a:rPr lang="en-US" dirty="0"/>
            </a:br>
            <a:r>
              <a:rPr lang="en-US" dirty="0"/>
              <a:t>I</a:t>
            </a:r>
            <a:r>
              <a:rPr lang="en-IL" dirty="0" err="1"/>
              <a:t>nterpretable</a:t>
            </a:r>
            <a:r>
              <a:rPr lang="en-IL" dirty="0"/>
              <a:t> Indicators</a:t>
            </a:r>
          </a:p>
        </p:txBody>
      </p:sp>
      <p:sp>
        <p:nvSpPr>
          <p:cNvPr id="6" name="Text Placeholder 5">
            <a:extLst>
              <a:ext uri="{FF2B5EF4-FFF2-40B4-BE49-F238E27FC236}">
                <a16:creationId xmlns:a16="http://schemas.microsoft.com/office/drawing/2014/main" id="{96BA2255-BB39-901A-505B-15E837C908A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506A908-6CE4-A3F7-B678-941DAB5DDA32}"/>
              </a:ext>
            </a:extLst>
          </p:cNvPr>
          <p:cNvSpPr>
            <a:spLocks noGrp="1"/>
          </p:cNvSpPr>
          <p:nvPr>
            <p:ph type="sldNum" sz="quarter" idx="12"/>
          </p:nvPr>
        </p:nvSpPr>
        <p:spPr/>
        <p:txBody>
          <a:bodyPr/>
          <a:lstStyle/>
          <a:p>
            <a:fld id="{E6AB8EDD-9EF2-4633-A1C2-4D908C1019B4}" type="slidenum">
              <a:rPr lang="he-IL" smtClean="0"/>
              <a:t>6</a:t>
            </a:fld>
            <a:endParaRPr lang="he-IL"/>
          </a:p>
        </p:txBody>
      </p:sp>
    </p:spTree>
    <p:extLst>
      <p:ext uri="{BB962C8B-B14F-4D97-AF65-F5344CB8AC3E}">
        <p14:creationId xmlns:p14="http://schemas.microsoft.com/office/powerpoint/2010/main" val="270351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B6E49-358C-1C91-1495-06036A901D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9E1501-1E19-A862-A5FB-5BF4DE74B1BC}"/>
              </a:ext>
            </a:extLst>
          </p:cNvPr>
          <p:cNvSpPr>
            <a:spLocks noGrp="1"/>
          </p:cNvSpPr>
          <p:nvPr>
            <p:ph type="title"/>
          </p:nvPr>
        </p:nvSpPr>
        <p:spPr/>
        <p:txBody>
          <a:bodyPr/>
          <a:lstStyle/>
          <a:p>
            <a:r>
              <a:rPr lang="en-US" dirty="0"/>
              <a:t>Overview</a:t>
            </a:r>
            <a:endParaRPr lang="en-IL" dirty="0"/>
          </a:p>
        </p:txBody>
      </p:sp>
      <p:sp>
        <p:nvSpPr>
          <p:cNvPr id="3" name="Content Placeholder 2">
            <a:extLst>
              <a:ext uri="{FF2B5EF4-FFF2-40B4-BE49-F238E27FC236}">
                <a16:creationId xmlns:a16="http://schemas.microsoft.com/office/drawing/2014/main" id="{42C4B174-F87B-BC9E-382B-A5996C0E5A6B}"/>
              </a:ext>
            </a:extLst>
          </p:cNvPr>
          <p:cNvSpPr>
            <a:spLocks noGrp="1"/>
          </p:cNvSpPr>
          <p:nvPr>
            <p:ph idx="1"/>
          </p:nvPr>
        </p:nvSpPr>
        <p:spPr>
          <a:xfrm>
            <a:off x="1243087" y="1825625"/>
            <a:ext cx="10582656" cy="4769728"/>
          </a:xfrm>
        </p:spPr>
        <p:txBody>
          <a:bodyPr>
            <a:normAutofit fontScale="85000" lnSpcReduction="20000"/>
          </a:bodyPr>
          <a:lstStyle/>
          <a:p>
            <a:r>
              <a:rPr lang="en-IL" sz="3600" dirty="0"/>
              <a:t>Machine-learning models classify authors using feature vectors. Multiple indicators capture different aspects of author behaviour and may improve classification.</a:t>
            </a:r>
            <a:endParaRPr lang="en-US" sz="3600" dirty="0"/>
          </a:p>
          <a:p>
            <a:r>
              <a:rPr lang="en-IL" sz="3600" dirty="0"/>
              <a:t>Graph-Based Indicators</a:t>
            </a:r>
            <a:endParaRPr lang="en-US" sz="3600" dirty="0"/>
          </a:p>
          <a:p>
            <a:pPr lvl="1"/>
            <a:r>
              <a:rPr lang="en-US" sz="3200" b="1" dirty="0"/>
              <a:t> </a:t>
            </a:r>
            <a:r>
              <a:rPr lang="en-IL" sz="3200" b="1" dirty="0"/>
              <a:t>Quantitative:</a:t>
            </a:r>
            <a:r>
              <a:rPr lang="en-IL" sz="3200" dirty="0"/>
              <a:t> Core number, centralities, and PageRank measure an author’s structural importance.</a:t>
            </a:r>
            <a:endParaRPr lang="en-US" sz="3200" dirty="0"/>
          </a:p>
          <a:p>
            <a:pPr lvl="1"/>
            <a:r>
              <a:rPr lang="en-US" sz="3200" dirty="0"/>
              <a:t> </a:t>
            </a:r>
            <a:r>
              <a:rPr lang="en-IL" sz="3200" b="1" dirty="0"/>
              <a:t>Categorical:</a:t>
            </a:r>
            <a:r>
              <a:rPr lang="en-IL" sz="3200" dirty="0"/>
              <a:t> Community membership shows which </a:t>
            </a:r>
            <a:r>
              <a:rPr lang="en-GB" sz="3200" dirty="0"/>
              <a:t>neighbourhood</a:t>
            </a:r>
            <a:r>
              <a:rPr lang="en-IL" sz="3200" dirty="0"/>
              <a:t> the author belongs to.</a:t>
            </a:r>
            <a:endParaRPr lang="en-US" sz="3600" dirty="0"/>
          </a:p>
          <a:p>
            <a:r>
              <a:rPr lang="en-IL" sz="3600" dirty="0"/>
              <a:t>Topic-Based Indicators</a:t>
            </a:r>
            <a:endParaRPr lang="en-US" sz="3600" dirty="0"/>
          </a:p>
          <a:p>
            <a:pPr lvl="1"/>
            <a:r>
              <a:rPr lang="en-IL" sz="3200" b="1" dirty="0"/>
              <a:t>TF</a:t>
            </a:r>
            <a:r>
              <a:rPr lang="en-US" sz="3200" b="1" dirty="0"/>
              <a:t>-</a:t>
            </a:r>
            <a:r>
              <a:rPr lang="en-IL" sz="3200" b="1" dirty="0"/>
              <a:t>IDF</a:t>
            </a:r>
            <a:r>
              <a:rPr lang="en-US" sz="3200" b="1" dirty="0"/>
              <a:t> </a:t>
            </a:r>
            <a:r>
              <a:rPr lang="en-IL" sz="3200" b="1" dirty="0"/>
              <a:t>based:</a:t>
            </a:r>
            <a:r>
              <a:rPr lang="en-IL" sz="3200" dirty="0"/>
              <a:t> Key score measures how strongly the author uses important entities.</a:t>
            </a:r>
            <a:r>
              <a:rPr lang="en-US" sz="3200" dirty="0"/>
              <a:t> (TF IDF is explained in the next slide)</a:t>
            </a:r>
          </a:p>
          <a:p>
            <a:pPr lvl="1"/>
            <a:r>
              <a:rPr lang="en-US" sz="3200" b="1" dirty="0"/>
              <a:t>Posting-based</a:t>
            </a:r>
            <a:r>
              <a:rPr lang="en-IL" sz="3200" b="1" dirty="0"/>
              <a:t>:</a:t>
            </a:r>
            <a:r>
              <a:rPr lang="en-IL" sz="3200" dirty="0"/>
              <a:t> Posting </a:t>
            </a:r>
            <a:r>
              <a:rPr lang="en-US" sz="3200" dirty="0"/>
              <a:t>activity and distribution across topics </a:t>
            </a:r>
            <a:r>
              <a:rPr lang="en-IL" sz="3200" dirty="0"/>
              <a:t>describe </a:t>
            </a:r>
            <a:r>
              <a:rPr lang="en-US" sz="3200" dirty="0"/>
              <a:t>how and what the </a:t>
            </a:r>
            <a:r>
              <a:rPr lang="en-IL" sz="3200" dirty="0"/>
              <a:t>author posts about</a:t>
            </a:r>
            <a:r>
              <a:rPr lang="en-US" sz="3200" dirty="0"/>
              <a:t>.</a:t>
            </a:r>
            <a:r>
              <a:rPr lang="en-IL" sz="3200" dirty="0"/>
              <a:t> </a:t>
            </a:r>
            <a:endParaRPr lang="en-US" sz="3200" dirty="0"/>
          </a:p>
          <a:p>
            <a:pPr lvl="1"/>
            <a:endParaRPr lang="en-US" sz="3200" dirty="0"/>
          </a:p>
        </p:txBody>
      </p:sp>
      <p:sp>
        <p:nvSpPr>
          <p:cNvPr id="4" name="Slide Number Placeholder 3">
            <a:extLst>
              <a:ext uri="{FF2B5EF4-FFF2-40B4-BE49-F238E27FC236}">
                <a16:creationId xmlns:a16="http://schemas.microsoft.com/office/drawing/2014/main" id="{BCE1BB48-E83E-BAE3-A307-B85C0F925F84}"/>
              </a:ext>
            </a:extLst>
          </p:cNvPr>
          <p:cNvSpPr>
            <a:spLocks noGrp="1"/>
          </p:cNvSpPr>
          <p:nvPr>
            <p:ph type="sldNum" sz="quarter" idx="12"/>
          </p:nvPr>
        </p:nvSpPr>
        <p:spPr/>
        <p:txBody>
          <a:bodyPr/>
          <a:lstStyle/>
          <a:p>
            <a:fld id="{E6AB8EDD-9EF2-4633-A1C2-4D908C1019B4}" type="slidenum">
              <a:rPr lang="he-IL" smtClean="0"/>
              <a:t>7</a:t>
            </a:fld>
            <a:endParaRPr lang="he-IL"/>
          </a:p>
        </p:txBody>
      </p:sp>
    </p:spTree>
    <p:extLst>
      <p:ext uri="{BB962C8B-B14F-4D97-AF65-F5344CB8AC3E}">
        <p14:creationId xmlns:p14="http://schemas.microsoft.com/office/powerpoint/2010/main" val="1568098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0C904-6A27-8E88-FF68-740AA5CCE9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2011DC-22C8-9C10-CE8B-B117FA4DA52A}"/>
              </a:ext>
            </a:extLst>
          </p:cNvPr>
          <p:cNvSpPr>
            <a:spLocks noGrp="1"/>
          </p:cNvSpPr>
          <p:nvPr>
            <p:ph type="title"/>
          </p:nvPr>
        </p:nvSpPr>
        <p:spPr/>
        <p:txBody>
          <a:bodyPr/>
          <a:lstStyle/>
          <a:p>
            <a:r>
              <a:rPr lang="en-IL" dirty="0"/>
              <a:t>Graph Indicators</a:t>
            </a:r>
            <a:r>
              <a:rPr lang="en-US" dirty="0"/>
              <a:t> Workflow</a:t>
            </a:r>
            <a:endParaRPr lang="en-IL" dirty="0"/>
          </a:p>
        </p:txBody>
      </p:sp>
      <p:graphicFrame>
        <p:nvGraphicFramePr>
          <p:cNvPr id="10" name="Content Placeholder 9">
            <a:extLst>
              <a:ext uri="{FF2B5EF4-FFF2-40B4-BE49-F238E27FC236}">
                <a16:creationId xmlns:a16="http://schemas.microsoft.com/office/drawing/2014/main" id="{583CB65E-CDB4-6CBC-AA68-A7C75896264B}"/>
              </a:ext>
            </a:extLst>
          </p:cNvPr>
          <p:cNvGraphicFramePr>
            <a:graphicFrameLocks noGrp="1"/>
          </p:cNvGraphicFramePr>
          <p:nvPr>
            <p:ph idx="1"/>
            <p:extLst>
              <p:ext uri="{D42A27DB-BD31-4B8C-83A1-F6EECF244321}">
                <p14:modId xmlns:p14="http://schemas.microsoft.com/office/powerpoint/2010/main" val="2725248438"/>
              </p:ext>
            </p:extLst>
          </p:nvPr>
        </p:nvGraphicFramePr>
        <p:xfrm>
          <a:off x="1243087" y="1575486"/>
          <a:ext cx="7072620" cy="513011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347AFC2A-2F88-85E7-E925-FC99791579F9}"/>
              </a:ext>
            </a:extLst>
          </p:cNvPr>
          <p:cNvSpPr>
            <a:spLocks noGrp="1"/>
          </p:cNvSpPr>
          <p:nvPr>
            <p:ph type="sldNum" sz="quarter" idx="12"/>
          </p:nvPr>
        </p:nvSpPr>
        <p:spPr/>
        <p:txBody>
          <a:bodyPr/>
          <a:lstStyle/>
          <a:p>
            <a:fld id="{E6AB8EDD-9EF2-4633-A1C2-4D908C1019B4}" type="slidenum">
              <a:rPr lang="he-IL" smtClean="0"/>
              <a:t>8</a:t>
            </a:fld>
            <a:endParaRPr lang="he-IL"/>
          </a:p>
        </p:txBody>
      </p:sp>
      <p:pic>
        <p:nvPicPr>
          <p:cNvPr id="6" name="Picture 5">
            <a:extLst>
              <a:ext uri="{FF2B5EF4-FFF2-40B4-BE49-F238E27FC236}">
                <a16:creationId xmlns:a16="http://schemas.microsoft.com/office/drawing/2014/main" id="{3B9381F6-7806-D125-37C8-2AE3A688B383}"/>
              </a:ext>
            </a:extLst>
          </p:cNvPr>
          <p:cNvPicPr>
            <a:picLocks noChangeAspect="1"/>
          </p:cNvPicPr>
          <p:nvPr/>
        </p:nvPicPr>
        <p:blipFill>
          <a:blip r:embed="rId7"/>
          <a:stretch>
            <a:fillRect/>
          </a:stretch>
        </p:blipFill>
        <p:spPr>
          <a:xfrm>
            <a:off x="8420740" y="2295759"/>
            <a:ext cx="3639113" cy="3600330"/>
          </a:xfrm>
          <a:prstGeom prst="rect">
            <a:avLst/>
          </a:prstGeom>
        </p:spPr>
      </p:pic>
      <p:sp>
        <p:nvSpPr>
          <p:cNvPr id="11" name="TextBox 10">
            <a:extLst>
              <a:ext uri="{FF2B5EF4-FFF2-40B4-BE49-F238E27FC236}">
                <a16:creationId xmlns:a16="http://schemas.microsoft.com/office/drawing/2014/main" id="{FDD7B0B9-5297-2D50-C1DD-1E1487E33B0C}"/>
              </a:ext>
            </a:extLst>
          </p:cNvPr>
          <p:cNvSpPr txBox="1"/>
          <p:nvPr/>
        </p:nvSpPr>
        <p:spPr>
          <a:xfrm>
            <a:off x="8420740" y="1952370"/>
            <a:ext cx="3639113" cy="369332"/>
          </a:xfrm>
          <a:prstGeom prst="rect">
            <a:avLst/>
          </a:prstGeom>
          <a:noFill/>
        </p:spPr>
        <p:txBody>
          <a:bodyPr wrap="square" rtlCol="0">
            <a:spAutoFit/>
          </a:bodyPr>
          <a:lstStyle/>
          <a:p>
            <a:pPr algn="ctr"/>
            <a:r>
              <a:rPr lang="en-GB" dirty="0"/>
              <a:t>Author</a:t>
            </a:r>
            <a:r>
              <a:rPr lang="en-US" dirty="0"/>
              <a:t> </a:t>
            </a:r>
            <a:r>
              <a:rPr lang="en-GB" dirty="0">
                <a:solidFill>
                  <a:prstClr val="black"/>
                </a:solidFill>
              </a:rPr>
              <a:t>feature vector (example) </a:t>
            </a:r>
            <a:endParaRPr lang="en-IL" dirty="0"/>
          </a:p>
        </p:txBody>
      </p:sp>
    </p:spTree>
    <p:extLst>
      <p:ext uri="{BB962C8B-B14F-4D97-AF65-F5344CB8AC3E}">
        <p14:creationId xmlns:p14="http://schemas.microsoft.com/office/powerpoint/2010/main" val="3214639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E27CD-C8FF-B185-45D8-666A78A68D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98079-07AB-1011-721B-DDEB468739BA}"/>
              </a:ext>
            </a:extLst>
          </p:cNvPr>
          <p:cNvSpPr>
            <a:spLocks noGrp="1"/>
          </p:cNvSpPr>
          <p:nvPr>
            <p:ph type="title"/>
          </p:nvPr>
        </p:nvSpPr>
        <p:spPr>
          <a:xfrm>
            <a:off x="3072268" y="401637"/>
            <a:ext cx="8949044" cy="1325563"/>
          </a:xfrm>
        </p:spPr>
        <p:txBody>
          <a:bodyPr>
            <a:normAutofit/>
          </a:bodyPr>
          <a:lstStyle/>
          <a:p>
            <a:r>
              <a:rPr lang="en-IL" dirty="0"/>
              <a:t>Co-Action Graph</a:t>
            </a:r>
          </a:p>
        </p:txBody>
      </p:sp>
      <p:sp>
        <p:nvSpPr>
          <p:cNvPr id="3" name="Content Placeholder 2">
            <a:extLst>
              <a:ext uri="{FF2B5EF4-FFF2-40B4-BE49-F238E27FC236}">
                <a16:creationId xmlns:a16="http://schemas.microsoft.com/office/drawing/2014/main" id="{5FBFF6C3-80E1-C75C-69F0-3A7FFA1D100D}"/>
              </a:ext>
            </a:extLst>
          </p:cNvPr>
          <p:cNvSpPr>
            <a:spLocks noGrp="1"/>
          </p:cNvSpPr>
          <p:nvPr>
            <p:ph idx="1"/>
          </p:nvPr>
        </p:nvSpPr>
        <p:spPr>
          <a:xfrm>
            <a:off x="1243087" y="1825624"/>
            <a:ext cx="10582656" cy="4441825"/>
          </a:xfrm>
        </p:spPr>
        <p:txBody>
          <a:bodyPr>
            <a:normAutofit/>
          </a:bodyPr>
          <a:lstStyle/>
          <a:p>
            <a:r>
              <a:rPr lang="en-GB" sz="3200" b="1" dirty="0"/>
              <a:t>Nodes:</a:t>
            </a:r>
            <a:r>
              <a:rPr lang="en-GB" sz="3200" dirty="0"/>
              <a:t> authors in the discourse.</a:t>
            </a:r>
          </a:p>
          <a:p>
            <a:r>
              <a:rPr lang="en-GB" sz="3200" b="1" dirty="0"/>
              <a:t>Edges: </a:t>
            </a:r>
            <a:r>
              <a:rPr lang="en-GB" sz="3200" dirty="0"/>
              <a:t>co-action relations between a pair of authors (e.g., posting the same hashtag). Represents </a:t>
            </a:r>
            <a:r>
              <a:rPr lang="en-US" sz="3200" b="1" dirty="0"/>
              <a:t>behavioral similarity</a:t>
            </a:r>
            <a:r>
              <a:rPr lang="en-GB" sz="3200" b="1" dirty="0"/>
              <a:t> </a:t>
            </a:r>
            <a:r>
              <a:rPr lang="en-GB" sz="3200" dirty="0"/>
              <a:t>between the authors.</a:t>
            </a:r>
          </a:p>
          <a:p>
            <a:r>
              <a:rPr lang="en-GB" sz="3200" b="1" dirty="0"/>
              <a:t>Purpose</a:t>
            </a:r>
            <a:r>
              <a:rPr lang="en-GB" sz="3200" dirty="0"/>
              <a:t>: expose coordinated behaviour for IO detection.</a:t>
            </a:r>
          </a:p>
          <a:p>
            <a:endParaRPr lang="en-GB" sz="2800" dirty="0"/>
          </a:p>
          <a:p>
            <a:endParaRPr lang="en-GB" sz="2800" dirty="0"/>
          </a:p>
          <a:p>
            <a:pPr marL="457200" lvl="1" indent="0">
              <a:buNone/>
            </a:pPr>
            <a:endParaRPr lang="en-GB" sz="4000" dirty="0"/>
          </a:p>
        </p:txBody>
      </p:sp>
      <p:sp>
        <p:nvSpPr>
          <p:cNvPr id="4" name="Slide Number Placeholder 3">
            <a:extLst>
              <a:ext uri="{FF2B5EF4-FFF2-40B4-BE49-F238E27FC236}">
                <a16:creationId xmlns:a16="http://schemas.microsoft.com/office/drawing/2014/main" id="{705E3158-F388-D9C9-D303-42FD2F68D2FC}"/>
              </a:ext>
            </a:extLst>
          </p:cNvPr>
          <p:cNvSpPr>
            <a:spLocks noGrp="1"/>
          </p:cNvSpPr>
          <p:nvPr>
            <p:ph type="sldNum" sz="quarter" idx="12"/>
          </p:nvPr>
        </p:nvSpPr>
        <p:spPr/>
        <p:txBody>
          <a:bodyPr/>
          <a:lstStyle/>
          <a:p>
            <a:fld id="{E6AB8EDD-9EF2-4633-A1C2-4D908C1019B4}" type="slidenum">
              <a:rPr lang="he-IL" smtClean="0"/>
              <a:t>9</a:t>
            </a:fld>
            <a:endParaRPr lang="he-IL"/>
          </a:p>
        </p:txBody>
      </p:sp>
      <p:pic>
        <p:nvPicPr>
          <p:cNvPr id="2052" name="Picture 4">
            <a:extLst>
              <a:ext uri="{FF2B5EF4-FFF2-40B4-BE49-F238E27FC236}">
                <a16:creationId xmlns:a16="http://schemas.microsoft.com/office/drawing/2014/main" id="{94F46E8E-95AB-4D82-04F7-80C932FEC21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1062" b="10900"/>
          <a:stretch>
            <a:fillRect/>
          </a:stretch>
        </p:blipFill>
        <p:spPr bwMode="auto">
          <a:xfrm>
            <a:off x="1243087" y="4439118"/>
            <a:ext cx="9585434" cy="21236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111222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33D02-87AB-FC45-0EFD-C183617E5A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96603-D6AF-F6A3-BAEA-49811954DE5B}"/>
              </a:ext>
            </a:extLst>
          </p:cNvPr>
          <p:cNvSpPr>
            <a:spLocks noGrp="1"/>
          </p:cNvSpPr>
          <p:nvPr>
            <p:ph type="title"/>
          </p:nvPr>
        </p:nvSpPr>
        <p:spPr/>
        <p:txBody>
          <a:bodyPr/>
          <a:lstStyle/>
          <a:p>
            <a:r>
              <a:rPr lang="en-US" dirty="0"/>
              <a:t>Graph</a:t>
            </a:r>
            <a:r>
              <a:rPr lang="en-IL" dirty="0"/>
              <a:t>-Based Indicators</a:t>
            </a:r>
            <a:endParaRPr lang="en-US" dirty="0"/>
          </a:p>
        </p:txBody>
      </p:sp>
      <p:sp>
        <p:nvSpPr>
          <p:cNvPr id="4" name="Slide Number Placeholder 3">
            <a:extLst>
              <a:ext uri="{FF2B5EF4-FFF2-40B4-BE49-F238E27FC236}">
                <a16:creationId xmlns:a16="http://schemas.microsoft.com/office/drawing/2014/main" id="{2AE299B9-D58F-15FE-8E0B-7A07507F3BE4}"/>
              </a:ext>
            </a:extLst>
          </p:cNvPr>
          <p:cNvSpPr>
            <a:spLocks noGrp="1"/>
          </p:cNvSpPr>
          <p:nvPr>
            <p:ph type="sldNum" sz="quarter" idx="12"/>
          </p:nvPr>
        </p:nvSpPr>
        <p:spPr/>
        <p:txBody>
          <a:bodyPr/>
          <a:lstStyle/>
          <a:p>
            <a:fld id="{E6AB8EDD-9EF2-4633-A1C2-4D908C1019B4}" type="slidenum">
              <a:rPr lang="he-IL" smtClean="0"/>
              <a:t>10</a:t>
            </a:fld>
            <a:endParaRPr lang="he-IL"/>
          </a:p>
        </p:txBody>
      </p:sp>
      <p:sp>
        <p:nvSpPr>
          <p:cNvPr id="7" name="Content Placeholder 5">
            <a:extLst>
              <a:ext uri="{FF2B5EF4-FFF2-40B4-BE49-F238E27FC236}">
                <a16:creationId xmlns:a16="http://schemas.microsoft.com/office/drawing/2014/main" id="{89F0DA61-6A58-3B1F-17BD-C497225F051E}"/>
              </a:ext>
            </a:extLst>
          </p:cNvPr>
          <p:cNvSpPr>
            <a:spLocks noGrp="1"/>
          </p:cNvSpPr>
          <p:nvPr>
            <p:ph idx="1"/>
          </p:nvPr>
        </p:nvSpPr>
        <p:spPr>
          <a:xfrm>
            <a:off x="1243087" y="1825625"/>
            <a:ext cx="10582656" cy="4351338"/>
          </a:xfrm>
        </p:spPr>
        <p:txBody>
          <a:bodyPr>
            <a:normAutofit/>
          </a:bodyPr>
          <a:lstStyle/>
          <a:p>
            <a:r>
              <a:rPr lang="en-US" sz="3200" dirty="0"/>
              <a:t>Using the </a:t>
            </a:r>
            <a:r>
              <a:rPr lang="en-IL" sz="3200" dirty="0"/>
              <a:t>Co-Action Graph</a:t>
            </a:r>
            <a:r>
              <a:rPr lang="en-US" sz="3200" dirty="0"/>
              <a:t>, </a:t>
            </a:r>
            <a:r>
              <a:rPr lang="en-GB" sz="3200" dirty="0"/>
              <a:t>we calculate well-established graph indicators for each author (node) to characterize their structural role.</a:t>
            </a:r>
            <a:endParaRPr lang="en-IL" sz="3200" dirty="0"/>
          </a:p>
          <a:p>
            <a:pPr lvl="1"/>
            <a:r>
              <a:rPr lang="en-IL" sz="2800" b="1" dirty="0"/>
              <a:t>Centrality:</a:t>
            </a:r>
            <a:r>
              <a:rPr lang="en-IL" sz="2800" dirty="0"/>
              <a:t> Degree, Harmonic, Eigenvector, Betweenness, PageRank </a:t>
            </a:r>
          </a:p>
          <a:p>
            <a:pPr lvl="1"/>
            <a:r>
              <a:rPr lang="en-IL" sz="2800" b="1" dirty="0"/>
              <a:t>Cohesion:</a:t>
            </a:r>
            <a:r>
              <a:rPr lang="en-IL" sz="2800" dirty="0"/>
              <a:t> Core Number, Clustering Coefficient </a:t>
            </a:r>
          </a:p>
          <a:p>
            <a:pPr lvl="1"/>
            <a:r>
              <a:rPr lang="en-IL" sz="2800" b="1" dirty="0"/>
              <a:t>Community:</a:t>
            </a:r>
            <a:r>
              <a:rPr lang="en-IL" sz="2800" dirty="0"/>
              <a:t> Louvain Community </a:t>
            </a:r>
          </a:p>
          <a:p>
            <a:r>
              <a:rPr lang="en-IL" sz="3200" dirty="0"/>
              <a:t>These indicators provide </a:t>
            </a:r>
            <a:r>
              <a:rPr lang="en-IL" sz="3200" b="1" dirty="0"/>
              <a:t>interpretable structural features</a:t>
            </a:r>
            <a:r>
              <a:rPr lang="en-US" sz="3200" b="1" dirty="0"/>
              <a:t>.</a:t>
            </a:r>
            <a:endParaRPr lang="en-IL" dirty="0"/>
          </a:p>
        </p:txBody>
      </p:sp>
    </p:spTree>
    <p:extLst>
      <p:ext uri="{BB962C8B-B14F-4D97-AF65-F5344CB8AC3E}">
        <p14:creationId xmlns:p14="http://schemas.microsoft.com/office/powerpoint/2010/main" val="1205124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F7BDE-8AB5-2809-CC36-E39791D3C3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36ED3E-8C9D-906E-B977-CB4C09EF76B0}"/>
              </a:ext>
            </a:extLst>
          </p:cNvPr>
          <p:cNvSpPr>
            <a:spLocks noGrp="1"/>
          </p:cNvSpPr>
          <p:nvPr>
            <p:ph type="title"/>
          </p:nvPr>
        </p:nvSpPr>
        <p:spPr/>
        <p:txBody>
          <a:bodyPr/>
          <a:lstStyle/>
          <a:p>
            <a:r>
              <a:rPr lang="en-IL" dirty="0"/>
              <a:t>Topic-Based Indicators</a:t>
            </a:r>
            <a:endParaRPr lang="en-US" dirty="0"/>
          </a:p>
        </p:txBody>
      </p:sp>
      <p:sp>
        <p:nvSpPr>
          <p:cNvPr id="4" name="Slide Number Placeholder 3">
            <a:extLst>
              <a:ext uri="{FF2B5EF4-FFF2-40B4-BE49-F238E27FC236}">
                <a16:creationId xmlns:a16="http://schemas.microsoft.com/office/drawing/2014/main" id="{C4EEED24-25E6-99A7-BF59-44F2CC4DDB3E}"/>
              </a:ext>
            </a:extLst>
          </p:cNvPr>
          <p:cNvSpPr>
            <a:spLocks noGrp="1"/>
          </p:cNvSpPr>
          <p:nvPr>
            <p:ph type="sldNum" sz="quarter" idx="12"/>
          </p:nvPr>
        </p:nvSpPr>
        <p:spPr/>
        <p:txBody>
          <a:bodyPr/>
          <a:lstStyle/>
          <a:p>
            <a:fld id="{E6AB8EDD-9EF2-4633-A1C2-4D908C1019B4}" type="slidenum">
              <a:rPr lang="he-IL" smtClean="0"/>
              <a:t>11</a:t>
            </a:fld>
            <a:endParaRPr lang="he-IL"/>
          </a:p>
        </p:txBody>
      </p:sp>
      <p:sp>
        <p:nvSpPr>
          <p:cNvPr id="7" name="Content Placeholder 5">
            <a:extLst>
              <a:ext uri="{FF2B5EF4-FFF2-40B4-BE49-F238E27FC236}">
                <a16:creationId xmlns:a16="http://schemas.microsoft.com/office/drawing/2014/main" id="{B5A312C1-6DEB-B571-F05F-5AB1221CED14}"/>
              </a:ext>
            </a:extLst>
          </p:cNvPr>
          <p:cNvSpPr>
            <a:spLocks noGrp="1"/>
          </p:cNvSpPr>
          <p:nvPr>
            <p:ph idx="1"/>
          </p:nvPr>
        </p:nvSpPr>
        <p:spPr>
          <a:xfrm>
            <a:off x="1243087" y="1825624"/>
            <a:ext cx="10582656" cy="4546601"/>
          </a:xfrm>
        </p:spPr>
        <p:txBody>
          <a:bodyPr>
            <a:normAutofit fontScale="92500" lnSpcReduction="10000"/>
          </a:bodyPr>
          <a:lstStyle/>
          <a:p>
            <a:r>
              <a:rPr lang="en-IL" dirty="0"/>
              <a:t>Calculated from each </a:t>
            </a:r>
            <a:r>
              <a:rPr lang="en-IL" b="1" dirty="0"/>
              <a:t>author’s posts and hashtags</a:t>
            </a:r>
            <a:r>
              <a:rPr lang="en-IL" dirty="0"/>
              <a:t> to capture their thematic activity.</a:t>
            </a:r>
          </a:p>
          <a:p>
            <a:r>
              <a:rPr lang="en-IL" dirty="0"/>
              <a:t>Activity-Based Indicators</a:t>
            </a:r>
          </a:p>
          <a:p>
            <a:pPr lvl="1"/>
            <a:r>
              <a:rPr lang="en-IL" sz="2400" b="1" dirty="0"/>
              <a:t>Posting Dominance </a:t>
            </a:r>
            <a:r>
              <a:rPr lang="en-US" sz="2400" dirty="0"/>
              <a:t>-</a:t>
            </a:r>
            <a:r>
              <a:rPr lang="en-IL" sz="2400" dirty="0"/>
              <a:t> proportion of an author’s posts assigned to their most frequent topic. </a:t>
            </a:r>
          </a:p>
          <a:p>
            <a:pPr lvl="1"/>
            <a:r>
              <a:rPr lang="en-IL" sz="2400" b="1" dirty="0"/>
              <a:t>Top Topic</a:t>
            </a:r>
            <a:r>
              <a:rPr lang="en-IL" sz="2400" dirty="0"/>
              <a:t> </a:t>
            </a:r>
            <a:r>
              <a:rPr lang="en-US" sz="2400" dirty="0"/>
              <a:t>-</a:t>
            </a:r>
            <a:r>
              <a:rPr lang="en-IL" sz="2400" dirty="0"/>
              <a:t> the author’s dominant topic. </a:t>
            </a:r>
          </a:p>
          <a:p>
            <a:r>
              <a:rPr lang="en-IL" dirty="0"/>
              <a:t>TF</a:t>
            </a:r>
            <a:r>
              <a:rPr lang="en-US" dirty="0"/>
              <a:t>-</a:t>
            </a:r>
            <a:r>
              <a:rPr lang="en-IL" dirty="0"/>
              <a:t>IDF-Based Indicators</a:t>
            </a:r>
            <a:r>
              <a:rPr lang="en-US" dirty="0"/>
              <a:t> </a:t>
            </a:r>
            <a:r>
              <a:rPr lang="en-US" sz="1900" dirty="0"/>
              <a:t>(see next slide)</a:t>
            </a:r>
            <a:endParaRPr lang="en-IL" sz="1900" dirty="0"/>
          </a:p>
          <a:p>
            <a:pPr lvl="1"/>
            <a:r>
              <a:rPr lang="en-IL" sz="2400" b="1" dirty="0"/>
              <a:t>Key Score (Topic)</a:t>
            </a:r>
            <a:r>
              <a:rPr lang="en-IL" sz="2400" dirty="0"/>
              <a:t> </a:t>
            </a:r>
            <a:r>
              <a:rPr lang="en-US" sz="2400" dirty="0"/>
              <a:t>-</a:t>
            </a:r>
            <a:r>
              <a:rPr lang="en-IL" sz="2400" dirty="0"/>
              <a:t> author’s relevance to a specific topic, calculated by aggregating the TF</a:t>
            </a:r>
            <a:r>
              <a:rPr lang="en-US" sz="2400" dirty="0"/>
              <a:t>-</a:t>
            </a:r>
            <a:r>
              <a:rPr lang="en-IL" sz="2400" dirty="0"/>
              <a:t>IDF scores of the entities used by the author in that topic, with a penalty for activity across multiple topics. </a:t>
            </a:r>
          </a:p>
          <a:p>
            <a:pPr lvl="1"/>
            <a:r>
              <a:rPr lang="en-IL" sz="2400" b="1" dirty="0"/>
              <a:t>Key Score Sum </a:t>
            </a:r>
            <a:r>
              <a:rPr lang="en-US" sz="2400" dirty="0"/>
              <a:t>-</a:t>
            </a:r>
            <a:r>
              <a:rPr lang="en-IL" sz="2400" dirty="0"/>
              <a:t> sum of the author’s key scores across all topics. </a:t>
            </a:r>
          </a:p>
          <a:p>
            <a:pPr lvl="1"/>
            <a:r>
              <a:rPr lang="en-IL" sz="2400" b="1" dirty="0"/>
              <a:t>Key Score Dominance </a:t>
            </a:r>
            <a:r>
              <a:rPr lang="en-US" sz="2400" dirty="0"/>
              <a:t>-</a:t>
            </a:r>
            <a:r>
              <a:rPr lang="en-IL" sz="2400" dirty="0"/>
              <a:t> proportion of the total key score concentrated in the author’s strongest topic.</a:t>
            </a:r>
          </a:p>
          <a:p>
            <a:r>
              <a:rPr lang="en-IL" dirty="0"/>
              <a:t>Together, these indicators capture the </a:t>
            </a:r>
            <a:r>
              <a:rPr lang="en-IL" b="1" dirty="0"/>
              <a:t>author’s narrative focus and thematic behaviour</a:t>
            </a:r>
            <a:r>
              <a:rPr lang="en-IL" dirty="0"/>
              <a:t>.</a:t>
            </a:r>
          </a:p>
        </p:txBody>
      </p:sp>
    </p:spTree>
    <p:extLst>
      <p:ext uri="{BB962C8B-B14F-4D97-AF65-F5344CB8AC3E}">
        <p14:creationId xmlns:p14="http://schemas.microsoft.com/office/powerpoint/2010/main" val="2192234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1954D-5A4C-0857-EC07-B5A26F069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D19586-6367-13E7-4E9F-5B79E0C2F77E}"/>
              </a:ext>
            </a:extLst>
          </p:cNvPr>
          <p:cNvSpPr>
            <a:spLocks noGrp="1"/>
          </p:cNvSpPr>
          <p:nvPr>
            <p:ph type="title"/>
          </p:nvPr>
        </p:nvSpPr>
        <p:spPr/>
        <p:txBody>
          <a:bodyPr/>
          <a:lstStyle/>
          <a:p>
            <a:r>
              <a:rPr lang="en-US" dirty="0"/>
              <a:t>TF-IDF</a:t>
            </a:r>
            <a:endParaRPr lang="en-IL" dirty="0"/>
          </a:p>
        </p:txBody>
      </p:sp>
      <p:sp>
        <p:nvSpPr>
          <p:cNvPr id="3" name="Content Placeholder 2">
            <a:extLst>
              <a:ext uri="{FF2B5EF4-FFF2-40B4-BE49-F238E27FC236}">
                <a16:creationId xmlns:a16="http://schemas.microsoft.com/office/drawing/2014/main" id="{7ABE1D45-23D1-B59F-5CEB-74D2E305D28C}"/>
              </a:ext>
            </a:extLst>
          </p:cNvPr>
          <p:cNvSpPr>
            <a:spLocks noGrp="1"/>
          </p:cNvSpPr>
          <p:nvPr>
            <p:ph idx="1"/>
          </p:nvPr>
        </p:nvSpPr>
        <p:spPr>
          <a:xfrm>
            <a:off x="1243087" y="1825625"/>
            <a:ext cx="10582656" cy="4769728"/>
          </a:xfrm>
        </p:spPr>
        <p:txBody>
          <a:bodyPr>
            <a:normAutofit fontScale="92500" lnSpcReduction="20000"/>
          </a:bodyPr>
          <a:lstStyle/>
          <a:p>
            <a:r>
              <a:rPr lang="en-IL" sz="2800" dirty="0"/>
              <a:t>TF-IDF is a statistical method used in natural language processing and information retrieval to evaluate how important a word is to a document</a:t>
            </a:r>
            <a:r>
              <a:rPr lang="en-US" sz="2800" dirty="0"/>
              <a:t> (in our project – topic) </a:t>
            </a:r>
            <a:r>
              <a:rPr lang="en-IL" sz="2800" dirty="0"/>
              <a:t>in relation to a larger collection of documents</a:t>
            </a:r>
            <a:r>
              <a:rPr lang="en-US" sz="2800" dirty="0"/>
              <a:t> (topics)</a:t>
            </a:r>
            <a:r>
              <a:rPr lang="en-IL" sz="2800" dirty="0"/>
              <a:t>.</a:t>
            </a:r>
            <a:endParaRPr lang="en-US" sz="2800"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r>
              <a:rPr lang="en-IL" sz="2800" dirty="0"/>
              <a:t>This allows TF-IDF to highlight terms that are both frequent within a specific document </a:t>
            </a:r>
            <a:r>
              <a:rPr lang="en-US" sz="2800" dirty="0"/>
              <a:t>(topic) </a:t>
            </a:r>
            <a:r>
              <a:rPr lang="en-IL" sz="2800" dirty="0"/>
              <a:t>and distinctive across the </a:t>
            </a:r>
            <a:r>
              <a:rPr lang="en-US" sz="2800" dirty="0"/>
              <a:t>other</a:t>
            </a:r>
            <a:r>
              <a:rPr lang="en-IL" sz="2800" dirty="0"/>
              <a:t> document</a:t>
            </a:r>
            <a:r>
              <a:rPr lang="en-US" sz="2800" dirty="0"/>
              <a:t>s (topics)</a:t>
            </a:r>
            <a:r>
              <a:rPr lang="en-IL" sz="2800" dirty="0"/>
              <a:t>, making it a useful tool for tasks like search</a:t>
            </a:r>
            <a:r>
              <a:rPr lang="en-US" sz="2800" dirty="0"/>
              <a:t>, </a:t>
            </a:r>
            <a:r>
              <a:rPr lang="en-IL" sz="2800" dirty="0"/>
              <a:t>ranking, text classification</a:t>
            </a:r>
            <a:r>
              <a:rPr lang="en-US" sz="2800" dirty="0"/>
              <a:t>,</a:t>
            </a:r>
            <a:r>
              <a:rPr lang="en-IL" sz="2800" dirty="0"/>
              <a:t> and keyword extraction.</a:t>
            </a:r>
            <a:endParaRPr lang="en-US" dirty="0"/>
          </a:p>
        </p:txBody>
      </p:sp>
      <p:sp>
        <p:nvSpPr>
          <p:cNvPr id="4" name="Slide Number Placeholder 3">
            <a:extLst>
              <a:ext uri="{FF2B5EF4-FFF2-40B4-BE49-F238E27FC236}">
                <a16:creationId xmlns:a16="http://schemas.microsoft.com/office/drawing/2014/main" id="{605399C3-8B20-C8B3-F5E8-83FE1E3405A4}"/>
              </a:ext>
            </a:extLst>
          </p:cNvPr>
          <p:cNvSpPr>
            <a:spLocks noGrp="1"/>
          </p:cNvSpPr>
          <p:nvPr>
            <p:ph type="sldNum" sz="quarter" idx="12"/>
          </p:nvPr>
        </p:nvSpPr>
        <p:spPr/>
        <p:txBody>
          <a:bodyPr/>
          <a:lstStyle/>
          <a:p>
            <a:fld id="{E6AB8EDD-9EF2-4633-A1C2-4D908C1019B4}" type="slidenum">
              <a:rPr lang="he-IL" smtClean="0"/>
              <a:t>12</a:t>
            </a:fld>
            <a:endParaRPr lang="he-IL"/>
          </a:p>
        </p:txBody>
      </p:sp>
      <p:pic>
        <p:nvPicPr>
          <p:cNvPr id="9" name="Picture 8" descr="The-TF-Formula">
            <a:extLst>
              <a:ext uri="{FF2B5EF4-FFF2-40B4-BE49-F238E27FC236}">
                <a16:creationId xmlns:a16="http://schemas.microsoft.com/office/drawing/2014/main" id="{907CD54C-266E-D25F-93AC-9657B7CF1F1A}"/>
              </a:ext>
            </a:extLst>
          </p:cNvPr>
          <p:cNvPicPr>
            <a:picLocks noChangeAspect="1"/>
          </p:cNvPicPr>
          <p:nvPr/>
        </p:nvPicPr>
        <p:blipFill>
          <a:blip r:embed="rId2"/>
          <a:stretch>
            <a:fillRect/>
          </a:stretch>
        </p:blipFill>
        <p:spPr>
          <a:xfrm>
            <a:off x="887893" y="3084575"/>
            <a:ext cx="5808578" cy="929372"/>
          </a:xfrm>
          <a:prstGeom prst="rect">
            <a:avLst/>
          </a:prstGeom>
        </p:spPr>
      </p:pic>
      <p:pic>
        <p:nvPicPr>
          <p:cNvPr id="10" name="Picture 9" descr="IDF-Formula">
            <a:extLst>
              <a:ext uri="{FF2B5EF4-FFF2-40B4-BE49-F238E27FC236}">
                <a16:creationId xmlns:a16="http://schemas.microsoft.com/office/drawing/2014/main" id="{81A364B8-4C2A-B11A-94C3-5E62DA848C30}"/>
              </a:ext>
            </a:extLst>
          </p:cNvPr>
          <p:cNvPicPr>
            <a:picLocks noChangeAspect="1"/>
          </p:cNvPicPr>
          <p:nvPr/>
        </p:nvPicPr>
        <p:blipFill>
          <a:blip r:embed="rId3"/>
          <a:stretch>
            <a:fillRect/>
          </a:stretch>
        </p:blipFill>
        <p:spPr>
          <a:xfrm>
            <a:off x="5829688" y="3084575"/>
            <a:ext cx="5808578" cy="929372"/>
          </a:xfrm>
          <a:prstGeom prst="rect">
            <a:avLst/>
          </a:prstGeom>
        </p:spPr>
      </p:pic>
      <p:pic>
        <p:nvPicPr>
          <p:cNvPr id="11" name="Picture 10" descr="idf_formula">
            <a:extLst>
              <a:ext uri="{FF2B5EF4-FFF2-40B4-BE49-F238E27FC236}">
                <a16:creationId xmlns:a16="http://schemas.microsoft.com/office/drawing/2014/main" id="{2E808CB6-DC6B-A5E4-A05E-7782B9AB3828}"/>
              </a:ext>
            </a:extLst>
          </p:cNvPr>
          <p:cNvPicPr>
            <a:picLocks noChangeAspect="1"/>
          </p:cNvPicPr>
          <p:nvPr/>
        </p:nvPicPr>
        <p:blipFill>
          <a:blip r:embed="rId4"/>
          <a:stretch>
            <a:fillRect/>
          </a:stretch>
        </p:blipFill>
        <p:spPr>
          <a:xfrm>
            <a:off x="3581594" y="4318287"/>
            <a:ext cx="5569130" cy="891061"/>
          </a:xfrm>
          <a:prstGeom prst="rect">
            <a:avLst/>
          </a:prstGeom>
        </p:spPr>
      </p:pic>
      <p:sp>
        <p:nvSpPr>
          <p:cNvPr id="13" name="TextBox 12">
            <a:extLst>
              <a:ext uri="{FF2B5EF4-FFF2-40B4-BE49-F238E27FC236}">
                <a16:creationId xmlns:a16="http://schemas.microsoft.com/office/drawing/2014/main" id="{955B8F27-461B-530E-A980-9B2519ED219A}"/>
              </a:ext>
            </a:extLst>
          </p:cNvPr>
          <p:cNvSpPr txBox="1"/>
          <p:nvPr/>
        </p:nvSpPr>
        <p:spPr>
          <a:xfrm>
            <a:off x="1329674" y="6598942"/>
            <a:ext cx="6262966" cy="230832"/>
          </a:xfrm>
          <a:prstGeom prst="rect">
            <a:avLst/>
          </a:prstGeom>
          <a:noFill/>
        </p:spPr>
        <p:txBody>
          <a:bodyPr wrap="square">
            <a:spAutoFit/>
          </a:bodyPr>
          <a:lstStyle/>
          <a:p>
            <a:r>
              <a:rPr lang="en-IL" sz="900" dirty="0"/>
              <a:t>https://www.geeksforgeeks.org/machine-learning/understanding-tf-idf-term-frequency-inverse-document-frequency/</a:t>
            </a:r>
          </a:p>
        </p:txBody>
      </p:sp>
    </p:spTree>
    <p:extLst>
      <p:ext uri="{BB962C8B-B14F-4D97-AF65-F5344CB8AC3E}">
        <p14:creationId xmlns:p14="http://schemas.microsoft.com/office/powerpoint/2010/main" val="2163896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559D-D4AB-1189-6DD0-329C59230A7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092BBF2-9CA9-26C8-3306-0EF5D22F529E}"/>
              </a:ext>
            </a:extLst>
          </p:cNvPr>
          <p:cNvSpPr>
            <a:spLocks noGrp="1"/>
          </p:cNvSpPr>
          <p:nvPr>
            <p:ph type="title"/>
          </p:nvPr>
        </p:nvSpPr>
        <p:spPr>
          <a:xfrm>
            <a:off x="1479549" y="1709738"/>
            <a:ext cx="9914592" cy="2852737"/>
          </a:xfrm>
        </p:spPr>
        <p:txBody>
          <a:bodyPr/>
          <a:lstStyle/>
          <a:p>
            <a:r>
              <a:rPr lang="en-US" dirty="0"/>
              <a:t>Group </a:t>
            </a:r>
            <a:r>
              <a:rPr lang="en-IL" dirty="0"/>
              <a:t>analysis</a:t>
            </a:r>
          </a:p>
        </p:txBody>
      </p:sp>
      <p:sp>
        <p:nvSpPr>
          <p:cNvPr id="6" name="Text Placeholder 5">
            <a:extLst>
              <a:ext uri="{FF2B5EF4-FFF2-40B4-BE49-F238E27FC236}">
                <a16:creationId xmlns:a16="http://schemas.microsoft.com/office/drawing/2014/main" id="{94D75CCD-7268-1EC4-7323-66B1D9D4D09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18453DD-F810-AEB1-6C45-0A9E4E59326B}"/>
              </a:ext>
            </a:extLst>
          </p:cNvPr>
          <p:cNvSpPr>
            <a:spLocks noGrp="1"/>
          </p:cNvSpPr>
          <p:nvPr>
            <p:ph type="sldNum" sz="quarter" idx="12"/>
          </p:nvPr>
        </p:nvSpPr>
        <p:spPr/>
        <p:txBody>
          <a:bodyPr/>
          <a:lstStyle/>
          <a:p>
            <a:fld id="{E6AB8EDD-9EF2-4633-A1C2-4D908C1019B4}" type="slidenum">
              <a:rPr lang="he-IL" smtClean="0"/>
              <a:t>13</a:t>
            </a:fld>
            <a:endParaRPr lang="he-IL"/>
          </a:p>
        </p:txBody>
      </p:sp>
    </p:spTree>
    <p:extLst>
      <p:ext uri="{BB962C8B-B14F-4D97-AF65-F5344CB8AC3E}">
        <p14:creationId xmlns:p14="http://schemas.microsoft.com/office/powerpoint/2010/main" val="40516551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0DA63-958D-B3CC-0304-27F08C2C03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F98E7-B718-85B7-ECA7-94DCCDA29B93}"/>
              </a:ext>
            </a:extLst>
          </p:cNvPr>
          <p:cNvSpPr>
            <a:spLocks noGrp="1"/>
          </p:cNvSpPr>
          <p:nvPr>
            <p:ph type="title"/>
          </p:nvPr>
        </p:nvSpPr>
        <p:spPr/>
        <p:txBody>
          <a:bodyPr/>
          <a:lstStyle/>
          <a:p>
            <a:r>
              <a:rPr lang="en-US" dirty="0"/>
              <a:t>Overview</a:t>
            </a:r>
            <a:endParaRPr lang="en-IL" dirty="0"/>
          </a:p>
        </p:txBody>
      </p:sp>
      <p:sp>
        <p:nvSpPr>
          <p:cNvPr id="3" name="Content Placeholder 2">
            <a:extLst>
              <a:ext uri="{FF2B5EF4-FFF2-40B4-BE49-F238E27FC236}">
                <a16:creationId xmlns:a16="http://schemas.microsoft.com/office/drawing/2014/main" id="{85363424-899C-2A1D-4421-3E966B76389B}"/>
              </a:ext>
            </a:extLst>
          </p:cNvPr>
          <p:cNvSpPr>
            <a:spLocks noGrp="1"/>
          </p:cNvSpPr>
          <p:nvPr>
            <p:ph idx="1"/>
          </p:nvPr>
        </p:nvSpPr>
        <p:spPr>
          <a:xfrm>
            <a:off x="1243087" y="1825625"/>
            <a:ext cx="10582656" cy="4769728"/>
          </a:xfrm>
        </p:spPr>
        <p:txBody>
          <a:bodyPr>
            <a:normAutofit/>
          </a:bodyPr>
          <a:lstStyle/>
          <a:p>
            <a:pPr lvl="0"/>
            <a:r>
              <a:rPr lang="en-IL" sz="3200" dirty="0"/>
              <a:t>At the </a:t>
            </a:r>
            <a:r>
              <a:rPr lang="en-IL" sz="3200" b="1" dirty="0"/>
              <a:t>group level</a:t>
            </a:r>
            <a:r>
              <a:rPr lang="en-IL" sz="3200" dirty="0"/>
              <a:t>, we can reveal </a:t>
            </a:r>
            <a:r>
              <a:rPr lang="en-IL" sz="3200" b="1" dirty="0"/>
              <a:t>shared narratives and thematic patterns</a:t>
            </a:r>
            <a:r>
              <a:rPr lang="en-IL" sz="3200" dirty="0"/>
              <a:t> that may not be visible when analysing individual accounts. </a:t>
            </a:r>
          </a:p>
          <a:p>
            <a:pPr lvl="0"/>
            <a:r>
              <a:rPr lang="en-IL" sz="3200" b="1" dirty="0"/>
              <a:t>Goal:</a:t>
            </a:r>
            <a:r>
              <a:rPr lang="en-IL" sz="3200" dirty="0"/>
              <a:t> Move from </a:t>
            </a:r>
            <a:r>
              <a:rPr lang="en-IL" sz="3200" i="1" dirty="0"/>
              <a:t>“Who participates in an IO?”</a:t>
            </a:r>
            <a:r>
              <a:rPr lang="en-IL" sz="3200" dirty="0"/>
              <a:t> to </a:t>
            </a:r>
            <a:r>
              <a:rPr lang="en-IL" sz="3200" i="1" dirty="0"/>
              <a:t>“How do coordinated groups operate, and what narratives characterize their activity?”</a:t>
            </a:r>
            <a:endParaRPr lang="en-IL" sz="3200" dirty="0"/>
          </a:p>
          <a:p>
            <a:pPr marL="457200" lvl="1" indent="0">
              <a:buNone/>
            </a:pPr>
            <a:endParaRPr lang="en-US" sz="3200" dirty="0"/>
          </a:p>
        </p:txBody>
      </p:sp>
      <p:sp>
        <p:nvSpPr>
          <p:cNvPr id="4" name="Slide Number Placeholder 3">
            <a:extLst>
              <a:ext uri="{FF2B5EF4-FFF2-40B4-BE49-F238E27FC236}">
                <a16:creationId xmlns:a16="http://schemas.microsoft.com/office/drawing/2014/main" id="{83AF40F2-EA50-BEC5-D38F-8F6DD4350E11}"/>
              </a:ext>
            </a:extLst>
          </p:cNvPr>
          <p:cNvSpPr>
            <a:spLocks noGrp="1"/>
          </p:cNvSpPr>
          <p:nvPr>
            <p:ph type="sldNum" sz="quarter" idx="12"/>
          </p:nvPr>
        </p:nvSpPr>
        <p:spPr/>
        <p:txBody>
          <a:bodyPr/>
          <a:lstStyle/>
          <a:p>
            <a:fld id="{E6AB8EDD-9EF2-4633-A1C2-4D908C1019B4}" type="slidenum">
              <a:rPr lang="he-IL" smtClean="0"/>
              <a:t>14</a:t>
            </a:fld>
            <a:endParaRPr lang="he-IL"/>
          </a:p>
        </p:txBody>
      </p:sp>
      <p:pic>
        <p:nvPicPr>
          <p:cNvPr id="6" name="Picture 5">
            <a:extLst>
              <a:ext uri="{FF2B5EF4-FFF2-40B4-BE49-F238E27FC236}">
                <a16:creationId xmlns:a16="http://schemas.microsoft.com/office/drawing/2014/main" id="{62027892-7F23-7560-E4A0-026837C0C856}"/>
              </a:ext>
            </a:extLst>
          </p:cNvPr>
          <p:cNvPicPr>
            <a:picLocks noChangeAspect="1"/>
          </p:cNvPicPr>
          <p:nvPr/>
        </p:nvPicPr>
        <p:blipFill>
          <a:blip r:embed="rId2"/>
          <a:srcRect t="30198" b="12173"/>
          <a:stretch>
            <a:fillRect/>
          </a:stretch>
        </p:blipFill>
        <p:spPr>
          <a:xfrm>
            <a:off x="2492400" y="5117509"/>
            <a:ext cx="5987999" cy="1477844"/>
          </a:xfrm>
          <a:prstGeom prst="rect">
            <a:avLst/>
          </a:prstGeom>
        </p:spPr>
      </p:pic>
    </p:spTree>
    <p:extLst>
      <p:ext uri="{BB962C8B-B14F-4D97-AF65-F5344CB8AC3E}">
        <p14:creationId xmlns:p14="http://schemas.microsoft.com/office/powerpoint/2010/main" val="38038527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DEE1B-0DBB-0BBE-85D3-FA360987F0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BF77DC-4A73-3FF9-1A1F-BAD9FB219872}"/>
              </a:ext>
            </a:extLst>
          </p:cNvPr>
          <p:cNvSpPr>
            <a:spLocks noGrp="1"/>
          </p:cNvSpPr>
          <p:nvPr>
            <p:ph type="title"/>
          </p:nvPr>
        </p:nvSpPr>
        <p:spPr/>
        <p:txBody>
          <a:bodyPr/>
          <a:lstStyle/>
          <a:p>
            <a:r>
              <a:rPr lang="en-US" dirty="0"/>
              <a:t>Overview</a:t>
            </a:r>
            <a:endParaRPr lang="en-IL" dirty="0"/>
          </a:p>
        </p:txBody>
      </p:sp>
      <p:sp>
        <p:nvSpPr>
          <p:cNvPr id="3" name="Content Placeholder 2">
            <a:extLst>
              <a:ext uri="{FF2B5EF4-FFF2-40B4-BE49-F238E27FC236}">
                <a16:creationId xmlns:a16="http://schemas.microsoft.com/office/drawing/2014/main" id="{0E6DD76D-E5BF-D922-7C5D-702EAD478930}"/>
              </a:ext>
            </a:extLst>
          </p:cNvPr>
          <p:cNvSpPr>
            <a:spLocks noGrp="1"/>
          </p:cNvSpPr>
          <p:nvPr>
            <p:ph idx="1"/>
          </p:nvPr>
        </p:nvSpPr>
        <p:spPr>
          <a:xfrm>
            <a:off x="1243087" y="1825625"/>
            <a:ext cx="10582656" cy="4769728"/>
          </a:xfrm>
        </p:spPr>
        <p:txBody>
          <a:bodyPr>
            <a:normAutofit fontScale="85000" lnSpcReduction="10000"/>
          </a:bodyPr>
          <a:lstStyle/>
          <a:p>
            <a:r>
              <a:rPr lang="en-IL" sz="3200" dirty="0"/>
              <a:t>We </a:t>
            </a:r>
            <a:r>
              <a:rPr lang="en-US" sz="3200" dirty="0"/>
              <a:t>define</a:t>
            </a:r>
            <a:r>
              <a:rPr lang="en-IL" sz="3200" dirty="0"/>
              <a:t> several groups:</a:t>
            </a:r>
          </a:p>
          <a:p>
            <a:pPr lvl="1"/>
            <a:r>
              <a:rPr lang="en-IL" sz="2800" b="1" dirty="0"/>
              <a:t>Maximal k-Core</a:t>
            </a:r>
            <a:r>
              <a:rPr lang="en-US" sz="2800" b="1" dirty="0"/>
              <a:t> Connected</a:t>
            </a:r>
            <a:r>
              <a:rPr lang="en-IL" sz="2800" b="1" dirty="0"/>
              <a:t> Component</a:t>
            </a:r>
            <a:r>
              <a:rPr lang="en-IL" sz="2800" dirty="0"/>
              <a:t> </a:t>
            </a:r>
            <a:r>
              <a:rPr lang="en-US" sz="2800" dirty="0"/>
              <a:t>-</a:t>
            </a:r>
            <a:r>
              <a:rPr lang="en-IL" sz="2800" dirty="0"/>
              <a:t> accounts belonging to the same connected component within their maximal k-core. </a:t>
            </a:r>
          </a:p>
          <a:p>
            <a:pPr lvl="1"/>
            <a:r>
              <a:rPr lang="en-IL" sz="2800" b="1" dirty="0"/>
              <a:t>Direct Neighbours</a:t>
            </a:r>
            <a:r>
              <a:rPr lang="en-IL" sz="2800" dirty="0"/>
              <a:t> </a:t>
            </a:r>
            <a:r>
              <a:rPr lang="en-US" sz="2800" dirty="0"/>
              <a:t>-</a:t>
            </a:r>
            <a:r>
              <a:rPr lang="en-IL" sz="2800" dirty="0"/>
              <a:t> accounts directly connected to the focal account. </a:t>
            </a:r>
          </a:p>
          <a:p>
            <a:pPr lvl="1"/>
            <a:r>
              <a:rPr lang="en-IL" sz="2800" b="1" dirty="0"/>
              <a:t>Louvain Community</a:t>
            </a:r>
            <a:r>
              <a:rPr lang="en-IL" sz="2800" dirty="0"/>
              <a:t> </a:t>
            </a:r>
            <a:r>
              <a:rPr lang="en-US" sz="2800" dirty="0"/>
              <a:t>-</a:t>
            </a:r>
            <a:r>
              <a:rPr lang="en-IL" sz="2800" dirty="0"/>
              <a:t> accounts assigned to the same graph community. </a:t>
            </a:r>
          </a:p>
          <a:p>
            <a:pPr lvl="1"/>
            <a:r>
              <a:rPr lang="en-IL" sz="2800" b="1" dirty="0"/>
              <a:t>Top Topic</a:t>
            </a:r>
            <a:r>
              <a:rPr lang="en-IL" sz="2800" dirty="0"/>
              <a:t> </a:t>
            </a:r>
            <a:r>
              <a:rPr lang="en-US" sz="2800" dirty="0"/>
              <a:t>-</a:t>
            </a:r>
            <a:r>
              <a:rPr lang="en-IL" sz="2800" dirty="0"/>
              <a:t> accounts sharing the same dominant topic. </a:t>
            </a:r>
          </a:p>
          <a:p>
            <a:pPr lvl="1"/>
            <a:r>
              <a:rPr lang="en-IL" sz="2800" b="1" dirty="0"/>
              <a:t>RF-Predicted IO</a:t>
            </a:r>
            <a:r>
              <a:rPr lang="en-IL" sz="2800" dirty="0"/>
              <a:t> </a:t>
            </a:r>
            <a:r>
              <a:rPr lang="en-US" sz="2800" dirty="0"/>
              <a:t>-</a:t>
            </a:r>
            <a:r>
              <a:rPr lang="en-IL" sz="2800" dirty="0"/>
              <a:t> accounts classified as IO by Random Forest. </a:t>
            </a:r>
          </a:p>
          <a:p>
            <a:pPr lvl="1"/>
            <a:r>
              <a:rPr lang="en-IL" sz="2800" b="1" dirty="0" err="1"/>
              <a:t>XGBoost</a:t>
            </a:r>
            <a:r>
              <a:rPr lang="en-IL" sz="2800" b="1" dirty="0"/>
              <a:t>-Predicted IO</a:t>
            </a:r>
            <a:r>
              <a:rPr lang="en-IL" sz="2800" dirty="0"/>
              <a:t> </a:t>
            </a:r>
            <a:r>
              <a:rPr lang="en-US" sz="2800" dirty="0"/>
              <a:t>-</a:t>
            </a:r>
            <a:r>
              <a:rPr lang="en-IL" sz="2800" dirty="0"/>
              <a:t> accounts classified as IO by </a:t>
            </a:r>
            <a:r>
              <a:rPr lang="en-IL" sz="2800" dirty="0" err="1"/>
              <a:t>XGBoost</a:t>
            </a:r>
            <a:r>
              <a:rPr lang="en-IL" sz="2800" dirty="0"/>
              <a:t>. </a:t>
            </a:r>
          </a:p>
          <a:p>
            <a:r>
              <a:rPr lang="en-IL" sz="3200" dirty="0"/>
              <a:t>We evaluated each group based on </a:t>
            </a:r>
            <a:r>
              <a:rPr lang="en-IL" sz="3200" b="1" dirty="0"/>
              <a:t>IO concentration</a:t>
            </a:r>
            <a:r>
              <a:rPr lang="en-IL" sz="3200" dirty="0"/>
              <a:t> (the proportion of authors </a:t>
            </a:r>
            <a:r>
              <a:rPr lang="en-IL" sz="3200" dirty="0" err="1"/>
              <a:t>labeled</a:t>
            </a:r>
            <a:r>
              <a:rPr lang="en-IL" sz="3200" dirty="0"/>
              <a:t> as IO) and </a:t>
            </a:r>
            <a:r>
              <a:rPr lang="en-IL" sz="3200" b="1" dirty="0"/>
              <a:t>topic alignment</a:t>
            </a:r>
            <a:r>
              <a:rPr lang="en-IL" sz="3200" dirty="0"/>
              <a:t> among the authors.</a:t>
            </a:r>
            <a:endParaRPr lang="en-US" sz="3200" dirty="0"/>
          </a:p>
          <a:p>
            <a:r>
              <a:rPr lang="en-US" sz="3200" dirty="0"/>
              <a:t>K</a:t>
            </a:r>
            <a:r>
              <a:rPr lang="en-IL" sz="3200" dirty="0"/>
              <a:t>-Core </a:t>
            </a:r>
            <a:r>
              <a:rPr lang="en-US" sz="3200" dirty="0"/>
              <a:t>CC</a:t>
            </a:r>
            <a:r>
              <a:rPr lang="en-IL" sz="3200" dirty="0"/>
              <a:t> were selected because they showed strong performance and a good </a:t>
            </a:r>
            <a:r>
              <a:rPr lang="en-US" sz="3200" dirty="0"/>
              <a:t>trade-off</a:t>
            </a:r>
            <a:r>
              <a:rPr lang="en-IL" sz="3200" dirty="0"/>
              <a:t> between IO concentration and topic alignment.</a:t>
            </a:r>
          </a:p>
        </p:txBody>
      </p:sp>
      <p:sp>
        <p:nvSpPr>
          <p:cNvPr id="4" name="Slide Number Placeholder 3">
            <a:extLst>
              <a:ext uri="{FF2B5EF4-FFF2-40B4-BE49-F238E27FC236}">
                <a16:creationId xmlns:a16="http://schemas.microsoft.com/office/drawing/2014/main" id="{23EAE485-9A48-4F07-B3C1-3D692449FE5B}"/>
              </a:ext>
            </a:extLst>
          </p:cNvPr>
          <p:cNvSpPr>
            <a:spLocks noGrp="1"/>
          </p:cNvSpPr>
          <p:nvPr>
            <p:ph type="sldNum" sz="quarter" idx="12"/>
          </p:nvPr>
        </p:nvSpPr>
        <p:spPr/>
        <p:txBody>
          <a:bodyPr/>
          <a:lstStyle/>
          <a:p>
            <a:fld id="{E6AB8EDD-9EF2-4633-A1C2-4D908C1019B4}" type="slidenum">
              <a:rPr lang="he-IL" smtClean="0"/>
              <a:t>15</a:t>
            </a:fld>
            <a:endParaRPr lang="he-IL"/>
          </a:p>
        </p:txBody>
      </p:sp>
    </p:spTree>
    <p:extLst>
      <p:ext uri="{BB962C8B-B14F-4D97-AF65-F5344CB8AC3E}">
        <p14:creationId xmlns:p14="http://schemas.microsoft.com/office/powerpoint/2010/main" val="15454400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6B20B-572C-EA3E-CBFD-11BAC61AA5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A21181-6B71-F107-01AF-62434DE69D07}"/>
              </a:ext>
            </a:extLst>
          </p:cNvPr>
          <p:cNvSpPr>
            <a:spLocks noGrp="1"/>
          </p:cNvSpPr>
          <p:nvPr>
            <p:ph type="title"/>
          </p:nvPr>
        </p:nvSpPr>
        <p:spPr/>
        <p:txBody>
          <a:bodyPr/>
          <a:lstStyle/>
          <a:p>
            <a:r>
              <a:rPr lang="en-US" dirty="0"/>
              <a:t>K-Core</a:t>
            </a:r>
            <a:r>
              <a:rPr lang="en-GB" dirty="0"/>
              <a:t> </a:t>
            </a:r>
            <a:r>
              <a:rPr lang="en-IL" dirty="0"/>
              <a:t> Definition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B6E9C04-4BA0-19E7-9D46-B7C42E213C7F}"/>
                  </a:ext>
                </a:extLst>
              </p:cNvPr>
              <p:cNvSpPr>
                <a:spLocks noGrp="1"/>
              </p:cNvSpPr>
              <p:nvPr>
                <p:ph idx="1"/>
              </p:nvPr>
            </p:nvSpPr>
            <p:spPr>
              <a:xfrm>
                <a:off x="1243087" y="1825625"/>
                <a:ext cx="10582656" cy="4769728"/>
              </a:xfrm>
            </p:spPr>
            <p:txBody>
              <a:bodyPr>
                <a:normAutofit fontScale="92500" lnSpcReduction="10000"/>
              </a:bodyPr>
              <a:lstStyle/>
              <a:p>
                <a:r>
                  <a:rPr lang="en-GB" sz="3600" b="1" dirty="0"/>
                  <a:t>Node</a:t>
                </a:r>
                <a:r>
                  <a:rPr lang="en-GB" sz="3600" dirty="0"/>
                  <a:t> - a single actor/account in the graph. </a:t>
                </a:r>
              </a:p>
              <a:p>
                <a:r>
                  <a:rPr lang="en-GB" sz="3600" b="1" dirty="0"/>
                  <a:t>Subgraph</a:t>
                </a:r>
                <a:r>
                  <a:rPr lang="en-GB" sz="3600" dirty="0"/>
                  <a:t> - a smaller graph made from a subset of nodes and edges from the full graph. </a:t>
                </a:r>
              </a:p>
              <a:p>
                <a:r>
                  <a:rPr lang="en-GB" sz="3600" b="1" dirty="0"/>
                  <a:t>Neighbours</a:t>
                </a:r>
                <a:r>
                  <a:rPr lang="en-GB" sz="3600" dirty="0"/>
                  <a:t> - the nodes directly connected to a given node by an edge.</a:t>
                </a:r>
              </a:p>
              <a:p>
                <a:endParaRPr lang="en-GB" sz="3600" b="1" dirty="0"/>
              </a:p>
              <a:p>
                <a:r>
                  <a:rPr lang="en-IL" sz="3600" b="1" dirty="0"/>
                  <a:t>K-Core</a:t>
                </a:r>
                <a:r>
                  <a:rPr lang="en-IL" sz="3600" dirty="0"/>
                  <a:t> </a:t>
                </a:r>
                <a:r>
                  <a:rPr lang="en-US" sz="3600" dirty="0"/>
                  <a:t>-</a:t>
                </a:r>
                <a:r>
                  <a:rPr lang="en-IL" sz="3600" dirty="0"/>
                  <a:t> a subgraph in which every </a:t>
                </a:r>
                <a:r>
                  <a:rPr lang="en-US" sz="3600" dirty="0"/>
                  <a:t>node has at least k neighbors</a:t>
                </a:r>
                <a:r>
                  <a:rPr lang="en-IL" sz="3600" dirty="0"/>
                  <a:t> within that subgraph.</a:t>
                </a:r>
                <a:endParaRPr lang="en-US" sz="3600" dirty="0"/>
              </a:p>
              <a:p>
                <a:r>
                  <a:rPr lang="en-GB" sz="3600" b="1" dirty="0"/>
                  <a:t>Core-number</a:t>
                </a:r>
                <a:r>
                  <a:rPr lang="en-GB" sz="3600" dirty="0"/>
                  <a:t> - the largest </a:t>
                </a:r>
                <a14:m>
                  <m:oMath xmlns:m="http://schemas.openxmlformats.org/officeDocument/2006/math">
                    <m:r>
                      <a:rPr lang="en-GB" sz="3600">
                        <a:latin typeface="Cambria Math" panose="02040503050406030204" pitchFamily="18" charset="0"/>
                      </a:rPr>
                      <m:t>𝑘</m:t>
                    </m:r>
                  </m:oMath>
                </a14:m>
                <a:r>
                  <a:rPr lang="en-US" sz="3600" dirty="0"/>
                  <a:t> </a:t>
                </a:r>
                <a:r>
                  <a:rPr lang="en-GB" sz="3600" dirty="0"/>
                  <a:t>such that the node belongs to a </a:t>
                </a:r>
                <a:r>
                  <a:rPr lang="en-IL" sz="3600" dirty="0"/>
                  <a:t>K-Core</a:t>
                </a:r>
                <a:r>
                  <a:rPr lang="en-US" sz="3600" dirty="0"/>
                  <a:t>.</a:t>
                </a:r>
                <a:endParaRPr lang="en-GB" sz="3600" dirty="0"/>
              </a:p>
              <a:p>
                <a:endParaRPr lang="en-IL" sz="3600" dirty="0"/>
              </a:p>
            </p:txBody>
          </p:sp>
        </mc:Choice>
        <mc:Fallback>
          <p:sp>
            <p:nvSpPr>
              <p:cNvPr id="3" name="Content Placeholder 2">
                <a:extLst>
                  <a:ext uri="{FF2B5EF4-FFF2-40B4-BE49-F238E27FC236}">
                    <a16:creationId xmlns:a16="http://schemas.microsoft.com/office/drawing/2014/main" id="{6B6E9C04-4BA0-19E7-9D46-B7C42E213C7F}"/>
                  </a:ext>
                </a:extLst>
              </p:cNvPr>
              <p:cNvSpPr>
                <a:spLocks noGrp="1" noRot="1" noChangeAspect="1" noMove="1" noResize="1" noEditPoints="1" noAdjustHandles="1" noChangeArrowheads="1" noChangeShapeType="1" noTextEdit="1"/>
              </p:cNvSpPr>
              <p:nvPr>
                <p:ph idx="1"/>
              </p:nvPr>
            </p:nvSpPr>
            <p:spPr>
              <a:xfrm>
                <a:off x="1243087" y="1825625"/>
                <a:ext cx="10582656" cy="4769728"/>
              </a:xfrm>
              <a:blipFill>
                <a:blip r:embed="rId2"/>
                <a:stretch>
                  <a:fillRect l="-1382" t="-3448" r="-634" b="-4342"/>
                </a:stretch>
              </a:blipFill>
            </p:spPr>
            <p:txBody>
              <a:bodyPr/>
              <a:lstStyle/>
              <a:p>
                <a:r>
                  <a:rPr lang="en-IL">
                    <a:noFill/>
                  </a:rPr>
                  <a:t> </a:t>
                </a:r>
              </a:p>
            </p:txBody>
          </p:sp>
        </mc:Fallback>
      </mc:AlternateContent>
      <p:sp>
        <p:nvSpPr>
          <p:cNvPr id="4" name="Slide Number Placeholder 3">
            <a:extLst>
              <a:ext uri="{FF2B5EF4-FFF2-40B4-BE49-F238E27FC236}">
                <a16:creationId xmlns:a16="http://schemas.microsoft.com/office/drawing/2014/main" id="{F60812F0-E54C-4F7D-05DA-1110FB275D1E}"/>
              </a:ext>
            </a:extLst>
          </p:cNvPr>
          <p:cNvSpPr>
            <a:spLocks noGrp="1"/>
          </p:cNvSpPr>
          <p:nvPr>
            <p:ph type="sldNum" sz="quarter" idx="12"/>
          </p:nvPr>
        </p:nvSpPr>
        <p:spPr/>
        <p:txBody>
          <a:bodyPr/>
          <a:lstStyle/>
          <a:p>
            <a:fld id="{E6AB8EDD-9EF2-4633-A1C2-4D908C1019B4}" type="slidenum">
              <a:rPr lang="he-IL" smtClean="0"/>
              <a:t>16</a:t>
            </a:fld>
            <a:endParaRPr lang="he-IL"/>
          </a:p>
        </p:txBody>
      </p:sp>
    </p:spTree>
    <p:extLst>
      <p:ext uri="{BB962C8B-B14F-4D97-AF65-F5344CB8AC3E}">
        <p14:creationId xmlns:p14="http://schemas.microsoft.com/office/powerpoint/2010/main" val="4086094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FBF81-1759-7631-FCCD-C2B86D71F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5C4968-7120-1977-C518-F3D19EEF9180}"/>
              </a:ext>
            </a:extLst>
          </p:cNvPr>
          <p:cNvSpPr>
            <a:spLocks noGrp="1"/>
          </p:cNvSpPr>
          <p:nvPr>
            <p:ph type="title"/>
          </p:nvPr>
        </p:nvSpPr>
        <p:spPr/>
        <p:txBody>
          <a:bodyPr/>
          <a:lstStyle/>
          <a:p>
            <a:r>
              <a:rPr lang="en-IL" dirty="0"/>
              <a:t>Core Number</a:t>
            </a:r>
            <a:r>
              <a:rPr lang="en-GB" dirty="0"/>
              <a:t>:</a:t>
            </a:r>
            <a:r>
              <a:rPr lang="en-IL" dirty="0"/>
              <a:t> Example</a:t>
            </a:r>
          </a:p>
        </p:txBody>
      </p:sp>
      <p:sp>
        <p:nvSpPr>
          <p:cNvPr id="4" name="Slide Number Placeholder 3">
            <a:extLst>
              <a:ext uri="{FF2B5EF4-FFF2-40B4-BE49-F238E27FC236}">
                <a16:creationId xmlns:a16="http://schemas.microsoft.com/office/drawing/2014/main" id="{3BE09368-FDF4-B047-F86D-A7F727C590A1}"/>
              </a:ext>
            </a:extLst>
          </p:cNvPr>
          <p:cNvSpPr>
            <a:spLocks noGrp="1"/>
          </p:cNvSpPr>
          <p:nvPr>
            <p:ph type="sldNum" sz="quarter" idx="12"/>
          </p:nvPr>
        </p:nvSpPr>
        <p:spPr/>
        <p:txBody>
          <a:bodyPr/>
          <a:lstStyle/>
          <a:p>
            <a:fld id="{E6AB8EDD-9EF2-4633-A1C2-4D908C1019B4}" type="slidenum">
              <a:rPr lang="he-IL" smtClean="0"/>
              <a:t>17</a:t>
            </a:fld>
            <a:endParaRPr lang="he-IL"/>
          </a:p>
        </p:txBody>
      </p:sp>
      <p:pic>
        <p:nvPicPr>
          <p:cNvPr id="3" name="Picture 2" descr="k-Core of a graph">
            <a:extLst>
              <a:ext uri="{FF2B5EF4-FFF2-40B4-BE49-F238E27FC236}">
                <a16:creationId xmlns:a16="http://schemas.microsoft.com/office/drawing/2014/main" id="{A1EFBBA8-CA30-26B6-612F-F894F3E62A64}"/>
              </a:ext>
            </a:extLst>
          </p:cNvPr>
          <p:cNvPicPr>
            <a:picLocks noChangeAspect="1"/>
          </p:cNvPicPr>
          <p:nvPr/>
        </p:nvPicPr>
        <p:blipFill>
          <a:blip r:embed="rId2"/>
          <a:stretch>
            <a:fillRect/>
          </a:stretch>
        </p:blipFill>
        <p:spPr>
          <a:xfrm>
            <a:off x="1255283" y="1867838"/>
            <a:ext cx="10174718" cy="4107071"/>
          </a:xfrm>
          <a:prstGeom prst="rect">
            <a:avLst/>
          </a:prstGeom>
        </p:spPr>
      </p:pic>
      <p:sp>
        <p:nvSpPr>
          <p:cNvPr id="5" name="TextBox 4">
            <a:extLst>
              <a:ext uri="{FF2B5EF4-FFF2-40B4-BE49-F238E27FC236}">
                <a16:creationId xmlns:a16="http://schemas.microsoft.com/office/drawing/2014/main" id="{026D91F2-615E-8B2A-5BF3-DD43C863C4DE}"/>
              </a:ext>
            </a:extLst>
          </p:cNvPr>
          <p:cNvSpPr txBox="1"/>
          <p:nvPr/>
        </p:nvSpPr>
        <p:spPr>
          <a:xfrm rot="21258625">
            <a:off x="6110596" y="1919799"/>
            <a:ext cx="1377595" cy="338554"/>
          </a:xfrm>
          <a:prstGeom prst="rect">
            <a:avLst/>
          </a:prstGeom>
          <a:noFill/>
        </p:spPr>
        <p:txBody>
          <a:bodyPr wrap="square" rtlCol="0">
            <a:spAutoFit/>
          </a:bodyPr>
          <a:lstStyle/>
          <a:p>
            <a:pPr algn="ctr"/>
            <a:r>
              <a:rPr lang="en-GB" sz="1600" dirty="0"/>
              <a:t>#DeepState</a:t>
            </a:r>
            <a:endParaRPr lang="en-IL" sz="1600" dirty="0"/>
          </a:p>
        </p:txBody>
      </p:sp>
      <p:sp>
        <p:nvSpPr>
          <p:cNvPr id="6" name="TextBox 5">
            <a:extLst>
              <a:ext uri="{FF2B5EF4-FFF2-40B4-BE49-F238E27FC236}">
                <a16:creationId xmlns:a16="http://schemas.microsoft.com/office/drawing/2014/main" id="{5B2F4669-9508-4E5A-B24C-22B002FCE751}"/>
              </a:ext>
            </a:extLst>
          </p:cNvPr>
          <p:cNvSpPr txBox="1"/>
          <p:nvPr/>
        </p:nvSpPr>
        <p:spPr>
          <a:xfrm rot="4810671">
            <a:off x="5646712" y="3149197"/>
            <a:ext cx="1205152" cy="338554"/>
          </a:xfrm>
          <a:prstGeom prst="rect">
            <a:avLst/>
          </a:prstGeom>
          <a:noFill/>
        </p:spPr>
        <p:txBody>
          <a:bodyPr wrap="square" rtlCol="0">
            <a:spAutoFit/>
          </a:bodyPr>
          <a:lstStyle/>
          <a:p>
            <a:pPr algn="ctr"/>
            <a:r>
              <a:rPr lang="en-GB" sz="1600" dirty="0"/>
              <a:t>#CoverUp</a:t>
            </a:r>
            <a:endParaRPr lang="en-IL" sz="1600" dirty="0"/>
          </a:p>
        </p:txBody>
      </p:sp>
      <p:sp>
        <p:nvSpPr>
          <p:cNvPr id="7" name="TextBox 6">
            <a:extLst>
              <a:ext uri="{FF2B5EF4-FFF2-40B4-BE49-F238E27FC236}">
                <a16:creationId xmlns:a16="http://schemas.microsoft.com/office/drawing/2014/main" id="{A0FC3455-0162-56A7-9F57-73B53C64B549}"/>
              </a:ext>
            </a:extLst>
          </p:cNvPr>
          <p:cNvSpPr txBox="1"/>
          <p:nvPr/>
        </p:nvSpPr>
        <p:spPr>
          <a:xfrm>
            <a:off x="6742558" y="3771025"/>
            <a:ext cx="1477314" cy="338554"/>
          </a:xfrm>
          <a:prstGeom prst="rect">
            <a:avLst/>
          </a:prstGeom>
          <a:noFill/>
        </p:spPr>
        <p:txBody>
          <a:bodyPr wrap="square" rtlCol="0">
            <a:spAutoFit/>
          </a:bodyPr>
          <a:lstStyle/>
          <a:p>
            <a:pPr algn="ctr"/>
            <a:r>
              <a:rPr lang="en-GB" sz="1600" dirty="0"/>
              <a:t>#TruthExposed</a:t>
            </a:r>
            <a:endParaRPr lang="en-IL" sz="1600" dirty="0"/>
          </a:p>
        </p:txBody>
      </p:sp>
      <p:sp>
        <p:nvSpPr>
          <p:cNvPr id="8" name="TextBox 7">
            <a:extLst>
              <a:ext uri="{FF2B5EF4-FFF2-40B4-BE49-F238E27FC236}">
                <a16:creationId xmlns:a16="http://schemas.microsoft.com/office/drawing/2014/main" id="{71AC6232-205D-E057-9D18-19CA5F579B02}"/>
              </a:ext>
            </a:extLst>
          </p:cNvPr>
          <p:cNvSpPr txBox="1"/>
          <p:nvPr/>
        </p:nvSpPr>
        <p:spPr>
          <a:xfrm rot="4119364">
            <a:off x="7794291" y="2828263"/>
            <a:ext cx="1377595" cy="338554"/>
          </a:xfrm>
          <a:prstGeom prst="rect">
            <a:avLst/>
          </a:prstGeom>
          <a:noFill/>
        </p:spPr>
        <p:txBody>
          <a:bodyPr wrap="square" rtlCol="0">
            <a:spAutoFit/>
          </a:bodyPr>
          <a:lstStyle/>
          <a:p>
            <a:pPr algn="ctr"/>
            <a:r>
              <a:rPr lang="en-GB" sz="1600" dirty="0"/>
              <a:t>#DeepState</a:t>
            </a:r>
            <a:endParaRPr lang="en-IL" sz="1600" dirty="0"/>
          </a:p>
        </p:txBody>
      </p:sp>
      <p:sp>
        <p:nvSpPr>
          <p:cNvPr id="9" name="TextBox 8">
            <a:extLst>
              <a:ext uri="{FF2B5EF4-FFF2-40B4-BE49-F238E27FC236}">
                <a16:creationId xmlns:a16="http://schemas.microsoft.com/office/drawing/2014/main" id="{03CF02B8-F58B-B4F9-7B80-6387A4DDABE5}"/>
              </a:ext>
            </a:extLst>
          </p:cNvPr>
          <p:cNvSpPr txBox="1"/>
          <p:nvPr/>
        </p:nvSpPr>
        <p:spPr>
          <a:xfrm rot="1762880">
            <a:off x="7204790" y="3201896"/>
            <a:ext cx="1205152" cy="338554"/>
          </a:xfrm>
          <a:prstGeom prst="rect">
            <a:avLst/>
          </a:prstGeom>
          <a:noFill/>
        </p:spPr>
        <p:txBody>
          <a:bodyPr wrap="square" rtlCol="0">
            <a:spAutoFit/>
          </a:bodyPr>
          <a:lstStyle/>
          <a:p>
            <a:pPr algn="ctr"/>
            <a:r>
              <a:rPr lang="en-GB" sz="1600" dirty="0"/>
              <a:t>#CoverUp</a:t>
            </a:r>
            <a:endParaRPr lang="en-IL" sz="1600" dirty="0"/>
          </a:p>
        </p:txBody>
      </p:sp>
      <p:sp>
        <p:nvSpPr>
          <p:cNvPr id="10" name="TextBox 9">
            <a:extLst>
              <a:ext uri="{FF2B5EF4-FFF2-40B4-BE49-F238E27FC236}">
                <a16:creationId xmlns:a16="http://schemas.microsoft.com/office/drawing/2014/main" id="{DBACEDCF-E414-D5DE-B87D-F89D5BA52BA9}"/>
              </a:ext>
            </a:extLst>
          </p:cNvPr>
          <p:cNvSpPr txBox="1"/>
          <p:nvPr/>
        </p:nvSpPr>
        <p:spPr>
          <a:xfrm rot="18366777">
            <a:off x="6630407" y="2490587"/>
            <a:ext cx="1205152" cy="338554"/>
          </a:xfrm>
          <a:prstGeom prst="rect">
            <a:avLst/>
          </a:prstGeom>
          <a:noFill/>
        </p:spPr>
        <p:txBody>
          <a:bodyPr wrap="square" rtlCol="0">
            <a:spAutoFit/>
          </a:bodyPr>
          <a:lstStyle/>
          <a:p>
            <a:pPr algn="ctr"/>
            <a:r>
              <a:rPr lang="en-GB" sz="1600" dirty="0"/>
              <a:t>#True</a:t>
            </a:r>
            <a:endParaRPr lang="en-IL" sz="1600" dirty="0"/>
          </a:p>
        </p:txBody>
      </p:sp>
      <p:sp>
        <p:nvSpPr>
          <p:cNvPr id="14" name="TextBox 13">
            <a:extLst>
              <a:ext uri="{FF2B5EF4-FFF2-40B4-BE49-F238E27FC236}">
                <a16:creationId xmlns:a16="http://schemas.microsoft.com/office/drawing/2014/main" id="{A909B6A0-DF6A-5CD7-996A-C3A01D11C97C}"/>
              </a:ext>
            </a:extLst>
          </p:cNvPr>
          <p:cNvSpPr txBox="1"/>
          <p:nvPr/>
        </p:nvSpPr>
        <p:spPr>
          <a:xfrm>
            <a:off x="4618686" y="3805712"/>
            <a:ext cx="1477314" cy="338554"/>
          </a:xfrm>
          <a:prstGeom prst="rect">
            <a:avLst/>
          </a:prstGeom>
          <a:noFill/>
        </p:spPr>
        <p:txBody>
          <a:bodyPr wrap="square" rtlCol="0">
            <a:spAutoFit/>
          </a:bodyPr>
          <a:lstStyle/>
          <a:p>
            <a:pPr algn="ctr"/>
            <a:r>
              <a:rPr lang="en-GB" sz="1600" dirty="0"/>
              <a:t>#Trending</a:t>
            </a:r>
            <a:endParaRPr lang="en-IL" sz="1600" dirty="0"/>
          </a:p>
        </p:txBody>
      </p:sp>
      <p:sp>
        <p:nvSpPr>
          <p:cNvPr id="16" name="TextBox 15">
            <a:extLst>
              <a:ext uri="{FF2B5EF4-FFF2-40B4-BE49-F238E27FC236}">
                <a16:creationId xmlns:a16="http://schemas.microsoft.com/office/drawing/2014/main" id="{D554517A-9D8A-70EB-41D1-4C5261EC4380}"/>
              </a:ext>
            </a:extLst>
          </p:cNvPr>
          <p:cNvSpPr txBox="1"/>
          <p:nvPr/>
        </p:nvSpPr>
        <p:spPr>
          <a:xfrm rot="3114557">
            <a:off x="9656857" y="2508597"/>
            <a:ext cx="1377595" cy="338554"/>
          </a:xfrm>
          <a:prstGeom prst="rect">
            <a:avLst/>
          </a:prstGeom>
          <a:noFill/>
        </p:spPr>
        <p:txBody>
          <a:bodyPr wrap="square" rtlCol="0">
            <a:spAutoFit/>
          </a:bodyPr>
          <a:lstStyle/>
          <a:p>
            <a:pPr algn="ctr"/>
            <a:r>
              <a:rPr lang="en-GB" sz="1600" dirty="0"/>
              <a:t>#Music</a:t>
            </a:r>
            <a:endParaRPr lang="en-IL" sz="1600" dirty="0"/>
          </a:p>
        </p:txBody>
      </p:sp>
      <p:sp>
        <p:nvSpPr>
          <p:cNvPr id="18" name="TextBox 17">
            <a:extLst>
              <a:ext uri="{FF2B5EF4-FFF2-40B4-BE49-F238E27FC236}">
                <a16:creationId xmlns:a16="http://schemas.microsoft.com/office/drawing/2014/main" id="{EE7A3518-5695-0E32-90BD-476955BA4AA6}"/>
              </a:ext>
            </a:extLst>
          </p:cNvPr>
          <p:cNvSpPr txBox="1"/>
          <p:nvPr/>
        </p:nvSpPr>
        <p:spPr>
          <a:xfrm rot="17535076">
            <a:off x="8457906" y="2864984"/>
            <a:ext cx="1377595" cy="338554"/>
          </a:xfrm>
          <a:prstGeom prst="rect">
            <a:avLst/>
          </a:prstGeom>
          <a:noFill/>
        </p:spPr>
        <p:txBody>
          <a:bodyPr wrap="square" rtlCol="0">
            <a:spAutoFit/>
          </a:bodyPr>
          <a:lstStyle/>
          <a:p>
            <a:pPr algn="ctr"/>
            <a:r>
              <a:rPr lang="en-GB" sz="1600" dirty="0"/>
              <a:t>#DeepState</a:t>
            </a:r>
            <a:endParaRPr lang="en-IL" sz="1600" dirty="0"/>
          </a:p>
        </p:txBody>
      </p:sp>
      <p:sp>
        <p:nvSpPr>
          <p:cNvPr id="21" name="TextBox 20">
            <a:extLst>
              <a:ext uri="{FF2B5EF4-FFF2-40B4-BE49-F238E27FC236}">
                <a16:creationId xmlns:a16="http://schemas.microsoft.com/office/drawing/2014/main" id="{66712921-5011-08A5-CC00-D27AEBF9BD05}"/>
              </a:ext>
            </a:extLst>
          </p:cNvPr>
          <p:cNvSpPr txBox="1"/>
          <p:nvPr/>
        </p:nvSpPr>
        <p:spPr>
          <a:xfrm>
            <a:off x="9656856" y="1791741"/>
            <a:ext cx="1377595" cy="338554"/>
          </a:xfrm>
          <a:prstGeom prst="rect">
            <a:avLst/>
          </a:prstGeom>
          <a:noFill/>
        </p:spPr>
        <p:txBody>
          <a:bodyPr wrap="square" rtlCol="0">
            <a:spAutoFit/>
          </a:bodyPr>
          <a:lstStyle/>
          <a:p>
            <a:pPr algn="ctr"/>
            <a:r>
              <a:rPr lang="en-GB" sz="1600" dirty="0"/>
              <a:t>#Music</a:t>
            </a:r>
            <a:endParaRPr lang="en-IL" sz="1600" dirty="0"/>
          </a:p>
        </p:txBody>
      </p:sp>
      <p:sp>
        <p:nvSpPr>
          <p:cNvPr id="23" name="TextBox 22">
            <a:extLst>
              <a:ext uri="{FF2B5EF4-FFF2-40B4-BE49-F238E27FC236}">
                <a16:creationId xmlns:a16="http://schemas.microsoft.com/office/drawing/2014/main" id="{F7D82200-163E-4905-F370-F28EA4FFE151}"/>
              </a:ext>
            </a:extLst>
          </p:cNvPr>
          <p:cNvSpPr txBox="1"/>
          <p:nvPr/>
        </p:nvSpPr>
        <p:spPr>
          <a:xfrm rot="20634719">
            <a:off x="9166637" y="3480230"/>
            <a:ext cx="1377595" cy="338554"/>
          </a:xfrm>
          <a:prstGeom prst="rect">
            <a:avLst/>
          </a:prstGeom>
          <a:noFill/>
        </p:spPr>
        <p:txBody>
          <a:bodyPr wrap="square" rtlCol="0">
            <a:spAutoFit/>
          </a:bodyPr>
          <a:lstStyle/>
          <a:p>
            <a:pPr algn="ctr"/>
            <a:r>
              <a:rPr lang="en-GB" sz="1600" dirty="0"/>
              <a:t># Media</a:t>
            </a:r>
            <a:endParaRPr lang="en-IL" sz="1600" dirty="0"/>
          </a:p>
        </p:txBody>
      </p:sp>
      <p:sp>
        <p:nvSpPr>
          <p:cNvPr id="24" name="TextBox 23">
            <a:extLst>
              <a:ext uri="{FF2B5EF4-FFF2-40B4-BE49-F238E27FC236}">
                <a16:creationId xmlns:a16="http://schemas.microsoft.com/office/drawing/2014/main" id="{301EFE46-D669-1079-661B-A318F9253973}"/>
              </a:ext>
            </a:extLst>
          </p:cNvPr>
          <p:cNvSpPr txBox="1"/>
          <p:nvPr/>
        </p:nvSpPr>
        <p:spPr>
          <a:xfrm rot="15751676">
            <a:off x="8165907" y="4724186"/>
            <a:ext cx="1377595" cy="369332"/>
          </a:xfrm>
          <a:prstGeom prst="rect">
            <a:avLst/>
          </a:prstGeom>
          <a:noFill/>
        </p:spPr>
        <p:txBody>
          <a:bodyPr wrap="square" rtlCol="0">
            <a:spAutoFit/>
          </a:bodyPr>
          <a:lstStyle/>
          <a:p>
            <a:pPr algn="ctr"/>
            <a:r>
              <a:rPr lang="en-GB" dirty="0"/>
              <a:t>#</a:t>
            </a:r>
            <a:r>
              <a:rPr lang="en-GB" sz="1600" dirty="0"/>
              <a:t>DeepState</a:t>
            </a:r>
            <a:endParaRPr lang="en-IL" sz="1600" dirty="0"/>
          </a:p>
        </p:txBody>
      </p:sp>
      <p:sp>
        <p:nvSpPr>
          <p:cNvPr id="25" name="TextBox 24">
            <a:extLst>
              <a:ext uri="{FF2B5EF4-FFF2-40B4-BE49-F238E27FC236}">
                <a16:creationId xmlns:a16="http://schemas.microsoft.com/office/drawing/2014/main" id="{B315AFAB-8E07-193A-F7ED-27FDDE52CFB0}"/>
              </a:ext>
            </a:extLst>
          </p:cNvPr>
          <p:cNvSpPr txBox="1"/>
          <p:nvPr/>
        </p:nvSpPr>
        <p:spPr>
          <a:xfrm rot="5187585">
            <a:off x="5916302" y="4788727"/>
            <a:ext cx="1205152" cy="338554"/>
          </a:xfrm>
          <a:prstGeom prst="rect">
            <a:avLst/>
          </a:prstGeom>
          <a:noFill/>
        </p:spPr>
        <p:txBody>
          <a:bodyPr wrap="square" rtlCol="0">
            <a:spAutoFit/>
          </a:bodyPr>
          <a:lstStyle/>
          <a:p>
            <a:pPr algn="ctr"/>
            <a:r>
              <a:rPr lang="en-GB" sz="1600" dirty="0"/>
              <a:t>#True</a:t>
            </a:r>
            <a:endParaRPr lang="en-IL" sz="1600" dirty="0"/>
          </a:p>
        </p:txBody>
      </p:sp>
      <p:sp>
        <p:nvSpPr>
          <p:cNvPr id="27" name="TextBox 26">
            <a:extLst>
              <a:ext uri="{FF2B5EF4-FFF2-40B4-BE49-F238E27FC236}">
                <a16:creationId xmlns:a16="http://schemas.microsoft.com/office/drawing/2014/main" id="{A05B10CE-B78B-A560-406C-D455F3F371B9}"/>
              </a:ext>
            </a:extLst>
          </p:cNvPr>
          <p:cNvSpPr txBox="1"/>
          <p:nvPr/>
        </p:nvSpPr>
        <p:spPr>
          <a:xfrm rot="18445421">
            <a:off x="4377158" y="2864983"/>
            <a:ext cx="1205152" cy="338554"/>
          </a:xfrm>
          <a:prstGeom prst="rect">
            <a:avLst/>
          </a:prstGeom>
          <a:noFill/>
        </p:spPr>
        <p:txBody>
          <a:bodyPr wrap="square" rtlCol="0">
            <a:spAutoFit/>
          </a:bodyPr>
          <a:lstStyle/>
          <a:p>
            <a:pPr algn="ctr"/>
            <a:r>
              <a:rPr lang="en-GB" sz="1600" dirty="0"/>
              <a:t>#CoverUp</a:t>
            </a:r>
            <a:endParaRPr lang="en-IL" sz="1600" dirty="0"/>
          </a:p>
        </p:txBody>
      </p:sp>
      <p:sp>
        <p:nvSpPr>
          <p:cNvPr id="28" name="TextBox 27">
            <a:extLst>
              <a:ext uri="{FF2B5EF4-FFF2-40B4-BE49-F238E27FC236}">
                <a16:creationId xmlns:a16="http://schemas.microsoft.com/office/drawing/2014/main" id="{97E5B288-8DC3-D387-AF1E-D3C58F4750E5}"/>
              </a:ext>
            </a:extLst>
          </p:cNvPr>
          <p:cNvSpPr txBox="1"/>
          <p:nvPr/>
        </p:nvSpPr>
        <p:spPr>
          <a:xfrm rot="4499005">
            <a:off x="3739807" y="2936281"/>
            <a:ext cx="1205152" cy="338554"/>
          </a:xfrm>
          <a:prstGeom prst="rect">
            <a:avLst/>
          </a:prstGeom>
          <a:noFill/>
        </p:spPr>
        <p:txBody>
          <a:bodyPr wrap="square" rtlCol="0">
            <a:spAutoFit/>
          </a:bodyPr>
          <a:lstStyle/>
          <a:p>
            <a:pPr algn="ctr"/>
            <a:r>
              <a:rPr lang="en-GB" sz="1600" dirty="0"/>
              <a:t>#CoverUp</a:t>
            </a:r>
            <a:endParaRPr lang="en-IL" sz="1600" dirty="0"/>
          </a:p>
        </p:txBody>
      </p:sp>
      <p:sp>
        <p:nvSpPr>
          <p:cNvPr id="30" name="TextBox 29">
            <a:extLst>
              <a:ext uri="{FF2B5EF4-FFF2-40B4-BE49-F238E27FC236}">
                <a16:creationId xmlns:a16="http://schemas.microsoft.com/office/drawing/2014/main" id="{D088BDCC-3776-9674-10AE-CAE67CA8BC28}"/>
              </a:ext>
            </a:extLst>
          </p:cNvPr>
          <p:cNvSpPr txBox="1"/>
          <p:nvPr/>
        </p:nvSpPr>
        <p:spPr>
          <a:xfrm rot="17463090">
            <a:off x="3407513" y="4683885"/>
            <a:ext cx="1205152" cy="338554"/>
          </a:xfrm>
          <a:prstGeom prst="rect">
            <a:avLst/>
          </a:prstGeom>
          <a:noFill/>
        </p:spPr>
        <p:txBody>
          <a:bodyPr wrap="square" rtlCol="0">
            <a:spAutoFit/>
          </a:bodyPr>
          <a:lstStyle/>
          <a:p>
            <a:pPr algn="ctr"/>
            <a:r>
              <a:rPr lang="en-GB" sz="1600" dirty="0"/>
              <a:t>#CoverUp</a:t>
            </a:r>
            <a:endParaRPr lang="en-IL" sz="1600" dirty="0"/>
          </a:p>
        </p:txBody>
      </p:sp>
      <p:sp>
        <p:nvSpPr>
          <p:cNvPr id="31" name="TextBox 30">
            <a:extLst>
              <a:ext uri="{FF2B5EF4-FFF2-40B4-BE49-F238E27FC236}">
                <a16:creationId xmlns:a16="http://schemas.microsoft.com/office/drawing/2014/main" id="{E41DC1E2-CFB8-6380-452E-71770B27D50A}"/>
              </a:ext>
            </a:extLst>
          </p:cNvPr>
          <p:cNvSpPr txBox="1"/>
          <p:nvPr/>
        </p:nvSpPr>
        <p:spPr>
          <a:xfrm rot="1702415">
            <a:off x="7159342" y="4609927"/>
            <a:ext cx="1377595" cy="338554"/>
          </a:xfrm>
          <a:prstGeom prst="rect">
            <a:avLst/>
          </a:prstGeom>
          <a:noFill/>
        </p:spPr>
        <p:txBody>
          <a:bodyPr wrap="square" rtlCol="0">
            <a:spAutoFit/>
          </a:bodyPr>
          <a:lstStyle/>
          <a:p>
            <a:pPr algn="ctr"/>
            <a:r>
              <a:rPr lang="en-GB" sz="1600" dirty="0"/>
              <a:t># Media</a:t>
            </a:r>
            <a:endParaRPr lang="en-IL" sz="1600" dirty="0"/>
          </a:p>
        </p:txBody>
      </p:sp>
      <p:sp>
        <p:nvSpPr>
          <p:cNvPr id="11" name="Oval 10">
            <a:extLst>
              <a:ext uri="{FF2B5EF4-FFF2-40B4-BE49-F238E27FC236}">
                <a16:creationId xmlns:a16="http://schemas.microsoft.com/office/drawing/2014/main" id="{1D3B6211-C6E4-1BBA-7030-3820BC8F64FF}"/>
              </a:ext>
            </a:extLst>
          </p:cNvPr>
          <p:cNvSpPr/>
          <p:nvPr/>
        </p:nvSpPr>
        <p:spPr>
          <a:xfrm rot="1340853">
            <a:off x="5185122" y="1691846"/>
            <a:ext cx="4186974" cy="3126336"/>
          </a:xfrm>
          <a:prstGeom prst="ellipse">
            <a:avLst/>
          </a:prstGeom>
          <a:noFill/>
          <a:ln w="28575">
            <a:solidFill>
              <a:schemeClr val="accent2">
                <a:lumMod val="75000"/>
              </a:schemeClr>
            </a:solidFill>
          </a:ln>
          <a:effectLst>
            <a:glow rad="139700">
              <a:schemeClr val="accent4">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1" eaLnBrk="1" latinLnBrk="0" hangingPunct="1"/>
            <a:endParaRPr lang="en-IL"/>
          </a:p>
        </p:txBody>
      </p:sp>
      <p:sp>
        <p:nvSpPr>
          <p:cNvPr id="12" name="TextBox 11">
            <a:extLst>
              <a:ext uri="{FF2B5EF4-FFF2-40B4-BE49-F238E27FC236}">
                <a16:creationId xmlns:a16="http://schemas.microsoft.com/office/drawing/2014/main" id="{788576B8-144B-9F99-5CCF-A278CDAFF407}"/>
              </a:ext>
            </a:extLst>
          </p:cNvPr>
          <p:cNvSpPr txBox="1"/>
          <p:nvPr/>
        </p:nvSpPr>
        <p:spPr>
          <a:xfrm rot="1676257">
            <a:off x="7596847" y="1699407"/>
            <a:ext cx="2104669" cy="523220"/>
          </a:xfrm>
          <a:prstGeom prst="rect">
            <a:avLst/>
          </a:prstGeom>
          <a:noFill/>
        </p:spPr>
        <p:txBody>
          <a:bodyPr wrap="square" rtlCol="0">
            <a:spAutoFit/>
          </a:bodyPr>
          <a:lstStyle/>
          <a:p>
            <a:r>
              <a:rPr lang="en-US" sz="2800" dirty="0">
                <a:solidFill>
                  <a:schemeClr val="accent2">
                    <a:lumMod val="75000"/>
                  </a:schemeClr>
                </a:solidFill>
              </a:rPr>
              <a:t>IO Drivers</a:t>
            </a:r>
            <a:endParaRPr lang="en-IL" sz="2800" dirty="0">
              <a:solidFill>
                <a:schemeClr val="accent2">
                  <a:lumMod val="75000"/>
                </a:schemeClr>
              </a:solidFill>
            </a:endParaRPr>
          </a:p>
        </p:txBody>
      </p:sp>
      <p:sp>
        <p:nvSpPr>
          <p:cNvPr id="13" name="TextBox 12">
            <a:extLst>
              <a:ext uri="{FF2B5EF4-FFF2-40B4-BE49-F238E27FC236}">
                <a16:creationId xmlns:a16="http://schemas.microsoft.com/office/drawing/2014/main" id="{CC8FB36E-45DE-CDBF-18E4-24798133D1EE}"/>
              </a:ext>
            </a:extLst>
          </p:cNvPr>
          <p:cNvSpPr txBox="1"/>
          <p:nvPr/>
        </p:nvSpPr>
        <p:spPr>
          <a:xfrm>
            <a:off x="9351225" y="1341654"/>
            <a:ext cx="1953003" cy="369332"/>
          </a:xfrm>
          <a:prstGeom prst="rect">
            <a:avLst/>
          </a:prstGeom>
          <a:noFill/>
        </p:spPr>
        <p:txBody>
          <a:bodyPr wrap="square" rtlCol="0">
            <a:spAutoFit/>
          </a:bodyPr>
          <a:lstStyle/>
          <a:p>
            <a:r>
              <a:rPr lang="en-US" dirty="0"/>
              <a:t>Co-Action Graph</a:t>
            </a:r>
            <a:endParaRPr lang="en-IL" dirty="0"/>
          </a:p>
        </p:txBody>
      </p:sp>
      <p:sp>
        <p:nvSpPr>
          <p:cNvPr id="17" name="TextBox 16">
            <a:extLst>
              <a:ext uri="{FF2B5EF4-FFF2-40B4-BE49-F238E27FC236}">
                <a16:creationId xmlns:a16="http://schemas.microsoft.com/office/drawing/2014/main" id="{98038791-A184-B391-560C-F39DCF16C891}"/>
              </a:ext>
            </a:extLst>
          </p:cNvPr>
          <p:cNvSpPr txBox="1"/>
          <p:nvPr/>
        </p:nvSpPr>
        <p:spPr>
          <a:xfrm rot="18686069">
            <a:off x="9036591" y="4390791"/>
            <a:ext cx="1377595" cy="338554"/>
          </a:xfrm>
          <a:prstGeom prst="rect">
            <a:avLst/>
          </a:prstGeom>
          <a:noFill/>
        </p:spPr>
        <p:txBody>
          <a:bodyPr wrap="square" rtlCol="0">
            <a:spAutoFit/>
          </a:bodyPr>
          <a:lstStyle/>
          <a:p>
            <a:pPr algn="ctr"/>
            <a:r>
              <a:rPr lang="en-GB" sz="1600" dirty="0"/>
              <a:t>#Eurovision</a:t>
            </a:r>
            <a:endParaRPr lang="en-IL" sz="16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B168A8F-FFA2-DA9C-4FE8-2D9B65841E59}"/>
                  </a:ext>
                </a:extLst>
              </p:cNvPr>
              <p:cNvSpPr txBox="1"/>
              <p:nvPr/>
            </p:nvSpPr>
            <p:spPr>
              <a:xfrm>
                <a:off x="9660367" y="4785395"/>
                <a:ext cx="2552699" cy="1569660"/>
              </a:xfrm>
              <a:prstGeom prst="rect">
                <a:avLst/>
              </a:prstGeom>
              <a:noFill/>
            </p:spPr>
            <p:txBody>
              <a:bodyPr wrap="square">
                <a:spAutoFit/>
              </a:bodyPr>
              <a:lstStyle/>
              <a:p>
                <a:r>
                  <a:rPr lang="en-GB" sz="1600" b="1" dirty="0"/>
                  <a:t>Core-number</a:t>
                </a:r>
                <a:r>
                  <a:rPr lang="en-GB" sz="1600" dirty="0"/>
                  <a:t> - the largest number </a:t>
                </a:r>
                <a14:m>
                  <m:oMath xmlns:m="http://schemas.openxmlformats.org/officeDocument/2006/math">
                    <m:r>
                      <a:rPr lang="en-GB" sz="1600">
                        <a:latin typeface="Cambria Math" panose="02040503050406030204" pitchFamily="18" charset="0"/>
                      </a:rPr>
                      <m:t>𝑘</m:t>
                    </m:r>
                  </m:oMath>
                </a14:m>
                <a:r>
                  <a:rPr lang="en-US" sz="1600" dirty="0"/>
                  <a:t> </a:t>
                </a:r>
                <a:r>
                  <a:rPr lang="en-GB" sz="1600" dirty="0"/>
                  <a:t>such that the node belongs to a subgraph where every node has at least </a:t>
                </a:r>
                <a14:m>
                  <m:oMath xmlns:m="http://schemas.openxmlformats.org/officeDocument/2006/math">
                    <m:r>
                      <a:rPr lang="en-GB" sz="1600">
                        <a:latin typeface="Cambria Math" panose="02040503050406030204" pitchFamily="18" charset="0"/>
                      </a:rPr>
                      <m:t>𝑘</m:t>
                    </m:r>
                    <m:r>
                      <a:rPr lang="en-GB" sz="1600" b="0" i="0" smtClean="0">
                        <a:latin typeface="Cambria Math" panose="02040503050406030204" pitchFamily="18" charset="0"/>
                      </a:rPr>
                      <m:t> </m:t>
                    </m:r>
                  </m:oMath>
                </a14:m>
                <a:r>
                  <a:rPr lang="en-GB" sz="1600" dirty="0"/>
                  <a:t>neighbours </a:t>
                </a:r>
                <a:r>
                  <a:rPr lang="en-GB" sz="1600" u="sng" dirty="0"/>
                  <a:t>within</a:t>
                </a:r>
                <a:r>
                  <a:rPr lang="en-GB" sz="1600" dirty="0"/>
                  <a:t> that subgraph.</a:t>
                </a:r>
                <a:endParaRPr lang="en-IL" sz="1600" dirty="0"/>
              </a:p>
            </p:txBody>
          </p:sp>
        </mc:Choice>
        <mc:Fallback xmlns="">
          <p:sp>
            <p:nvSpPr>
              <p:cNvPr id="15" name="TextBox 14">
                <a:extLst>
                  <a:ext uri="{FF2B5EF4-FFF2-40B4-BE49-F238E27FC236}">
                    <a16:creationId xmlns:a16="http://schemas.microsoft.com/office/drawing/2014/main" id="{FB168A8F-FFA2-DA9C-4FE8-2D9B65841E59}"/>
                  </a:ext>
                </a:extLst>
              </p:cNvPr>
              <p:cNvSpPr txBox="1">
                <a:spLocks noRot="1" noChangeAspect="1" noMove="1" noResize="1" noEditPoints="1" noAdjustHandles="1" noChangeArrowheads="1" noChangeShapeType="1" noTextEdit="1"/>
              </p:cNvSpPr>
              <p:nvPr/>
            </p:nvSpPr>
            <p:spPr>
              <a:xfrm>
                <a:off x="9660367" y="4785395"/>
                <a:ext cx="2552699" cy="1569660"/>
              </a:xfrm>
              <a:prstGeom prst="rect">
                <a:avLst/>
              </a:prstGeom>
              <a:blipFill>
                <a:blip r:embed="rId3"/>
                <a:stretch>
                  <a:fillRect l="-1435" t="-1167" b="-4280"/>
                </a:stretch>
              </a:blipFill>
            </p:spPr>
            <p:txBody>
              <a:bodyPr/>
              <a:lstStyle/>
              <a:p>
                <a:r>
                  <a:rPr lang="en-IL">
                    <a:noFill/>
                  </a:rPr>
                  <a:t> </a:t>
                </a:r>
              </a:p>
            </p:txBody>
          </p:sp>
        </mc:Fallback>
      </mc:AlternateContent>
    </p:spTree>
    <p:extLst>
      <p:ext uri="{BB962C8B-B14F-4D97-AF65-F5344CB8AC3E}">
        <p14:creationId xmlns:p14="http://schemas.microsoft.com/office/powerpoint/2010/main" val="3586332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1CE1C-C84E-C83F-4718-819CFC8BD3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76EB9B-BE1C-70F7-2356-0A5004880369}"/>
              </a:ext>
            </a:extLst>
          </p:cNvPr>
          <p:cNvSpPr>
            <a:spLocks noGrp="1"/>
          </p:cNvSpPr>
          <p:nvPr>
            <p:ph type="title"/>
          </p:nvPr>
        </p:nvSpPr>
        <p:spPr/>
        <p:txBody>
          <a:bodyPr/>
          <a:lstStyle/>
          <a:p>
            <a:r>
              <a:rPr lang="en-US" dirty="0"/>
              <a:t>Maximal K-Core</a:t>
            </a:r>
            <a:r>
              <a:rPr lang="en-IL" dirty="0"/>
              <a:t> Motivation</a:t>
            </a:r>
          </a:p>
        </p:txBody>
      </p:sp>
      <p:graphicFrame>
        <p:nvGraphicFramePr>
          <p:cNvPr id="5" name="Content Placeholder 4">
            <a:extLst>
              <a:ext uri="{FF2B5EF4-FFF2-40B4-BE49-F238E27FC236}">
                <a16:creationId xmlns:a16="http://schemas.microsoft.com/office/drawing/2014/main" id="{CFAE095A-A6CC-3AE0-573F-0B18CE379A55}"/>
              </a:ext>
            </a:extLst>
          </p:cNvPr>
          <p:cNvGraphicFramePr>
            <a:graphicFrameLocks noGrp="1"/>
          </p:cNvGraphicFramePr>
          <p:nvPr>
            <p:ph idx="1"/>
            <p:extLst>
              <p:ext uri="{D42A27DB-BD31-4B8C-83A1-F6EECF244321}">
                <p14:modId xmlns:p14="http://schemas.microsoft.com/office/powerpoint/2010/main" val="2414142786"/>
              </p:ext>
            </p:extLst>
          </p:nvPr>
        </p:nvGraphicFramePr>
        <p:xfrm>
          <a:off x="1243087" y="1543455"/>
          <a:ext cx="10582656" cy="46538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EA752ADA-4957-7A03-0405-5150E47F42F5}"/>
              </a:ext>
            </a:extLst>
          </p:cNvPr>
          <p:cNvSpPr>
            <a:spLocks noGrp="1"/>
          </p:cNvSpPr>
          <p:nvPr>
            <p:ph type="sldNum" sz="quarter" idx="12"/>
          </p:nvPr>
        </p:nvSpPr>
        <p:spPr/>
        <p:txBody>
          <a:bodyPr/>
          <a:lstStyle/>
          <a:p>
            <a:fld id="{E6AB8EDD-9EF2-4633-A1C2-4D908C1019B4}" type="slidenum">
              <a:rPr lang="he-IL" smtClean="0"/>
              <a:t>18</a:t>
            </a:fld>
            <a:endParaRPr lang="he-IL"/>
          </a:p>
        </p:txBody>
      </p:sp>
      <p:sp>
        <p:nvSpPr>
          <p:cNvPr id="30" name="Callout">
            <a:extLst>
              <a:ext uri="{FF2B5EF4-FFF2-40B4-BE49-F238E27FC236}">
                <a16:creationId xmlns:a16="http://schemas.microsoft.com/office/drawing/2014/main" id="{17EC245C-9322-9076-690D-B09964DD700C}"/>
              </a:ext>
            </a:extLst>
          </p:cNvPr>
          <p:cNvSpPr/>
          <p:nvPr/>
        </p:nvSpPr>
        <p:spPr>
          <a:xfrm>
            <a:off x="1554480" y="6327648"/>
            <a:ext cx="7589520" cy="475488"/>
          </a:xfrm>
          <a:prstGeom prst="rect">
            <a:avLst/>
          </a:prstGeom>
          <a:noFill/>
        </p:spPr>
        <p:txBody>
          <a:bodyPr lIns="0" tIns="0"/>
          <a:lstStyle/>
          <a:p>
            <a:r>
              <a:rPr lang="en-IL" sz="1300" b="1" dirty="0"/>
              <a:t>Similarity with one or two accounts is not enough. </a:t>
            </a:r>
            <a:endParaRPr lang="en-US" sz="1300" b="1" dirty="0"/>
          </a:p>
          <a:p>
            <a:r>
              <a:rPr lang="en-IL" sz="1300" dirty="0"/>
              <a:t>Only many accounts coordinating with one another produce a </a:t>
            </a:r>
            <a:r>
              <a:rPr lang="en-US" sz="1300" dirty="0"/>
              <a:t>large k core</a:t>
            </a:r>
            <a:r>
              <a:rPr lang="en-IL" sz="1300" dirty="0"/>
              <a:t>.</a:t>
            </a:r>
          </a:p>
        </p:txBody>
      </p:sp>
    </p:spTree>
    <p:extLst>
      <p:ext uri="{BB962C8B-B14F-4D97-AF65-F5344CB8AC3E}">
        <p14:creationId xmlns:p14="http://schemas.microsoft.com/office/powerpoint/2010/main" val="41061492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1039E-B86D-D32C-4EF0-FA604B11E49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2D6560F-A6DA-C278-D8DD-8FC51751581F}"/>
              </a:ext>
            </a:extLst>
          </p:cNvPr>
          <p:cNvSpPr>
            <a:spLocks noGrp="1"/>
          </p:cNvSpPr>
          <p:nvPr>
            <p:ph type="title"/>
          </p:nvPr>
        </p:nvSpPr>
        <p:spPr>
          <a:xfrm>
            <a:off x="1479549" y="1709738"/>
            <a:ext cx="9914592" cy="2852737"/>
          </a:xfrm>
        </p:spPr>
        <p:txBody>
          <a:bodyPr/>
          <a:lstStyle/>
          <a:p>
            <a:r>
              <a:rPr lang="en-GB" dirty="0"/>
              <a:t>Experiments</a:t>
            </a:r>
            <a:endParaRPr lang="en-IL" dirty="0"/>
          </a:p>
        </p:txBody>
      </p:sp>
      <p:sp>
        <p:nvSpPr>
          <p:cNvPr id="6" name="Text Placeholder 5">
            <a:extLst>
              <a:ext uri="{FF2B5EF4-FFF2-40B4-BE49-F238E27FC236}">
                <a16:creationId xmlns:a16="http://schemas.microsoft.com/office/drawing/2014/main" id="{1B975D23-C7EF-CD33-D494-5CC3F0365E4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704402CA-E680-684E-0F51-51C82A1E2B5E}"/>
              </a:ext>
            </a:extLst>
          </p:cNvPr>
          <p:cNvSpPr>
            <a:spLocks noGrp="1"/>
          </p:cNvSpPr>
          <p:nvPr>
            <p:ph type="sldNum" sz="quarter" idx="12"/>
          </p:nvPr>
        </p:nvSpPr>
        <p:spPr/>
        <p:txBody>
          <a:bodyPr/>
          <a:lstStyle/>
          <a:p>
            <a:fld id="{E6AB8EDD-9EF2-4633-A1C2-4D908C1019B4}" type="slidenum">
              <a:rPr lang="he-IL" smtClean="0"/>
              <a:t>19</a:t>
            </a:fld>
            <a:endParaRPr lang="he-IL"/>
          </a:p>
        </p:txBody>
      </p:sp>
    </p:spTree>
    <p:extLst>
      <p:ext uri="{BB962C8B-B14F-4D97-AF65-F5344CB8AC3E}">
        <p14:creationId xmlns:p14="http://schemas.microsoft.com/office/powerpoint/2010/main" val="1461430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B8A1B-6E6A-156B-7385-FEFC10B734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AB950C-37EA-B68F-70CC-0EE487FBC70A}"/>
              </a:ext>
            </a:extLst>
          </p:cNvPr>
          <p:cNvSpPr>
            <a:spLocks noGrp="1"/>
          </p:cNvSpPr>
          <p:nvPr>
            <p:ph type="title"/>
          </p:nvPr>
        </p:nvSpPr>
        <p:spPr/>
        <p:txBody>
          <a:bodyPr/>
          <a:lstStyle/>
          <a:p>
            <a:r>
              <a:rPr lang="en-US" dirty="0"/>
              <a:t>Dataset</a:t>
            </a:r>
            <a:endParaRPr lang="en-IL" dirty="0"/>
          </a:p>
        </p:txBody>
      </p:sp>
      <p:sp>
        <p:nvSpPr>
          <p:cNvPr id="3" name="Content Placeholder 2">
            <a:extLst>
              <a:ext uri="{FF2B5EF4-FFF2-40B4-BE49-F238E27FC236}">
                <a16:creationId xmlns:a16="http://schemas.microsoft.com/office/drawing/2014/main" id="{A6D6BA14-975F-64EA-B301-9184DCBAD80A}"/>
              </a:ext>
            </a:extLst>
          </p:cNvPr>
          <p:cNvSpPr>
            <a:spLocks noGrp="1"/>
          </p:cNvSpPr>
          <p:nvPr>
            <p:ph idx="1"/>
          </p:nvPr>
        </p:nvSpPr>
        <p:spPr>
          <a:xfrm>
            <a:off x="1243087" y="1825625"/>
            <a:ext cx="10582656" cy="4769728"/>
          </a:xfrm>
        </p:spPr>
        <p:txBody>
          <a:bodyPr>
            <a:normAutofit/>
          </a:bodyPr>
          <a:lstStyle/>
          <a:p>
            <a:pPr marL="0" indent="0">
              <a:buNone/>
            </a:pPr>
            <a:r>
              <a:rPr lang="en-IL" sz="3600" b="1" dirty="0"/>
              <a:t>Labeled IO Dataset</a:t>
            </a:r>
          </a:p>
          <a:p>
            <a:pPr lvl="0"/>
            <a:r>
              <a:rPr lang="en-IL" sz="3600" dirty="0"/>
              <a:t>26 verified IO campaigns linked to 16 stat</a:t>
            </a:r>
            <a:r>
              <a:rPr lang="en-US" sz="3600" dirty="0"/>
              <a:t>s</a:t>
            </a:r>
            <a:r>
              <a:rPr lang="en-IL" sz="3600" dirty="0"/>
              <a:t>. </a:t>
            </a:r>
          </a:p>
          <a:p>
            <a:pPr lvl="0"/>
            <a:r>
              <a:rPr lang="en-IL" sz="3600" dirty="0"/>
              <a:t>Contains IO accounts and matched control accounts discussing similar topics during the same periods. </a:t>
            </a:r>
          </a:p>
          <a:p>
            <a:pPr lvl="0"/>
            <a:r>
              <a:rPr lang="en-IL" sz="3600" dirty="0"/>
              <a:t>Includes 303K+ accounts and 13M+ control posts. </a:t>
            </a:r>
          </a:p>
          <a:p>
            <a:pPr lvl="0"/>
            <a:r>
              <a:rPr lang="en-IL" sz="3600" dirty="0"/>
              <a:t>Rich activity data: posts, reposts, hashtags</a:t>
            </a:r>
            <a:r>
              <a:rPr lang="en-US" sz="3600" dirty="0"/>
              <a:t>, and more.</a:t>
            </a:r>
          </a:p>
          <a:p>
            <a:pPr lvl="0"/>
            <a:r>
              <a:rPr lang="en-US" sz="3600" dirty="0"/>
              <a:t>Each account is labeled</a:t>
            </a:r>
            <a:r>
              <a:rPr lang="en-IL" sz="3600" dirty="0"/>
              <a:t> IO </a:t>
            </a:r>
            <a:r>
              <a:rPr lang="en-US" sz="3600" dirty="0"/>
              <a:t>or non-IO.</a:t>
            </a:r>
            <a:endParaRPr lang="en-US" sz="3200" dirty="0"/>
          </a:p>
        </p:txBody>
      </p:sp>
      <p:sp>
        <p:nvSpPr>
          <p:cNvPr id="4" name="Slide Number Placeholder 3">
            <a:extLst>
              <a:ext uri="{FF2B5EF4-FFF2-40B4-BE49-F238E27FC236}">
                <a16:creationId xmlns:a16="http://schemas.microsoft.com/office/drawing/2014/main" id="{481E59F8-C083-3E1E-E9C9-1F0811DCFA6A}"/>
              </a:ext>
            </a:extLst>
          </p:cNvPr>
          <p:cNvSpPr>
            <a:spLocks noGrp="1"/>
          </p:cNvSpPr>
          <p:nvPr>
            <p:ph type="sldNum" sz="quarter" idx="12"/>
          </p:nvPr>
        </p:nvSpPr>
        <p:spPr/>
        <p:txBody>
          <a:bodyPr/>
          <a:lstStyle/>
          <a:p>
            <a:fld id="{E6AB8EDD-9EF2-4633-A1C2-4D908C1019B4}" type="slidenum">
              <a:rPr lang="he-IL" smtClean="0"/>
              <a:t>20</a:t>
            </a:fld>
            <a:endParaRPr lang="he-IL"/>
          </a:p>
        </p:txBody>
      </p:sp>
    </p:spTree>
    <p:extLst>
      <p:ext uri="{BB962C8B-B14F-4D97-AF65-F5344CB8AC3E}">
        <p14:creationId xmlns:p14="http://schemas.microsoft.com/office/powerpoint/2010/main" val="26667918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FF864-D059-1831-22C5-4C1644981A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9EAC59-80A0-E6A7-57CB-C44882DA85C7}"/>
              </a:ext>
            </a:extLst>
          </p:cNvPr>
          <p:cNvSpPr>
            <a:spLocks noGrp="1"/>
          </p:cNvSpPr>
          <p:nvPr>
            <p:ph type="title"/>
          </p:nvPr>
        </p:nvSpPr>
        <p:spPr/>
        <p:txBody>
          <a:bodyPr/>
          <a:lstStyle/>
          <a:p>
            <a:r>
              <a:rPr lang="en-IL" dirty="0"/>
              <a:t>Evaluation Settings</a:t>
            </a:r>
          </a:p>
        </p:txBody>
      </p:sp>
      <p:sp>
        <p:nvSpPr>
          <p:cNvPr id="3" name="Content Placeholder 2">
            <a:extLst>
              <a:ext uri="{FF2B5EF4-FFF2-40B4-BE49-F238E27FC236}">
                <a16:creationId xmlns:a16="http://schemas.microsoft.com/office/drawing/2014/main" id="{B12A27E2-5AA3-7AD7-18CB-2C34475D9038}"/>
              </a:ext>
            </a:extLst>
          </p:cNvPr>
          <p:cNvSpPr>
            <a:spLocks noGrp="1"/>
          </p:cNvSpPr>
          <p:nvPr>
            <p:ph idx="1"/>
          </p:nvPr>
        </p:nvSpPr>
        <p:spPr>
          <a:xfrm>
            <a:off x="1243087" y="1825625"/>
            <a:ext cx="10582656" cy="4769728"/>
          </a:xfrm>
        </p:spPr>
        <p:txBody>
          <a:bodyPr>
            <a:normAutofit/>
          </a:bodyPr>
          <a:lstStyle/>
          <a:p>
            <a:r>
              <a:rPr lang="en-IL" sz="3600" b="1" dirty="0"/>
              <a:t>Within-Campaign </a:t>
            </a:r>
            <a:r>
              <a:rPr lang="en-US" sz="3600" b="1" dirty="0"/>
              <a:t>(</a:t>
            </a:r>
            <a:r>
              <a:rPr lang="en-IL" sz="3600" b="1" dirty="0" err="1"/>
              <a:t>Transductive</a:t>
            </a:r>
            <a:r>
              <a:rPr lang="en-US" sz="3600" b="1" dirty="0"/>
              <a:t>)</a:t>
            </a:r>
            <a:endParaRPr lang="en-IL" sz="3600" dirty="0"/>
          </a:p>
          <a:p>
            <a:pPr lvl="1"/>
            <a:r>
              <a:rPr lang="en-IL" sz="3200" dirty="0"/>
              <a:t>Train and test on accounts from the same campaign. </a:t>
            </a:r>
          </a:p>
          <a:p>
            <a:r>
              <a:rPr lang="en-IL" sz="3600" b="1" dirty="0"/>
              <a:t>Cross-Campaign </a:t>
            </a:r>
            <a:r>
              <a:rPr lang="en-US" sz="3600" b="1" dirty="0"/>
              <a:t>(</a:t>
            </a:r>
            <a:r>
              <a:rPr lang="en-IL" sz="3600" b="1" dirty="0"/>
              <a:t>Inductive</a:t>
            </a:r>
            <a:r>
              <a:rPr lang="en-US" sz="3600" b="1" dirty="0"/>
              <a:t>)</a:t>
            </a:r>
            <a:endParaRPr lang="en-IL" sz="3600" dirty="0"/>
          </a:p>
          <a:p>
            <a:pPr lvl="1"/>
            <a:r>
              <a:rPr lang="en-IL" sz="3200" dirty="0"/>
              <a:t>Train on other campaigns and test on an unseen campaign. </a:t>
            </a:r>
          </a:p>
          <a:p>
            <a:pPr lvl="1"/>
            <a:r>
              <a:rPr lang="en-IL" sz="3200" dirty="0"/>
              <a:t>Uses a leave-one-campaign-out setting. </a:t>
            </a:r>
          </a:p>
          <a:p>
            <a:pPr lvl="1"/>
            <a:r>
              <a:rPr lang="en-IL" sz="3200" dirty="0"/>
              <a:t>Evaluates whether structural patterns generalize to new IO campaigns.</a:t>
            </a:r>
          </a:p>
        </p:txBody>
      </p:sp>
      <p:sp>
        <p:nvSpPr>
          <p:cNvPr id="4" name="Slide Number Placeholder 3">
            <a:extLst>
              <a:ext uri="{FF2B5EF4-FFF2-40B4-BE49-F238E27FC236}">
                <a16:creationId xmlns:a16="http://schemas.microsoft.com/office/drawing/2014/main" id="{6D24C47C-E286-3F0B-F185-E2E32E6126A4}"/>
              </a:ext>
            </a:extLst>
          </p:cNvPr>
          <p:cNvSpPr>
            <a:spLocks noGrp="1"/>
          </p:cNvSpPr>
          <p:nvPr>
            <p:ph type="sldNum" sz="quarter" idx="12"/>
          </p:nvPr>
        </p:nvSpPr>
        <p:spPr/>
        <p:txBody>
          <a:bodyPr/>
          <a:lstStyle/>
          <a:p>
            <a:fld id="{E6AB8EDD-9EF2-4633-A1C2-4D908C1019B4}" type="slidenum">
              <a:rPr lang="he-IL" smtClean="0"/>
              <a:t>21</a:t>
            </a:fld>
            <a:endParaRPr lang="he-IL"/>
          </a:p>
        </p:txBody>
      </p:sp>
    </p:spTree>
    <p:extLst>
      <p:ext uri="{BB962C8B-B14F-4D97-AF65-F5344CB8AC3E}">
        <p14:creationId xmlns:p14="http://schemas.microsoft.com/office/powerpoint/2010/main" val="4650126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ppendix: Evaluated Campaigns">
            <a:extLst>
              <a:ext uri="{FF2B5EF4-FFF2-40B4-BE49-F238E27FC236}">
                <a16:creationId xmlns:a16="http://schemas.microsoft.com/office/drawing/2014/main" id="{7296D56E-AA29-4FBF-A2FC-7A1958B9E10A}"/>
              </a:ext>
            </a:extLst>
          </p:cNvPr>
          <p:cNvSpPr>
            <a:spLocks noGrp="1"/>
          </p:cNvSpPr>
          <p:nvPr/>
        </p:nvSpPr>
        <p:spPr>
          <a:xfrm>
            <a:off x="3143250" y="619125"/>
            <a:ext cx="8572500" cy="1047750"/>
          </a:xfrm>
          <a:prstGeom prst="rect">
            <a:avLst/>
          </a:prstGeom>
          <a:noFill/>
          <a:ln w="0">
            <a:noFill/>
          </a:ln>
        </p:spPr>
        <p:txBody>
          <a:bodyPr lIns="0" tIns="0" rIns="0" bIns="0" anchor="t">
            <a:noAutofit/>
          </a:bodyPr>
          <a:lstStyle/>
          <a:p>
            <a:pPr>
              <a:buNone/>
              <a:defRPr sz="4200" b="0">
                <a:solidFill>
                  <a:srgbClr val="00A0BD"/>
                </a:solidFill>
                <a:latin typeface="Calibri"/>
                <a:ea typeface="Calibri"/>
                <a:cs typeface="Calibri"/>
              </a:defRPr>
            </a:pPr>
            <a:r>
              <a:rPr sz="4200" b="0" dirty="0">
                <a:solidFill>
                  <a:srgbClr val="00A0BD"/>
                </a:solidFill>
                <a:latin typeface="Calibri"/>
                <a:ea typeface="Calibri"/>
                <a:cs typeface="Calibri"/>
              </a:rPr>
              <a:t>Evaluated Campaigns</a:t>
            </a:r>
          </a:p>
        </p:txBody>
      </p:sp>
      <p:sp>
        <p:nvSpPr>
          <p:cNvPr id="3" name="12">
            <a:extLst>
              <a:ext uri="{FF2B5EF4-FFF2-40B4-BE49-F238E27FC236}">
                <a16:creationId xmlns:a16="http://schemas.microsoft.com/office/drawing/2014/main" id="{1A924256-7FDE-4C40-AD66-3EED7F4FFF21}"/>
              </a:ext>
            </a:extLst>
          </p:cNvPr>
          <p:cNvSpPr>
            <a:spLocks noGrp="1"/>
          </p:cNvSpPr>
          <p:nvPr/>
        </p:nvSpPr>
        <p:spPr>
          <a:xfrm>
            <a:off x="11753850" y="6524625"/>
            <a:ext cx="285750" cy="209550"/>
          </a:xfrm>
          <a:prstGeom prst="rect">
            <a:avLst/>
          </a:prstGeom>
          <a:noFill/>
          <a:ln w="0">
            <a:noFill/>
          </a:ln>
        </p:spPr>
        <p:txBody>
          <a:bodyPr lIns="0" tIns="0" rIns="0" bIns="0" anchor="t">
            <a:noAutofit/>
          </a:bodyPr>
          <a:lstStyle/>
          <a:p>
            <a:pPr>
              <a:buNone/>
              <a:defRPr sz="1125" b="0">
                <a:solidFill>
                  <a:srgbClr val="888888"/>
                </a:solidFill>
                <a:latin typeface="Calibri"/>
                <a:ea typeface="Calibri"/>
                <a:cs typeface="Calibri"/>
              </a:defRPr>
            </a:pPr>
            <a:r>
              <a:rPr sz="1125" b="0">
                <a:solidFill>
                  <a:srgbClr val="888888"/>
                </a:solidFill>
                <a:latin typeface="Calibri"/>
                <a:ea typeface="Calibri"/>
                <a:cs typeface="Calibri"/>
              </a:rPr>
              <a:t>7</a:t>
            </a:r>
          </a:p>
        </p:txBody>
      </p:sp>
      <p:graphicFrame>
        <p:nvGraphicFramePr>
          <p:cNvPr id="12" name="Table 11"/>
          <p:cNvGraphicFramePr/>
          <p:nvPr/>
        </p:nvGraphicFramePr>
        <p:xfrm>
          <a:off x="1381125" y="1809750"/>
          <a:ext cx="10096500" cy="3810002"/>
        </p:xfrm>
        <a:graphic>
          <a:graphicData uri="http://schemas.openxmlformats.org/drawingml/2006/table">
            <a:tbl>
              <a:tblPr/>
              <a:tblGrid>
                <a:gridCol w="19050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gridCol w="1809750">
                  <a:extLst>
                    <a:ext uri="{9D8B030D-6E8A-4147-A177-3AD203B41FA5}">
                      <a16:colId xmlns:a16="http://schemas.microsoft.com/office/drawing/2014/main" val="20003"/>
                    </a:ext>
                  </a:extLst>
                </a:gridCol>
                <a:gridCol w="2571750">
                  <a:extLst>
                    <a:ext uri="{9D8B030D-6E8A-4147-A177-3AD203B41FA5}">
                      <a16:colId xmlns:a16="http://schemas.microsoft.com/office/drawing/2014/main" val="20004"/>
                    </a:ext>
                  </a:extLst>
                </a:gridCol>
              </a:tblGrid>
              <a:tr h="544286">
                <a:tc>
                  <a:txBody>
                    <a:bodyPr/>
                    <a:lstStyle/>
                    <a:p>
                      <a:pPr algn="l">
                        <a:buNone/>
                      </a:pPr>
                      <a:r>
                        <a:rPr sz="1950" b="1">
                          <a:solidFill>
                            <a:srgbClr val="FFFFFF"/>
                          </a:solidFill>
                          <a:latin typeface="Calibri"/>
                          <a:ea typeface="Calibri"/>
                          <a:cs typeface="Calibri"/>
                        </a:rPr>
                        <a:t>Campaign</a:t>
                      </a:r>
                    </a:p>
                  </a:txBody>
                  <a:tcPr marL="114300" marR="114300" marT="38100" marB="38100" anchor="ctr">
                    <a:solidFill>
                      <a:srgbClr val="00A0BD"/>
                    </a:solidFill>
                  </a:tcPr>
                </a:tc>
                <a:tc>
                  <a:txBody>
                    <a:bodyPr/>
                    <a:lstStyle/>
                    <a:p>
                      <a:pPr algn="ctr">
                        <a:buNone/>
                      </a:pPr>
                      <a:r>
                        <a:rPr sz="1950" b="1">
                          <a:solidFill>
                            <a:srgbClr val="FFFFFF"/>
                          </a:solidFill>
                          <a:latin typeface="Calibri"/>
                          <a:ea typeface="Calibri"/>
                          <a:cs typeface="Calibri"/>
                        </a:rPr>
                        <a:t>Period</a:t>
                      </a:r>
                    </a:p>
                  </a:txBody>
                  <a:tcPr marL="114300" marR="114300" marT="38100" marB="38100" anchor="ctr">
                    <a:solidFill>
                      <a:srgbClr val="00A0BD"/>
                    </a:solidFill>
                  </a:tcPr>
                </a:tc>
                <a:tc>
                  <a:txBody>
                    <a:bodyPr/>
                    <a:lstStyle/>
                    <a:p>
                      <a:pPr algn="ctr">
                        <a:buNone/>
                      </a:pPr>
                      <a:r>
                        <a:rPr sz="1950" b="1">
                          <a:solidFill>
                            <a:srgbClr val="FFFFFF"/>
                          </a:solidFill>
                          <a:latin typeface="Calibri"/>
                          <a:ea typeface="Calibri"/>
                          <a:cs typeface="Calibri"/>
                        </a:rPr>
                        <a:t>IO accounts</a:t>
                      </a:r>
                    </a:p>
                  </a:txBody>
                  <a:tcPr marL="114300" marR="114300" marT="38100" marB="38100" anchor="ctr">
                    <a:solidFill>
                      <a:srgbClr val="00A0BD"/>
                    </a:solidFill>
                  </a:tcPr>
                </a:tc>
                <a:tc>
                  <a:txBody>
                    <a:bodyPr/>
                    <a:lstStyle/>
                    <a:p>
                      <a:pPr algn="ctr">
                        <a:buNone/>
                      </a:pPr>
                      <a:r>
                        <a:rPr sz="1950" b="1">
                          <a:solidFill>
                            <a:srgbClr val="FFFFFF"/>
                          </a:solidFill>
                          <a:latin typeface="Calibri"/>
                          <a:ea typeface="Calibri"/>
                          <a:cs typeface="Calibri"/>
                        </a:rPr>
                        <a:t>Controls</a:t>
                      </a:r>
                    </a:p>
                  </a:txBody>
                  <a:tcPr marL="114300" marR="114300" marT="38100" marB="38100" anchor="ctr">
                    <a:solidFill>
                      <a:srgbClr val="00A0BD"/>
                    </a:solidFill>
                  </a:tcPr>
                </a:tc>
                <a:tc>
                  <a:txBody>
                    <a:bodyPr/>
                    <a:lstStyle/>
                    <a:p>
                      <a:pPr algn="ctr">
                        <a:buNone/>
                      </a:pPr>
                      <a:r>
                        <a:rPr sz="1950" b="1">
                          <a:solidFill>
                            <a:srgbClr val="FFFFFF"/>
                          </a:solidFill>
                          <a:latin typeface="Calibri"/>
                          <a:ea typeface="Calibri"/>
                          <a:cs typeface="Calibri"/>
                        </a:rPr>
                        <a:t>Posts</a:t>
                      </a:r>
                    </a:p>
                  </a:txBody>
                  <a:tcPr marL="114300" marR="114300" marT="38100" marB="38100" anchor="ctr">
                    <a:solidFill>
                      <a:srgbClr val="00A0BD"/>
                    </a:solidFill>
                  </a:tcPr>
                </a:tc>
                <a:extLst>
                  <a:ext uri="{0D108BD9-81ED-4DB2-BD59-A6C34878D82A}">
                    <a16:rowId xmlns:a16="http://schemas.microsoft.com/office/drawing/2014/main" val="10000"/>
                  </a:ext>
                </a:extLst>
              </a:tr>
              <a:tr h="544286">
                <a:tc>
                  <a:txBody>
                    <a:bodyPr/>
                    <a:lstStyle/>
                    <a:p>
                      <a:pPr algn="l">
                        <a:buNone/>
                      </a:pPr>
                      <a:r>
                        <a:rPr sz="1950" b="0">
                          <a:solidFill>
                            <a:srgbClr val="171717"/>
                          </a:solidFill>
                          <a:latin typeface="Calibri"/>
                          <a:ea typeface="Calibri"/>
                          <a:cs typeface="Calibri"/>
                        </a:rPr>
                        <a:t>China-1</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2008–2019</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699</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42,120</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3,670,754</a:t>
                      </a:r>
                    </a:p>
                  </a:txBody>
                  <a:tcPr marL="114300" marR="114300" marT="38100" marB="38100" anchor="ctr">
                    <a:solidFill>
                      <a:srgbClr val="FFFFFF"/>
                    </a:solidFill>
                  </a:tcPr>
                </a:tc>
                <a:extLst>
                  <a:ext uri="{0D108BD9-81ED-4DB2-BD59-A6C34878D82A}">
                    <a16:rowId xmlns:a16="http://schemas.microsoft.com/office/drawing/2014/main" val="10001"/>
                  </a:ext>
                </a:extLst>
              </a:tr>
              <a:tr h="544286">
                <a:tc>
                  <a:txBody>
                    <a:bodyPr/>
                    <a:lstStyle/>
                    <a:p>
                      <a:pPr algn="l">
                        <a:buNone/>
                      </a:pPr>
                      <a:r>
                        <a:rPr sz="1950" b="0">
                          <a:solidFill>
                            <a:srgbClr val="171717"/>
                          </a:solidFill>
                          <a:latin typeface="Calibri"/>
                          <a:ea typeface="Calibri"/>
                          <a:cs typeface="Calibri"/>
                        </a:rPr>
                        <a:t>Cuba</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2010–2020</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503</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30,099</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6,155,331</a:t>
                      </a:r>
                    </a:p>
                  </a:txBody>
                  <a:tcPr marL="114300" marR="114300" marT="38100" marB="38100" anchor="ctr">
                    <a:solidFill>
                      <a:srgbClr val="EEF5F6"/>
                    </a:solidFill>
                  </a:tcPr>
                </a:tc>
                <a:extLst>
                  <a:ext uri="{0D108BD9-81ED-4DB2-BD59-A6C34878D82A}">
                    <a16:rowId xmlns:a16="http://schemas.microsoft.com/office/drawing/2014/main" val="10002"/>
                  </a:ext>
                </a:extLst>
              </a:tr>
              <a:tr h="544286">
                <a:tc>
                  <a:txBody>
                    <a:bodyPr/>
                    <a:lstStyle/>
                    <a:p>
                      <a:pPr algn="l">
                        <a:buNone/>
                      </a:pPr>
                      <a:r>
                        <a:rPr sz="1950" b="0">
                          <a:solidFill>
                            <a:srgbClr val="171717"/>
                          </a:solidFill>
                          <a:latin typeface="Calibri"/>
                          <a:ea typeface="Calibri"/>
                          <a:cs typeface="Calibri"/>
                        </a:rPr>
                        <a:t>Iran-1</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2010–2018</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660</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5,015</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1,322,789</a:t>
                      </a:r>
                    </a:p>
                  </a:txBody>
                  <a:tcPr marL="114300" marR="114300" marT="38100" marB="38100" anchor="ctr">
                    <a:solidFill>
                      <a:srgbClr val="FFFFFF"/>
                    </a:solidFill>
                  </a:tcPr>
                </a:tc>
                <a:extLst>
                  <a:ext uri="{0D108BD9-81ED-4DB2-BD59-A6C34878D82A}">
                    <a16:rowId xmlns:a16="http://schemas.microsoft.com/office/drawing/2014/main" val="10003"/>
                  </a:ext>
                </a:extLst>
              </a:tr>
              <a:tr h="544286">
                <a:tc>
                  <a:txBody>
                    <a:bodyPr/>
                    <a:lstStyle/>
                    <a:p>
                      <a:pPr algn="l">
                        <a:buNone/>
                      </a:pPr>
                      <a:r>
                        <a:rPr sz="1950" b="0">
                          <a:solidFill>
                            <a:srgbClr val="171717"/>
                          </a:solidFill>
                          <a:latin typeface="Calibri"/>
                          <a:ea typeface="Calibri"/>
                          <a:cs typeface="Calibri"/>
                        </a:rPr>
                        <a:t>Russia-1</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2009–2018</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3,293</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31,299</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3,650,083</a:t>
                      </a:r>
                    </a:p>
                  </a:txBody>
                  <a:tcPr marL="114300" marR="114300" marT="38100" marB="38100" anchor="ctr">
                    <a:solidFill>
                      <a:srgbClr val="EEF5F6"/>
                    </a:solidFill>
                  </a:tcPr>
                </a:tc>
                <a:extLst>
                  <a:ext uri="{0D108BD9-81ED-4DB2-BD59-A6C34878D82A}">
                    <a16:rowId xmlns:a16="http://schemas.microsoft.com/office/drawing/2014/main" val="10004"/>
                  </a:ext>
                </a:extLst>
              </a:tr>
              <a:tr h="544286">
                <a:tc>
                  <a:txBody>
                    <a:bodyPr/>
                    <a:lstStyle/>
                    <a:p>
                      <a:pPr algn="l">
                        <a:buNone/>
                      </a:pPr>
                      <a:r>
                        <a:rPr sz="1950" b="0">
                          <a:solidFill>
                            <a:srgbClr val="171717"/>
                          </a:solidFill>
                          <a:latin typeface="Calibri"/>
                          <a:ea typeface="Calibri"/>
                          <a:cs typeface="Calibri"/>
                        </a:rPr>
                        <a:t>UAE</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2011–2019</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3,658</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10,545</a:t>
                      </a:r>
                    </a:p>
                  </a:txBody>
                  <a:tcPr marL="114300" marR="114300" marT="38100" marB="38100" anchor="ctr">
                    <a:solidFill>
                      <a:srgbClr val="FFFFFF"/>
                    </a:solidFill>
                  </a:tcPr>
                </a:tc>
                <a:tc>
                  <a:txBody>
                    <a:bodyPr/>
                    <a:lstStyle/>
                    <a:p>
                      <a:pPr algn="ctr">
                        <a:buNone/>
                      </a:pPr>
                      <a:r>
                        <a:rPr sz="1950" b="0">
                          <a:solidFill>
                            <a:srgbClr val="171717"/>
                          </a:solidFill>
                          <a:latin typeface="Calibri"/>
                          <a:ea typeface="Calibri"/>
                          <a:cs typeface="Calibri"/>
                        </a:rPr>
                        <a:t>1,707,792</a:t>
                      </a:r>
                    </a:p>
                  </a:txBody>
                  <a:tcPr marL="114300" marR="114300" marT="38100" marB="38100" anchor="ctr">
                    <a:solidFill>
                      <a:srgbClr val="FFFFFF"/>
                    </a:solidFill>
                  </a:tcPr>
                </a:tc>
                <a:extLst>
                  <a:ext uri="{0D108BD9-81ED-4DB2-BD59-A6C34878D82A}">
                    <a16:rowId xmlns:a16="http://schemas.microsoft.com/office/drawing/2014/main" val="10005"/>
                  </a:ext>
                </a:extLst>
              </a:tr>
              <a:tr h="544286">
                <a:tc>
                  <a:txBody>
                    <a:bodyPr/>
                    <a:lstStyle/>
                    <a:p>
                      <a:pPr algn="l">
                        <a:buNone/>
                      </a:pPr>
                      <a:r>
                        <a:rPr sz="1950" b="0">
                          <a:solidFill>
                            <a:srgbClr val="171717"/>
                          </a:solidFill>
                          <a:latin typeface="Calibri"/>
                          <a:ea typeface="Calibri"/>
                          <a:cs typeface="Calibri"/>
                        </a:rPr>
                        <a:t>Venezuela</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2012–2019</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611</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9,745</a:t>
                      </a:r>
                    </a:p>
                  </a:txBody>
                  <a:tcPr marL="114300" marR="114300" marT="38100" marB="38100" anchor="ctr">
                    <a:solidFill>
                      <a:srgbClr val="EEF5F6"/>
                    </a:solidFill>
                  </a:tcPr>
                </a:tc>
                <a:tc>
                  <a:txBody>
                    <a:bodyPr/>
                    <a:lstStyle/>
                    <a:p>
                      <a:pPr algn="ctr">
                        <a:buNone/>
                      </a:pPr>
                      <a:r>
                        <a:rPr sz="1950" b="0">
                          <a:solidFill>
                            <a:srgbClr val="171717"/>
                          </a:solidFill>
                          <a:latin typeface="Calibri"/>
                          <a:ea typeface="Calibri"/>
                          <a:cs typeface="Calibri"/>
                        </a:rPr>
                        <a:t>1,972,732</a:t>
                      </a:r>
                    </a:p>
                  </a:txBody>
                  <a:tcPr marL="114300" marR="114300" marT="38100" marB="38100" anchor="ctr">
                    <a:solidFill>
                      <a:srgbClr val="EEF5F6"/>
                    </a:solidFill>
                  </a:tcPr>
                </a:tc>
                <a:extLst>
                  <a:ext uri="{0D108BD9-81ED-4DB2-BD59-A6C34878D82A}">
                    <a16:rowId xmlns:a16="http://schemas.microsoft.com/office/drawing/2014/main" val="10006"/>
                  </a:ext>
                </a:extLst>
              </a:tr>
            </a:tbl>
          </a:graphicData>
        </a:graphic>
      </p:graphicFrame>
      <p:sp>
        <p:nvSpPr>
          <p:cNvPr id="5" name="Controls used the same hashtags on the same dates as IO acco">
            <a:extLst>
              <a:ext uri="{FF2B5EF4-FFF2-40B4-BE49-F238E27FC236}">
                <a16:creationId xmlns:a16="http://schemas.microsoft.com/office/drawing/2014/main" id="{46B1D6CE-02FA-4FDF-A4CF-B2A103EDE7F9}"/>
              </a:ext>
            </a:extLst>
          </p:cNvPr>
          <p:cNvSpPr>
            <a:spLocks noGrp="1"/>
          </p:cNvSpPr>
          <p:nvPr/>
        </p:nvSpPr>
        <p:spPr>
          <a:xfrm>
            <a:off x="1381125" y="5810250"/>
            <a:ext cx="10001250" cy="619125"/>
          </a:xfrm>
          <a:prstGeom prst="rect">
            <a:avLst/>
          </a:prstGeom>
          <a:noFill/>
          <a:ln w="0">
            <a:noFill/>
          </a:ln>
        </p:spPr>
        <p:txBody>
          <a:bodyPr lIns="0" tIns="0" rIns="0" bIns="0" anchor="t">
            <a:noAutofit/>
          </a:bodyPr>
          <a:lstStyle/>
          <a:p>
            <a:pPr>
              <a:buNone/>
              <a:defRPr sz="1725" b="0">
                <a:solidFill>
                  <a:srgbClr val="606060"/>
                </a:solidFill>
                <a:latin typeface="Calibri"/>
                <a:ea typeface="Calibri"/>
                <a:cs typeface="Calibri"/>
              </a:defRPr>
            </a:pPr>
            <a:r>
              <a:rPr sz="1725" b="0" dirty="0">
                <a:solidFill>
                  <a:srgbClr val="606060"/>
                </a:solidFill>
                <a:latin typeface="Calibri"/>
                <a:ea typeface="Calibri"/>
                <a:cs typeface="Calibri"/>
              </a:rPr>
              <a:t>18.5 million posts across 138,247 accounts.</a:t>
            </a:r>
          </a:p>
          <a:p>
            <a:pPr>
              <a:buNone/>
              <a:defRPr sz="1725" b="0">
                <a:solidFill>
                  <a:srgbClr val="606060"/>
                </a:solidFill>
                <a:latin typeface="Calibri"/>
                <a:ea typeface="Calibri"/>
                <a:cs typeface="Calibri"/>
              </a:defRPr>
            </a:pPr>
            <a:r>
              <a:rPr sz="1725" b="0" dirty="0">
                <a:solidFill>
                  <a:srgbClr val="606060"/>
                </a:solidFill>
                <a:latin typeface="Calibri"/>
                <a:ea typeface="Calibri"/>
                <a:cs typeface="Calibri"/>
              </a:rPr>
              <a:t>Controls matched by hashtag and date.</a:t>
            </a:r>
          </a:p>
        </p:txBody>
      </p:sp>
    </p:spTree>
    <p:extLst>
      <p:ext uri="{BB962C8B-B14F-4D97-AF65-F5344CB8AC3E}">
        <p14:creationId xmlns:p14="http://schemas.microsoft.com/office/powerpoint/2010/main" val="41802367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Which Indicators Matter?">
            <a:extLst>
              <a:ext uri="{FF2B5EF4-FFF2-40B4-BE49-F238E27FC236}">
                <a16:creationId xmlns:a16="http://schemas.microsoft.com/office/drawing/2014/main" id="{A06507E9-A585-44D8-93CC-D08CEC382642}"/>
              </a:ext>
            </a:extLst>
          </p:cNvPr>
          <p:cNvSpPr>
            <a:spLocks noGrp="1"/>
          </p:cNvSpPr>
          <p:nvPr/>
        </p:nvSpPr>
        <p:spPr>
          <a:xfrm>
            <a:off x="3143250" y="619125"/>
            <a:ext cx="8572500" cy="1047750"/>
          </a:xfrm>
          <a:prstGeom prst="rect">
            <a:avLst/>
          </a:prstGeom>
          <a:noFill/>
          <a:ln w="0">
            <a:noFill/>
          </a:ln>
        </p:spPr>
        <p:txBody>
          <a:bodyPr lIns="0" tIns="0" rIns="0" bIns="0" anchor="t">
            <a:noAutofit/>
          </a:bodyPr>
          <a:lstStyle/>
          <a:p>
            <a:pPr>
              <a:defRPr sz="4200" b="0">
                <a:solidFill>
                  <a:srgbClr val="00A0BD"/>
                </a:solidFill>
                <a:latin typeface="Calibri"/>
                <a:ea typeface="Calibri"/>
                <a:cs typeface="Calibri"/>
              </a:defRPr>
            </a:pPr>
            <a:r>
              <a:rPr sz="4400" dirty="0">
                <a:solidFill>
                  <a:srgbClr val="009DBB"/>
                </a:solidFill>
                <a:latin typeface="+mj-lt"/>
                <a:ea typeface="+mj-ea"/>
                <a:cs typeface="+mj-cs"/>
              </a:rPr>
              <a:t>Which Indicators Matter?</a:t>
            </a:r>
          </a:p>
        </p:txBody>
      </p:sp>
      <p:sp>
        <p:nvSpPr>
          <p:cNvPr id="3" name="0">
            <a:extLst>
              <a:ext uri="{FF2B5EF4-FFF2-40B4-BE49-F238E27FC236}">
                <a16:creationId xmlns:a16="http://schemas.microsoft.com/office/drawing/2014/main" id="{487BEFB4-C286-4E43-926A-7C5B834E0C6E}"/>
              </a:ext>
            </a:extLst>
          </p:cNvPr>
          <p:cNvSpPr>
            <a:spLocks noGrp="1"/>
          </p:cNvSpPr>
          <p:nvPr/>
        </p:nvSpPr>
        <p:spPr>
          <a:xfrm>
            <a:off x="11753850" y="6524625"/>
            <a:ext cx="285750" cy="209550"/>
          </a:xfrm>
          <a:prstGeom prst="rect">
            <a:avLst/>
          </a:prstGeom>
          <a:noFill/>
          <a:ln w="0">
            <a:noFill/>
          </a:ln>
        </p:spPr>
        <p:txBody>
          <a:bodyPr lIns="0" tIns="0" rIns="0" bIns="0" anchor="t">
            <a:noAutofit/>
          </a:bodyPr>
          <a:lstStyle/>
          <a:p>
            <a:pPr>
              <a:buNone/>
              <a:defRPr sz="1125" b="0">
                <a:solidFill>
                  <a:srgbClr val="888888"/>
                </a:solidFill>
                <a:latin typeface="Calibri"/>
                <a:ea typeface="Calibri"/>
                <a:cs typeface="Calibri"/>
              </a:defRPr>
            </a:pPr>
            <a:r>
              <a:rPr sz="1125" b="0">
                <a:solidFill>
                  <a:srgbClr val="888888"/>
                </a:solidFill>
                <a:latin typeface="Calibri"/>
                <a:ea typeface="Calibri"/>
                <a:cs typeface="Calibri"/>
              </a:rPr>
              <a:t>9</a:t>
            </a:r>
          </a:p>
        </p:txBody>
      </p:sp>
      <p:pic>
        <p:nvPicPr>
          <p:cNvPr id="12" name="Picture 11"/>
          <p:cNvPicPr>
            <a:picLocks noChangeAspect="1"/>
          </p:cNvPicPr>
          <p:nvPr/>
        </p:nvPicPr>
        <p:blipFill>
          <a:blip r:embed="rId3"/>
          <a:srcRect b="2502"/>
          <a:stretch>
            <a:fillRect/>
          </a:stretch>
        </p:blipFill>
        <p:spPr>
          <a:xfrm>
            <a:off x="2024099" y="1414654"/>
            <a:ext cx="8810552" cy="4824222"/>
          </a:xfrm>
          <a:prstGeom prst="rect">
            <a:avLst/>
          </a:prstGeom>
        </p:spPr>
      </p:pic>
      <p:sp>
        <p:nvSpPr>
          <p:cNvPr id="5" name="XGBoost: indicator importance varies across campaigns.">
            <a:extLst>
              <a:ext uri="{FF2B5EF4-FFF2-40B4-BE49-F238E27FC236}">
                <a16:creationId xmlns:a16="http://schemas.microsoft.com/office/drawing/2014/main" id="{05D7B769-602A-456C-9F66-E65D3F1DF3A9}"/>
              </a:ext>
            </a:extLst>
          </p:cNvPr>
          <p:cNvSpPr>
            <a:spLocks noGrp="1"/>
          </p:cNvSpPr>
          <p:nvPr/>
        </p:nvSpPr>
        <p:spPr>
          <a:xfrm>
            <a:off x="1381125" y="6362700"/>
            <a:ext cx="10096500" cy="371475"/>
          </a:xfrm>
          <a:prstGeom prst="rect">
            <a:avLst/>
          </a:prstGeom>
          <a:noFill/>
          <a:ln w="0">
            <a:noFill/>
          </a:ln>
        </p:spPr>
        <p:txBody>
          <a:bodyPr lIns="0" tIns="0" rIns="0" bIns="0" anchor="t">
            <a:noAutofit/>
          </a:bodyPr>
          <a:lstStyle/>
          <a:p>
            <a:pPr>
              <a:buNone/>
              <a:defRPr sz="2100" b="1">
                <a:solidFill>
                  <a:srgbClr val="171717"/>
                </a:solidFill>
                <a:latin typeface="Calibri"/>
                <a:ea typeface="Calibri"/>
                <a:cs typeface="Calibri"/>
              </a:defRPr>
            </a:pPr>
            <a:endParaRPr sz="2100" dirty="0">
              <a:solidFill>
                <a:srgbClr val="171717"/>
              </a:solidFill>
              <a:latin typeface="Calibri"/>
              <a:ea typeface="Calibri"/>
              <a:cs typeface="Calibri"/>
            </a:endParaRPr>
          </a:p>
        </p:txBody>
      </p:sp>
      <p:sp>
        <p:nvSpPr>
          <p:cNvPr id="4" name="TextBox 3">
            <a:extLst>
              <a:ext uri="{FF2B5EF4-FFF2-40B4-BE49-F238E27FC236}">
                <a16:creationId xmlns:a16="http://schemas.microsoft.com/office/drawing/2014/main" id="{30B62C13-0E81-CC7A-CA39-E06720127667}"/>
              </a:ext>
            </a:extLst>
          </p:cNvPr>
          <p:cNvSpPr txBox="1"/>
          <p:nvPr/>
        </p:nvSpPr>
        <p:spPr>
          <a:xfrm>
            <a:off x="1381124" y="6444734"/>
            <a:ext cx="7896225" cy="369332"/>
          </a:xfrm>
          <a:prstGeom prst="rect">
            <a:avLst/>
          </a:prstGeom>
          <a:noFill/>
        </p:spPr>
        <p:txBody>
          <a:bodyPr wrap="square">
            <a:spAutoFit/>
          </a:bodyPr>
          <a:lstStyle/>
          <a:p>
            <a:r>
              <a:rPr lang="en-IL" dirty="0" err="1"/>
              <a:t>XGBoost</a:t>
            </a:r>
            <a:r>
              <a:rPr lang="en-IL" dirty="0"/>
              <a:t>: indicator importance varies across campaigns (</a:t>
            </a:r>
            <a:r>
              <a:rPr lang="en-US" dirty="0" err="1"/>
              <a:t>transductive</a:t>
            </a:r>
            <a:r>
              <a:rPr lang="en-IL" dirty="0"/>
              <a:t> setting).</a:t>
            </a:r>
          </a:p>
        </p:txBody>
      </p:sp>
    </p:spTree>
    <p:extLst>
      <p:ext uri="{BB962C8B-B14F-4D97-AF65-F5344CB8AC3E}">
        <p14:creationId xmlns:p14="http://schemas.microsoft.com/office/powerpoint/2010/main" val="5886189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Detection Across Campaigns">
            <a:extLst>
              <a:ext uri="{FF2B5EF4-FFF2-40B4-BE49-F238E27FC236}">
                <a16:creationId xmlns:a16="http://schemas.microsoft.com/office/drawing/2014/main" id="{24255433-1B27-43F5-BFE0-1EF14859CCBC}"/>
              </a:ext>
            </a:extLst>
          </p:cNvPr>
          <p:cNvSpPr>
            <a:spLocks noGrp="1"/>
          </p:cNvSpPr>
          <p:nvPr/>
        </p:nvSpPr>
        <p:spPr>
          <a:xfrm>
            <a:off x="3143250" y="619125"/>
            <a:ext cx="8572500" cy="1047750"/>
          </a:xfrm>
          <a:prstGeom prst="rect">
            <a:avLst/>
          </a:prstGeom>
          <a:noFill/>
          <a:ln w="0">
            <a:noFill/>
          </a:ln>
        </p:spPr>
        <p:txBody>
          <a:bodyPr lIns="0" tIns="0" rIns="0" bIns="0" anchor="t">
            <a:noAutofit/>
          </a:bodyPr>
          <a:lstStyle/>
          <a:p>
            <a:pPr>
              <a:buNone/>
              <a:defRPr sz="4200" b="0">
                <a:solidFill>
                  <a:srgbClr val="00A0BD"/>
                </a:solidFill>
                <a:latin typeface="Calibri"/>
                <a:ea typeface="Calibri"/>
                <a:cs typeface="Calibri"/>
              </a:defRPr>
            </a:pPr>
            <a:r>
              <a:rPr sz="4400" dirty="0">
                <a:solidFill>
                  <a:srgbClr val="009DBB"/>
                </a:solidFill>
                <a:latin typeface="+mj-lt"/>
                <a:ea typeface="+mj-ea"/>
                <a:cs typeface="+mj-cs"/>
              </a:rPr>
              <a:t>Detection Across Campaigns</a:t>
            </a:r>
          </a:p>
        </p:txBody>
      </p:sp>
      <p:pic>
        <p:nvPicPr>
          <p:cNvPr id="16" name="Picture 15"/>
          <p:cNvPicPr>
            <a:picLocks noChangeAspect="1"/>
          </p:cNvPicPr>
          <p:nvPr/>
        </p:nvPicPr>
        <p:blipFill>
          <a:blip r:embed="rId3"/>
          <a:stretch/>
        </p:blipFill>
        <p:spPr>
          <a:xfrm>
            <a:off x="9052941" y="6048375"/>
            <a:ext cx="2642902" cy="797909"/>
          </a:xfrm>
          <a:prstGeom prst="rect">
            <a:avLst/>
          </a:prstGeom>
        </p:spPr>
      </p:pic>
      <p:sp>
        <p:nvSpPr>
          <p:cNvPr id="3" name="0">
            <a:extLst>
              <a:ext uri="{FF2B5EF4-FFF2-40B4-BE49-F238E27FC236}">
                <a16:creationId xmlns:a16="http://schemas.microsoft.com/office/drawing/2014/main" id="{5E6A08B0-E761-4821-9FE0-23570C64CBD7}"/>
              </a:ext>
            </a:extLst>
          </p:cNvPr>
          <p:cNvSpPr>
            <a:spLocks noGrp="1"/>
          </p:cNvSpPr>
          <p:nvPr/>
        </p:nvSpPr>
        <p:spPr>
          <a:xfrm>
            <a:off x="11753850" y="6524625"/>
            <a:ext cx="285750" cy="209550"/>
          </a:xfrm>
          <a:prstGeom prst="rect">
            <a:avLst/>
          </a:prstGeom>
          <a:noFill/>
          <a:ln w="0">
            <a:noFill/>
          </a:ln>
        </p:spPr>
        <p:txBody>
          <a:bodyPr lIns="0" tIns="0" rIns="0" bIns="0" anchor="t">
            <a:noAutofit/>
          </a:bodyPr>
          <a:lstStyle/>
          <a:p>
            <a:pPr>
              <a:buNone/>
              <a:defRPr sz="1125" b="0">
                <a:solidFill>
                  <a:srgbClr val="888888"/>
                </a:solidFill>
                <a:latin typeface="Calibri"/>
                <a:ea typeface="Calibri"/>
                <a:cs typeface="Calibri"/>
              </a:defRPr>
            </a:pPr>
            <a:r>
              <a:rPr sz="1125" b="0">
                <a:solidFill>
                  <a:srgbClr val="888888"/>
                </a:solidFill>
                <a:latin typeface="Calibri"/>
                <a:ea typeface="Calibri"/>
                <a:cs typeface="Calibri"/>
              </a:rPr>
              <a:t>10</a:t>
            </a:r>
          </a:p>
        </p:txBody>
      </p:sp>
      <p:sp>
        <p:nvSpPr>
          <p:cNvPr id="4" name="0.990">
            <a:extLst>
              <a:ext uri="{FF2B5EF4-FFF2-40B4-BE49-F238E27FC236}">
                <a16:creationId xmlns:a16="http://schemas.microsoft.com/office/drawing/2014/main" id="{C8ACFCBD-22DC-47B9-8F29-267B3A1BAB30}"/>
              </a:ext>
            </a:extLst>
          </p:cNvPr>
          <p:cNvSpPr>
            <a:spLocks noGrp="1"/>
          </p:cNvSpPr>
          <p:nvPr/>
        </p:nvSpPr>
        <p:spPr>
          <a:xfrm>
            <a:off x="1381125" y="1619250"/>
            <a:ext cx="4381500" cy="666750"/>
          </a:xfrm>
          <a:prstGeom prst="rect">
            <a:avLst/>
          </a:prstGeom>
          <a:noFill/>
          <a:ln w="0">
            <a:noFill/>
          </a:ln>
        </p:spPr>
        <p:txBody>
          <a:bodyPr lIns="0" tIns="0" rIns="0" bIns="0" anchor="t">
            <a:noAutofit/>
          </a:bodyPr>
          <a:lstStyle/>
          <a:p>
            <a:pPr>
              <a:buNone/>
              <a:defRPr sz="4125" b="1">
                <a:solidFill>
                  <a:srgbClr val="00A0BD"/>
                </a:solidFill>
                <a:latin typeface="Calibri"/>
                <a:ea typeface="Calibri"/>
                <a:cs typeface="Calibri"/>
              </a:defRPr>
            </a:pPr>
            <a:r>
              <a:rPr sz="4125" b="1">
                <a:solidFill>
                  <a:srgbClr val="00A0BD"/>
                </a:solidFill>
                <a:latin typeface="Calibri"/>
                <a:ea typeface="Calibri"/>
                <a:cs typeface="Calibri"/>
              </a:rPr>
              <a:t>0.990</a:t>
            </a:r>
          </a:p>
        </p:txBody>
      </p:sp>
      <p:sp>
        <p:nvSpPr>
          <p:cNvPr id="5" name="Mean within-campaign ROC-AUC">
            <a:extLst>
              <a:ext uri="{FF2B5EF4-FFF2-40B4-BE49-F238E27FC236}">
                <a16:creationId xmlns:a16="http://schemas.microsoft.com/office/drawing/2014/main" id="{88BECC5A-9F85-4FFE-922E-06F633C87224}"/>
              </a:ext>
            </a:extLst>
          </p:cNvPr>
          <p:cNvSpPr>
            <a:spLocks noGrp="1"/>
          </p:cNvSpPr>
          <p:nvPr/>
        </p:nvSpPr>
        <p:spPr>
          <a:xfrm>
            <a:off x="1381125" y="2333625"/>
            <a:ext cx="4762500" cy="409575"/>
          </a:xfrm>
          <a:prstGeom prst="rect">
            <a:avLst/>
          </a:prstGeom>
          <a:noFill/>
          <a:ln w="0">
            <a:noFill/>
          </a:ln>
        </p:spPr>
        <p:txBody>
          <a:bodyPr lIns="0" tIns="0" rIns="0" bIns="0" anchor="t">
            <a:noAutofit/>
          </a:bodyPr>
          <a:lstStyle/>
          <a:p>
            <a:pPr>
              <a:buNone/>
              <a:defRPr sz="1875" b="0">
                <a:solidFill>
                  <a:srgbClr val="171717"/>
                </a:solidFill>
                <a:latin typeface="Calibri"/>
                <a:ea typeface="Calibri"/>
                <a:cs typeface="Calibri"/>
              </a:defRPr>
            </a:pPr>
            <a:r>
              <a:rPr sz="1875" b="0">
                <a:solidFill>
                  <a:srgbClr val="171717"/>
                </a:solidFill>
                <a:latin typeface="Calibri"/>
                <a:ea typeface="Calibri"/>
                <a:cs typeface="Calibri"/>
              </a:rPr>
              <a:t>Mean within-campaign ROC-AUC</a:t>
            </a:r>
          </a:p>
        </p:txBody>
      </p:sp>
      <p:sp>
        <p:nvSpPr>
          <p:cNvPr id="6" name="0.933">
            <a:extLst>
              <a:ext uri="{FF2B5EF4-FFF2-40B4-BE49-F238E27FC236}">
                <a16:creationId xmlns:a16="http://schemas.microsoft.com/office/drawing/2014/main" id="{A0A82FC7-115B-49E0-8CD3-BB199934A574}"/>
              </a:ext>
            </a:extLst>
          </p:cNvPr>
          <p:cNvSpPr>
            <a:spLocks noGrp="1"/>
          </p:cNvSpPr>
          <p:nvPr/>
        </p:nvSpPr>
        <p:spPr>
          <a:xfrm>
            <a:off x="6905625" y="1619250"/>
            <a:ext cx="4381500" cy="666750"/>
          </a:xfrm>
          <a:prstGeom prst="rect">
            <a:avLst/>
          </a:prstGeom>
          <a:noFill/>
          <a:ln w="0">
            <a:noFill/>
          </a:ln>
        </p:spPr>
        <p:txBody>
          <a:bodyPr lIns="0" tIns="0" rIns="0" bIns="0" anchor="t">
            <a:noAutofit/>
          </a:bodyPr>
          <a:lstStyle/>
          <a:p>
            <a:pPr>
              <a:buNone/>
              <a:defRPr sz="4125" b="1">
                <a:solidFill>
                  <a:srgbClr val="00A0BD"/>
                </a:solidFill>
                <a:latin typeface="Calibri"/>
                <a:ea typeface="Calibri"/>
                <a:cs typeface="Calibri"/>
              </a:defRPr>
            </a:pPr>
            <a:r>
              <a:rPr sz="4125" b="1">
                <a:solidFill>
                  <a:srgbClr val="00A0BD"/>
                </a:solidFill>
                <a:latin typeface="Calibri"/>
                <a:ea typeface="Calibri"/>
                <a:cs typeface="Calibri"/>
              </a:rPr>
              <a:t>0.933</a:t>
            </a:r>
          </a:p>
        </p:txBody>
      </p:sp>
      <p:sp>
        <p:nvSpPr>
          <p:cNvPr id="7" name="Mean cross-campaign ROC-AUC">
            <a:extLst>
              <a:ext uri="{FF2B5EF4-FFF2-40B4-BE49-F238E27FC236}">
                <a16:creationId xmlns:a16="http://schemas.microsoft.com/office/drawing/2014/main" id="{C049B299-0352-4821-9936-1E12D421E351}"/>
              </a:ext>
            </a:extLst>
          </p:cNvPr>
          <p:cNvSpPr>
            <a:spLocks noGrp="1"/>
          </p:cNvSpPr>
          <p:nvPr/>
        </p:nvSpPr>
        <p:spPr>
          <a:xfrm>
            <a:off x="6905625" y="2333625"/>
            <a:ext cx="4762500" cy="409575"/>
          </a:xfrm>
          <a:prstGeom prst="rect">
            <a:avLst/>
          </a:prstGeom>
          <a:noFill/>
          <a:ln w="0">
            <a:noFill/>
          </a:ln>
        </p:spPr>
        <p:txBody>
          <a:bodyPr lIns="0" tIns="0" rIns="0" bIns="0" anchor="t">
            <a:noAutofit/>
          </a:bodyPr>
          <a:lstStyle/>
          <a:p>
            <a:pPr>
              <a:buNone/>
              <a:defRPr sz="1875" b="0">
                <a:solidFill>
                  <a:srgbClr val="171717"/>
                </a:solidFill>
                <a:latin typeface="Calibri"/>
                <a:ea typeface="Calibri"/>
                <a:cs typeface="Calibri"/>
              </a:defRPr>
            </a:pPr>
            <a:r>
              <a:rPr sz="1875" b="0">
                <a:solidFill>
                  <a:srgbClr val="171717"/>
                </a:solidFill>
                <a:latin typeface="Calibri"/>
                <a:ea typeface="Calibri"/>
                <a:cs typeface="Calibri"/>
              </a:rPr>
              <a:t>Mean cross-campaign ROC-AUC</a:t>
            </a:r>
          </a:p>
        </p:txBody>
      </p:sp>
      <p:graphicFrame>
        <p:nvGraphicFramePr>
          <p:cNvPr id="22" name="Table 21"/>
          <p:cNvGraphicFramePr/>
          <p:nvPr/>
        </p:nvGraphicFramePr>
        <p:xfrm>
          <a:off x="1381125" y="2743200"/>
          <a:ext cx="10096500" cy="2867025"/>
        </p:xfrm>
        <a:graphic>
          <a:graphicData uri="http://schemas.openxmlformats.org/drawingml/2006/table">
            <a:tbl>
              <a:tblPr/>
              <a:tblGrid>
                <a:gridCol w="209550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000250">
                  <a:extLst>
                    <a:ext uri="{9D8B030D-6E8A-4147-A177-3AD203B41FA5}">
                      <a16:colId xmlns:a16="http://schemas.microsoft.com/office/drawing/2014/main" val="20004"/>
                    </a:ext>
                  </a:extLst>
                </a:gridCol>
              </a:tblGrid>
              <a:tr h="409575">
                <a:tc>
                  <a:txBody>
                    <a:bodyPr/>
                    <a:lstStyle/>
                    <a:p>
                      <a:pPr algn="l">
                        <a:buNone/>
                      </a:pPr>
                      <a:r>
                        <a:rPr sz="1800" b="1">
                          <a:solidFill>
                            <a:srgbClr val="FFFFFF"/>
                          </a:solidFill>
                          <a:latin typeface="Calibri"/>
                          <a:ea typeface="Calibri"/>
                          <a:cs typeface="Calibri"/>
                        </a:rPr>
                        <a:t>Campaign</a:t>
                      </a:r>
                    </a:p>
                  </a:txBody>
                  <a:tcPr marL="114300" marR="114300" marT="38100" marB="38100" anchor="ctr">
                    <a:solidFill>
                      <a:srgbClr val="00A0BD"/>
                    </a:solidFill>
                  </a:tcPr>
                </a:tc>
                <a:tc>
                  <a:txBody>
                    <a:bodyPr/>
                    <a:lstStyle/>
                    <a:p>
                      <a:pPr algn="ctr">
                        <a:buNone/>
                      </a:pPr>
                      <a:r>
                        <a:rPr sz="1800" b="1">
                          <a:solidFill>
                            <a:srgbClr val="FFFFFF"/>
                          </a:solidFill>
                          <a:latin typeface="Calibri"/>
                          <a:ea typeface="Calibri"/>
                          <a:cs typeface="Calibri"/>
                        </a:rPr>
                        <a:t>Within ROC</a:t>
                      </a:r>
                    </a:p>
                  </a:txBody>
                  <a:tcPr marL="114300" marR="114300" marT="38100" marB="38100" anchor="ctr">
                    <a:solidFill>
                      <a:srgbClr val="00A0BD"/>
                    </a:solidFill>
                  </a:tcPr>
                </a:tc>
                <a:tc>
                  <a:txBody>
                    <a:bodyPr/>
                    <a:lstStyle/>
                    <a:p>
                      <a:pPr algn="ctr">
                        <a:buNone/>
                      </a:pPr>
                      <a:r>
                        <a:rPr sz="1800" b="1">
                          <a:solidFill>
                            <a:srgbClr val="FFFFFF"/>
                          </a:solidFill>
                          <a:latin typeface="Calibri"/>
                          <a:ea typeface="Calibri"/>
                          <a:cs typeface="Calibri"/>
                        </a:rPr>
                        <a:t>Within PR</a:t>
                      </a:r>
                    </a:p>
                  </a:txBody>
                  <a:tcPr marL="114300" marR="114300" marT="38100" marB="38100" anchor="ctr">
                    <a:solidFill>
                      <a:srgbClr val="00A0BD"/>
                    </a:solidFill>
                  </a:tcPr>
                </a:tc>
                <a:tc>
                  <a:txBody>
                    <a:bodyPr/>
                    <a:lstStyle/>
                    <a:p>
                      <a:pPr algn="ctr">
                        <a:buNone/>
                      </a:pPr>
                      <a:r>
                        <a:rPr sz="1800" b="1">
                          <a:solidFill>
                            <a:srgbClr val="FFFFFF"/>
                          </a:solidFill>
                          <a:latin typeface="Calibri"/>
                          <a:ea typeface="Calibri"/>
                          <a:cs typeface="Calibri"/>
                        </a:rPr>
                        <a:t>Across ROC</a:t>
                      </a:r>
                    </a:p>
                  </a:txBody>
                  <a:tcPr marL="114300" marR="114300" marT="38100" marB="38100" anchor="ctr">
                    <a:solidFill>
                      <a:srgbClr val="00A0BD"/>
                    </a:solidFill>
                  </a:tcPr>
                </a:tc>
                <a:tc>
                  <a:txBody>
                    <a:bodyPr/>
                    <a:lstStyle/>
                    <a:p>
                      <a:pPr algn="ctr">
                        <a:buNone/>
                      </a:pPr>
                      <a:r>
                        <a:rPr sz="1800" b="1">
                          <a:solidFill>
                            <a:srgbClr val="FFFFFF"/>
                          </a:solidFill>
                          <a:latin typeface="Calibri"/>
                          <a:ea typeface="Calibri"/>
                          <a:cs typeface="Calibri"/>
                        </a:rPr>
                        <a:t>Across PR</a:t>
                      </a:r>
                    </a:p>
                  </a:txBody>
                  <a:tcPr marL="114300" marR="114300" marT="38100" marB="38100" anchor="ctr">
                    <a:solidFill>
                      <a:srgbClr val="00A0BD"/>
                    </a:solidFill>
                  </a:tcPr>
                </a:tc>
                <a:extLst>
                  <a:ext uri="{0D108BD9-81ED-4DB2-BD59-A6C34878D82A}">
                    <a16:rowId xmlns:a16="http://schemas.microsoft.com/office/drawing/2014/main" val="10000"/>
                  </a:ext>
                </a:extLst>
              </a:tr>
              <a:tr h="409575">
                <a:tc>
                  <a:txBody>
                    <a:bodyPr/>
                    <a:lstStyle/>
                    <a:p>
                      <a:pPr algn="l">
                        <a:buNone/>
                      </a:pPr>
                      <a:r>
                        <a:rPr sz="1800" b="0">
                          <a:solidFill>
                            <a:srgbClr val="171717"/>
                          </a:solidFill>
                          <a:latin typeface="Calibri"/>
                          <a:ea typeface="Calibri"/>
                          <a:cs typeface="Calibri"/>
                        </a:rPr>
                        <a:t>Iran-1</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0.991</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0.983</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0.989</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0.963</a:t>
                      </a:r>
                    </a:p>
                  </a:txBody>
                  <a:tcPr marL="114300" marR="114300" marT="38100" marB="38100" anchor="ctr">
                    <a:solidFill>
                      <a:srgbClr val="FFFFFF"/>
                    </a:solidFill>
                  </a:tcPr>
                </a:tc>
                <a:extLst>
                  <a:ext uri="{0D108BD9-81ED-4DB2-BD59-A6C34878D82A}">
                    <a16:rowId xmlns:a16="http://schemas.microsoft.com/office/drawing/2014/main" val="10001"/>
                  </a:ext>
                </a:extLst>
              </a:tr>
              <a:tr h="409575">
                <a:tc>
                  <a:txBody>
                    <a:bodyPr/>
                    <a:lstStyle/>
                    <a:p>
                      <a:pPr algn="l">
                        <a:buNone/>
                      </a:pPr>
                      <a:r>
                        <a:rPr sz="1800" b="0">
                          <a:solidFill>
                            <a:srgbClr val="171717"/>
                          </a:solidFill>
                          <a:latin typeface="Calibri"/>
                          <a:ea typeface="Calibri"/>
                          <a:cs typeface="Calibri"/>
                        </a:rPr>
                        <a:t>UAE</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0.995</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0.992</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0.976</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0.943</a:t>
                      </a:r>
                    </a:p>
                  </a:txBody>
                  <a:tcPr marL="114300" marR="114300" marT="38100" marB="38100" anchor="ctr">
                    <a:solidFill>
                      <a:srgbClr val="EEF5F6"/>
                    </a:solidFill>
                  </a:tcPr>
                </a:tc>
                <a:extLst>
                  <a:ext uri="{0D108BD9-81ED-4DB2-BD59-A6C34878D82A}">
                    <a16:rowId xmlns:a16="http://schemas.microsoft.com/office/drawing/2014/main" val="10002"/>
                  </a:ext>
                </a:extLst>
              </a:tr>
              <a:tr h="409575">
                <a:tc>
                  <a:txBody>
                    <a:bodyPr/>
                    <a:lstStyle/>
                    <a:p>
                      <a:pPr algn="l">
                        <a:buNone/>
                      </a:pPr>
                      <a:r>
                        <a:rPr sz="1800" b="0">
                          <a:solidFill>
                            <a:srgbClr val="171717"/>
                          </a:solidFill>
                          <a:latin typeface="Calibri"/>
                          <a:ea typeface="Calibri"/>
                          <a:cs typeface="Calibri"/>
                        </a:rPr>
                        <a:t>Venezuela</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0.984</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0.964</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0.889</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0.649</a:t>
                      </a:r>
                    </a:p>
                  </a:txBody>
                  <a:tcPr marL="114300" marR="114300" marT="38100" marB="38100" anchor="ctr">
                    <a:solidFill>
                      <a:srgbClr val="FFFFFF"/>
                    </a:solidFill>
                  </a:tcPr>
                </a:tc>
                <a:extLst>
                  <a:ext uri="{0D108BD9-81ED-4DB2-BD59-A6C34878D82A}">
                    <a16:rowId xmlns:a16="http://schemas.microsoft.com/office/drawing/2014/main" val="10003"/>
                  </a:ext>
                </a:extLst>
              </a:tr>
              <a:tr h="409575">
                <a:tc>
                  <a:txBody>
                    <a:bodyPr/>
                    <a:lstStyle/>
                    <a:p>
                      <a:pPr algn="l">
                        <a:buNone/>
                      </a:pPr>
                      <a:r>
                        <a:rPr sz="1800" b="0">
                          <a:solidFill>
                            <a:srgbClr val="171717"/>
                          </a:solidFill>
                          <a:latin typeface="Calibri"/>
                          <a:ea typeface="Calibri"/>
                          <a:cs typeface="Calibri"/>
                        </a:rPr>
                        <a:t>China-1</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0.986</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0.940</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0.822</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0.072</a:t>
                      </a:r>
                    </a:p>
                  </a:txBody>
                  <a:tcPr marL="114300" marR="114300" marT="38100" marB="38100" anchor="ctr">
                    <a:solidFill>
                      <a:srgbClr val="EEF5F6"/>
                    </a:solidFill>
                  </a:tcPr>
                </a:tc>
                <a:extLst>
                  <a:ext uri="{0D108BD9-81ED-4DB2-BD59-A6C34878D82A}">
                    <a16:rowId xmlns:a16="http://schemas.microsoft.com/office/drawing/2014/main" val="10004"/>
                  </a:ext>
                </a:extLst>
              </a:tr>
              <a:tr h="409575">
                <a:tc>
                  <a:txBody>
                    <a:bodyPr/>
                    <a:lstStyle/>
                    <a:p>
                      <a:pPr algn="l">
                        <a:buNone/>
                      </a:pPr>
                      <a:r>
                        <a:rPr sz="1800" b="0">
                          <a:solidFill>
                            <a:srgbClr val="171717"/>
                          </a:solidFill>
                          <a:latin typeface="Calibri"/>
                          <a:ea typeface="Calibri"/>
                          <a:cs typeface="Calibri"/>
                        </a:rPr>
                        <a:t>Cuba</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0.985</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0.966</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0.992</a:t>
                      </a:r>
                    </a:p>
                  </a:txBody>
                  <a:tcPr marL="114300" marR="114300" marT="38100" marB="38100" anchor="ctr">
                    <a:solidFill>
                      <a:srgbClr val="FFFFFF"/>
                    </a:solidFill>
                  </a:tcPr>
                </a:tc>
                <a:tc>
                  <a:txBody>
                    <a:bodyPr/>
                    <a:lstStyle/>
                    <a:p>
                      <a:pPr algn="ctr">
                        <a:buNone/>
                      </a:pPr>
                      <a:r>
                        <a:rPr sz="1800" b="0">
                          <a:solidFill>
                            <a:srgbClr val="171717"/>
                          </a:solidFill>
                          <a:latin typeface="Calibri"/>
                          <a:ea typeface="Calibri"/>
                          <a:cs typeface="Calibri"/>
                        </a:rPr>
                        <a:t>0.920</a:t>
                      </a:r>
                    </a:p>
                  </a:txBody>
                  <a:tcPr marL="114300" marR="114300" marT="38100" marB="38100" anchor="ctr">
                    <a:solidFill>
                      <a:srgbClr val="FFFFFF"/>
                    </a:solidFill>
                  </a:tcPr>
                </a:tc>
                <a:extLst>
                  <a:ext uri="{0D108BD9-81ED-4DB2-BD59-A6C34878D82A}">
                    <a16:rowId xmlns:a16="http://schemas.microsoft.com/office/drawing/2014/main" val="10005"/>
                  </a:ext>
                </a:extLst>
              </a:tr>
              <a:tr h="409575">
                <a:tc>
                  <a:txBody>
                    <a:bodyPr/>
                    <a:lstStyle/>
                    <a:p>
                      <a:pPr algn="l">
                        <a:buNone/>
                      </a:pPr>
                      <a:r>
                        <a:rPr sz="1800" b="0">
                          <a:solidFill>
                            <a:srgbClr val="171717"/>
                          </a:solidFill>
                          <a:latin typeface="Calibri"/>
                          <a:ea typeface="Calibri"/>
                          <a:cs typeface="Calibri"/>
                        </a:rPr>
                        <a:t>Russia-1</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0.999</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0.994</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0.929</a:t>
                      </a:r>
                    </a:p>
                  </a:txBody>
                  <a:tcPr marL="114300" marR="114300" marT="38100" marB="38100" anchor="ctr">
                    <a:solidFill>
                      <a:srgbClr val="EEF5F6"/>
                    </a:solidFill>
                  </a:tcPr>
                </a:tc>
                <a:tc>
                  <a:txBody>
                    <a:bodyPr/>
                    <a:lstStyle/>
                    <a:p>
                      <a:pPr algn="ctr">
                        <a:buNone/>
                      </a:pPr>
                      <a:r>
                        <a:rPr sz="1800" b="0">
                          <a:solidFill>
                            <a:srgbClr val="171717"/>
                          </a:solidFill>
                          <a:latin typeface="Calibri"/>
                          <a:ea typeface="Calibri"/>
                          <a:cs typeface="Calibri"/>
                        </a:rPr>
                        <a:t>0.794</a:t>
                      </a:r>
                    </a:p>
                  </a:txBody>
                  <a:tcPr marL="114300" marR="114300" marT="38100" marB="38100" anchor="ctr">
                    <a:solidFill>
                      <a:srgbClr val="EEF5F6"/>
                    </a:solidFill>
                  </a:tcPr>
                </a:tc>
                <a:extLst>
                  <a:ext uri="{0D108BD9-81ED-4DB2-BD59-A6C34878D82A}">
                    <a16:rowId xmlns:a16="http://schemas.microsoft.com/office/drawing/2014/main" val="10006"/>
                  </a:ext>
                </a:extLst>
              </a:tr>
            </a:tbl>
          </a:graphicData>
        </a:graphic>
      </p:graphicFrame>
      <p:sp>
        <p:nvSpPr>
          <p:cNvPr id="9" name="Random Forest AUC. Across: train on five campaigns, test on ">
            <a:extLst>
              <a:ext uri="{FF2B5EF4-FFF2-40B4-BE49-F238E27FC236}">
                <a16:creationId xmlns:a16="http://schemas.microsoft.com/office/drawing/2014/main" id="{4F48DA0C-68B0-4A52-ABD8-30ECFF0C7A7D}"/>
              </a:ext>
            </a:extLst>
          </p:cNvPr>
          <p:cNvSpPr>
            <a:spLocks noGrp="1"/>
          </p:cNvSpPr>
          <p:nvPr/>
        </p:nvSpPr>
        <p:spPr>
          <a:xfrm>
            <a:off x="1381125" y="5734050"/>
            <a:ext cx="10191750" cy="304800"/>
          </a:xfrm>
          <a:prstGeom prst="rect">
            <a:avLst/>
          </a:prstGeom>
          <a:noFill/>
          <a:ln w="0">
            <a:noFill/>
          </a:ln>
        </p:spPr>
        <p:txBody>
          <a:bodyPr lIns="0" tIns="0" rIns="0" bIns="0" anchor="t">
            <a:noAutofit/>
          </a:bodyPr>
          <a:lstStyle/>
          <a:p>
            <a:pPr>
              <a:buNone/>
              <a:defRPr sz="1650" b="0">
                <a:solidFill>
                  <a:srgbClr val="606060"/>
                </a:solidFill>
                <a:latin typeface="Calibri"/>
                <a:ea typeface="Calibri"/>
                <a:cs typeface="Calibri"/>
              </a:defRPr>
            </a:pPr>
            <a:r>
              <a:rPr sz="1650" b="0">
                <a:solidFill>
                  <a:srgbClr val="606060"/>
                </a:solidFill>
                <a:latin typeface="Calibri"/>
                <a:ea typeface="Calibri"/>
                <a:cs typeface="Calibri"/>
              </a:rPr>
              <a:t>Random Forest AUC. Across: train on five campaigns, test on one.</a:t>
            </a:r>
          </a:p>
        </p:txBody>
      </p:sp>
      <p:sp>
        <p:nvSpPr>
          <p:cNvPr id="10" name="Mean PR-AUC: 0.973 within campaign / 0.723 across campaigns.">
            <a:extLst>
              <a:ext uri="{FF2B5EF4-FFF2-40B4-BE49-F238E27FC236}">
                <a16:creationId xmlns:a16="http://schemas.microsoft.com/office/drawing/2014/main" id="{63DD2D39-7880-4700-9459-3EDD8CDAC1CE}"/>
              </a:ext>
            </a:extLst>
          </p:cNvPr>
          <p:cNvSpPr>
            <a:spLocks noGrp="1"/>
          </p:cNvSpPr>
          <p:nvPr/>
        </p:nvSpPr>
        <p:spPr>
          <a:xfrm>
            <a:off x="1381125" y="6048375"/>
            <a:ext cx="7524750" cy="295275"/>
          </a:xfrm>
          <a:prstGeom prst="rect">
            <a:avLst/>
          </a:prstGeom>
          <a:noFill/>
          <a:ln w="0">
            <a:noFill/>
          </a:ln>
        </p:spPr>
        <p:txBody>
          <a:bodyPr lIns="0" tIns="0" rIns="0" bIns="0" anchor="t">
            <a:noAutofit/>
          </a:bodyPr>
          <a:lstStyle/>
          <a:p>
            <a:pPr>
              <a:buNone/>
              <a:defRPr sz="1650" b="0">
                <a:solidFill>
                  <a:srgbClr val="606060"/>
                </a:solidFill>
                <a:latin typeface="Calibri"/>
                <a:ea typeface="Calibri"/>
                <a:cs typeface="Calibri"/>
              </a:defRPr>
            </a:pPr>
            <a:r>
              <a:rPr sz="1650" b="0">
                <a:solidFill>
                  <a:srgbClr val="606060"/>
                </a:solidFill>
                <a:latin typeface="Calibri"/>
                <a:ea typeface="Calibri"/>
                <a:cs typeface="Calibri"/>
              </a:rPr>
              <a:t>Mean PR-AUC: 0.973 within campaign / 0.723 across campaigns.</a:t>
            </a:r>
          </a:p>
        </p:txBody>
      </p:sp>
      <p:sp>
        <p:nvSpPr>
          <p:cNvPr id="11" name="Macro-F1: ICSU 0.804 vs. IOHunter 0.793 (different training ">
            <a:extLst>
              <a:ext uri="{FF2B5EF4-FFF2-40B4-BE49-F238E27FC236}">
                <a16:creationId xmlns:a16="http://schemas.microsoft.com/office/drawing/2014/main" id="{B1C830EF-C968-428C-9804-3C5F7C4CEB1D}"/>
              </a:ext>
            </a:extLst>
          </p:cNvPr>
          <p:cNvSpPr>
            <a:spLocks noGrp="1"/>
          </p:cNvSpPr>
          <p:nvPr/>
        </p:nvSpPr>
        <p:spPr>
          <a:xfrm>
            <a:off x="1381125" y="6410325"/>
            <a:ext cx="7524750" cy="276225"/>
          </a:xfrm>
          <a:prstGeom prst="rect">
            <a:avLst/>
          </a:prstGeom>
          <a:noFill/>
          <a:ln w="0">
            <a:noFill/>
          </a:ln>
        </p:spPr>
        <p:txBody>
          <a:bodyPr lIns="0" tIns="0" rIns="0" bIns="0" anchor="t">
            <a:noAutofit/>
          </a:bodyPr>
          <a:lstStyle/>
          <a:p>
            <a:pPr>
              <a:buNone/>
              <a:defRPr sz="1500" b="0">
                <a:solidFill>
                  <a:srgbClr val="606060"/>
                </a:solidFill>
                <a:latin typeface="Calibri"/>
                <a:ea typeface="Calibri"/>
                <a:cs typeface="Calibri"/>
              </a:defRPr>
            </a:pPr>
            <a:r>
              <a:rPr sz="1500" b="0">
                <a:solidFill>
                  <a:srgbClr val="606060"/>
                </a:solidFill>
                <a:latin typeface="Calibri"/>
                <a:ea typeface="Calibri"/>
                <a:cs typeface="Calibri"/>
              </a:rPr>
              <a:t>Macro-F1: ICSU 0.804 vs. IOHunter 0.793 (different training coverage).</a:t>
            </a:r>
          </a:p>
        </p:txBody>
      </p:sp>
    </p:spTree>
    <p:extLst>
      <p:ext uri="{BB962C8B-B14F-4D97-AF65-F5344CB8AC3E}">
        <p14:creationId xmlns:p14="http://schemas.microsoft.com/office/powerpoint/2010/main" val="34640818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ppendix: Group Analysis">
            <a:extLst>
              <a:ext uri="{FF2B5EF4-FFF2-40B4-BE49-F238E27FC236}">
                <a16:creationId xmlns:a16="http://schemas.microsoft.com/office/drawing/2014/main" id="{1DD6CE70-C1FF-44D9-BC91-6B57F19508A8}"/>
              </a:ext>
            </a:extLst>
          </p:cNvPr>
          <p:cNvSpPr>
            <a:spLocks noGrp="1"/>
          </p:cNvSpPr>
          <p:nvPr/>
        </p:nvSpPr>
        <p:spPr>
          <a:xfrm>
            <a:off x="3143250" y="619125"/>
            <a:ext cx="8572500" cy="1047750"/>
          </a:xfrm>
          <a:prstGeom prst="rect">
            <a:avLst/>
          </a:prstGeom>
          <a:noFill/>
          <a:ln w="0">
            <a:noFill/>
          </a:ln>
        </p:spPr>
        <p:txBody>
          <a:bodyPr lIns="0" tIns="0" rIns="0" bIns="0" anchor="t">
            <a:noAutofit/>
          </a:bodyPr>
          <a:lstStyle/>
          <a:p>
            <a:pPr>
              <a:buNone/>
              <a:defRPr sz="4200" b="0">
                <a:solidFill>
                  <a:srgbClr val="00A0BD"/>
                </a:solidFill>
                <a:latin typeface="Calibri"/>
                <a:ea typeface="Calibri"/>
                <a:cs typeface="Calibri"/>
              </a:defRPr>
            </a:pPr>
            <a:r>
              <a:rPr sz="4400" dirty="0">
                <a:solidFill>
                  <a:srgbClr val="009DBB"/>
                </a:solidFill>
                <a:latin typeface="+mj-lt"/>
                <a:ea typeface="+mj-ea"/>
                <a:cs typeface="+mj-cs"/>
              </a:rPr>
              <a:t>Group Analysis</a:t>
            </a:r>
          </a:p>
        </p:txBody>
      </p:sp>
      <p:sp>
        <p:nvSpPr>
          <p:cNvPr id="3" name="15">
            <a:extLst>
              <a:ext uri="{FF2B5EF4-FFF2-40B4-BE49-F238E27FC236}">
                <a16:creationId xmlns:a16="http://schemas.microsoft.com/office/drawing/2014/main" id="{9792A4AE-8816-49D6-BCA5-63AFC007D4F8}"/>
              </a:ext>
            </a:extLst>
          </p:cNvPr>
          <p:cNvSpPr>
            <a:spLocks noGrp="1"/>
          </p:cNvSpPr>
          <p:nvPr/>
        </p:nvSpPr>
        <p:spPr>
          <a:xfrm>
            <a:off x="11753850" y="6524625"/>
            <a:ext cx="285750" cy="209550"/>
          </a:xfrm>
          <a:prstGeom prst="rect">
            <a:avLst/>
          </a:prstGeom>
          <a:noFill/>
          <a:ln w="0">
            <a:noFill/>
          </a:ln>
        </p:spPr>
        <p:txBody>
          <a:bodyPr lIns="0" tIns="0" rIns="0" bIns="0" anchor="t">
            <a:noAutofit/>
          </a:bodyPr>
          <a:lstStyle/>
          <a:p>
            <a:pPr>
              <a:buNone/>
              <a:defRPr sz="1125" b="0">
                <a:solidFill>
                  <a:srgbClr val="888888"/>
                </a:solidFill>
                <a:latin typeface="Calibri"/>
                <a:ea typeface="Calibri"/>
                <a:cs typeface="Calibri"/>
              </a:defRPr>
            </a:pPr>
            <a:r>
              <a:rPr sz="1125" b="0">
                <a:solidFill>
                  <a:srgbClr val="888888"/>
                </a:solidFill>
                <a:latin typeface="Calibri"/>
                <a:ea typeface="Calibri"/>
                <a:cs typeface="Calibri"/>
              </a:rPr>
              <a:t>12</a:t>
            </a:r>
          </a:p>
        </p:txBody>
      </p:sp>
      <p:pic>
        <p:nvPicPr>
          <p:cNvPr id="13" name="Picture 12"/>
          <p:cNvPicPr>
            <a:picLocks noChangeAspect="1"/>
          </p:cNvPicPr>
          <p:nvPr/>
        </p:nvPicPr>
        <p:blipFill>
          <a:blip r:embed="rId3"/>
          <a:stretch/>
        </p:blipFill>
        <p:spPr>
          <a:xfrm>
            <a:off x="1178738" y="1860636"/>
            <a:ext cx="10860862" cy="3454314"/>
          </a:xfrm>
          <a:prstGeom prst="rect">
            <a:avLst/>
          </a:prstGeom>
        </p:spPr>
      </p:pic>
      <p:sp>
        <p:nvSpPr>
          <p:cNvPr id="5" name="K-core groups balance IO concentration and topic alignment. ">
            <a:extLst>
              <a:ext uri="{FF2B5EF4-FFF2-40B4-BE49-F238E27FC236}">
                <a16:creationId xmlns:a16="http://schemas.microsoft.com/office/drawing/2014/main" id="{4077DB98-F078-43B7-9863-A247B4F38688}"/>
              </a:ext>
            </a:extLst>
          </p:cNvPr>
          <p:cNvSpPr>
            <a:spLocks noGrp="1"/>
          </p:cNvSpPr>
          <p:nvPr/>
        </p:nvSpPr>
        <p:spPr>
          <a:xfrm>
            <a:off x="1381125" y="5562600"/>
            <a:ext cx="10096500" cy="790575"/>
          </a:xfrm>
          <a:prstGeom prst="rect">
            <a:avLst/>
          </a:prstGeom>
          <a:noFill/>
          <a:ln w="0">
            <a:noFill/>
          </a:ln>
        </p:spPr>
        <p:txBody>
          <a:bodyPr lIns="0" tIns="0" rIns="0" bIns="0" anchor="t">
            <a:noAutofit/>
          </a:bodyPr>
          <a:lstStyle/>
          <a:p>
            <a:pPr>
              <a:buNone/>
              <a:defRPr sz="2325" b="0">
                <a:solidFill>
                  <a:srgbClr val="171717"/>
                </a:solidFill>
                <a:latin typeface="Calibri"/>
                <a:ea typeface="Calibri"/>
                <a:cs typeface="Calibri"/>
              </a:defRPr>
            </a:pPr>
            <a:r>
              <a:rPr sz="2325" b="0" dirty="0">
                <a:solidFill>
                  <a:srgbClr val="171717"/>
                </a:solidFill>
                <a:latin typeface="Calibri"/>
                <a:ea typeface="Calibri"/>
                <a:cs typeface="Calibri"/>
              </a:rPr>
              <a:t>K-core groups balance IO concentration and topic alignment.</a:t>
            </a:r>
            <a:endParaRPr lang="en-US" sz="2325" b="0" dirty="0">
              <a:solidFill>
                <a:srgbClr val="171717"/>
              </a:solidFill>
              <a:latin typeface="Calibri"/>
              <a:ea typeface="Calibri"/>
              <a:cs typeface="Calibri"/>
            </a:endParaRPr>
          </a:p>
          <a:p>
            <a:pPr>
              <a:buNone/>
              <a:defRPr sz="2325" b="0">
                <a:solidFill>
                  <a:srgbClr val="171717"/>
                </a:solidFill>
                <a:latin typeface="Calibri"/>
                <a:ea typeface="Calibri"/>
                <a:cs typeface="Calibri"/>
              </a:defRPr>
            </a:pPr>
            <a:r>
              <a:rPr sz="2325" b="0" dirty="0">
                <a:solidFill>
                  <a:srgbClr val="171717"/>
                </a:solidFill>
                <a:latin typeface="Calibri"/>
                <a:ea typeface="Calibri"/>
                <a:cs typeface="Calibri"/>
              </a:rPr>
              <a:t>Direct neighbors also perform well.</a:t>
            </a:r>
          </a:p>
        </p:txBody>
      </p:sp>
      <p:sp>
        <p:nvSpPr>
          <p:cNvPr id="6" name="Top: XGBoost-predicted IO accounts. Bottom: all accounts.">
            <a:extLst>
              <a:ext uri="{FF2B5EF4-FFF2-40B4-BE49-F238E27FC236}">
                <a16:creationId xmlns:a16="http://schemas.microsoft.com/office/drawing/2014/main" id="{DDFEED6A-F454-4027-AC9A-ED175958BB5D}"/>
              </a:ext>
            </a:extLst>
          </p:cNvPr>
          <p:cNvSpPr>
            <a:spLocks noGrp="1"/>
          </p:cNvSpPr>
          <p:nvPr/>
        </p:nvSpPr>
        <p:spPr>
          <a:xfrm>
            <a:off x="1381125" y="6419850"/>
            <a:ext cx="10001250" cy="419100"/>
          </a:xfrm>
          <a:prstGeom prst="rect">
            <a:avLst/>
          </a:prstGeom>
          <a:noFill/>
          <a:ln w="0">
            <a:noFill/>
          </a:ln>
        </p:spPr>
        <p:txBody>
          <a:bodyPr lIns="0" tIns="0" rIns="0" bIns="0" anchor="t">
            <a:noAutofit/>
          </a:bodyPr>
          <a:lstStyle/>
          <a:p>
            <a:pPr>
              <a:buNone/>
              <a:defRPr sz="1725" b="0">
                <a:solidFill>
                  <a:srgbClr val="606060"/>
                </a:solidFill>
                <a:latin typeface="Calibri"/>
                <a:ea typeface="Calibri"/>
                <a:cs typeface="Calibri"/>
              </a:defRPr>
            </a:pPr>
            <a:r>
              <a:rPr sz="1725" b="0" dirty="0">
                <a:solidFill>
                  <a:srgbClr val="606060"/>
                </a:solidFill>
                <a:latin typeface="Calibri"/>
                <a:ea typeface="Calibri"/>
                <a:cs typeface="Calibri"/>
              </a:rPr>
              <a:t>Top: </a:t>
            </a:r>
            <a:r>
              <a:rPr sz="1725" b="0" dirty="0" err="1">
                <a:solidFill>
                  <a:srgbClr val="606060"/>
                </a:solidFill>
                <a:latin typeface="Calibri"/>
                <a:ea typeface="Calibri"/>
                <a:cs typeface="Calibri"/>
              </a:rPr>
              <a:t>XGBoost</a:t>
            </a:r>
            <a:r>
              <a:rPr sz="1725" b="0" dirty="0">
                <a:solidFill>
                  <a:srgbClr val="606060"/>
                </a:solidFill>
                <a:latin typeface="Calibri"/>
                <a:ea typeface="Calibri"/>
                <a:cs typeface="Calibri"/>
              </a:rPr>
              <a:t>-predicted IO accounts. Bottom: all accounts.</a:t>
            </a:r>
          </a:p>
        </p:txBody>
      </p:sp>
    </p:spTree>
    <p:extLst>
      <p:ext uri="{BB962C8B-B14F-4D97-AF65-F5344CB8AC3E}">
        <p14:creationId xmlns:p14="http://schemas.microsoft.com/office/powerpoint/2010/main" val="22066198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he Iran-1 Network">
            <a:extLst>
              <a:ext uri="{FF2B5EF4-FFF2-40B4-BE49-F238E27FC236}">
                <a16:creationId xmlns:a16="http://schemas.microsoft.com/office/drawing/2014/main" id="{1618F927-0986-4937-837D-F0EEC3D75D2F}"/>
              </a:ext>
            </a:extLst>
          </p:cNvPr>
          <p:cNvSpPr>
            <a:spLocks noGrp="1"/>
          </p:cNvSpPr>
          <p:nvPr/>
        </p:nvSpPr>
        <p:spPr>
          <a:xfrm>
            <a:off x="3143250" y="619125"/>
            <a:ext cx="8572500" cy="1047750"/>
          </a:xfrm>
          <a:prstGeom prst="rect">
            <a:avLst/>
          </a:prstGeom>
          <a:noFill/>
          <a:ln w="0">
            <a:noFill/>
          </a:ln>
        </p:spPr>
        <p:txBody>
          <a:bodyPr lIns="0" tIns="0" rIns="0" bIns="0" anchor="t">
            <a:noAutofit/>
          </a:bodyPr>
          <a:lstStyle/>
          <a:p>
            <a:pPr>
              <a:buNone/>
              <a:defRPr sz="4200" b="0">
                <a:solidFill>
                  <a:srgbClr val="00A0BD"/>
                </a:solidFill>
                <a:latin typeface="Calibri"/>
                <a:ea typeface="Calibri"/>
                <a:cs typeface="Calibri"/>
              </a:defRPr>
            </a:pPr>
            <a:r>
              <a:rPr sz="4400" dirty="0">
                <a:solidFill>
                  <a:srgbClr val="009DBB"/>
                </a:solidFill>
                <a:latin typeface="+mj-lt"/>
                <a:ea typeface="+mj-ea"/>
                <a:cs typeface="+mj-cs"/>
              </a:rPr>
              <a:t>The Iran-1 Network</a:t>
            </a:r>
          </a:p>
        </p:txBody>
      </p:sp>
      <p:sp>
        <p:nvSpPr>
          <p:cNvPr id="3" name="0">
            <a:extLst>
              <a:ext uri="{FF2B5EF4-FFF2-40B4-BE49-F238E27FC236}">
                <a16:creationId xmlns:a16="http://schemas.microsoft.com/office/drawing/2014/main" id="{93987AA9-C65E-4D6D-A85D-31A425216642}"/>
              </a:ext>
            </a:extLst>
          </p:cNvPr>
          <p:cNvSpPr>
            <a:spLocks noGrp="1"/>
          </p:cNvSpPr>
          <p:nvPr/>
        </p:nvSpPr>
        <p:spPr>
          <a:xfrm>
            <a:off x="11753850" y="6524625"/>
            <a:ext cx="285750" cy="209550"/>
          </a:xfrm>
          <a:prstGeom prst="rect">
            <a:avLst/>
          </a:prstGeom>
          <a:noFill/>
          <a:ln w="0">
            <a:noFill/>
          </a:ln>
        </p:spPr>
        <p:txBody>
          <a:bodyPr lIns="0" tIns="0" rIns="0" bIns="0" anchor="t">
            <a:noAutofit/>
          </a:bodyPr>
          <a:lstStyle/>
          <a:p>
            <a:pPr>
              <a:buNone/>
              <a:defRPr sz="1125" b="0">
                <a:solidFill>
                  <a:srgbClr val="888888"/>
                </a:solidFill>
                <a:latin typeface="Calibri"/>
                <a:ea typeface="Calibri"/>
                <a:cs typeface="Calibri"/>
              </a:defRPr>
            </a:pPr>
            <a:r>
              <a:rPr sz="1125" b="0">
                <a:solidFill>
                  <a:srgbClr val="888888"/>
                </a:solidFill>
                <a:latin typeface="Calibri"/>
                <a:ea typeface="Calibri"/>
                <a:cs typeface="Calibri"/>
              </a:rPr>
              <a:t>13</a:t>
            </a:r>
          </a:p>
        </p:txBody>
      </p:sp>
      <p:sp>
        <p:nvSpPr>
          <p:cNvPr id="4" name="Core number">
            <a:extLst>
              <a:ext uri="{FF2B5EF4-FFF2-40B4-BE49-F238E27FC236}">
                <a16:creationId xmlns:a16="http://schemas.microsoft.com/office/drawing/2014/main" id="{3D4131FF-8FC4-4E34-BFC9-6E948CFE424F}"/>
              </a:ext>
            </a:extLst>
          </p:cNvPr>
          <p:cNvSpPr>
            <a:spLocks noGrp="1"/>
          </p:cNvSpPr>
          <p:nvPr/>
        </p:nvSpPr>
        <p:spPr>
          <a:xfrm>
            <a:off x="1123950" y="1762125"/>
            <a:ext cx="4876802" cy="419100"/>
          </a:xfrm>
          <a:prstGeom prst="rect">
            <a:avLst/>
          </a:prstGeom>
          <a:noFill/>
          <a:ln w="0">
            <a:noFill/>
          </a:ln>
        </p:spPr>
        <p:txBody>
          <a:bodyPr lIns="0" tIns="0" rIns="0" bIns="0" anchor="t">
            <a:noAutofit/>
          </a:bodyPr>
          <a:lstStyle/>
          <a:p>
            <a:pPr algn="ctr">
              <a:buNone/>
              <a:defRPr sz="2325" b="1">
                <a:solidFill>
                  <a:srgbClr val="00A0BD"/>
                </a:solidFill>
                <a:latin typeface="Calibri"/>
                <a:ea typeface="Calibri"/>
                <a:cs typeface="Calibri"/>
              </a:defRPr>
            </a:pPr>
            <a:r>
              <a:rPr sz="2325" b="1" dirty="0">
                <a:solidFill>
                  <a:srgbClr val="00A0BD"/>
                </a:solidFill>
                <a:latin typeface="Calibri"/>
                <a:ea typeface="Calibri"/>
                <a:cs typeface="Calibri"/>
              </a:rPr>
              <a:t>Core number</a:t>
            </a:r>
          </a:p>
        </p:txBody>
      </p:sp>
      <p:sp>
        <p:nvSpPr>
          <p:cNvPr id="5" name="Known IO labels">
            <a:extLst>
              <a:ext uri="{FF2B5EF4-FFF2-40B4-BE49-F238E27FC236}">
                <a16:creationId xmlns:a16="http://schemas.microsoft.com/office/drawing/2014/main" id="{7D03C70D-99F7-4AE5-8164-C7A39B6900F6}"/>
              </a:ext>
            </a:extLst>
          </p:cNvPr>
          <p:cNvSpPr>
            <a:spLocks noGrp="1"/>
          </p:cNvSpPr>
          <p:nvPr/>
        </p:nvSpPr>
        <p:spPr>
          <a:xfrm>
            <a:off x="6191250" y="1762125"/>
            <a:ext cx="5286375" cy="419100"/>
          </a:xfrm>
          <a:prstGeom prst="rect">
            <a:avLst/>
          </a:prstGeom>
          <a:noFill/>
          <a:ln w="0">
            <a:noFill/>
          </a:ln>
        </p:spPr>
        <p:txBody>
          <a:bodyPr lIns="0" tIns="0" rIns="0" bIns="0" anchor="t">
            <a:noAutofit/>
          </a:bodyPr>
          <a:lstStyle/>
          <a:p>
            <a:pPr algn="ctr">
              <a:buNone/>
              <a:defRPr sz="2325" b="1">
                <a:solidFill>
                  <a:srgbClr val="00A0BD"/>
                </a:solidFill>
                <a:latin typeface="Calibri"/>
                <a:ea typeface="Calibri"/>
                <a:cs typeface="Calibri"/>
              </a:defRPr>
            </a:pPr>
            <a:r>
              <a:rPr sz="2325" dirty="0">
                <a:solidFill>
                  <a:srgbClr val="00A0BD"/>
                </a:solidFill>
                <a:latin typeface="Calibri"/>
                <a:ea typeface="Calibri"/>
                <a:cs typeface="Calibri"/>
              </a:rPr>
              <a:t>Known IO labels</a:t>
            </a:r>
          </a:p>
        </p:txBody>
      </p:sp>
      <p:pic>
        <p:nvPicPr>
          <p:cNvPr id="16" name="Picture 15"/>
          <p:cNvPicPr>
            <a:picLocks noChangeAspect="1"/>
          </p:cNvPicPr>
          <p:nvPr/>
        </p:nvPicPr>
        <p:blipFill>
          <a:blip r:embed="rId3"/>
          <a:stretch/>
        </p:blipFill>
        <p:spPr>
          <a:xfrm>
            <a:off x="1323558" y="2276475"/>
            <a:ext cx="9681502" cy="3800475"/>
          </a:xfrm>
          <a:prstGeom prst="rect">
            <a:avLst/>
          </a:prstGeom>
        </p:spPr>
      </p:pic>
      <p:sp>
        <p:nvSpPr>
          <p:cNvPr id="7" name="High-core regions overlap with concentrations of IO accounts">
            <a:extLst>
              <a:ext uri="{FF2B5EF4-FFF2-40B4-BE49-F238E27FC236}">
                <a16:creationId xmlns:a16="http://schemas.microsoft.com/office/drawing/2014/main" id="{A36B19FB-4798-48CF-9CC7-1A29A3E4D1AC}"/>
              </a:ext>
            </a:extLst>
          </p:cNvPr>
          <p:cNvSpPr>
            <a:spLocks noGrp="1"/>
          </p:cNvSpPr>
          <p:nvPr/>
        </p:nvSpPr>
        <p:spPr>
          <a:xfrm>
            <a:off x="1381125" y="6319837"/>
            <a:ext cx="10096500" cy="409575"/>
          </a:xfrm>
          <a:prstGeom prst="rect">
            <a:avLst/>
          </a:prstGeom>
          <a:noFill/>
          <a:ln w="0">
            <a:noFill/>
          </a:ln>
        </p:spPr>
        <p:txBody>
          <a:bodyPr lIns="0" tIns="0" rIns="0" bIns="0" anchor="t">
            <a:noAutofit/>
          </a:bodyPr>
          <a:lstStyle/>
          <a:p>
            <a:pPr>
              <a:buNone/>
              <a:defRPr sz="2175" b="0">
                <a:solidFill>
                  <a:srgbClr val="171717"/>
                </a:solidFill>
                <a:latin typeface="Calibri"/>
                <a:ea typeface="Calibri"/>
                <a:cs typeface="Calibri"/>
              </a:defRPr>
            </a:pPr>
            <a:r>
              <a:rPr sz="2175" b="0" dirty="0">
                <a:solidFill>
                  <a:srgbClr val="171717"/>
                </a:solidFill>
                <a:latin typeface="Calibri"/>
                <a:ea typeface="Calibri"/>
                <a:cs typeface="Calibri"/>
              </a:rPr>
              <a:t>High-core regions overlap with concentrations of IO accounts.</a:t>
            </a:r>
          </a:p>
        </p:txBody>
      </p:sp>
    </p:spTree>
    <p:extLst>
      <p:ext uri="{BB962C8B-B14F-4D97-AF65-F5344CB8AC3E}">
        <p14:creationId xmlns:p14="http://schemas.microsoft.com/office/powerpoint/2010/main" val="2245260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71E3-2BCE-5587-145E-16C70E8AE1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A3082B-5669-8FAE-27AB-9055326CF3FE}"/>
              </a:ext>
            </a:extLst>
          </p:cNvPr>
          <p:cNvSpPr>
            <a:spLocks noGrp="1"/>
          </p:cNvSpPr>
          <p:nvPr>
            <p:ph type="title"/>
          </p:nvPr>
        </p:nvSpPr>
        <p:spPr>
          <a:xfrm>
            <a:off x="3072268" y="401637"/>
            <a:ext cx="9108669" cy="1325563"/>
          </a:xfrm>
        </p:spPr>
        <p:txBody>
          <a:bodyPr/>
          <a:lstStyle/>
          <a:p>
            <a:r>
              <a:rPr lang="en-GB" dirty="0"/>
              <a:t>Group Analysis </a:t>
            </a:r>
            <a:r>
              <a:rPr lang="en-US" dirty="0"/>
              <a:t>Case Study – Iran 1</a:t>
            </a:r>
            <a:endParaRPr lang="en-IL" dirty="0"/>
          </a:p>
        </p:txBody>
      </p:sp>
      <p:sp>
        <p:nvSpPr>
          <p:cNvPr id="3" name="Content Placeholder 2">
            <a:extLst>
              <a:ext uri="{FF2B5EF4-FFF2-40B4-BE49-F238E27FC236}">
                <a16:creationId xmlns:a16="http://schemas.microsoft.com/office/drawing/2014/main" id="{D4B26034-F9A8-5B75-12A8-2F1CD244B7A9}"/>
              </a:ext>
            </a:extLst>
          </p:cNvPr>
          <p:cNvSpPr>
            <a:spLocks noGrp="1"/>
          </p:cNvSpPr>
          <p:nvPr>
            <p:ph idx="1"/>
          </p:nvPr>
        </p:nvSpPr>
        <p:spPr>
          <a:xfrm>
            <a:off x="1243087" y="1825625"/>
            <a:ext cx="10582656" cy="4769728"/>
          </a:xfrm>
        </p:spPr>
        <p:txBody>
          <a:bodyPr>
            <a:normAutofit/>
          </a:bodyPr>
          <a:lstStyle/>
          <a:p>
            <a:pPr marL="0" indent="0">
              <a:buNone/>
            </a:pPr>
            <a:r>
              <a:rPr lang="en-IL" sz="3600" b="1" dirty="0"/>
              <a:t>How Was the Group Selected?</a:t>
            </a:r>
          </a:p>
          <a:p>
            <a:pPr marL="742950" lvl="0" indent="-742950">
              <a:buAutoNum type="arabicPeriod"/>
            </a:pPr>
            <a:r>
              <a:rPr lang="en-IL" sz="3600" dirty="0"/>
              <a:t>Build the Iran-1 co-action graph</a:t>
            </a:r>
            <a:endParaRPr lang="en-US" sz="3600" dirty="0"/>
          </a:p>
          <a:p>
            <a:pPr marL="742950" lvl="0" indent="-742950">
              <a:buAutoNum type="arabicPeriod"/>
            </a:pPr>
            <a:r>
              <a:rPr lang="en-IL" sz="3600" dirty="0"/>
              <a:t>Find the maximum k-core</a:t>
            </a:r>
            <a:endParaRPr lang="en-US" sz="3600" dirty="0"/>
          </a:p>
          <a:p>
            <a:pPr marL="742950" lvl="0" indent="-742950">
              <a:buAutoNum type="arabicPeriod"/>
            </a:pPr>
            <a:r>
              <a:rPr lang="en-IL" sz="3600" dirty="0"/>
              <a:t>Select a connected component </a:t>
            </a:r>
            <a:r>
              <a:rPr lang="en-US" sz="3600" dirty="0"/>
              <a:t>from the k core</a:t>
            </a:r>
          </a:p>
          <a:p>
            <a:pPr marL="742950" lvl="0" indent="-742950">
              <a:buAutoNum type="arabicPeriod"/>
            </a:pPr>
            <a:r>
              <a:rPr lang="en-IL" sz="3600" dirty="0"/>
              <a:t>Find the peak coordination window: rank 15-minute intervals by the number of account pairs sharing hashtags.</a:t>
            </a:r>
          </a:p>
        </p:txBody>
      </p:sp>
      <p:sp>
        <p:nvSpPr>
          <p:cNvPr id="4" name="Slide Number Placeholder 3">
            <a:extLst>
              <a:ext uri="{FF2B5EF4-FFF2-40B4-BE49-F238E27FC236}">
                <a16:creationId xmlns:a16="http://schemas.microsoft.com/office/drawing/2014/main" id="{9E185122-0760-36F3-3FF5-C6ACC227718E}"/>
              </a:ext>
            </a:extLst>
          </p:cNvPr>
          <p:cNvSpPr>
            <a:spLocks noGrp="1"/>
          </p:cNvSpPr>
          <p:nvPr>
            <p:ph type="sldNum" sz="quarter" idx="12"/>
          </p:nvPr>
        </p:nvSpPr>
        <p:spPr/>
        <p:txBody>
          <a:bodyPr/>
          <a:lstStyle/>
          <a:p>
            <a:fld id="{E6AB8EDD-9EF2-4633-A1C2-4D908C1019B4}" type="slidenum">
              <a:rPr lang="he-IL" smtClean="0"/>
              <a:t>27</a:t>
            </a:fld>
            <a:endParaRPr lang="he-IL"/>
          </a:p>
        </p:txBody>
      </p:sp>
    </p:spTree>
    <p:extLst>
      <p:ext uri="{BB962C8B-B14F-4D97-AF65-F5344CB8AC3E}">
        <p14:creationId xmlns:p14="http://schemas.microsoft.com/office/powerpoint/2010/main" val="15733764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72547-CD44-8D0A-9C89-059A4808BE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CDF9DA-C124-E516-1B89-C50581D3C045}"/>
              </a:ext>
            </a:extLst>
          </p:cNvPr>
          <p:cNvSpPr>
            <a:spLocks noGrp="1"/>
          </p:cNvSpPr>
          <p:nvPr>
            <p:ph type="title"/>
          </p:nvPr>
        </p:nvSpPr>
        <p:spPr>
          <a:xfrm>
            <a:off x="3072268" y="401637"/>
            <a:ext cx="9108669" cy="1325563"/>
          </a:xfrm>
        </p:spPr>
        <p:txBody>
          <a:bodyPr/>
          <a:lstStyle/>
          <a:p>
            <a:r>
              <a:rPr lang="en-GB" dirty="0"/>
              <a:t>Group Analysis </a:t>
            </a:r>
            <a:r>
              <a:rPr lang="en-US" dirty="0"/>
              <a:t>Case Study – Iran 1</a:t>
            </a:r>
            <a:endParaRPr lang="en-IL" dirty="0"/>
          </a:p>
        </p:txBody>
      </p:sp>
      <p:sp>
        <p:nvSpPr>
          <p:cNvPr id="3" name="Content Placeholder 2">
            <a:extLst>
              <a:ext uri="{FF2B5EF4-FFF2-40B4-BE49-F238E27FC236}">
                <a16:creationId xmlns:a16="http://schemas.microsoft.com/office/drawing/2014/main" id="{FB244E42-368E-7739-6CC9-78FCA5FB3B3F}"/>
              </a:ext>
            </a:extLst>
          </p:cNvPr>
          <p:cNvSpPr>
            <a:spLocks noGrp="1"/>
          </p:cNvSpPr>
          <p:nvPr>
            <p:ph idx="1"/>
          </p:nvPr>
        </p:nvSpPr>
        <p:spPr>
          <a:xfrm>
            <a:off x="1243087" y="1730375"/>
            <a:ext cx="10582656" cy="4769728"/>
          </a:xfrm>
        </p:spPr>
        <p:txBody>
          <a:bodyPr>
            <a:normAutofit fontScale="92500" lnSpcReduction="10000"/>
          </a:bodyPr>
          <a:lstStyle/>
          <a:p>
            <a:r>
              <a:rPr lang="en-IL" sz="3900" dirty="0"/>
              <a:t>In the selected group and during the selected 15-minute interval:</a:t>
            </a:r>
            <a:endParaRPr lang="en-US" sz="3900" dirty="0"/>
          </a:p>
          <a:p>
            <a:pPr lvl="1"/>
            <a:r>
              <a:rPr lang="en-IL" sz="3500" dirty="0"/>
              <a:t>15 accounts produced 244 posts. </a:t>
            </a:r>
          </a:p>
          <a:p>
            <a:pPr lvl="1"/>
            <a:r>
              <a:rPr lang="en-IL" sz="3500" dirty="0"/>
              <a:t>242 of 244 posts were reposts. </a:t>
            </a:r>
          </a:p>
          <a:p>
            <a:pPr lvl="1"/>
            <a:r>
              <a:rPr lang="en-IL" sz="3500" dirty="0"/>
              <a:t>The activity included 30 shared hashtags. </a:t>
            </a:r>
          </a:p>
          <a:p>
            <a:pPr lvl="1"/>
            <a:r>
              <a:rPr lang="en-IL" sz="3500" dirty="0"/>
              <a:t>16 of 19 reposted source posts focused on U.S. politics. </a:t>
            </a:r>
          </a:p>
          <a:p>
            <a:pPr lvl="1"/>
            <a:r>
              <a:rPr lang="en-IL" sz="3500" dirty="0"/>
              <a:t>The dominant narrative included criticism of Donald Trump and opposition to tax legislation.</a:t>
            </a:r>
            <a:endParaRPr lang="en-US" sz="3900" dirty="0"/>
          </a:p>
          <a:p>
            <a:r>
              <a:rPr lang="en-IL" sz="3900" dirty="0"/>
              <a:t>Key finding: The analysis revealed a shared narrative amplified through highly coordinated activity. </a:t>
            </a:r>
          </a:p>
          <a:p>
            <a:endParaRPr lang="en-IL" sz="3600" dirty="0"/>
          </a:p>
          <a:p>
            <a:pPr marL="457200" lvl="1" indent="0">
              <a:buNone/>
            </a:pPr>
            <a:endParaRPr lang="en-IL" sz="3200" dirty="0"/>
          </a:p>
        </p:txBody>
      </p:sp>
      <p:sp>
        <p:nvSpPr>
          <p:cNvPr id="4" name="Slide Number Placeholder 3">
            <a:extLst>
              <a:ext uri="{FF2B5EF4-FFF2-40B4-BE49-F238E27FC236}">
                <a16:creationId xmlns:a16="http://schemas.microsoft.com/office/drawing/2014/main" id="{DEABB227-D589-733B-8134-DC61E33D990D}"/>
              </a:ext>
            </a:extLst>
          </p:cNvPr>
          <p:cNvSpPr>
            <a:spLocks noGrp="1"/>
          </p:cNvSpPr>
          <p:nvPr>
            <p:ph type="sldNum" sz="quarter" idx="12"/>
          </p:nvPr>
        </p:nvSpPr>
        <p:spPr/>
        <p:txBody>
          <a:bodyPr/>
          <a:lstStyle/>
          <a:p>
            <a:fld id="{E6AB8EDD-9EF2-4633-A1C2-4D908C1019B4}" type="slidenum">
              <a:rPr lang="he-IL" smtClean="0"/>
              <a:t>28</a:t>
            </a:fld>
            <a:endParaRPr lang="he-IL"/>
          </a:p>
        </p:txBody>
      </p:sp>
    </p:spTree>
    <p:extLst>
      <p:ext uri="{BB962C8B-B14F-4D97-AF65-F5344CB8AC3E}">
        <p14:creationId xmlns:p14="http://schemas.microsoft.com/office/powerpoint/2010/main" val="19853024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A0ED-19B6-F573-1394-3FF4A6D4E6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C43645-2361-2EDD-3E3E-483138A667E3}"/>
              </a:ext>
            </a:extLst>
          </p:cNvPr>
          <p:cNvSpPr>
            <a:spLocks noGrp="1"/>
          </p:cNvSpPr>
          <p:nvPr>
            <p:ph type="title"/>
          </p:nvPr>
        </p:nvSpPr>
        <p:spPr>
          <a:xfrm>
            <a:off x="3072268" y="401637"/>
            <a:ext cx="9108669" cy="1325563"/>
          </a:xfrm>
        </p:spPr>
        <p:txBody>
          <a:bodyPr/>
          <a:lstStyle/>
          <a:p>
            <a:r>
              <a:rPr lang="en-IL" dirty="0"/>
              <a:t>Summary of Results</a:t>
            </a:r>
          </a:p>
        </p:txBody>
      </p:sp>
      <p:sp>
        <p:nvSpPr>
          <p:cNvPr id="3" name="Content Placeholder 2">
            <a:extLst>
              <a:ext uri="{FF2B5EF4-FFF2-40B4-BE49-F238E27FC236}">
                <a16:creationId xmlns:a16="http://schemas.microsoft.com/office/drawing/2014/main" id="{00F58D7B-3CC2-F04A-D214-9CF189CC1779}"/>
              </a:ext>
            </a:extLst>
          </p:cNvPr>
          <p:cNvSpPr>
            <a:spLocks noGrp="1"/>
          </p:cNvSpPr>
          <p:nvPr>
            <p:ph idx="1"/>
          </p:nvPr>
        </p:nvSpPr>
        <p:spPr>
          <a:xfrm>
            <a:off x="1243087" y="1730375"/>
            <a:ext cx="10582656" cy="4769728"/>
          </a:xfrm>
        </p:spPr>
        <p:txBody>
          <a:bodyPr>
            <a:normAutofit fontScale="77500" lnSpcReduction="20000"/>
          </a:bodyPr>
          <a:lstStyle/>
          <a:p>
            <a:r>
              <a:rPr lang="en-IL" sz="4000" b="1" dirty="0"/>
              <a:t>Account Detection</a:t>
            </a:r>
            <a:endParaRPr lang="en-US" sz="4000" b="1" dirty="0"/>
          </a:p>
          <a:p>
            <a:pPr lvl="1"/>
            <a:r>
              <a:rPr lang="en-IL" sz="3600" dirty="0"/>
              <a:t>Interpretable Indicators</a:t>
            </a:r>
            <a:endParaRPr lang="en-IL" sz="4000" dirty="0"/>
          </a:p>
          <a:p>
            <a:pPr lvl="1"/>
            <a:r>
              <a:rPr lang="en-IL" sz="3600" dirty="0"/>
              <a:t>Mean ROC–AUC: </a:t>
            </a:r>
            <a:r>
              <a:rPr lang="en-IL" sz="3600" b="1" dirty="0"/>
              <a:t>0.990 within campaigns</a:t>
            </a:r>
            <a:r>
              <a:rPr lang="en-IL" sz="3600" dirty="0"/>
              <a:t> and </a:t>
            </a:r>
            <a:r>
              <a:rPr lang="en-IL" sz="3600" b="1" dirty="0"/>
              <a:t>0.933 across campaigns</a:t>
            </a:r>
            <a:r>
              <a:rPr lang="en-IL" sz="3600" dirty="0"/>
              <a:t> </a:t>
            </a:r>
          </a:p>
          <a:p>
            <a:pPr lvl="0"/>
            <a:r>
              <a:rPr lang="en-IL" sz="4000" dirty="0"/>
              <a:t>Indicator importance varied across campaigns </a:t>
            </a:r>
          </a:p>
          <a:p>
            <a:r>
              <a:rPr lang="en-IL" sz="4000" b="1" dirty="0"/>
              <a:t>Group Analysis</a:t>
            </a:r>
            <a:endParaRPr lang="en-IL" sz="4000" dirty="0"/>
          </a:p>
          <a:p>
            <a:pPr lvl="1"/>
            <a:r>
              <a:rPr lang="en-IL" sz="3600" dirty="0"/>
              <a:t>K-core groups showed a strong balance between IO concentration and topic alignment </a:t>
            </a:r>
          </a:p>
          <a:p>
            <a:r>
              <a:rPr lang="en-IL" sz="4000" b="1" dirty="0"/>
              <a:t>Iran-1 Case Study</a:t>
            </a:r>
            <a:endParaRPr lang="en-IL" sz="4000" dirty="0"/>
          </a:p>
          <a:p>
            <a:pPr lvl="1"/>
            <a:r>
              <a:rPr lang="en-IL" sz="3600" dirty="0"/>
              <a:t>15 accounts → 244 posts in 15 minutes → 242 reposts </a:t>
            </a:r>
          </a:p>
          <a:p>
            <a:pPr lvl="1"/>
            <a:r>
              <a:rPr lang="en-IL" sz="3600" dirty="0"/>
              <a:t>16 of 19 reposted source posts focused on U.S. politics </a:t>
            </a:r>
          </a:p>
          <a:p>
            <a:pPr lvl="1"/>
            <a:r>
              <a:rPr lang="en-IL" sz="3600" dirty="0"/>
              <a:t>Revealed the shared narrative behind coordinated activity</a:t>
            </a:r>
          </a:p>
        </p:txBody>
      </p:sp>
      <p:sp>
        <p:nvSpPr>
          <p:cNvPr id="4" name="Slide Number Placeholder 3">
            <a:extLst>
              <a:ext uri="{FF2B5EF4-FFF2-40B4-BE49-F238E27FC236}">
                <a16:creationId xmlns:a16="http://schemas.microsoft.com/office/drawing/2014/main" id="{FFA25888-5ED4-B66F-208D-2ED929AC2AA2}"/>
              </a:ext>
            </a:extLst>
          </p:cNvPr>
          <p:cNvSpPr>
            <a:spLocks noGrp="1"/>
          </p:cNvSpPr>
          <p:nvPr>
            <p:ph type="sldNum" sz="quarter" idx="12"/>
          </p:nvPr>
        </p:nvSpPr>
        <p:spPr/>
        <p:txBody>
          <a:bodyPr/>
          <a:lstStyle/>
          <a:p>
            <a:fld id="{E6AB8EDD-9EF2-4633-A1C2-4D908C1019B4}" type="slidenum">
              <a:rPr lang="he-IL" smtClean="0"/>
              <a:t>29</a:t>
            </a:fld>
            <a:endParaRPr lang="he-IL"/>
          </a:p>
        </p:txBody>
      </p:sp>
    </p:spTree>
    <p:extLst>
      <p:ext uri="{BB962C8B-B14F-4D97-AF65-F5344CB8AC3E}">
        <p14:creationId xmlns:p14="http://schemas.microsoft.com/office/powerpoint/2010/main" val="12142049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50B2B-6484-39A3-1828-79F1FCB87A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D00B5-FD8D-35F9-98FD-594FF71475EC}"/>
              </a:ext>
            </a:extLst>
          </p:cNvPr>
          <p:cNvSpPr>
            <a:spLocks noGrp="1"/>
          </p:cNvSpPr>
          <p:nvPr>
            <p:ph type="title"/>
          </p:nvPr>
        </p:nvSpPr>
        <p:spPr>
          <a:xfrm>
            <a:off x="3072268" y="401637"/>
            <a:ext cx="9108669" cy="1325563"/>
          </a:xfrm>
        </p:spPr>
        <p:txBody>
          <a:bodyPr/>
          <a:lstStyle/>
          <a:p>
            <a:r>
              <a:rPr lang="en-IL" dirty="0"/>
              <a:t>Next Steps</a:t>
            </a:r>
          </a:p>
        </p:txBody>
      </p:sp>
      <p:sp>
        <p:nvSpPr>
          <p:cNvPr id="3" name="Content Placeholder 2">
            <a:extLst>
              <a:ext uri="{FF2B5EF4-FFF2-40B4-BE49-F238E27FC236}">
                <a16:creationId xmlns:a16="http://schemas.microsoft.com/office/drawing/2014/main" id="{6CAB1F4A-B9B0-5ED1-77E3-E10DFC06C6B0}"/>
              </a:ext>
            </a:extLst>
          </p:cNvPr>
          <p:cNvSpPr>
            <a:spLocks noGrp="1"/>
          </p:cNvSpPr>
          <p:nvPr>
            <p:ph idx="1"/>
          </p:nvPr>
        </p:nvSpPr>
        <p:spPr>
          <a:xfrm>
            <a:off x="1243087" y="1730375"/>
            <a:ext cx="10582656" cy="4769728"/>
          </a:xfrm>
        </p:spPr>
        <p:txBody>
          <a:bodyPr>
            <a:normAutofit/>
          </a:bodyPr>
          <a:lstStyle/>
          <a:p>
            <a:r>
              <a:rPr lang="en-IL" sz="4000" b="1" dirty="0"/>
              <a:t>Psychological Characterization</a:t>
            </a:r>
            <a:endParaRPr lang="en-US" sz="4000" b="1" dirty="0"/>
          </a:p>
          <a:p>
            <a:pPr lvl="1"/>
            <a:r>
              <a:rPr lang="en-IL" sz="3600" dirty="0"/>
              <a:t>Use prompt-based psychological questionnaires to explore characteristics that distinguish IO accounts from other accounts.</a:t>
            </a:r>
            <a:endParaRPr lang="en-US" sz="3600" dirty="0"/>
          </a:p>
          <a:p>
            <a:pPr lvl="1"/>
            <a:endParaRPr lang="en-US" sz="3600" dirty="0"/>
          </a:p>
          <a:p>
            <a:pPr lvl="1"/>
            <a:endParaRPr lang="en-IL" sz="3600" dirty="0"/>
          </a:p>
        </p:txBody>
      </p:sp>
      <p:sp>
        <p:nvSpPr>
          <p:cNvPr id="4" name="Slide Number Placeholder 3">
            <a:extLst>
              <a:ext uri="{FF2B5EF4-FFF2-40B4-BE49-F238E27FC236}">
                <a16:creationId xmlns:a16="http://schemas.microsoft.com/office/drawing/2014/main" id="{319DD1BA-00BE-9ADF-C58A-F2E9BE641D76}"/>
              </a:ext>
            </a:extLst>
          </p:cNvPr>
          <p:cNvSpPr>
            <a:spLocks noGrp="1"/>
          </p:cNvSpPr>
          <p:nvPr>
            <p:ph type="sldNum" sz="quarter" idx="12"/>
          </p:nvPr>
        </p:nvSpPr>
        <p:spPr/>
        <p:txBody>
          <a:bodyPr/>
          <a:lstStyle/>
          <a:p>
            <a:fld id="{E6AB8EDD-9EF2-4633-A1C2-4D908C1019B4}" type="slidenum">
              <a:rPr lang="he-IL" smtClean="0"/>
              <a:t>30</a:t>
            </a:fld>
            <a:endParaRPr lang="he-IL"/>
          </a:p>
        </p:txBody>
      </p:sp>
      <p:pic>
        <p:nvPicPr>
          <p:cNvPr id="5" name="Picture 4" descr="Social media addiction brain - Social Media Psychology">
            <a:extLst>
              <a:ext uri="{FF2B5EF4-FFF2-40B4-BE49-F238E27FC236}">
                <a16:creationId xmlns:a16="http://schemas.microsoft.com/office/drawing/2014/main" id="{58BB54EE-05D6-D1B2-8A58-1E901FE77203}"/>
              </a:ext>
            </a:extLst>
          </p:cNvPr>
          <p:cNvPicPr>
            <a:picLocks noChangeAspect="1"/>
          </p:cNvPicPr>
          <p:nvPr/>
        </p:nvPicPr>
        <p:blipFill>
          <a:blip r:embed="rId2">
            <a:alphaModFix amt="85000"/>
          </a:blip>
          <a:stretch>
            <a:fillRect/>
          </a:stretch>
        </p:blipFill>
        <p:spPr>
          <a:xfrm>
            <a:off x="4043112" y="3992784"/>
            <a:ext cx="3952875" cy="2471865"/>
          </a:xfrm>
          <a:prstGeom prst="rect">
            <a:avLst/>
          </a:prstGeom>
        </p:spPr>
      </p:pic>
      <p:sp>
        <p:nvSpPr>
          <p:cNvPr id="7" name="TextBox 6">
            <a:extLst>
              <a:ext uri="{FF2B5EF4-FFF2-40B4-BE49-F238E27FC236}">
                <a16:creationId xmlns:a16="http://schemas.microsoft.com/office/drawing/2014/main" id="{60032A23-2EA8-292E-6C46-3B4016CA43B0}"/>
              </a:ext>
            </a:extLst>
          </p:cNvPr>
          <p:cNvSpPr txBox="1"/>
          <p:nvPr/>
        </p:nvSpPr>
        <p:spPr>
          <a:xfrm>
            <a:off x="4043112" y="6456363"/>
            <a:ext cx="3952875" cy="276999"/>
          </a:xfrm>
          <a:prstGeom prst="rect">
            <a:avLst/>
          </a:prstGeom>
          <a:noFill/>
        </p:spPr>
        <p:txBody>
          <a:bodyPr wrap="square">
            <a:spAutoFit/>
          </a:bodyPr>
          <a:lstStyle/>
          <a:p>
            <a:pPr algn="ctr"/>
            <a:r>
              <a:rPr lang="en-IL" sz="1200" dirty="0"/>
              <a:t>https://netpsychology.org/social-media-psychology/</a:t>
            </a:r>
          </a:p>
        </p:txBody>
      </p:sp>
    </p:spTree>
    <p:extLst>
      <p:ext uri="{BB962C8B-B14F-4D97-AF65-F5344CB8AC3E}">
        <p14:creationId xmlns:p14="http://schemas.microsoft.com/office/powerpoint/2010/main" val="8162592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16640</TotalTime>
  <Words>2392</Words>
  <Application>Microsoft Office PowerPoint</Application>
  <PresentationFormat>Widescreen</PresentationFormat>
  <Paragraphs>317</Paragraphs>
  <Slides>30</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Calibri Light</vt:lpstr>
      <vt:lpstr>Cambria Math</vt:lpstr>
      <vt:lpstr>Courier New</vt:lpstr>
      <vt:lpstr>Wingdings</vt:lpstr>
      <vt:lpstr>Office Theme</vt:lpstr>
      <vt:lpstr>I Can See U. Indicator-Based Information Operation Detection and Topic-Aware Group Analysis</vt:lpstr>
      <vt:lpstr>Motivation</vt:lpstr>
      <vt:lpstr>IO &amp; Coordination</vt:lpstr>
      <vt:lpstr>Related Work</vt:lpstr>
      <vt:lpstr>Our Contributions</vt:lpstr>
      <vt:lpstr> Interpretable Indicators</vt:lpstr>
      <vt:lpstr>Overview</vt:lpstr>
      <vt:lpstr>Graph Indicators Workflow</vt:lpstr>
      <vt:lpstr>Co-Action Graph</vt:lpstr>
      <vt:lpstr>Graph-Based Indicators</vt:lpstr>
      <vt:lpstr>Topic-Based Indicators</vt:lpstr>
      <vt:lpstr>TF-IDF</vt:lpstr>
      <vt:lpstr>Group analysis</vt:lpstr>
      <vt:lpstr>Overview</vt:lpstr>
      <vt:lpstr>Overview</vt:lpstr>
      <vt:lpstr>K-Core  Definition</vt:lpstr>
      <vt:lpstr>Core Number: Example</vt:lpstr>
      <vt:lpstr>Maximal K-Core Motivation</vt:lpstr>
      <vt:lpstr>Experiments</vt:lpstr>
      <vt:lpstr>Dataset</vt:lpstr>
      <vt:lpstr>Evaluation Settings</vt:lpstr>
      <vt:lpstr>PowerPoint Presentation</vt:lpstr>
      <vt:lpstr>PowerPoint Presentation</vt:lpstr>
      <vt:lpstr>PowerPoint Presentation</vt:lpstr>
      <vt:lpstr>PowerPoint Presentation</vt:lpstr>
      <vt:lpstr>PowerPoint Presentation</vt:lpstr>
      <vt:lpstr>Group Analysis Case Study – Iran 1</vt:lpstr>
      <vt:lpstr>Group Analysis Case Study – Iran 1</vt:lpstr>
      <vt:lpstr>Summary of Results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Edita Grolman</dc:creator>
  <cp:lastModifiedBy>Amit Ner Gaon</cp:lastModifiedBy>
  <cp:revision>584</cp:revision>
  <dcterms:created xsi:type="dcterms:W3CDTF">2021-05-04T15:24:24Z</dcterms:created>
  <dcterms:modified xsi:type="dcterms:W3CDTF">2026-09-23T07:59:15Z</dcterms:modified>
</cp:coreProperties>
</file>