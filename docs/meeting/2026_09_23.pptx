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1574" r:id="rId2"/>
    <p:sldId id="1762" r:id="rId3"/>
    <p:sldId id="1763" r:id="rId4"/>
    <p:sldId id="1764" r:id="rId5"/>
    <p:sldId id="1780" r:id="rId6"/>
    <p:sldId id="1792" r:id="rId7"/>
    <p:sldId id="1793" r:id="rId8"/>
    <p:sldId id="1795" r:id="rId9"/>
    <p:sldId id="1591" r:id="rId10"/>
    <p:sldId id="1797" r:id="rId11"/>
    <p:sldId id="1796" r:id="rId12"/>
    <p:sldId id="1794" r:id="rId13"/>
    <p:sldId id="1740" r:id="rId14"/>
    <p:sldId id="1798" r:id="rId15"/>
    <p:sldId id="1799" r:id="rId16"/>
    <p:sldId id="1738" r:id="rId17"/>
    <p:sldId id="1749" r:id="rId18"/>
    <p:sldId id="1785" r:id="rId19"/>
    <p:sldId id="1768" r:id="rId20"/>
    <p:sldId id="1800" r:id="rId21"/>
    <p:sldId id="1802" r:id="rId22"/>
    <p:sldId id="1807" r:id="rId23"/>
    <p:sldId id="1808" r:id="rId24"/>
    <p:sldId id="265" r:id="rId25"/>
    <p:sldId id="267" r:id="rId26"/>
    <p:sldId id="268" r:id="rId27"/>
    <p:sldId id="1803" r:id="rId28"/>
    <p:sldId id="1804" r:id="rId29"/>
    <p:sldId id="1805" r:id="rId30"/>
    <p:sldId id="1806" r:id="rId3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DA84E6CC-2EA2-4553-A6A4-DAF877036261}">
          <p14:sldIdLst>
            <p14:sldId id="1574"/>
            <p14:sldId id="1762"/>
            <p14:sldId id="1763"/>
            <p14:sldId id="1764"/>
            <p14:sldId id="1780"/>
          </p14:sldIdLst>
        </p14:section>
        <p14:section name="Indicators" id="{2D1FC5E9-1614-4CA8-8D36-FD1706ADDBFF}">
          <p14:sldIdLst>
            <p14:sldId id="1792"/>
            <p14:sldId id="1793"/>
            <p14:sldId id="1795"/>
            <p14:sldId id="1591"/>
            <p14:sldId id="1797"/>
            <p14:sldId id="1796"/>
            <p14:sldId id="1794"/>
          </p14:sldIdLst>
        </p14:section>
        <p14:section name="Group analysis" id="{2F1E73D5-870F-4091-9492-A1102BE33EA1}">
          <p14:sldIdLst>
            <p14:sldId id="1740"/>
            <p14:sldId id="1798"/>
            <p14:sldId id="1799"/>
            <p14:sldId id="1738"/>
            <p14:sldId id="1749"/>
            <p14:sldId id="1785"/>
          </p14:sldIdLst>
        </p14:section>
        <p14:section name="Experiments" id="{493216A2-119A-47B2-AF7D-722A84F378AE}">
          <p14:sldIdLst>
            <p14:sldId id="1768"/>
            <p14:sldId id="1800"/>
            <p14:sldId id="1802"/>
            <p14:sldId id="1807"/>
            <p14:sldId id="1808"/>
            <p14:sldId id="265"/>
            <p14:sldId id="267"/>
            <p14:sldId id="268"/>
            <p14:sldId id="1803"/>
            <p14:sldId id="1804"/>
            <p14:sldId id="1805"/>
            <p14:sldId id="180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0808"/>
    <a:srgbClr val="800000"/>
    <a:srgbClr val="F59120"/>
    <a:srgbClr val="FE0101"/>
    <a:srgbClr val="F58377"/>
    <a:srgbClr val="FF4343"/>
    <a:srgbClr val="548235"/>
    <a:srgbClr val="009DBB"/>
    <a:srgbClr val="0688BA"/>
    <a:srgbClr val="005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86"/>
    <p:restoredTop sz="95000" autoAdjust="0"/>
  </p:normalViewPr>
  <p:slideViewPr>
    <p:cSldViewPr snapToGrid="0">
      <p:cViewPr varScale="1">
        <p:scale>
          <a:sx n="88" d="100"/>
          <a:sy n="88" d="100"/>
        </p:scale>
        <p:origin x="944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#1" qsCatId="simple" csTypeId="urn:microsoft.com/office/officeart/2005/8/colors/accent1_2#1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Building a co-action graph represents author similarity (see next slide).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</a:t>
          </a:r>
          <a:r>
            <a:rPr lang="en-IL" sz="2400" kern="1200" dirty="0" err="1"/>
            <a:t>vecto</a:t>
          </a:r>
          <a:r>
            <a:rPr lang="en-US" sz="2400" kern="1200" dirty="0"/>
            <a:t>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#1" qsCatId="simple" csTypeId="urn:microsoft.com/office/officeart/2005/8/colors/colorful2#1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 custT="1"/>
      <dgm:spPr/>
      <dgm:t>
        <a:bodyPr/>
        <a:lstStyle/>
        <a:p>
          <a:r>
            <a:rPr lang="en-IL" sz="2400" dirty="0"/>
            <a:t>Coordinated authors are highly inter</a:t>
          </a:r>
          <a:r>
            <a:rPr lang="en-GB" sz="2400" dirty="0"/>
            <a:t>-</a:t>
          </a:r>
          <a:r>
            <a:rPr lang="en-IL" sz="2400" dirty="0"/>
            <a:t>connected in the</a:t>
          </a:r>
          <a:r>
            <a:rPr lang="en-GB" sz="2400" dirty="0"/>
            <a:t> co-action</a:t>
          </a:r>
          <a:r>
            <a:rPr lang="en-IL" sz="2400" dirty="0"/>
            <a:t> graph.</a:t>
          </a:r>
          <a:endParaRPr lang="en-GB" sz="2400" dirty="0"/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 custT="1"/>
      <dgm:spPr/>
      <dgm:t>
        <a:bodyPr/>
        <a:lstStyle/>
        <a:p>
          <a:r>
            <a:rPr lang="en-IL" sz="2400" dirty="0"/>
            <a:t>IO</a:t>
          </a:r>
          <a:r>
            <a:rPr lang="en-US" sz="2400" dirty="0"/>
            <a:t> accounts are in a large k-core.</a:t>
          </a:r>
          <a:endParaRPr lang="en-IL" sz="2400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 custT="1"/>
      <dgm:spPr/>
      <dgm:t>
        <a:bodyPr/>
        <a:lstStyle/>
        <a:p>
          <a:r>
            <a:rPr lang="en-IL" sz="2400" dirty="0"/>
            <a:t>Since IO requires coordination, IO drivers are expected to appear in </a:t>
          </a:r>
          <a:r>
            <a:rPr lang="en-GB" sz="2400" dirty="0"/>
            <a:t>the coordinated</a:t>
          </a:r>
          <a:r>
            <a:rPr lang="en-IL" sz="2400" dirty="0"/>
            <a:t> groups. </a:t>
          </a:r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972B0F-9F24-4FC0-BA51-EEBB0A7F8A73}">
      <dgm:prSet phldrT="[Text]" custT="1"/>
      <dgm:spPr/>
      <dgm:t>
        <a:bodyPr/>
        <a:lstStyle/>
        <a:p>
          <a:pPr>
            <a:buNone/>
          </a:pPr>
          <a:r>
            <a:rPr lang="en-IL" sz="2400" dirty="0"/>
            <a:t>The co-action graph represents behavioural similarity between authors.</a:t>
          </a:r>
        </a:p>
      </dgm:t>
    </dgm:pt>
    <dgm:pt modelId="{823A6176-1344-4AAD-A081-89EB5DCC4093}" type="parTrans" cxnId="{19261AE1-CDAA-437C-82BB-F32380991E11}">
      <dgm:prSet/>
      <dgm:spPr/>
      <dgm:t>
        <a:bodyPr/>
        <a:lstStyle/>
        <a:p>
          <a:endParaRPr lang="en-IL"/>
        </a:p>
      </dgm:t>
    </dgm:pt>
    <dgm:pt modelId="{D9926E93-0033-4EAE-8105-B122F3529813}" type="sibTrans" cxnId="{19261AE1-CDAA-437C-82BB-F32380991E11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4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4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4"/>
      <dgm:spPr/>
    </dgm:pt>
    <dgm:pt modelId="{736A69BE-A220-4144-BEB1-04BD59BF1329}" type="pres">
      <dgm:prSet presAssocID="{D9926E93-0033-4EAE-8105-B122F3529813}" presName="sp" presStyleCnt="0"/>
      <dgm:spPr/>
    </dgm:pt>
    <dgm:pt modelId="{6647F38C-A354-4E92-82DD-B24CA78D34F1}" type="pres">
      <dgm:prSet presAssocID="{2B972B0F-9F24-4FC0-BA51-EEBB0A7F8A73}" presName="arrowAndChildren" presStyleCnt="0"/>
      <dgm:spPr/>
    </dgm:pt>
    <dgm:pt modelId="{534D5A28-AA1C-4672-B587-DC2D8696AAD8}" type="pres">
      <dgm:prSet presAssocID="{2B972B0F-9F24-4FC0-BA51-EEBB0A7F8A73}" presName="parentTextArrow" presStyleLbl="node1" presStyleIdx="3" presStyleCnt="4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1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3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2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19261AE1-CDAA-437C-82BB-F32380991E11}" srcId="{48AFC2CC-272E-41C7-BFE3-402C8025BCAD}" destId="{2B972B0F-9F24-4FC0-BA51-EEBB0A7F8A73}" srcOrd="0" destOrd="0" parTransId="{823A6176-1344-4AAD-A081-89EB5DCC4093}" sibTransId="{D9926E93-0033-4EAE-8105-B122F3529813}"/>
    <dgm:cxn modelId="{1A3FA7F3-8CBB-413E-949D-A397A86417F4}" type="presOf" srcId="{2B972B0F-9F24-4FC0-BA51-EEBB0A7F8A73}" destId="{534D5A28-AA1C-4672-B587-DC2D8696AAD8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  <dgm:cxn modelId="{1EE2F2DD-C6B7-403D-B437-7A63CE12D223}" type="presParOf" srcId="{2BD634B8-DA83-49F5-9D02-0914F5E00507}" destId="{736A69BE-A220-4144-BEB1-04BD59BF1329}" srcOrd="5" destOrd="0" presId="urn:microsoft.com/office/officeart/2005/8/layout/process4"/>
    <dgm:cxn modelId="{56A9B7E7-EE27-45BC-9061-F46AF766C1EB}" type="presParOf" srcId="{2BD634B8-DA83-49F5-9D02-0914F5E00507}" destId="{6647F38C-A354-4E92-82DD-B24CA78D34F1}" srcOrd="6" destOrd="0" presId="urn:microsoft.com/office/officeart/2005/8/layout/process4"/>
    <dgm:cxn modelId="{395EDE8F-1677-4206-A0B7-D62421760E0C}" type="presParOf" srcId="{6647F38C-A354-4E92-82DD-B24CA78D34F1}" destId="{534D5A28-AA1C-4672-B587-DC2D8696AAD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</a:t>
          </a:r>
          <a:r>
            <a:rPr lang="en-IL" sz="2400" kern="1200" dirty="0" err="1"/>
            <a:t>vecto</a:t>
          </a:r>
          <a:r>
            <a:rPr lang="en-US" sz="2400" kern="1200" dirty="0"/>
            <a:t>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Building a co-action graph represents author similarity (see next slide).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817172"/>
          <a:ext cx="10582656" cy="8351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IO</a:t>
          </a:r>
          <a:r>
            <a:rPr lang="en-US" sz="2400" kern="1200" dirty="0"/>
            <a:t> accounts are in a large k-core.</a:t>
          </a:r>
          <a:endParaRPr lang="en-IL" sz="2400" kern="1200" dirty="0"/>
        </a:p>
      </dsp:txBody>
      <dsp:txXfrm>
        <a:off x="0" y="3817172"/>
        <a:ext cx="10582656" cy="835104"/>
      </dsp:txXfrm>
    </dsp:sp>
    <dsp:sp modelId="{3D88F0F6-5629-4C7E-A8D9-55126A1A5A1D}">
      <dsp:nvSpPr>
        <dsp:cNvPr id="0" name=""/>
        <dsp:cNvSpPr/>
      </dsp:nvSpPr>
      <dsp:spPr>
        <a:xfrm rot="10800000">
          <a:off x="0" y="2545309"/>
          <a:ext cx="10582656" cy="1284390"/>
        </a:xfrm>
        <a:prstGeom prst="upArrowCallout">
          <a:avLst/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Since IO requires coordination, IO drivers are expected to appear in </a:t>
          </a:r>
          <a:r>
            <a:rPr lang="en-GB" sz="2400" kern="1200" dirty="0"/>
            <a:t>the coordinated</a:t>
          </a:r>
          <a:r>
            <a:rPr lang="en-IL" sz="2400" kern="1200" dirty="0"/>
            <a:t> groups. </a:t>
          </a:r>
        </a:p>
      </dsp:txBody>
      <dsp:txXfrm rot="10800000">
        <a:off x="0" y="2545309"/>
        <a:ext cx="10582656" cy="834558"/>
      </dsp:txXfrm>
    </dsp:sp>
    <dsp:sp modelId="{5E247E41-6DA2-446C-849F-383AA9AB749B}">
      <dsp:nvSpPr>
        <dsp:cNvPr id="0" name=""/>
        <dsp:cNvSpPr/>
      </dsp:nvSpPr>
      <dsp:spPr>
        <a:xfrm rot="10800000">
          <a:off x="0" y="1273445"/>
          <a:ext cx="10582656" cy="1284390"/>
        </a:xfrm>
        <a:prstGeom prst="upArrowCallout">
          <a:avLst/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Coordinated authors are highly inter</a:t>
          </a:r>
          <a:r>
            <a:rPr lang="en-GB" sz="2400" kern="1200" dirty="0"/>
            <a:t>-</a:t>
          </a:r>
          <a:r>
            <a:rPr lang="en-IL" sz="2400" kern="1200" dirty="0"/>
            <a:t>connected in the</a:t>
          </a:r>
          <a:r>
            <a:rPr lang="en-GB" sz="2400" kern="1200" dirty="0"/>
            <a:t> co-action</a:t>
          </a:r>
          <a:r>
            <a:rPr lang="en-IL" sz="2400" kern="1200" dirty="0"/>
            <a:t> graph.</a:t>
          </a:r>
          <a:endParaRPr lang="en-GB" sz="2400" kern="1200" dirty="0"/>
        </a:p>
      </dsp:txBody>
      <dsp:txXfrm rot="10800000">
        <a:off x="0" y="1273445"/>
        <a:ext cx="10582656" cy="834558"/>
      </dsp:txXfrm>
    </dsp:sp>
    <dsp:sp modelId="{534D5A28-AA1C-4672-B587-DC2D8696AAD8}">
      <dsp:nvSpPr>
        <dsp:cNvPr id="0" name=""/>
        <dsp:cNvSpPr/>
      </dsp:nvSpPr>
      <dsp:spPr>
        <a:xfrm rot="10800000">
          <a:off x="0" y="1582"/>
          <a:ext cx="10582656" cy="1284390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L" sz="2400" kern="1200" dirty="0"/>
            <a:t>The co-action graph represents behavioural similarity between authors.</a:t>
          </a:r>
        </a:p>
      </dsp:txBody>
      <dsp:txXfrm rot="10800000">
        <a:off x="0" y="1582"/>
        <a:ext cx="10582656" cy="8345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#1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י"ב/תשרי/תשפ"ז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r">
              <a:buNone/>
            </a:pPr>
            <a:endParaRPr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23 ספטמבר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956582"/>
            <a:ext cx="6234954" cy="1724819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Can See </a:t>
            </a:r>
            <a:r>
              <a:rPr lang="en-GB" sz="4000" b="1" dirty="0">
                <a:solidFill>
                  <a:srgbClr val="FF0000"/>
                </a:solidFill>
              </a:rPr>
              <a:t>U</a:t>
            </a:r>
            <a:r>
              <a:rPr lang="en-GB" sz="4000" b="1" dirty="0">
                <a:solidFill>
                  <a:schemeClr val="bg1"/>
                </a:solidFill>
              </a:rPr>
              <a:t>.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Indicator-Based Information Operation Detection and Topic-Aware Group Analysis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23.09.2026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5F04-2075-5640-5DEC-3A750362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07E5-B275-6452-62FB-2B98BD269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11588-A0A9-88D4-64DC-E215A71D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944860" cy="4749032"/>
          </a:xfrm>
        </p:spPr>
        <p:txBody>
          <a:bodyPr>
            <a:noAutofit/>
          </a:bodyPr>
          <a:lstStyle/>
          <a:p>
            <a:r>
              <a:rPr lang="en-IL" sz="3000" dirty="0"/>
              <a:t>Social media platforms </a:t>
            </a:r>
            <a:r>
              <a:rPr lang="en-US" sz="3000" dirty="0"/>
              <a:t>are</a:t>
            </a:r>
            <a:r>
              <a:rPr lang="en-IL" sz="3000" dirty="0"/>
              <a:t> central spaces for public discourse</a:t>
            </a:r>
            <a:r>
              <a:rPr lang="en-US" sz="3000" dirty="0"/>
              <a:t>. </a:t>
            </a:r>
          </a:p>
          <a:p>
            <a:pPr marL="0" indent="0">
              <a:buNone/>
            </a:pPr>
            <a:r>
              <a:rPr lang="en-IL" sz="1400" dirty="0" err="1"/>
              <a:t>Seckin</a:t>
            </a:r>
            <a:r>
              <a:rPr lang="en-IL" sz="1400" dirty="0"/>
              <a:t> et al. (2025). “Sharing without clicking on news in social media.”</a:t>
            </a:r>
          </a:p>
          <a:p>
            <a:r>
              <a:rPr lang="en-GB" sz="3000" dirty="0"/>
              <a:t>Information operations (IOs) </a:t>
            </a:r>
            <a:r>
              <a:rPr lang="en-US" sz="3000" dirty="0"/>
              <a:t>exploit the </a:t>
            </a:r>
            <a:r>
              <a:rPr lang="en-IL" sz="3000" dirty="0"/>
              <a:t>openness</a:t>
            </a:r>
            <a:r>
              <a:rPr lang="en-US" sz="3000" dirty="0"/>
              <a:t> of social media</a:t>
            </a:r>
            <a:r>
              <a:rPr lang="en-IL" sz="3000" dirty="0"/>
              <a:t> to manipulate online </a:t>
            </a:r>
            <a:r>
              <a:rPr lang="en-US" sz="3000" dirty="0"/>
              <a:t>discourse, </a:t>
            </a:r>
            <a:r>
              <a:rPr lang="en-GB" sz="3000" dirty="0"/>
              <a:t>threatening </a:t>
            </a:r>
            <a:r>
              <a:rPr lang="en-IL" sz="3000" dirty="0"/>
              <a:t>democratic processes, public trust, and societal cohesion</a:t>
            </a:r>
            <a:r>
              <a:rPr lang="en-US" sz="3000" dirty="0"/>
              <a:t>.</a:t>
            </a:r>
          </a:p>
          <a:p>
            <a:pPr marL="0" indent="0">
              <a:buNone/>
            </a:pPr>
            <a:r>
              <a:rPr lang="en-IL" sz="1400" dirty="0"/>
              <a:t>Weedon et al. (2017), “Information Operations and Facebook”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1C13A7-1923-2D9F-B551-824B61A989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582"/>
          <a:stretch>
            <a:fillRect/>
          </a:stretch>
        </p:blipFill>
        <p:spPr>
          <a:xfrm>
            <a:off x="7001397" y="1546558"/>
            <a:ext cx="5181600" cy="421077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5F257-DB4A-FAD3-2097-E17D9C5B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889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52B6-F6A0-A5F8-3084-2EFDF779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83EA-9AD0-8D8C-EF0B-B6A71641A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 &amp; Coordination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5DA2-E1AA-6D41-1CC8-89FE07E7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2987007"/>
          </a:xfrm>
        </p:spPr>
        <p:txBody>
          <a:bodyPr>
            <a:normAutofit fontScale="92500" lnSpcReduction="20000"/>
          </a:bodyPr>
          <a:lstStyle/>
          <a:p>
            <a:r>
              <a:rPr lang="en-IL" sz="3200" dirty="0"/>
              <a:t>IO</a:t>
            </a:r>
            <a:r>
              <a:rPr lang="en-GB" sz="3200" dirty="0"/>
              <a:t>s</a:t>
            </a:r>
            <a:r>
              <a:rPr lang="en-IL" sz="3200" dirty="0"/>
              <a:t> rely on fleets of coordinated accounts acting toward a shared objective</a:t>
            </a:r>
            <a:r>
              <a:rPr lang="en-GB" sz="3200" dirty="0"/>
              <a:t>. Coordination is what amplifies their influence</a:t>
            </a:r>
            <a:r>
              <a:rPr lang="en-IL" sz="3200" dirty="0"/>
              <a:t>.</a:t>
            </a:r>
            <a:r>
              <a:rPr lang="en-US" sz="3200" dirty="0"/>
              <a:t> </a:t>
            </a:r>
          </a:p>
          <a:p>
            <a:pPr marL="0" indent="0">
              <a:buNone/>
            </a:pPr>
            <a:r>
              <a:rPr lang="en-IL" sz="1500" dirty="0"/>
              <a:t>Pacheco et al.</a:t>
            </a:r>
            <a:r>
              <a:rPr lang="en-US" sz="1500" dirty="0"/>
              <a:t> “</a:t>
            </a:r>
            <a:r>
              <a:rPr lang="en-IL" sz="1500" dirty="0"/>
              <a:t>Uncovering Coordinated Networks on Social Media: Methods and Case Studies</a:t>
            </a:r>
            <a:r>
              <a:rPr lang="en-US" sz="1500" dirty="0"/>
              <a:t>”</a:t>
            </a:r>
          </a:p>
          <a:p>
            <a:r>
              <a:rPr lang="en-IL" sz="3200" dirty="0"/>
              <a:t>Coordinated activity leaves observable traces of behavioural similarity</a:t>
            </a:r>
            <a:r>
              <a:rPr lang="en-US" sz="3200" dirty="0"/>
              <a:t>.</a:t>
            </a:r>
            <a:r>
              <a:rPr lang="en-IL" sz="3200" dirty="0"/>
              <a:t> </a:t>
            </a:r>
            <a:endParaRPr lang="en-US" sz="3200" dirty="0"/>
          </a:p>
          <a:p>
            <a:pPr marL="0" indent="0">
              <a:buNone/>
            </a:pPr>
            <a:r>
              <a:rPr lang="en-IL" sz="1500" dirty="0" err="1"/>
              <a:t>Luceri</a:t>
            </a:r>
            <a:r>
              <a:rPr lang="en-IL" sz="1500" dirty="0"/>
              <a:t> et al. (2024), “Unmasking the Web of Deceit: Uncovering Coordinated Activity to Expose Information Operations on Twitter”</a:t>
            </a:r>
            <a:endParaRPr lang="en-US" sz="1500" dirty="0"/>
          </a:p>
          <a:p>
            <a:r>
              <a:rPr lang="en-IL" sz="3200" dirty="0"/>
              <a:t>Therefore, </a:t>
            </a:r>
            <a:r>
              <a:rPr lang="en-IL" sz="3200" dirty="0">
                <a:solidFill>
                  <a:schemeClr val="accent6"/>
                </a:solidFill>
              </a:rPr>
              <a:t>identifying coordination is a key step toward detecting IO drivers.</a:t>
            </a:r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023A7-90B0-501B-17AB-CF432067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85EB279-80AA-7F93-2976-F7AAA96AF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53" b="2865"/>
          <a:stretch>
            <a:fillRect/>
          </a:stretch>
        </p:blipFill>
        <p:spPr bwMode="auto">
          <a:xfrm>
            <a:off x="3603428" y="4398614"/>
            <a:ext cx="4985144" cy="2556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625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25B1-3CF4-8E9D-B717-3F99155A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4515-512F-748F-F0F1-FE7A5562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B2338-DB07-7A9B-F0E9-C69CA320E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53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b="1" dirty="0"/>
              <a:t>IO-Driver Detection Methods:</a:t>
            </a:r>
          </a:p>
          <a:p>
            <a:pPr>
              <a:spcBef>
                <a:spcPts val="900"/>
              </a:spcBef>
            </a:pPr>
            <a:r>
              <a:rPr lang="en-IL" b="1" dirty="0"/>
              <a:t>Node-Local: </a:t>
            </a:r>
            <a:r>
              <a:rPr lang="en-IL" dirty="0"/>
              <a:t>detect suspicious users from their individual content, activity, and behaviour.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Tomaiuolo et al., A Survey on Troll Detection, Future Internet, 2020</a:t>
            </a:r>
          </a:p>
          <a:p>
            <a:pPr>
              <a:spcBef>
                <a:spcPts val="900"/>
              </a:spcBef>
            </a:pPr>
            <a:r>
              <a:rPr lang="en-IL" b="1" dirty="0"/>
              <a:t>Network-Based: </a:t>
            </a:r>
            <a:r>
              <a:rPr lang="en-IL" dirty="0"/>
              <a:t>detect coordinated groups from graph structure and behavioural similarity.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Pacheco et al., Uncovering Coordinated Networks on Social Media: Methods and Case Studies, ICWSM, 2021</a:t>
            </a:r>
          </a:p>
          <a:p>
            <a:pPr>
              <a:spcBef>
                <a:spcPts val="900"/>
              </a:spcBef>
            </a:pPr>
            <a:r>
              <a:rPr lang="en-IL" b="1" dirty="0"/>
              <a:t>Hybrid: </a:t>
            </a:r>
            <a:r>
              <a:rPr lang="en-IL" dirty="0"/>
              <a:t>combine user content with network information to detect IO drivers.</a:t>
            </a:r>
          </a:p>
          <a:p>
            <a:pPr marL="342900" indent="0">
              <a:buNone/>
            </a:pPr>
            <a:r>
              <a:rPr lang="en-IL" sz="1400" i="1" dirty="0">
                <a:solidFill>
                  <a:srgbClr val="7F7F7F"/>
                </a:solidFill>
              </a:rPr>
              <a:t>Minici et al., IOHunter: Graph Foundation Model to Uncover Online Information Operations, AAAI, 2025</a:t>
            </a:r>
          </a:p>
          <a:p>
            <a:pPr marL="0" indent="0" algn="ctr">
              <a:buNone/>
            </a:pPr>
            <a:r>
              <a:rPr lang="en-IL" sz="2000" b="1" dirty="0"/>
              <a:t>The gap: existing approaches either detect coordinated groups without quantifying each account’s depth of involvement, or implicitly encode structural embeddedness within black-box models. None provides an explicit, interpretable, account-level measure of coordination depth.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8B0A1-1249-8531-140A-79FDF456D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840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Our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4000" dirty="0"/>
              <a:t>An interpretable, indicator-based approach for account-level IO detection.</a:t>
            </a:r>
            <a:endParaRPr lang="en-US" sz="4000" dirty="0"/>
          </a:p>
          <a:p>
            <a:endParaRPr lang="en-IL" sz="4000" dirty="0"/>
          </a:p>
          <a:p>
            <a:r>
              <a:rPr lang="en-IL" sz="4000" dirty="0"/>
              <a:t>Topic-aware </a:t>
            </a:r>
            <a:r>
              <a:rPr lang="en-US" sz="4000" dirty="0"/>
              <a:t>Group </a:t>
            </a:r>
            <a:r>
              <a:rPr lang="en-IL" sz="4000" dirty="0"/>
              <a:t>analysis of the detected coordinated group (k-core), revealing the campaign’s agenda.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3C2B-714F-79A6-069D-72EE11AD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2392E65-6C94-8CDE-41D1-EAE57436C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br>
              <a:rPr lang="en-US" dirty="0"/>
            </a:br>
            <a:r>
              <a:rPr lang="en-US" dirty="0"/>
              <a:t>I</a:t>
            </a:r>
            <a:r>
              <a:rPr lang="en-IL" dirty="0" err="1"/>
              <a:t>nterpretable</a:t>
            </a:r>
            <a:r>
              <a:rPr lang="en-IL" dirty="0"/>
              <a:t> Indicators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6BA2255-BB39-901A-505B-15E837C90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6A908-6CE4-A3F7-B678-941DAB5DD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03514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B6E49-358C-1C91-1495-06036A901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1501-1E19-A862-A5FB-5BF4DE74B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4B174-F87B-BC9E-382B-A5996C0E5A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85000" lnSpcReduction="20000"/>
          </a:bodyPr>
          <a:lstStyle/>
          <a:p>
            <a:r>
              <a:rPr lang="en-IL" sz="3600" dirty="0"/>
              <a:t>Machine-learning models classify authors using feature vectors. Multiple indicators capture different aspects of author behaviour and may improve classification.</a:t>
            </a:r>
            <a:endParaRPr lang="en-US" sz="3600" dirty="0"/>
          </a:p>
          <a:p>
            <a:r>
              <a:rPr lang="en-IL" sz="3600" dirty="0"/>
              <a:t>Graph-Based Indicators</a:t>
            </a:r>
            <a:endParaRPr lang="en-US" sz="3600" dirty="0"/>
          </a:p>
          <a:p>
            <a:pPr lvl="1"/>
            <a:r>
              <a:rPr lang="en-US" sz="3200" b="1" dirty="0"/>
              <a:t> </a:t>
            </a:r>
            <a:r>
              <a:rPr lang="en-IL" sz="3200" b="1" dirty="0"/>
              <a:t>Quantitative:</a:t>
            </a:r>
            <a:r>
              <a:rPr lang="en-IL" sz="3200" dirty="0"/>
              <a:t> Core number, centralities, and PageRank measure an author’s structural importance.</a:t>
            </a:r>
            <a:endParaRPr lang="en-US" sz="3200" dirty="0"/>
          </a:p>
          <a:p>
            <a:pPr lvl="1"/>
            <a:r>
              <a:rPr lang="en-US" sz="3200" dirty="0"/>
              <a:t> </a:t>
            </a:r>
            <a:r>
              <a:rPr lang="en-IL" sz="3200" b="1" dirty="0"/>
              <a:t>Categorical:</a:t>
            </a:r>
            <a:r>
              <a:rPr lang="en-IL" sz="3200" dirty="0"/>
              <a:t> Community membership shows which </a:t>
            </a:r>
            <a:r>
              <a:rPr lang="en-GB" sz="3200" dirty="0"/>
              <a:t>neighbourhood</a:t>
            </a:r>
            <a:r>
              <a:rPr lang="en-IL" sz="3200" dirty="0"/>
              <a:t> the author belongs to.</a:t>
            </a:r>
            <a:endParaRPr lang="en-US" sz="3600" dirty="0"/>
          </a:p>
          <a:p>
            <a:r>
              <a:rPr lang="en-IL" sz="3600" dirty="0"/>
              <a:t>Topic-Based Indicators</a:t>
            </a:r>
            <a:endParaRPr lang="en-US" sz="3600" dirty="0"/>
          </a:p>
          <a:p>
            <a:pPr lvl="1"/>
            <a:r>
              <a:rPr lang="en-IL" sz="3200" b="1" dirty="0"/>
              <a:t>TF</a:t>
            </a:r>
            <a:r>
              <a:rPr lang="en-US" sz="3200" b="1" dirty="0"/>
              <a:t>-</a:t>
            </a:r>
            <a:r>
              <a:rPr lang="en-IL" sz="3200" b="1" dirty="0"/>
              <a:t>IDF</a:t>
            </a:r>
            <a:r>
              <a:rPr lang="en-US" sz="3200" b="1" dirty="0"/>
              <a:t> </a:t>
            </a:r>
            <a:r>
              <a:rPr lang="en-IL" sz="3200" b="1" dirty="0"/>
              <a:t>based:</a:t>
            </a:r>
            <a:r>
              <a:rPr lang="en-IL" sz="3200" dirty="0"/>
              <a:t> Key score measures how strongly the author uses important entities.</a:t>
            </a:r>
            <a:r>
              <a:rPr lang="en-US" sz="3200" dirty="0"/>
              <a:t> (TF IDF is explained in the next slide)</a:t>
            </a:r>
          </a:p>
          <a:p>
            <a:pPr lvl="1"/>
            <a:r>
              <a:rPr lang="en-US" sz="3200" b="1" dirty="0"/>
              <a:t>Posting-based</a:t>
            </a:r>
            <a:r>
              <a:rPr lang="en-IL" sz="3200" b="1" dirty="0"/>
              <a:t>:</a:t>
            </a:r>
            <a:r>
              <a:rPr lang="en-IL" sz="3200" dirty="0"/>
              <a:t> Posting </a:t>
            </a:r>
            <a:r>
              <a:rPr lang="en-US" sz="3200" dirty="0"/>
              <a:t>activity and distribution across topics </a:t>
            </a:r>
            <a:r>
              <a:rPr lang="en-IL" sz="3200" dirty="0"/>
              <a:t>describe </a:t>
            </a:r>
            <a:r>
              <a:rPr lang="en-US" sz="3200" dirty="0"/>
              <a:t>how and what the </a:t>
            </a:r>
            <a:r>
              <a:rPr lang="en-IL" sz="3200" dirty="0"/>
              <a:t>author posts about</a:t>
            </a:r>
            <a:r>
              <a:rPr lang="en-US" sz="3200" dirty="0"/>
              <a:t>.</a:t>
            </a:r>
            <a:r>
              <a:rPr lang="en-IL" sz="3200" dirty="0"/>
              <a:t> </a:t>
            </a:r>
            <a:endParaRPr lang="en-US" sz="3200" dirty="0"/>
          </a:p>
          <a:p>
            <a:pPr lvl="1"/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1BB48-E83E-BAE3-A307-B85C0F925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68098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0C904-6A27-8E88-FF68-740AA5CC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11DC-22C8-9C10-CE8B-B117FA4DA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Graph Indicators</a:t>
            </a:r>
            <a:r>
              <a:rPr lang="en-US" dirty="0"/>
              <a:t> Workflow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583CB65E-CDB4-6CBC-AA68-A7C7589626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5248438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AFC2A-2F88-85E7-E925-FC9979157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381F6-7806-D125-37C8-2AE3A688B3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D7B0B9-5297-2D50-C1DD-1E1487E33B0C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(example)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4639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IL" dirty="0"/>
              <a:t>Co-Action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200" b="1" dirty="0"/>
              <a:t>Nodes:</a:t>
            </a:r>
            <a:r>
              <a:rPr lang="en-GB" sz="3200" dirty="0"/>
              <a:t> authors in the discourse.</a:t>
            </a:r>
          </a:p>
          <a:p>
            <a:r>
              <a:rPr lang="en-GB" sz="3200" b="1" dirty="0"/>
              <a:t>Edges: </a:t>
            </a:r>
            <a:r>
              <a:rPr lang="en-GB" sz="3200" dirty="0"/>
              <a:t>co-action relations between a pair of authors (e.g., posting the same hashtag). Represents </a:t>
            </a:r>
            <a:r>
              <a:rPr lang="en-US" sz="3200" b="1" dirty="0"/>
              <a:t>behavioral similarity</a:t>
            </a:r>
            <a:r>
              <a:rPr lang="en-GB" sz="3200" b="1" dirty="0"/>
              <a:t> </a:t>
            </a:r>
            <a:r>
              <a:rPr lang="en-GB" sz="3200" dirty="0"/>
              <a:t>between the authors.</a:t>
            </a:r>
          </a:p>
          <a:p>
            <a:r>
              <a:rPr lang="en-GB" sz="3200" b="1" dirty="0"/>
              <a:t>Purpose</a:t>
            </a:r>
            <a:r>
              <a:rPr lang="en-GB" sz="3200" dirty="0"/>
              <a:t>: expose coordinated behaviour for IO detection.</a:t>
            </a:r>
          </a:p>
          <a:p>
            <a:endParaRPr lang="en-GB" sz="2800" dirty="0"/>
          </a:p>
          <a:p>
            <a:endParaRPr lang="en-GB" sz="2800" dirty="0"/>
          </a:p>
          <a:p>
            <a:pPr marL="457200" lvl="1" indent="0">
              <a:buNone/>
            </a:pPr>
            <a:endParaRPr lang="en-GB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33D02-87AB-FC45-0EFD-C183617E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96603-D6AF-F6A3-BAEA-49811954D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  <a:r>
              <a:rPr lang="en-IL" dirty="0"/>
              <a:t>-Based Indicators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299B9-D58F-15FE-8E0B-7A07507F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9F0DA61-6A58-3B1F-17BD-C497225F0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/>
          <a:p>
            <a:r>
              <a:rPr lang="en-US" sz="3200" dirty="0"/>
              <a:t>Using the </a:t>
            </a:r>
            <a:r>
              <a:rPr lang="en-IL" sz="3200" dirty="0"/>
              <a:t>Co-Action Graph</a:t>
            </a:r>
            <a:r>
              <a:rPr lang="en-US" sz="3200" dirty="0"/>
              <a:t>, </a:t>
            </a:r>
            <a:r>
              <a:rPr lang="en-GB" sz="3200" dirty="0"/>
              <a:t>we calculate well-established graph indicators for each author (node) to characterize their structural role.</a:t>
            </a:r>
            <a:endParaRPr lang="en-IL" sz="3200" dirty="0"/>
          </a:p>
          <a:p>
            <a:pPr lvl="1"/>
            <a:r>
              <a:rPr lang="en-IL" sz="2800" b="1" dirty="0"/>
              <a:t>Centrality:</a:t>
            </a:r>
            <a:r>
              <a:rPr lang="en-IL" sz="2800" dirty="0"/>
              <a:t> Degree, Harmonic, Eigenvector, Betweenness, PageRank </a:t>
            </a:r>
          </a:p>
          <a:p>
            <a:pPr lvl="1"/>
            <a:r>
              <a:rPr lang="en-IL" sz="2800" b="1" dirty="0"/>
              <a:t>Cohesion:</a:t>
            </a:r>
            <a:r>
              <a:rPr lang="en-IL" sz="2800" dirty="0"/>
              <a:t> Core Number, Clustering Coefficient </a:t>
            </a:r>
          </a:p>
          <a:p>
            <a:pPr lvl="1"/>
            <a:r>
              <a:rPr lang="en-IL" sz="2800" b="1" dirty="0"/>
              <a:t>Community:</a:t>
            </a:r>
            <a:r>
              <a:rPr lang="en-IL" sz="2800" dirty="0"/>
              <a:t> Louvain Community </a:t>
            </a:r>
          </a:p>
          <a:p>
            <a:r>
              <a:rPr lang="en-IL" sz="3200" dirty="0"/>
              <a:t>These indicators provide </a:t>
            </a:r>
            <a:r>
              <a:rPr lang="en-IL" sz="3200" b="1" dirty="0"/>
              <a:t>interpretable structural features</a:t>
            </a:r>
            <a:r>
              <a:rPr lang="en-US" sz="3200" b="1" dirty="0"/>
              <a:t>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05124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F7BDE-8AB5-2809-CC36-E39791D3C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6ED3E-8C9D-906E-B977-CB4C09EF7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Topic-Based Indicators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EED24-25E6-99A7-BF59-44F2CC4D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B5A312C1-6DEB-B571-F05F-5AB1221CE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546601"/>
          </a:xfrm>
        </p:spPr>
        <p:txBody>
          <a:bodyPr>
            <a:normAutofit fontScale="92500" lnSpcReduction="10000"/>
          </a:bodyPr>
          <a:lstStyle/>
          <a:p>
            <a:r>
              <a:rPr lang="en-IL" dirty="0"/>
              <a:t>Calculated from each </a:t>
            </a:r>
            <a:r>
              <a:rPr lang="en-IL" b="1" dirty="0"/>
              <a:t>author’s posts and hashtags</a:t>
            </a:r>
            <a:r>
              <a:rPr lang="en-IL" dirty="0"/>
              <a:t> to capture their thematic activity.</a:t>
            </a:r>
          </a:p>
          <a:p>
            <a:r>
              <a:rPr lang="en-IL" dirty="0"/>
              <a:t>Activity-Based Indicators</a:t>
            </a:r>
          </a:p>
          <a:p>
            <a:pPr lvl="1"/>
            <a:r>
              <a:rPr lang="en-IL" sz="2400" b="1" dirty="0"/>
              <a:t>Posting Dominance </a:t>
            </a:r>
            <a:r>
              <a:rPr lang="en-US" sz="2400" dirty="0"/>
              <a:t>-</a:t>
            </a:r>
            <a:r>
              <a:rPr lang="en-IL" sz="2400" dirty="0"/>
              <a:t> proportion of an author’s posts assigned to their most frequent topic. </a:t>
            </a:r>
          </a:p>
          <a:p>
            <a:pPr lvl="1"/>
            <a:r>
              <a:rPr lang="en-IL" sz="2400" b="1" dirty="0"/>
              <a:t>Top Topic</a:t>
            </a:r>
            <a:r>
              <a:rPr lang="en-IL" sz="2400" dirty="0"/>
              <a:t> </a:t>
            </a:r>
            <a:r>
              <a:rPr lang="en-US" sz="2400" dirty="0"/>
              <a:t>-</a:t>
            </a:r>
            <a:r>
              <a:rPr lang="en-IL" sz="2400" dirty="0"/>
              <a:t> the author’s dominant topic. </a:t>
            </a:r>
          </a:p>
          <a:p>
            <a:r>
              <a:rPr lang="en-IL" dirty="0"/>
              <a:t>TF</a:t>
            </a:r>
            <a:r>
              <a:rPr lang="en-US" dirty="0"/>
              <a:t>-</a:t>
            </a:r>
            <a:r>
              <a:rPr lang="en-IL" dirty="0"/>
              <a:t>IDF-Based Indicators</a:t>
            </a:r>
            <a:r>
              <a:rPr lang="en-US" dirty="0"/>
              <a:t> </a:t>
            </a:r>
            <a:r>
              <a:rPr lang="en-US" sz="1900" dirty="0"/>
              <a:t>(see next slide)</a:t>
            </a:r>
            <a:endParaRPr lang="en-IL" sz="1900" dirty="0"/>
          </a:p>
          <a:p>
            <a:pPr lvl="1"/>
            <a:r>
              <a:rPr lang="en-IL" sz="2400" b="1" dirty="0"/>
              <a:t>Key Score (Topic)</a:t>
            </a:r>
            <a:r>
              <a:rPr lang="en-IL" sz="2400" dirty="0"/>
              <a:t> </a:t>
            </a:r>
            <a:r>
              <a:rPr lang="en-US" sz="2400" dirty="0"/>
              <a:t>-</a:t>
            </a:r>
            <a:r>
              <a:rPr lang="en-IL" sz="2400" dirty="0"/>
              <a:t> author’s relevance to a specific topic, calculated by aggregating the TF</a:t>
            </a:r>
            <a:r>
              <a:rPr lang="en-US" sz="2400" dirty="0"/>
              <a:t>-</a:t>
            </a:r>
            <a:r>
              <a:rPr lang="en-IL" sz="2400" dirty="0"/>
              <a:t>IDF scores of the entities used by the author in that topic, with a penalty for activity across multiple topics. </a:t>
            </a:r>
          </a:p>
          <a:p>
            <a:pPr lvl="1"/>
            <a:r>
              <a:rPr lang="en-IL" sz="2400" b="1" dirty="0"/>
              <a:t>Key Score Sum </a:t>
            </a:r>
            <a:r>
              <a:rPr lang="en-US" sz="2400" dirty="0"/>
              <a:t>-</a:t>
            </a:r>
            <a:r>
              <a:rPr lang="en-IL" sz="2400" dirty="0"/>
              <a:t> sum of the author’s key scores across all topics. </a:t>
            </a:r>
          </a:p>
          <a:p>
            <a:pPr lvl="1"/>
            <a:r>
              <a:rPr lang="en-IL" sz="2400" b="1" dirty="0"/>
              <a:t>Key Score Dominance </a:t>
            </a:r>
            <a:r>
              <a:rPr lang="en-US" sz="2400" dirty="0"/>
              <a:t>-</a:t>
            </a:r>
            <a:r>
              <a:rPr lang="en-IL" sz="2400" dirty="0"/>
              <a:t> proportion of the total key score concentrated in the author’s strongest topic.</a:t>
            </a:r>
          </a:p>
          <a:p>
            <a:r>
              <a:rPr lang="en-IL" dirty="0"/>
              <a:t>Together, these indicators capture the </a:t>
            </a:r>
            <a:r>
              <a:rPr lang="en-IL" b="1" dirty="0"/>
              <a:t>author’s narrative focus and thematic behaviour</a:t>
            </a:r>
            <a:r>
              <a:rPr lang="en-I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2234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1954D-5A4C-0857-EC07-B5A26F06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9586-6367-13E7-4E9F-5B79E0C2F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TF-IDF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E1D45-23D1-B59F-5CEB-74D2E305D2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92500" lnSpcReduction="20000"/>
          </a:bodyPr>
          <a:lstStyle/>
          <a:p>
            <a:r>
              <a:rPr lang="en-IL" sz="2800" dirty="0"/>
              <a:t>TF-IDF is a statistical method used in natural language processing and information retrieval to evaluate how important a word is to a document</a:t>
            </a:r>
            <a:r>
              <a:rPr lang="en-US" sz="2800" dirty="0"/>
              <a:t> (in our project – topic) </a:t>
            </a:r>
            <a:r>
              <a:rPr lang="en-IL" sz="2800" dirty="0"/>
              <a:t>in relation to a larger collection of documents</a:t>
            </a:r>
            <a:r>
              <a:rPr lang="en-US" sz="2800" dirty="0"/>
              <a:t> (topics)</a:t>
            </a:r>
            <a:r>
              <a:rPr lang="en-IL" sz="2800" dirty="0"/>
              <a:t>.</a:t>
            </a:r>
            <a:endParaRPr lang="en-US" sz="28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IL" sz="2800" dirty="0"/>
              <a:t>This allows TF-IDF to highlight terms that are both frequent within a specific document </a:t>
            </a:r>
            <a:r>
              <a:rPr lang="en-US" sz="2800" dirty="0"/>
              <a:t>(topic) </a:t>
            </a:r>
            <a:r>
              <a:rPr lang="en-IL" sz="2800" dirty="0"/>
              <a:t>and distinctive across the </a:t>
            </a:r>
            <a:r>
              <a:rPr lang="en-US" sz="2800" dirty="0"/>
              <a:t>other</a:t>
            </a:r>
            <a:r>
              <a:rPr lang="en-IL" sz="2800" dirty="0"/>
              <a:t> document</a:t>
            </a:r>
            <a:r>
              <a:rPr lang="en-US" sz="2800" dirty="0"/>
              <a:t>s (topics)</a:t>
            </a:r>
            <a:r>
              <a:rPr lang="en-IL" sz="2800" dirty="0"/>
              <a:t>, making it a useful tool for tasks like search</a:t>
            </a:r>
            <a:r>
              <a:rPr lang="en-US" sz="2800" dirty="0"/>
              <a:t>, </a:t>
            </a:r>
            <a:r>
              <a:rPr lang="en-IL" sz="2800" dirty="0"/>
              <a:t>ranking, text classification</a:t>
            </a:r>
            <a:r>
              <a:rPr lang="en-US" sz="2800" dirty="0"/>
              <a:t>,</a:t>
            </a:r>
            <a:r>
              <a:rPr lang="en-IL" sz="2800" dirty="0"/>
              <a:t> and keyword extraction.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399C3-8B20-C8B3-F5E8-83FE1E340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  <p:pic>
        <p:nvPicPr>
          <p:cNvPr id="9" name="Picture 8" descr="The-TF-Formula">
            <a:extLst>
              <a:ext uri="{FF2B5EF4-FFF2-40B4-BE49-F238E27FC236}">
                <a16:creationId xmlns:a16="http://schemas.microsoft.com/office/drawing/2014/main" id="{907CD54C-266E-D25F-93AC-9657B7CF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93" y="3084575"/>
            <a:ext cx="5808578" cy="929372"/>
          </a:xfrm>
          <a:prstGeom prst="rect">
            <a:avLst/>
          </a:prstGeom>
        </p:spPr>
      </p:pic>
      <p:pic>
        <p:nvPicPr>
          <p:cNvPr id="10" name="Picture 9" descr="IDF-Formula">
            <a:extLst>
              <a:ext uri="{FF2B5EF4-FFF2-40B4-BE49-F238E27FC236}">
                <a16:creationId xmlns:a16="http://schemas.microsoft.com/office/drawing/2014/main" id="{81A364B8-4C2A-B11A-94C3-5E62DA848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688" y="3084575"/>
            <a:ext cx="5808578" cy="929372"/>
          </a:xfrm>
          <a:prstGeom prst="rect">
            <a:avLst/>
          </a:prstGeom>
        </p:spPr>
      </p:pic>
      <p:pic>
        <p:nvPicPr>
          <p:cNvPr id="11" name="Picture 10" descr="idf_formula">
            <a:extLst>
              <a:ext uri="{FF2B5EF4-FFF2-40B4-BE49-F238E27FC236}">
                <a16:creationId xmlns:a16="http://schemas.microsoft.com/office/drawing/2014/main" id="{2E808CB6-DC6B-A5E4-A05E-7782B9AB3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594" y="4318287"/>
            <a:ext cx="5569130" cy="89106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55B8F27-461B-530E-A980-9B2519ED219A}"/>
              </a:ext>
            </a:extLst>
          </p:cNvPr>
          <p:cNvSpPr txBox="1"/>
          <p:nvPr/>
        </p:nvSpPr>
        <p:spPr>
          <a:xfrm>
            <a:off x="1329674" y="6598942"/>
            <a:ext cx="62629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sz="900" dirty="0"/>
              <a:t>https://www.geeksforgeeks.org/machine-learning/understanding-tf-idf-term-frequency-inverse-document-frequency/</a:t>
            </a:r>
          </a:p>
        </p:txBody>
      </p:sp>
    </p:spTree>
    <p:extLst>
      <p:ext uri="{BB962C8B-B14F-4D97-AF65-F5344CB8AC3E}">
        <p14:creationId xmlns:p14="http://schemas.microsoft.com/office/powerpoint/2010/main" val="2163896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US" dirty="0"/>
              <a:t>Group </a:t>
            </a:r>
            <a:r>
              <a:rPr lang="en-IL" dirty="0"/>
              <a:t>analysis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0DA63-958D-B3CC-0304-27F08C2C0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F98E7-B718-85B7-ECA7-94DCCDA29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63424-899C-2A1D-4421-3E966B763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pPr lvl="0"/>
            <a:r>
              <a:rPr lang="en-IL" sz="3200" dirty="0"/>
              <a:t>At the </a:t>
            </a:r>
            <a:r>
              <a:rPr lang="en-IL" sz="3200" b="1" dirty="0"/>
              <a:t>group level</a:t>
            </a:r>
            <a:r>
              <a:rPr lang="en-IL" sz="3200" dirty="0"/>
              <a:t>, we can reveal </a:t>
            </a:r>
            <a:r>
              <a:rPr lang="en-IL" sz="3200" b="1" dirty="0"/>
              <a:t>shared narratives and thematic patterns</a:t>
            </a:r>
            <a:r>
              <a:rPr lang="en-IL" sz="3200" dirty="0"/>
              <a:t> that may not be visible when analysing individual accounts. </a:t>
            </a:r>
          </a:p>
          <a:p>
            <a:pPr lvl="0"/>
            <a:r>
              <a:rPr lang="en-IL" sz="3200" b="1" dirty="0"/>
              <a:t>Goal:</a:t>
            </a:r>
            <a:r>
              <a:rPr lang="en-IL" sz="3200" dirty="0"/>
              <a:t> Move from </a:t>
            </a:r>
            <a:r>
              <a:rPr lang="en-IL" sz="3200" i="1" dirty="0"/>
              <a:t>“Who participates in an IO?”</a:t>
            </a:r>
            <a:r>
              <a:rPr lang="en-IL" sz="3200" dirty="0"/>
              <a:t> to </a:t>
            </a:r>
            <a:r>
              <a:rPr lang="en-IL" sz="3200" i="1" dirty="0"/>
              <a:t>“How do coordinated groups operate, and what narratives characterize their activity?”</a:t>
            </a:r>
            <a:endParaRPr lang="en-IL" sz="3200" dirty="0"/>
          </a:p>
          <a:p>
            <a:pPr marL="457200" lvl="1" indent="0">
              <a:buNone/>
            </a:pP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F40F2-EA50-BEC5-D38F-8F6DD4350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027892-7F23-7560-E4A0-026837C0C8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98" b="12173"/>
          <a:stretch>
            <a:fillRect/>
          </a:stretch>
        </p:blipFill>
        <p:spPr>
          <a:xfrm>
            <a:off x="2492400" y="5117509"/>
            <a:ext cx="5987999" cy="147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852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DEE1B-0DBB-0BBE-85D3-FA360987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77DC-4A73-3FF9-1A1F-BAD9FB219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DD76D-E5BF-D922-7C5D-702EAD478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85000" lnSpcReduction="10000"/>
          </a:bodyPr>
          <a:lstStyle/>
          <a:p>
            <a:r>
              <a:rPr lang="en-IL" sz="3200" dirty="0"/>
              <a:t>We </a:t>
            </a:r>
            <a:r>
              <a:rPr lang="en-US" sz="3200" dirty="0"/>
              <a:t>define</a:t>
            </a:r>
            <a:r>
              <a:rPr lang="en-IL" sz="3200" dirty="0"/>
              <a:t> several groups:</a:t>
            </a:r>
          </a:p>
          <a:p>
            <a:pPr lvl="1"/>
            <a:r>
              <a:rPr lang="en-IL" sz="2800" b="1" dirty="0"/>
              <a:t>Maximal k-Core</a:t>
            </a:r>
            <a:r>
              <a:rPr lang="en-US" sz="2800" b="1" dirty="0"/>
              <a:t> Connected</a:t>
            </a:r>
            <a:r>
              <a:rPr lang="en-IL" sz="2800" b="1" dirty="0"/>
              <a:t> Component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belonging to the same connected component within their maximal k-core. </a:t>
            </a:r>
          </a:p>
          <a:p>
            <a:pPr lvl="1"/>
            <a:r>
              <a:rPr lang="en-IL" sz="2800" b="1" dirty="0"/>
              <a:t>Direct Neighbours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directly connected to the focal account. </a:t>
            </a:r>
          </a:p>
          <a:p>
            <a:pPr lvl="1"/>
            <a:r>
              <a:rPr lang="en-IL" sz="2800" b="1" dirty="0"/>
              <a:t>Louvain Community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assigned to the same graph community. </a:t>
            </a:r>
          </a:p>
          <a:p>
            <a:pPr lvl="1"/>
            <a:r>
              <a:rPr lang="en-IL" sz="2800" b="1" dirty="0"/>
              <a:t>Top Topic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sharing the same dominant topic. </a:t>
            </a:r>
          </a:p>
          <a:p>
            <a:pPr lvl="1"/>
            <a:r>
              <a:rPr lang="en-IL" sz="2800" b="1" dirty="0"/>
              <a:t>RF-Predicted IO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classified as IO by Random Forest. </a:t>
            </a:r>
          </a:p>
          <a:p>
            <a:pPr lvl="1"/>
            <a:r>
              <a:rPr lang="en-IL" sz="2800" b="1" dirty="0" err="1"/>
              <a:t>XGBoost</a:t>
            </a:r>
            <a:r>
              <a:rPr lang="en-IL" sz="2800" b="1" dirty="0"/>
              <a:t>-Predicted IO</a:t>
            </a:r>
            <a:r>
              <a:rPr lang="en-IL" sz="2800" dirty="0"/>
              <a:t> </a:t>
            </a:r>
            <a:r>
              <a:rPr lang="en-US" sz="2800" dirty="0"/>
              <a:t>-</a:t>
            </a:r>
            <a:r>
              <a:rPr lang="en-IL" sz="2800" dirty="0"/>
              <a:t> accounts classified as IO by </a:t>
            </a:r>
            <a:r>
              <a:rPr lang="en-IL" sz="2800" dirty="0" err="1"/>
              <a:t>XGBoost</a:t>
            </a:r>
            <a:r>
              <a:rPr lang="en-IL" sz="2800" dirty="0"/>
              <a:t>. </a:t>
            </a:r>
          </a:p>
          <a:p>
            <a:r>
              <a:rPr lang="en-IL" sz="3200" dirty="0"/>
              <a:t>We evaluated each group based on </a:t>
            </a:r>
            <a:r>
              <a:rPr lang="en-IL" sz="3200" b="1" dirty="0"/>
              <a:t>IO concentration</a:t>
            </a:r>
            <a:r>
              <a:rPr lang="en-IL" sz="3200" dirty="0"/>
              <a:t> (the proportion of authors </a:t>
            </a:r>
            <a:r>
              <a:rPr lang="en-IL" sz="3200" dirty="0" err="1"/>
              <a:t>labeled</a:t>
            </a:r>
            <a:r>
              <a:rPr lang="en-IL" sz="3200" dirty="0"/>
              <a:t> as IO) and </a:t>
            </a:r>
            <a:r>
              <a:rPr lang="en-IL" sz="3200" b="1" dirty="0"/>
              <a:t>topic alignment</a:t>
            </a:r>
            <a:r>
              <a:rPr lang="en-IL" sz="3200" dirty="0"/>
              <a:t> among the authors.</a:t>
            </a:r>
            <a:endParaRPr lang="en-US" sz="3200" dirty="0"/>
          </a:p>
          <a:p>
            <a:r>
              <a:rPr lang="en-US" sz="3200" dirty="0"/>
              <a:t>K</a:t>
            </a:r>
            <a:r>
              <a:rPr lang="en-IL" sz="3200" dirty="0"/>
              <a:t>-Core </a:t>
            </a:r>
            <a:r>
              <a:rPr lang="en-US" sz="3200" dirty="0"/>
              <a:t>CC</a:t>
            </a:r>
            <a:r>
              <a:rPr lang="en-IL" sz="3200" dirty="0"/>
              <a:t> were selected because they showed strong performance and a good </a:t>
            </a:r>
            <a:r>
              <a:rPr lang="en-US" sz="3200" dirty="0"/>
              <a:t>trade-off</a:t>
            </a:r>
            <a:r>
              <a:rPr lang="en-IL" sz="3200" dirty="0"/>
              <a:t> between IO concentration and topic alignment.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AE485-9A48-4F07-B3C1-3D692449F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45440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K-Core</a:t>
            </a:r>
            <a:r>
              <a:rPr lang="en-GB" dirty="0"/>
              <a:t> </a:t>
            </a:r>
            <a:r>
              <a:rPr lang="en-IL" dirty="0"/>
              <a:t>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b="1" dirty="0"/>
              </a:p>
              <a:p>
                <a:r>
                  <a:rPr lang="en-IL" sz="3600" b="1" dirty="0"/>
                  <a:t>K-Core</a:t>
                </a:r>
                <a:r>
                  <a:rPr lang="en-IL" sz="3600" dirty="0"/>
                  <a:t> </a:t>
                </a:r>
                <a:r>
                  <a:rPr lang="en-US" sz="3600" dirty="0"/>
                  <a:t>-</a:t>
                </a:r>
                <a:r>
                  <a:rPr lang="en-IL" sz="3600" dirty="0"/>
                  <a:t> a subgraph in which every </a:t>
                </a:r>
                <a:r>
                  <a:rPr lang="en-US" sz="3600" dirty="0"/>
                  <a:t>node has at least k neighbors</a:t>
                </a:r>
                <a:r>
                  <a:rPr lang="en-IL" sz="3600" dirty="0"/>
                  <a:t> within that subgraph.</a:t>
                </a:r>
                <a:endParaRPr lang="en-US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</a:t>
                </a:r>
                <a:r>
                  <a:rPr lang="en-IL" sz="3600" dirty="0"/>
                  <a:t>K-Core</a:t>
                </a:r>
                <a:r>
                  <a:rPr lang="en-US" sz="3600" dirty="0"/>
                  <a:t>.</a:t>
                </a:r>
                <a:endParaRPr lang="en-GB" sz="3600" dirty="0"/>
              </a:p>
              <a:p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382" t="-3448" r="-634" b="-434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Core Number</a:t>
            </a:r>
            <a:r>
              <a:rPr lang="en-GB" dirty="0"/>
              <a:t>:</a:t>
            </a:r>
            <a:r>
              <a:rPr lang="en-IL" dirty="0"/>
              <a:t>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3416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1CE1C-C84E-C83F-4718-819CFC8B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6EB9B-BE1C-70F7-2356-0A5004880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Maximal K-Core</a:t>
            </a:r>
            <a:r>
              <a:rPr lang="en-IL" dirty="0"/>
              <a:t> Motivation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FAE095A-A6CC-3AE0-573F-0B18CE379A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4142786"/>
              </p:ext>
            </p:extLst>
          </p:nvPr>
        </p:nvGraphicFramePr>
        <p:xfrm>
          <a:off x="1243087" y="1543455"/>
          <a:ext cx="10582656" cy="46538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52ADA-4957-7A03-0405-5150E47F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30" name="Callout">
            <a:extLst>
              <a:ext uri="{FF2B5EF4-FFF2-40B4-BE49-F238E27FC236}">
                <a16:creationId xmlns:a16="http://schemas.microsoft.com/office/drawing/2014/main" id="{17EC245C-9322-9076-690D-B09964DD700C}"/>
              </a:ext>
            </a:extLst>
          </p:cNvPr>
          <p:cNvSpPr/>
          <p:nvPr/>
        </p:nvSpPr>
        <p:spPr>
          <a:xfrm>
            <a:off x="1554480" y="6327648"/>
            <a:ext cx="7589520" cy="475488"/>
          </a:xfrm>
          <a:prstGeom prst="rect">
            <a:avLst/>
          </a:prstGeom>
          <a:noFill/>
        </p:spPr>
        <p:txBody>
          <a:bodyPr lIns="0" tIns="0"/>
          <a:lstStyle/>
          <a:p>
            <a:r>
              <a:rPr lang="en-IL" sz="1300" b="1" dirty="0"/>
              <a:t>Similarity with one or two accounts is not enough. </a:t>
            </a:r>
            <a:endParaRPr lang="en-US" sz="1300" b="1" dirty="0"/>
          </a:p>
          <a:p>
            <a:r>
              <a:rPr lang="en-IL" sz="1300" dirty="0"/>
              <a:t>Only many accounts coordinating with one another produce a </a:t>
            </a:r>
            <a:r>
              <a:rPr lang="en-US" sz="1300" dirty="0"/>
              <a:t>large k core</a:t>
            </a:r>
            <a:r>
              <a:rPr lang="en-IL" sz="13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149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039E-B86D-D32C-4EF0-FA604B11E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D6560F-A6DA-C278-D8DD-8FC517515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Experiments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975D23-C7EF-CD33-D494-5CC3F036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402CA-E680-684E-0F51-51C82A1E2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1430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B8A1B-6E6A-156B-7385-FEFC10B73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950C-37EA-B68F-70CC-0EE487FB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6BA14-975F-64EA-B301-9184DCBAD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sz="3600" b="1" dirty="0"/>
              <a:t>Labeled IO Dataset</a:t>
            </a:r>
          </a:p>
          <a:p>
            <a:pPr lvl="0"/>
            <a:r>
              <a:rPr lang="en-IL" sz="3600" dirty="0"/>
              <a:t>26 verified IO campaigns linked to 16 stat</a:t>
            </a:r>
            <a:r>
              <a:rPr lang="en-US" sz="3600" dirty="0"/>
              <a:t>s</a:t>
            </a:r>
            <a:r>
              <a:rPr lang="en-IL" sz="3600" dirty="0"/>
              <a:t>. </a:t>
            </a:r>
          </a:p>
          <a:p>
            <a:pPr lvl="0"/>
            <a:r>
              <a:rPr lang="en-IL" sz="3600" dirty="0"/>
              <a:t>Contains IO accounts and matched control accounts discussing similar topics during the same periods. </a:t>
            </a:r>
          </a:p>
          <a:p>
            <a:pPr lvl="0"/>
            <a:r>
              <a:rPr lang="en-IL" sz="3600" dirty="0"/>
              <a:t>Includes 303K+ accounts and 13M+ control posts. </a:t>
            </a:r>
          </a:p>
          <a:p>
            <a:pPr lvl="0"/>
            <a:r>
              <a:rPr lang="en-IL" sz="3600" dirty="0"/>
              <a:t>Rich activity data: posts, reposts, hashtags</a:t>
            </a:r>
            <a:r>
              <a:rPr lang="en-US" sz="3600" dirty="0"/>
              <a:t>, and more.</a:t>
            </a:r>
          </a:p>
          <a:p>
            <a:pPr lvl="0"/>
            <a:r>
              <a:rPr lang="en-US" sz="3600" dirty="0"/>
              <a:t>Each account is labeled</a:t>
            </a:r>
            <a:r>
              <a:rPr lang="en-IL" sz="3600" dirty="0"/>
              <a:t> IO </a:t>
            </a:r>
            <a:r>
              <a:rPr lang="en-US" sz="3600" dirty="0"/>
              <a:t>or non-IO.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E59F8-C083-3E1E-E9C9-1F0811DCF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667918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FF864-D059-1831-22C5-4C164498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EAC59-80A0-E6A7-57CB-C44882DA8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4200" b="0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lang="en-IL" dirty="0">
                <a:latin typeface="Calibri Light (Headings)"/>
              </a:rPr>
              <a:t>Evaluation Settings</a:t>
            </a:r>
            <a:endParaRPr lang="en-GB" dirty="0">
              <a:latin typeface="Calibri Light (Headings)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A27E2-5AA3-7AD7-18CB-2C34475D9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b="1" dirty="0"/>
              <a:t>Within-Campaign </a:t>
            </a:r>
            <a:r>
              <a:rPr lang="en-US" sz="3600" b="1" dirty="0"/>
              <a:t>(</a:t>
            </a:r>
            <a:r>
              <a:rPr lang="en-IL" sz="3600" b="1" dirty="0" err="1"/>
              <a:t>Transductive</a:t>
            </a:r>
            <a:r>
              <a:rPr lang="en-US" sz="3600" b="1" dirty="0"/>
              <a:t>)</a:t>
            </a:r>
            <a:endParaRPr lang="en-IL" sz="3600" dirty="0"/>
          </a:p>
          <a:p>
            <a:pPr lvl="1"/>
            <a:r>
              <a:rPr lang="en-IL" sz="3200" dirty="0"/>
              <a:t>Train and test on accounts from the same campaign. </a:t>
            </a:r>
          </a:p>
          <a:p>
            <a:r>
              <a:rPr lang="en-IL" sz="3600" b="1" dirty="0"/>
              <a:t>Cross-Campaign </a:t>
            </a:r>
            <a:r>
              <a:rPr lang="en-US" sz="3600" b="1" dirty="0"/>
              <a:t>(</a:t>
            </a:r>
            <a:r>
              <a:rPr lang="en-IL" sz="3600" b="1" dirty="0"/>
              <a:t>Inductive</a:t>
            </a:r>
            <a:r>
              <a:rPr lang="en-US" sz="3600" b="1" dirty="0"/>
              <a:t>)</a:t>
            </a:r>
            <a:endParaRPr lang="en-IL" sz="3600" dirty="0"/>
          </a:p>
          <a:p>
            <a:pPr lvl="1"/>
            <a:r>
              <a:rPr lang="en-IL" sz="3200" dirty="0"/>
              <a:t>Train on other campaigns and test on an unseen campaign. </a:t>
            </a:r>
          </a:p>
          <a:p>
            <a:pPr lvl="1"/>
            <a:r>
              <a:rPr lang="en-IL" sz="3200" dirty="0"/>
              <a:t>Uses a leave-one-campaign-out setting. </a:t>
            </a:r>
          </a:p>
          <a:p>
            <a:pPr lvl="1"/>
            <a:r>
              <a:rPr lang="en-IL" sz="3200" dirty="0"/>
              <a:t>Evaluates whether structural patterns generalize to new IO campaigns.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4C47C-E286-3F0B-F185-E2E32E61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65012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87C98-022F-3CFA-B475-FE8E119F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1E7EB-EA44-1B2A-F83F-AE5ED6CED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00A0BD"/>
                </a:solidFill>
                <a:latin typeface="Calibri Light (Headings)"/>
                <a:ea typeface="Calibri"/>
                <a:cs typeface="Calibri"/>
              </a:rPr>
              <a:t>Evaluated Campaigns</a:t>
            </a:r>
            <a:endParaRPr lang="en-IL" dirty="0">
              <a:solidFill>
                <a:srgbClr val="00A0BD"/>
              </a:solidFill>
              <a:latin typeface="Calibri Light (Headings)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6AD6-2F5E-1530-EDFB-8A6E79B79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0C3D4-460A-A0EB-E16F-294FCD4E1D7F}"/>
              </a:ext>
            </a:extLst>
          </p:cNvPr>
          <p:cNvGraphicFramePr/>
          <p:nvPr/>
        </p:nvGraphicFramePr>
        <p:xfrm>
          <a:off x="1381125" y="1809750"/>
          <a:ext cx="10096500" cy="3810002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Campaign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Period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IO accounts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Controls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Posts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China-1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2008–2019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699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42,120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3,670,754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Cuba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 dirty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2010–2020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503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30,099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6,155,331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 dirty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Iran-1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2010–2018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660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5,015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1,322,789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Russia-1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2009–2018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3,293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31,299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3,650,083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UAE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2011–2019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3,658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10,545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1,707,792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42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Venezuela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2012–2019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611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9,745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950" b="0" dirty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1,972,732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Controls used the same hashtags on the same dates as IO acco">
            <a:extLst>
              <a:ext uri="{FF2B5EF4-FFF2-40B4-BE49-F238E27FC236}">
                <a16:creationId xmlns:a16="http://schemas.microsoft.com/office/drawing/2014/main" id="{96A88D5C-6AA2-E3A3-7847-898B42EF19A7}"/>
              </a:ext>
            </a:extLst>
          </p:cNvPr>
          <p:cNvSpPr>
            <a:spLocks noGrp="1"/>
          </p:cNvSpPr>
          <p:nvPr/>
        </p:nvSpPr>
        <p:spPr>
          <a:xfrm>
            <a:off x="1381125" y="5810250"/>
            <a:ext cx="10001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725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725" b="0" dirty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18.5 million posts across 138,247 accounts.</a:t>
            </a:r>
          </a:p>
          <a:p>
            <a:pPr>
              <a:buNone/>
              <a:defRPr sz="1725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725" b="0" dirty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Controls matched by hashtag and date.</a:t>
            </a:r>
          </a:p>
        </p:txBody>
      </p:sp>
    </p:spTree>
    <p:extLst>
      <p:ext uri="{BB962C8B-B14F-4D97-AF65-F5344CB8AC3E}">
        <p14:creationId xmlns:p14="http://schemas.microsoft.com/office/powerpoint/2010/main" val="1746502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73C6E-5D04-1502-D2A7-AC32F50B2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D69B-CA03-EE89-F943-1001359FE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200" b="0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lang="en-GB" sz="4000" dirty="0">
                <a:latin typeface="Calibri Light (Headings)"/>
              </a:rPr>
              <a:t>Which Indicators Matter?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ADB10-D72A-D2E9-5B5E-9246822B8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23</a:t>
            </a:fld>
            <a:endParaRPr lang="he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AFA6FE-3C68-6985-BD91-EEF3E9C2AB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02"/>
          <a:stretch>
            <a:fillRect/>
          </a:stretch>
        </p:blipFill>
        <p:spPr>
          <a:xfrm>
            <a:off x="2024099" y="1414654"/>
            <a:ext cx="8810552" cy="48242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959349-8F70-A874-F2C0-9EB013B156DC}"/>
              </a:ext>
            </a:extLst>
          </p:cNvPr>
          <p:cNvSpPr txBox="1"/>
          <p:nvPr/>
        </p:nvSpPr>
        <p:spPr>
          <a:xfrm>
            <a:off x="1381124" y="6444734"/>
            <a:ext cx="789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 err="1"/>
              <a:t>XGBoost</a:t>
            </a:r>
            <a:r>
              <a:rPr lang="en-IL" dirty="0"/>
              <a:t>: indicator importance varies across campaigns (</a:t>
            </a:r>
            <a:r>
              <a:rPr lang="en-US" dirty="0" err="1"/>
              <a:t>transductive</a:t>
            </a:r>
            <a:r>
              <a:rPr lang="en-IL" dirty="0"/>
              <a:t> setting).</a:t>
            </a:r>
          </a:p>
        </p:txBody>
      </p:sp>
    </p:spTree>
    <p:extLst>
      <p:ext uri="{BB962C8B-B14F-4D97-AF65-F5344CB8AC3E}">
        <p14:creationId xmlns:p14="http://schemas.microsoft.com/office/powerpoint/2010/main" val="3065009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etection Across Campaigns">
            <a:extLst>
              <a:ext uri="{FF2B5EF4-FFF2-40B4-BE49-F238E27FC236}">
                <a16:creationId xmlns:a16="http://schemas.microsoft.com/office/drawing/2014/main" id="{24255433-1B27-43F5-BFE0-1EF14859CCBC}"/>
              </a:ext>
            </a:extLst>
          </p:cNvPr>
          <p:cNvSpPr>
            <a:spLocks noGrp="1"/>
          </p:cNvSpPr>
          <p:nvPr/>
        </p:nvSpPr>
        <p:spPr>
          <a:xfrm>
            <a:off x="3143250" y="619125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4200" b="0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44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Detection Across Campaigns</a:t>
            </a:r>
          </a:p>
        </p:txBody>
      </p:sp>
      <p:sp>
        <p:nvSpPr>
          <p:cNvPr id="4" name="0.990">
            <a:extLst>
              <a:ext uri="{FF2B5EF4-FFF2-40B4-BE49-F238E27FC236}">
                <a16:creationId xmlns:a16="http://schemas.microsoft.com/office/drawing/2014/main" id="{C8ACFCBD-22DC-47B9-8F29-267B3A1BAB30}"/>
              </a:ext>
            </a:extLst>
          </p:cNvPr>
          <p:cNvSpPr>
            <a:spLocks noGrp="1"/>
          </p:cNvSpPr>
          <p:nvPr/>
        </p:nvSpPr>
        <p:spPr>
          <a:xfrm>
            <a:off x="1381125" y="1619250"/>
            <a:ext cx="4381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4125" b="1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4125" b="1">
                <a:solidFill>
                  <a:srgbClr val="00A0BD"/>
                </a:solidFill>
                <a:latin typeface="Calibri"/>
                <a:ea typeface="Calibri"/>
                <a:cs typeface="Calibri"/>
              </a:rPr>
              <a:t>0.990</a:t>
            </a:r>
          </a:p>
        </p:txBody>
      </p:sp>
      <p:sp>
        <p:nvSpPr>
          <p:cNvPr id="5" name="Mean within-campaign ROC-AUC">
            <a:extLst>
              <a:ext uri="{FF2B5EF4-FFF2-40B4-BE49-F238E27FC236}">
                <a16:creationId xmlns:a16="http://schemas.microsoft.com/office/drawing/2014/main" id="{88BECC5A-9F85-4FFE-922E-06F633C87224}"/>
              </a:ext>
            </a:extLst>
          </p:cNvPr>
          <p:cNvSpPr>
            <a:spLocks noGrp="1"/>
          </p:cNvSpPr>
          <p:nvPr/>
        </p:nvSpPr>
        <p:spPr>
          <a:xfrm>
            <a:off x="1381125" y="2333625"/>
            <a:ext cx="4762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17171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1717"/>
                </a:solidFill>
                <a:latin typeface="Calibri"/>
                <a:ea typeface="Calibri"/>
                <a:cs typeface="Calibri"/>
              </a:rPr>
              <a:t>Mean within-campaign ROC-AUC</a:t>
            </a:r>
          </a:p>
        </p:txBody>
      </p:sp>
      <p:sp>
        <p:nvSpPr>
          <p:cNvPr id="6" name="0.933">
            <a:extLst>
              <a:ext uri="{FF2B5EF4-FFF2-40B4-BE49-F238E27FC236}">
                <a16:creationId xmlns:a16="http://schemas.microsoft.com/office/drawing/2014/main" id="{A0A82FC7-115B-49E0-8CD3-BB199934A574}"/>
              </a:ext>
            </a:extLst>
          </p:cNvPr>
          <p:cNvSpPr>
            <a:spLocks noGrp="1"/>
          </p:cNvSpPr>
          <p:nvPr/>
        </p:nvSpPr>
        <p:spPr>
          <a:xfrm>
            <a:off x="6905625" y="1619250"/>
            <a:ext cx="4381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4125" b="1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4125" b="1">
                <a:solidFill>
                  <a:srgbClr val="00A0BD"/>
                </a:solidFill>
                <a:latin typeface="Calibri"/>
                <a:ea typeface="Calibri"/>
                <a:cs typeface="Calibri"/>
              </a:rPr>
              <a:t>0.933</a:t>
            </a:r>
          </a:p>
        </p:txBody>
      </p:sp>
      <p:sp>
        <p:nvSpPr>
          <p:cNvPr id="7" name="Mean cross-campaign ROC-AUC">
            <a:extLst>
              <a:ext uri="{FF2B5EF4-FFF2-40B4-BE49-F238E27FC236}">
                <a16:creationId xmlns:a16="http://schemas.microsoft.com/office/drawing/2014/main" id="{C049B299-0352-4821-9936-1E12D421E351}"/>
              </a:ext>
            </a:extLst>
          </p:cNvPr>
          <p:cNvSpPr>
            <a:spLocks noGrp="1"/>
          </p:cNvSpPr>
          <p:nvPr/>
        </p:nvSpPr>
        <p:spPr>
          <a:xfrm>
            <a:off x="6905625" y="2333625"/>
            <a:ext cx="4762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875" b="0">
                <a:solidFill>
                  <a:srgbClr val="17171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1717"/>
                </a:solidFill>
                <a:latin typeface="Calibri"/>
                <a:ea typeface="Calibri"/>
                <a:cs typeface="Calibri"/>
              </a:rPr>
              <a:t>Mean cross-campaign ROC-AUC</a:t>
            </a:r>
          </a:p>
        </p:txBody>
      </p:sp>
      <p:graphicFrame>
        <p:nvGraphicFramePr>
          <p:cNvPr id="22" name="Table 21"/>
          <p:cNvGraphicFramePr/>
          <p:nvPr/>
        </p:nvGraphicFramePr>
        <p:xfrm>
          <a:off x="1381125" y="2743200"/>
          <a:ext cx="10096500" cy="28670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Campaign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Within ROC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Within PR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Across ROC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Across PR</a:t>
                      </a:r>
                    </a:p>
                  </a:txBody>
                  <a:tcPr marL="114300" marR="114300" marT="38100" marB="38100" anchor="ctr">
                    <a:solidFill>
                      <a:srgbClr val="00A0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Iran-1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0.991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0.983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0.989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UAE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0.995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0.992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0.976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0.943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Venezuela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0.984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0.964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0.649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China-1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0.986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0.940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0.822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0.072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Cuba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0.985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0.966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0.992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0.920</a:t>
                      </a:r>
                    </a:p>
                  </a:txBody>
                  <a:tcPr marL="114300" marR="1143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Russia-1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0.999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0.994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0.929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71717"/>
                          </a:solidFill>
                          <a:latin typeface="Calibri"/>
                          <a:ea typeface="Calibri"/>
                          <a:cs typeface="Calibri"/>
                        </a:rPr>
                        <a:t>0.794</a:t>
                      </a:r>
                    </a:p>
                  </a:txBody>
                  <a:tcPr marL="114300" marR="114300" marT="38100" marB="38100" anchor="ctr">
                    <a:solidFill>
                      <a:srgbClr val="EE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andom Forest AUC. Across: train on five campaigns, test on ">
            <a:extLst>
              <a:ext uri="{FF2B5EF4-FFF2-40B4-BE49-F238E27FC236}">
                <a16:creationId xmlns:a16="http://schemas.microsoft.com/office/drawing/2014/main" id="{4F48DA0C-68B0-4A52-ABD8-30ECFF0C7A7D}"/>
              </a:ext>
            </a:extLst>
          </p:cNvPr>
          <p:cNvSpPr>
            <a:spLocks noGrp="1"/>
          </p:cNvSpPr>
          <p:nvPr/>
        </p:nvSpPr>
        <p:spPr>
          <a:xfrm>
            <a:off x="1381125" y="5734050"/>
            <a:ext cx="10191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650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Random Forest AUC. Across: train on five campaigns, test on one.</a:t>
            </a:r>
          </a:p>
        </p:txBody>
      </p:sp>
      <p:sp>
        <p:nvSpPr>
          <p:cNvPr id="10" name="Mean PR-AUC: 0.973 within campaign / 0.723 across campaigns.">
            <a:extLst>
              <a:ext uri="{FF2B5EF4-FFF2-40B4-BE49-F238E27FC236}">
                <a16:creationId xmlns:a16="http://schemas.microsoft.com/office/drawing/2014/main" id="{63DD2D39-7880-4700-9459-3EDD8CDAC1CE}"/>
              </a:ext>
            </a:extLst>
          </p:cNvPr>
          <p:cNvSpPr>
            <a:spLocks noGrp="1"/>
          </p:cNvSpPr>
          <p:nvPr/>
        </p:nvSpPr>
        <p:spPr>
          <a:xfrm>
            <a:off x="1381125" y="6048375"/>
            <a:ext cx="7524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650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Mean PR-AUC: 0.973 within campaign / 0.723 across campaigns.</a:t>
            </a:r>
          </a:p>
        </p:txBody>
      </p:sp>
      <p:sp>
        <p:nvSpPr>
          <p:cNvPr id="11" name="Macro-F1: ICSU 0.804 vs. IOHunter 0.793 (different training ">
            <a:extLst>
              <a:ext uri="{FF2B5EF4-FFF2-40B4-BE49-F238E27FC236}">
                <a16:creationId xmlns:a16="http://schemas.microsoft.com/office/drawing/2014/main" id="{B1C830EF-C968-428C-9804-3C5F7C4CEB1D}"/>
              </a:ext>
            </a:extLst>
          </p:cNvPr>
          <p:cNvSpPr>
            <a:spLocks noGrp="1"/>
          </p:cNvSpPr>
          <p:nvPr/>
        </p:nvSpPr>
        <p:spPr>
          <a:xfrm>
            <a:off x="1381125" y="6410325"/>
            <a:ext cx="75247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500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Macro-F1: ICSU 0.804 vs. IOHunter 0.793 (different training coverage).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CB8918E9-041D-B80C-2A81-5E64D9D9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464081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ppendix: Group Analysis">
            <a:extLst>
              <a:ext uri="{FF2B5EF4-FFF2-40B4-BE49-F238E27FC236}">
                <a16:creationId xmlns:a16="http://schemas.microsoft.com/office/drawing/2014/main" id="{1DD6CE70-C1FF-44D9-BC91-6B57F19508A8}"/>
              </a:ext>
            </a:extLst>
          </p:cNvPr>
          <p:cNvSpPr>
            <a:spLocks noGrp="1"/>
          </p:cNvSpPr>
          <p:nvPr/>
        </p:nvSpPr>
        <p:spPr>
          <a:xfrm>
            <a:off x="3143250" y="619125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4200" b="0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44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Group Analysis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78738" y="1860636"/>
            <a:ext cx="10860862" cy="3454314"/>
          </a:xfrm>
          <a:prstGeom prst="rect">
            <a:avLst/>
          </a:prstGeom>
        </p:spPr>
      </p:pic>
      <p:sp>
        <p:nvSpPr>
          <p:cNvPr id="5" name="K-core groups balance IO concentration and topic alignment. ">
            <a:extLst>
              <a:ext uri="{FF2B5EF4-FFF2-40B4-BE49-F238E27FC236}">
                <a16:creationId xmlns:a16="http://schemas.microsoft.com/office/drawing/2014/main" id="{4077DB98-F078-43B7-9863-A247B4F38688}"/>
              </a:ext>
            </a:extLst>
          </p:cNvPr>
          <p:cNvSpPr>
            <a:spLocks noGrp="1"/>
          </p:cNvSpPr>
          <p:nvPr/>
        </p:nvSpPr>
        <p:spPr>
          <a:xfrm>
            <a:off x="1381125" y="5562600"/>
            <a:ext cx="10096500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2325" b="0">
                <a:solidFill>
                  <a:srgbClr val="171717"/>
                </a:solidFill>
                <a:latin typeface="Calibri"/>
                <a:ea typeface="Calibri"/>
                <a:cs typeface="Calibri"/>
              </a:defRPr>
            </a:pPr>
            <a:r>
              <a:rPr sz="2325" b="0" dirty="0">
                <a:solidFill>
                  <a:srgbClr val="171717"/>
                </a:solidFill>
                <a:latin typeface="Calibri"/>
                <a:ea typeface="Calibri"/>
                <a:cs typeface="Calibri"/>
              </a:rPr>
              <a:t>K-core groups balance IO concentration and topic alignment.</a:t>
            </a:r>
            <a:endParaRPr lang="en-US" sz="2325" b="0" dirty="0">
              <a:solidFill>
                <a:srgbClr val="171717"/>
              </a:solidFill>
              <a:latin typeface="Calibri"/>
              <a:ea typeface="Calibri"/>
              <a:cs typeface="Calibri"/>
            </a:endParaRPr>
          </a:p>
          <a:p>
            <a:pPr>
              <a:buNone/>
              <a:defRPr sz="2325" b="0">
                <a:solidFill>
                  <a:srgbClr val="171717"/>
                </a:solidFill>
                <a:latin typeface="Calibri"/>
                <a:ea typeface="Calibri"/>
                <a:cs typeface="Calibri"/>
              </a:defRPr>
            </a:pPr>
            <a:r>
              <a:rPr sz="2325" b="0" dirty="0">
                <a:solidFill>
                  <a:srgbClr val="171717"/>
                </a:solidFill>
                <a:latin typeface="Calibri"/>
                <a:ea typeface="Calibri"/>
                <a:cs typeface="Calibri"/>
              </a:rPr>
              <a:t>Direct neighbors also perform well.</a:t>
            </a:r>
          </a:p>
        </p:txBody>
      </p:sp>
      <p:sp>
        <p:nvSpPr>
          <p:cNvPr id="6" name="Top: XGBoost-predicted IO accounts. Bottom: all accounts.">
            <a:extLst>
              <a:ext uri="{FF2B5EF4-FFF2-40B4-BE49-F238E27FC236}">
                <a16:creationId xmlns:a16="http://schemas.microsoft.com/office/drawing/2014/main" id="{DDFEED6A-F454-4027-AC9A-ED175958BB5D}"/>
              </a:ext>
            </a:extLst>
          </p:cNvPr>
          <p:cNvSpPr>
            <a:spLocks noGrp="1"/>
          </p:cNvSpPr>
          <p:nvPr/>
        </p:nvSpPr>
        <p:spPr>
          <a:xfrm>
            <a:off x="1381125" y="6419850"/>
            <a:ext cx="10001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1725" b="0">
                <a:solidFill>
                  <a:srgbClr val="606060"/>
                </a:solidFill>
                <a:latin typeface="Calibri"/>
                <a:ea typeface="Calibri"/>
                <a:cs typeface="Calibri"/>
              </a:defRPr>
            </a:pPr>
            <a:r>
              <a:rPr sz="1725" b="0" dirty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Top: </a:t>
            </a:r>
            <a:r>
              <a:rPr sz="1725" b="0" dirty="0" err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XGBoost</a:t>
            </a:r>
            <a:r>
              <a:rPr sz="1725" b="0" dirty="0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-predicted IO accounts. Bottom: all accounts.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9D15F5CE-A275-71AC-34C5-914683A2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he Iran-1 Network">
            <a:extLst>
              <a:ext uri="{FF2B5EF4-FFF2-40B4-BE49-F238E27FC236}">
                <a16:creationId xmlns:a16="http://schemas.microsoft.com/office/drawing/2014/main" id="{1618F927-0986-4937-837D-F0EEC3D75D2F}"/>
              </a:ext>
            </a:extLst>
          </p:cNvPr>
          <p:cNvSpPr>
            <a:spLocks noGrp="1"/>
          </p:cNvSpPr>
          <p:nvPr/>
        </p:nvSpPr>
        <p:spPr>
          <a:xfrm>
            <a:off x="3143250" y="619125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4200" b="0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44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The Iran-1 Network</a:t>
            </a:r>
          </a:p>
        </p:txBody>
      </p:sp>
      <p:sp>
        <p:nvSpPr>
          <p:cNvPr id="4" name="Core number">
            <a:extLst>
              <a:ext uri="{FF2B5EF4-FFF2-40B4-BE49-F238E27FC236}">
                <a16:creationId xmlns:a16="http://schemas.microsoft.com/office/drawing/2014/main" id="{3D4131FF-8FC4-4E34-BFC9-6E948CFE424F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4876802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buNone/>
              <a:defRPr sz="2325" b="1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2325" b="1" dirty="0">
                <a:solidFill>
                  <a:srgbClr val="00A0BD"/>
                </a:solidFill>
                <a:latin typeface="Calibri"/>
                <a:ea typeface="Calibri"/>
                <a:cs typeface="Calibri"/>
              </a:rPr>
              <a:t>Core number</a:t>
            </a:r>
          </a:p>
        </p:txBody>
      </p:sp>
      <p:sp>
        <p:nvSpPr>
          <p:cNvPr id="5" name="Known IO labels">
            <a:extLst>
              <a:ext uri="{FF2B5EF4-FFF2-40B4-BE49-F238E27FC236}">
                <a16:creationId xmlns:a16="http://schemas.microsoft.com/office/drawing/2014/main" id="{7D03C70D-99F7-4AE5-8164-C7A39B6900F6}"/>
              </a:ext>
            </a:extLst>
          </p:cNvPr>
          <p:cNvSpPr>
            <a:spLocks noGrp="1"/>
          </p:cNvSpPr>
          <p:nvPr/>
        </p:nvSpPr>
        <p:spPr>
          <a:xfrm>
            <a:off x="6191250" y="1762125"/>
            <a:ext cx="52863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buNone/>
              <a:defRPr sz="2325" b="1">
                <a:solidFill>
                  <a:srgbClr val="00A0BD"/>
                </a:solidFill>
                <a:latin typeface="Calibri"/>
                <a:ea typeface="Calibri"/>
                <a:cs typeface="Calibri"/>
              </a:defRPr>
            </a:pPr>
            <a:r>
              <a:rPr sz="2325" dirty="0">
                <a:solidFill>
                  <a:srgbClr val="00A0BD"/>
                </a:solidFill>
                <a:latin typeface="Calibri"/>
                <a:ea typeface="Calibri"/>
                <a:cs typeface="Calibri"/>
              </a:rPr>
              <a:t>Known IO labels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23558" y="2276475"/>
            <a:ext cx="9681502" cy="3800475"/>
          </a:xfrm>
          <a:prstGeom prst="rect">
            <a:avLst/>
          </a:prstGeom>
        </p:spPr>
      </p:pic>
      <p:sp>
        <p:nvSpPr>
          <p:cNvPr id="7" name="High-core regions overlap with concentrations of IO accounts">
            <a:extLst>
              <a:ext uri="{FF2B5EF4-FFF2-40B4-BE49-F238E27FC236}">
                <a16:creationId xmlns:a16="http://schemas.microsoft.com/office/drawing/2014/main" id="{A36B19FB-4798-48CF-9CC7-1A29A3E4D1AC}"/>
              </a:ext>
            </a:extLst>
          </p:cNvPr>
          <p:cNvSpPr>
            <a:spLocks noGrp="1"/>
          </p:cNvSpPr>
          <p:nvPr/>
        </p:nvSpPr>
        <p:spPr>
          <a:xfrm>
            <a:off x="1381125" y="6319837"/>
            <a:ext cx="10096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buNone/>
              <a:defRPr sz="2175" b="0">
                <a:solidFill>
                  <a:srgbClr val="171717"/>
                </a:solidFill>
                <a:latin typeface="Calibri"/>
                <a:ea typeface="Calibri"/>
                <a:cs typeface="Calibri"/>
              </a:defRPr>
            </a:pPr>
            <a:r>
              <a:rPr sz="2175" b="0" dirty="0">
                <a:solidFill>
                  <a:srgbClr val="171717"/>
                </a:solidFill>
                <a:latin typeface="Calibri"/>
                <a:ea typeface="Calibri"/>
                <a:cs typeface="Calibri"/>
              </a:rPr>
              <a:t>High-core regions overlap with concentrations of IO accounts.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68C35B99-0216-931F-036F-FF52249EB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245260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071E3-2BCE-5587-145E-16C70E8A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3082B-5669-8FAE-27AB-9055326CF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9108669" cy="1325563"/>
          </a:xfrm>
        </p:spPr>
        <p:txBody>
          <a:bodyPr/>
          <a:lstStyle/>
          <a:p>
            <a:r>
              <a:rPr lang="en-GB" dirty="0"/>
              <a:t>Group Analysis </a:t>
            </a:r>
            <a:r>
              <a:rPr lang="en-US" dirty="0"/>
              <a:t>Case Study – Iran 1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26034-F9A8-5B75-12A8-2F1CD244B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L" sz="3600" b="1" dirty="0"/>
              <a:t>How Was the Group Selected?</a:t>
            </a:r>
          </a:p>
          <a:p>
            <a:pPr marL="742950" lvl="0" indent="-742950">
              <a:buAutoNum type="arabicPeriod"/>
            </a:pPr>
            <a:r>
              <a:rPr lang="en-IL" sz="3600" dirty="0"/>
              <a:t>Build the Iran-1 co-action graph</a:t>
            </a:r>
            <a:endParaRPr lang="en-US" sz="3600" dirty="0"/>
          </a:p>
          <a:p>
            <a:pPr marL="742950" lvl="0" indent="-742950">
              <a:buAutoNum type="arabicPeriod"/>
            </a:pPr>
            <a:r>
              <a:rPr lang="en-IL" sz="3600" dirty="0"/>
              <a:t>Find the maximum k-core</a:t>
            </a:r>
            <a:endParaRPr lang="en-US" sz="3600" dirty="0"/>
          </a:p>
          <a:p>
            <a:pPr marL="742950" lvl="0" indent="-742950">
              <a:buAutoNum type="arabicPeriod"/>
            </a:pPr>
            <a:r>
              <a:rPr lang="en-IL" sz="3600" dirty="0"/>
              <a:t>Select a connected component </a:t>
            </a:r>
            <a:r>
              <a:rPr lang="en-US" sz="3600" dirty="0"/>
              <a:t>from the k core</a:t>
            </a:r>
          </a:p>
          <a:p>
            <a:pPr marL="742950" lvl="0" indent="-742950">
              <a:buAutoNum type="arabicPeriod"/>
            </a:pPr>
            <a:r>
              <a:rPr lang="en-IL" sz="3600" dirty="0"/>
              <a:t>Find the peak coordination window: rank 15-minute intervals by the number of account pairs sharing hashtags.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85122-0760-36F3-3FF5-C6ACC2277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733764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72547-CD44-8D0A-9C89-059A4808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DF9DA-C124-E516-1B89-C50581D3C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9108669" cy="1325563"/>
          </a:xfrm>
        </p:spPr>
        <p:txBody>
          <a:bodyPr/>
          <a:lstStyle/>
          <a:p>
            <a:r>
              <a:rPr lang="en-GB" dirty="0"/>
              <a:t>Group Analysis </a:t>
            </a:r>
            <a:r>
              <a:rPr lang="en-US" dirty="0"/>
              <a:t>Case Study – Iran 1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44E42-368E-7739-6CC9-78FCA5FB3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730375"/>
            <a:ext cx="10582656" cy="4769728"/>
          </a:xfrm>
        </p:spPr>
        <p:txBody>
          <a:bodyPr>
            <a:normAutofit fontScale="92500" lnSpcReduction="10000"/>
          </a:bodyPr>
          <a:lstStyle/>
          <a:p>
            <a:r>
              <a:rPr lang="en-IL" sz="3900" dirty="0"/>
              <a:t>In the selected group and during the selected 15-minute interval:</a:t>
            </a:r>
            <a:endParaRPr lang="en-US" sz="3900" dirty="0"/>
          </a:p>
          <a:p>
            <a:pPr lvl="1"/>
            <a:r>
              <a:rPr lang="en-IL" sz="3500" dirty="0"/>
              <a:t>15 accounts produced 244 posts. </a:t>
            </a:r>
          </a:p>
          <a:p>
            <a:pPr lvl="1"/>
            <a:r>
              <a:rPr lang="en-IL" sz="3500" dirty="0"/>
              <a:t>242 of 244 posts were reposts. </a:t>
            </a:r>
          </a:p>
          <a:p>
            <a:pPr lvl="1"/>
            <a:r>
              <a:rPr lang="en-IL" sz="3500" dirty="0"/>
              <a:t>The activity included 30 shared hashtags. </a:t>
            </a:r>
          </a:p>
          <a:p>
            <a:pPr lvl="1"/>
            <a:r>
              <a:rPr lang="en-IL" sz="3500" dirty="0"/>
              <a:t>16 of 19 reposted source posts focused on U.S. politics. </a:t>
            </a:r>
          </a:p>
          <a:p>
            <a:pPr lvl="1"/>
            <a:r>
              <a:rPr lang="en-IL" sz="3500" dirty="0"/>
              <a:t>The dominant narrative included criticism of Donald Trump and opposition to tax legislation.</a:t>
            </a:r>
            <a:endParaRPr lang="en-US" sz="3900" dirty="0"/>
          </a:p>
          <a:p>
            <a:r>
              <a:rPr lang="en-IL" sz="3900" dirty="0"/>
              <a:t>Key finding: The analysis revealed a shared narrative amplified through highly coordinated activity. </a:t>
            </a:r>
          </a:p>
          <a:p>
            <a:endParaRPr lang="en-IL" sz="3600" dirty="0"/>
          </a:p>
          <a:p>
            <a:pPr marL="457200" lvl="1" indent="0">
              <a:buNone/>
            </a:pPr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BB227-D589-733B-8134-DC61E33D9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853024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EA0ED-19B6-F573-1394-3FF4A6D4E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43645-2361-2EDD-3E3E-483138A66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9108669" cy="1325563"/>
          </a:xfrm>
        </p:spPr>
        <p:txBody>
          <a:bodyPr/>
          <a:lstStyle/>
          <a:p>
            <a:r>
              <a:rPr lang="en-IL" dirty="0"/>
              <a:t>Summary of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58D7B-3CC2-F04A-D214-9CF189CC1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730375"/>
            <a:ext cx="10582656" cy="4769728"/>
          </a:xfrm>
        </p:spPr>
        <p:txBody>
          <a:bodyPr>
            <a:normAutofit fontScale="77500" lnSpcReduction="20000"/>
          </a:bodyPr>
          <a:lstStyle/>
          <a:p>
            <a:r>
              <a:rPr lang="en-IL" sz="4000" b="1" dirty="0"/>
              <a:t>Account Detection</a:t>
            </a:r>
            <a:endParaRPr lang="en-US" sz="4000" b="1" dirty="0"/>
          </a:p>
          <a:p>
            <a:pPr lvl="1"/>
            <a:r>
              <a:rPr lang="en-IL" sz="3600" dirty="0"/>
              <a:t>Interpretable Indicators</a:t>
            </a:r>
            <a:endParaRPr lang="en-IL" sz="4000" dirty="0"/>
          </a:p>
          <a:p>
            <a:pPr lvl="1"/>
            <a:r>
              <a:rPr lang="en-IL" sz="3600" dirty="0"/>
              <a:t>Mean ROC–AUC: </a:t>
            </a:r>
            <a:r>
              <a:rPr lang="en-IL" sz="3600" b="1" dirty="0"/>
              <a:t>0.990 within campaigns</a:t>
            </a:r>
            <a:r>
              <a:rPr lang="en-IL" sz="3600" dirty="0"/>
              <a:t> and </a:t>
            </a:r>
            <a:r>
              <a:rPr lang="en-IL" sz="3600" b="1" dirty="0"/>
              <a:t>0.933 across campaigns</a:t>
            </a:r>
            <a:r>
              <a:rPr lang="en-IL" sz="3600" dirty="0"/>
              <a:t> </a:t>
            </a:r>
          </a:p>
          <a:p>
            <a:pPr lvl="0"/>
            <a:r>
              <a:rPr lang="en-IL" sz="4000" dirty="0"/>
              <a:t>Indicator importance varied across campaigns </a:t>
            </a:r>
          </a:p>
          <a:p>
            <a:r>
              <a:rPr lang="en-IL" sz="4000" b="1" dirty="0"/>
              <a:t>Group Analysis</a:t>
            </a:r>
            <a:endParaRPr lang="en-IL" sz="4000" dirty="0"/>
          </a:p>
          <a:p>
            <a:pPr lvl="1"/>
            <a:r>
              <a:rPr lang="en-IL" sz="3600" dirty="0"/>
              <a:t>K-core groups showed a strong balance between IO concentration and topic alignment </a:t>
            </a:r>
          </a:p>
          <a:p>
            <a:r>
              <a:rPr lang="en-IL" sz="4000" b="1" dirty="0"/>
              <a:t>Iran-1 Case Study</a:t>
            </a:r>
            <a:endParaRPr lang="en-IL" sz="4000" dirty="0"/>
          </a:p>
          <a:p>
            <a:pPr lvl="1"/>
            <a:r>
              <a:rPr lang="en-IL" sz="3600" dirty="0"/>
              <a:t>15 accounts → 244 posts in 15 minutes → 242 reposts </a:t>
            </a:r>
          </a:p>
          <a:p>
            <a:pPr lvl="1"/>
            <a:r>
              <a:rPr lang="en-IL" sz="3600" dirty="0"/>
              <a:t>16 of 19 reposted source posts focused on U.S. politics </a:t>
            </a:r>
          </a:p>
          <a:p>
            <a:pPr lvl="1"/>
            <a:r>
              <a:rPr lang="en-IL" sz="3600" dirty="0"/>
              <a:t>Revealed the shared narrative behind coordinated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25888-5ED4-B66F-208D-2ED929AC2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14204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50B2B-6484-39A3-1828-79F1FCB87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D00B5-FD8D-35F9-98FD-594FF7147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9108669" cy="1325563"/>
          </a:xfrm>
        </p:spPr>
        <p:txBody>
          <a:bodyPr/>
          <a:lstStyle/>
          <a:p>
            <a:r>
              <a:rPr lang="en-IL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B1F4A-B9B0-5ED1-77E3-E10DFC06C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730375"/>
            <a:ext cx="10582656" cy="4769728"/>
          </a:xfrm>
        </p:spPr>
        <p:txBody>
          <a:bodyPr>
            <a:normAutofit/>
          </a:bodyPr>
          <a:lstStyle/>
          <a:p>
            <a:r>
              <a:rPr lang="en-IL" sz="4000" b="1" dirty="0"/>
              <a:t>Psychological Characterization</a:t>
            </a:r>
            <a:endParaRPr lang="en-US" sz="4000" b="1" dirty="0"/>
          </a:p>
          <a:p>
            <a:pPr lvl="1"/>
            <a:r>
              <a:rPr lang="en-IL" sz="3600" dirty="0"/>
              <a:t>Use prompt-based psychological questionnaires to explore characteristics that distinguish IO accounts from other accounts.</a:t>
            </a:r>
            <a:endParaRPr lang="en-US" sz="3600" dirty="0"/>
          </a:p>
          <a:p>
            <a:pPr lvl="1"/>
            <a:endParaRPr lang="en-US" sz="3600" dirty="0"/>
          </a:p>
          <a:p>
            <a:pPr lvl="1"/>
            <a:endParaRPr lang="en-IL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DD1BA-00BE-9ADF-C58A-F2E9BE641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30</a:t>
            </a:fld>
            <a:endParaRPr lang="he-IL"/>
          </a:p>
        </p:txBody>
      </p:sp>
      <p:pic>
        <p:nvPicPr>
          <p:cNvPr id="5" name="Picture 4" descr="Social media addiction brain - Social Media Psychology">
            <a:extLst>
              <a:ext uri="{FF2B5EF4-FFF2-40B4-BE49-F238E27FC236}">
                <a16:creationId xmlns:a16="http://schemas.microsoft.com/office/drawing/2014/main" id="{58BB54EE-05D6-D1B2-8A58-1E901FE7720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4043112" y="3992784"/>
            <a:ext cx="3952875" cy="24718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032A23-2EA8-292E-6C46-3B4016CA43B0}"/>
              </a:ext>
            </a:extLst>
          </p:cNvPr>
          <p:cNvSpPr txBox="1"/>
          <p:nvPr/>
        </p:nvSpPr>
        <p:spPr>
          <a:xfrm>
            <a:off x="4043112" y="6456363"/>
            <a:ext cx="39528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L" sz="1200" dirty="0"/>
              <a:t>https://netpsychology.org/social-media-psychology/</a:t>
            </a:r>
          </a:p>
        </p:txBody>
      </p:sp>
    </p:spTree>
    <p:extLst>
      <p:ext uri="{BB962C8B-B14F-4D97-AF65-F5344CB8AC3E}">
        <p14:creationId xmlns:p14="http://schemas.microsoft.com/office/powerpoint/2010/main" val="816259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16649</TotalTime>
  <Words>1821</Words>
  <Application>Microsoft Office PowerPoint</Application>
  <PresentationFormat>Widescreen</PresentationFormat>
  <Paragraphs>292</Paragraphs>
  <Slides>30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Calibri Light</vt:lpstr>
      <vt:lpstr>Calibri Light (Headings)</vt:lpstr>
      <vt:lpstr>Cambria Math</vt:lpstr>
      <vt:lpstr>Courier New</vt:lpstr>
      <vt:lpstr>Wingdings</vt:lpstr>
      <vt:lpstr>Office Theme</vt:lpstr>
      <vt:lpstr>I Can See U. Indicator-Based Information Operation Detection and Topic-Aware Group Analysis</vt:lpstr>
      <vt:lpstr>Motivation</vt:lpstr>
      <vt:lpstr>IO &amp; Coordination</vt:lpstr>
      <vt:lpstr>Related Work</vt:lpstr>
      <vt:lpstr>Our Contributions</vt:lpstr>
      <vt:lpstr> Interpretable Indicators</vt:lpstr>
      <vt:lpstr>Overview</vt:lpstr>
      <vt:lpstr>Graph Indicators Workflow</vt:lpstr>
      <vt:lpstr>Co-Action Graph</vt:lpstr>
      <vt:lpstr>Graph-Based Indicators</vt:lpstr>
      <vt:lpstr>Topic-Based Indicators</vt:lpstr>
      <vt:lpstr>TF-IDF</vt:lpstr>
      <vt:lpstr>Group analysis</vt:lpstr>
      <vt:lpstr>Overview</vt:lpstr>
      <vt:lpstr>Overview</vt:lpstr>
      <vt:lpstr>K-Core  Definition</vt:lpstr>
      <vt:lpstr>Core Number: Example</vt:lpstr>
      <vt:lpstr>Maximal K-Core Motivation</vt:lpstr>
      <vt:lpstr>Experiments</vt:lpstr>
      <vt:lpstr>Dataset</vt:lpstr>
      <vt:lpstr>Evaluation Settings</vt:lpstr>
      <vt:lpstr>Evaluated Campaigns</vt:lpstr>
      <vt:lpstr>Which Indicators Matter?</vt:lpstr>
      <vt:lpstr>PowerPoint Presentation</vt:lpstr>
      <vt:lpstr>PowerPoint Presentation</vt:lpstr>
      <vt:lpstr>PowerPoint Presentation</vt:lpstr>
      <vt:lpstr>Group Analysis Case Study – Iran 1</vt:lpstr>
      <vt:lpstr>Group Analysis Case Study – Iran 1</vt:lpstr>
      <vt:lpstr>Summary of Results</vt:lpstr>
      <vt:lpstr>Next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586</cp:revision>
  <dcterms:created xsi:type="dcterms:W3CDTF">2021-05-04T15:24:24Z</dcterms:created>
  <dcterms:modified xsi:type="dcterms:W3CDTF">2026-09-23T11:11:26Z</dcterms:modified>
</cp:coreProperties>
</file>