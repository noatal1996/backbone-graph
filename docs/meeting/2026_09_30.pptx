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jBm6GAfDLqLLfQ6FoqN5Gx0UBLy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Amit Ner-gao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1A47F4-52CE-4A4B-BF87-D10849F44DBD}">
  <a:tblStyle styleId="{1D1A47F4-52CE-4A4B-BF87-D10849F44DB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customschemas.google.com/relationships/presentationmetadata" Target="metadata"/><Relationship Id="rId41" Type="http://schemas.openxmlformats.org/officeDocument/2006/relationships/slide" Target="slides/slide34.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29T20:43:18.984">
    <p:pos x="6000" y="0"/>
    <p:text>I have added ID to Louvain Community ID since we use the id as indicator and not the group itself</p:text>
    <p:extLst>
      <p:ext uri="{C676402C-5697-4E1C-873F-D02D1690AC5C}">
        <p15:threadingInfo timeZoneBias="0"/>
      </p:ext>
      <p:ext uri="http://customooxmlschemas.google.com/">
        <go:slidesCustomData xmlns:go="http://customooxmlschemas.google.com/" commentPostId="AAACHwb0XYE"/>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9-29T21:12:59.076">
    <p:pos x="6000" y="0"/>
    <p:text>הוספתי במצב מוסתר שקופית על TF IDF. למקרה שיהיה צריך.</p:text>
    <p:extLst>
      <p:ext uri="{C676402C-5697-4E1C-873F-D02D1690AC5C}">
        <p15:threadingInfo timeZoneBias="0"/>
      </p:ext>
      <p:ext uri="http://customooxmlschemas.google.com/">
        <go:slidesCustomData xmlns:go="http://customooxmlschemas.google.com/" commentPostId="AAACHwb0XX8"/>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9-29T21:15:30.162">
    <p:pos x="6000" y="0"/>
    <p:text>שיניתי את זה להתייחס גם לאידקטורים מבוססי נושא</p:text>
    <p:extLst>
      <p:ext uri="{C676402C-5697-4E1C-873F-D02D1690AC5C}">
        <p15:threadingInfo timeZoneBias="0"/>
      </p:ext>
      <p:ext uri="http://customooxmlschemas.google.com/">
        <go:slidesCustomData xmlns:go="http://customooxmlschemas.google.com/" commentPostId="AAACHwb0XYA"/>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IL"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fld id="{00000000-1234-1234-1234-123412341234}" type="slidenum">
              <a:rPr lang="en-IL"/>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h2e08d342f2b398b2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1" name="Google Shape;251;h2e08d342f2b398b2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h2e08d342f2b398b2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IL"/>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b="1" sz="1100">
              <a:latin typeface="Arial"/>
              <a:ea typeface="Arial"/>
              <a:cs typeface="Arial"/>
              <a:sym typeface="Arial"/>
            </a:endParaRPr>
          </a:p>
          <a:p>
            <a:pPr indent="0" lvl="0" marL="0" rtl="0" algn="l">
              <a:spcBef>
                <a:spcPts val="0"/>
              </a:spcBef>
              <a:spcAft>
                <a:spcPts val="0"/>
              </a:spcAft>
              <a:buNone/>
            </a:pPr>
            <a:r>
              <a:t/>
            </a:r>
            <a:endParaRPr/>
          </a:p>
        </p:txBody>
      </p:sp>
      <p:sp>
        <p:nvSpPr>
          <p:cNvPr id="276" name="Google Shape;27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2e08d342f2b398b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h2e08d342f2b398b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IL" sz="1100">
                <a:latin typeface="Arial"/>
                <a:ea typeface="Arial"/>
                <a:cs typeface="Arial"/>
                <a:sym typeface="Arial"/>
              </a:rPr>
              <a:t>Key Takeaway:</a:t>
            </a:r>
            <a:r>
              <a:rPr lang="en-IL" sz="1100">
                <a:latin typeface="Arial"/>
                <a:ea typeface="Arial"/>
                <a:cs typeface="Arial"/>
                <a:sym typeface="Arial"/>
              </a:rPr>
              <a:t> K-core structure guides group selection. Activity and content analysis help explain how the selected group operates and what it amplifies.</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ctr">
              <a:spcBef>
                <a:spcPts val="0"/>
              </a:spcBef>
              <a:spcAft>
                <a:spcPts val="0"/>
              </a:spcAft>
              <a:buClr>
                <a:schemeClr val="dk1"/>
              </a:buClr>
              <a:buSzPts val="1100"/>
              <a:buFont typeface="Arial"/>
              <a:buNone/>
            </a:pPr>
            <a:r>
              <a:rPr b="1" lang="en-IL" sz="1500">
                <a:solidFill>
                  <a:srgbClr val="9A3412"/>
                </a:solidFill>
                <a:latin typeface="Calibri"/>
                <a:ea typeface="Calibri"/>
                <a:cs typeface="Calibri"/>
                <a:sym typeface="Calibri"/>
              </a:rPr>
              <a:t>Key Takeaway: Similarity with one or two accounts is not enough.</a:t>
            </a:r>
            <a:endParaRPr b="1" sz="1500">
              <a:solidFill>
                <a:srgbClr val="9A3412"/>
              </a:solidFill>
              <a:latin typeface="Calibri"/>
              <a:ea typeface="Calibri"/>
              <a:cs typeface="Calibri"/>
              <a:sym typeface="Calibri"/>
            </a:endParaRPr>
          </a:p>
          <a:p>
            <a:pPr indent="0" lvl="0" marL="0" rtl="0" algn="ctr">
              <a:spcBef>
                <a:spcPts val="300"/>
              </a:spcBef>
              <a:spcAft>
                <a:spcPts val="0"/>
              </a:spcAft>
              <a:buClr>
                <a:schemeClr val="dk1"/>
              </a:buClr>
              <a:buSzPts val="1100"/>
              <a:buFont typeface="Arial"/>
              <a:buNone/>
            </a:pPr>
            <a:r>
              <a:rPr lang="en-IL" sz="1500">
                <a:solidFill>
                  <a:srgbClr val="C2410C"/>
                </a:solidFill>
              </a:rPr>
              <a:t>Only many accounts coordinating with one another produce a large k-core.</a:t>
            </a:r>
            <a:endParaRPr sz="1500">
              <a:solidFill>
                <a:srgbClr val="C2410C"/>
              </a:solidFill>
            </a:endParaRPr>
          </a:p>
          <a:p>
            <a:pPr indent="0" lvl="0" marL="0" rtl="0" algn="l">
              <a:spcBef>
                <a:spcPts val="0"/>
              </a:spcBef>
              <a:spcAft>
                <a:spcPts val="0"/>
              </a:spcAft>
              <a:buNone/>
            </a:pPr>
            <a:r>
              <a:t/>
            </a:r>
            <a:endParaRPr sz="1100">
              <a:latin typeface="Arial"/>
              <a:ea typeface="Arial"/>
              <a:cs typeface="Arial"/>
              <a:sym typeface="Arial"/>
            </a:endParaRPr>
          </a:p>
        </p:txBody>
      </p:sp>
      <p:sp>
        <p:nvSpPr>
          <p:cNvPr id="374" name="Google Shape;37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L" sz="1200">
                <a:solidFill>
                  <a:schemeClr val="dk1"/>
                </a:solidFill>
                <a:latin typeface="Calibri"/>
                <a:ea typeface="Calibri"/>
                <a:cs typeface="Calibri"/>
                <a:sym typeface="Calibri"/>
              </a:rPr>
              <a:t>Source: I Can See U: Indicator-Based Detection of Information Operations and Topic-Aware Group Analysis. Uploaded manuscript Backbone_Graph (1).pdf. Table 1, pp. 3–4.</a:t>
            </a:r>
            <a:endParaRPr/>
          </a:p>
        </p:txBody>
      </p:sp>
      <p:sp>
        <p:nvSpPr>
          <p:cNvPr id="407" name="Google Shape;40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r>
              <a:rPr b="1" lang="en-IL"/>
              <a:t>האיור מציג את חשיבות המדדים בכל קמפיין עבור מסווג העצים המשופר, לפי ממוצע הערך המוחלט של תרומת כל מדד לתחזיות. עמודה ארוכה יותר משמעה השפעה גדולה יותר על פלט המודל בממוצע, ולא בהכרח השפעה חיובית או הוכחה לסיבתיות.</a:t>
            </a:r>
            <a:endParaRPr/>
          </a:p>
          <a:p>
            <a:pPr indent="0" lvl="0" marL="0" rtl="0" algn="r">
              <a:spcBef>
                <a:spcPts val="0"/>
              </a:spcBef>
              <a:spcAft>
                <a:spcPts val="0"/>
              </a:spcAft>
              <a:buClr>
                <a:schemeClr val="dk1"/>
              </a:buClr>
              <a:buSzPts val="1200"/>
              <a:buFont typeface="Calibri"/>
              <a:buNone/>
            </a:pPr>
            <a:r>
              <a:rPr b="1" lang="en-IL"/>
              <a:t>המדד המוביל משתנה בין קמפיינים. ברוסיה ובאיחוד האמירויות זהו שיוך הקהילה, בסין הנושא המוביל, בוונצואלה מקדם ההתקבצות, ובקובה ובאיראן דירוג הדף. מספר הליבה חשוב בכמה קמפיינים, אך הוא חלק ממכלול מדדים משלימים. המסקנה היא שיש ערך לבחינת כמה היבטים של פעילות החשבון. האיור המקורי מהמאמר נשמר בשלמותו.</a:t>
            </a:r>
            <a:endParaRPr/>
          </a:p>
        </p:txBody>
      </p:sp>
      <p:sp>
        <p:nvSpPr>
          <p:cNvPr id="416" name="Google Shape;41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1" lang="en-IL"/>
              <a:t>היקף הבדיקה:</a:t>
            </a:r>
            <a:r>
              <a:rPr lang="en-IL"/>
              <a:t> בחנו שישה קמפיינים, הכוללים כ־18.5 מיליון פרסומים של 138,247 חשבונות. </a:t>
            </a:r>
            <a:endParaRPr/>
          </a:p>
          <a:p>
            <a:pPr indent="0" lvl="0" marL="0" rtl="0" algn="r">
              <a:spcBef>
                <a:spcPts val="0"/>
              </a:spcBef>
              <a:spcAft>
                <a:spcPts val="0"/>
              </a:spcAft>
              <a:buNone/>
            </a:pPr>
            <a:r>
              <a:rPr b="1" lang="en-IL"/>
              <a:t>בדיקה בתוך אותו קמפיין:</a:t>
            </a:r>
            <a:r>
              <a:rPr lang="en-IL"/>
              <a:t> אימנו את המודל על חלק מהחשבונות ובדקנו אותו על חשבונות אחרים מאותו קמפיין. מדד ההבחנה הממוצע היה </a:t>
            </a:r>
            <a:r>
              <a:rPr b="1" lang="en-IL"/>
              <a:t>0.990</a:t>
            </a:r>
            <a:r>
              <a:rPr lang="en-IL"/>
              <a:t>. </a:t>
            </a:r>
            <a:endParaRPr/>
          </a:p>
          <a:p>
            <a:pPr indent="0" lvl="0" marL="0" rtl="0" algn="r">
              <a:spcBef>
                <a:spcPts val="0"/>
              </a:spcBef>
              <a:spcAft>
                <a:spcPts val="0"/>
              </a:spcAft>
              <a:buNone/>
            </a:pPr>
            <a:r>
              <a:rPr b="1" lang="en-IL"/>
              <a:t>בדיקה על קמפיין שלא השתתף באימון:</a:t>
            </a:r>
            <a:r>
              <a:rPr lang="en-IL"/>
              <a:t> אימנו על חמישה קמפיינים ובדקנו על השישי, וחזרנו על התהליך עבור כל קמפיין. מדד ההבחנה הממוצע היה </a:t>
            </a:r>
            <a:r>
              <a:rPr b="1" lang="en-IL"/>
              <a:t>0.933</a:t>
            </a:r>
            <a:r>
              <a:rPr lang="en-IL"/>
              <a:t>. </a:t>
            </a:r>
            <a:endParaRPr/>
          </a:p>
          <a:p>
            <a:pPr indent="0" lvl="0" marL="0" rtl="0" algn="r">
              <a:spcBef>
                <a:spcPts val="0"/>
              </a:spcBef>
              <a:spcAft>
                <a:spcPts val="0"/>
              </a:spcAft>
              <a:buNone/>
            </a:pPr>
            <a:r>
              <a:rPr b="1" lang="en-IL"/>
              <a:t>המשמעות:</a:t>
            </a:r>
            <a:r>
              <a:rPr lang="en-IL"/>
              <a:t> המדדים מאפשרים הבחנה טובה גם בקמפיינים שלא שימשו לאימון, אך הביצועים משתנים בין הקמפיינים.</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rPr lang="en-IL"/>
              <a:t>ההערה בתחתית מוסיפה שמדד משלים, המתמקד באיכות זיהוי החשבונות החיוביים, הגיע לממוצע של </a:t>
            </a:r>
            <a:r>
              <a:rPr b="1" lang="en-IL"/>
              <a:t>0.723</a:t>
            </a:r>
            <a:r>
              <a:rPr lang="en-IL"/>
              <a:t> בבדיקה בין קמפיינים. היא מסייגת את התמונה ומבהירה שעדיין יש מקום לשיפור.</a:t>
            </a:r>
            <a:endParaRPr/>
          </a:p>
        </p:txBody>
      </p:sp>
      <p:sp>
        <p:nvSpPr>
          <p:cNvPr id="426" name="Google Shape;42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IL"/>
              <a:t>הסבר להצגה:</a:t>
            </a:r>
            <a:endParaRPr/>
          </a:p>
          <a:p>
            <a:pPr indent="0" lvl="0" marL="0" rtl="1" algn="r">
              <a:spcBef>
                <a:spcPts val="0"/>
              </a:spcBef>
              <a:spcAft>
                <a:spcPts val="0"/>
              </a:spcAft>
              <a:buNone/>
            </a:pPr>
            <a:r>
              <a:rPr lang="en-IL"/>
              <a:t>שקופית 12 מציגה את התוצאות של ההשוואה שהסברנו בשקופית 11: מה מתקבל כשמגדירים קבוצות בדרכים שונות.</a:t>
            </a:r>
            <a:endParaRPr/>
          </a:p>
          <a:p>
            <a:pPr indent="0" lvl="0" marL="0" rtl="1" algn="r">
              <a:spcBef>
                <a:spcPts val="0"/>
              </a:spcBef>
              <a:spcAft>
                <a:spcPts val="0"/>
              </a:spcAft>
              <a:buNone/>
            </a:pPr>
            <a:r>
              <a:rPr lang="en-IL"/>
              <a:t>כך קוראים את הגרף:</a:t>
            </a:r>
            <a:endParaRPr/>
          </a:p>
          <a:p>
            <a:pPr indent="0" lvl="0" marL="0" rtl="1" algn="r">
              <a:spcBef>
                <a:spcPts val="0"/>
              </a:spcBef>
              <a:spcAft>
                <a:spcPts val="0"/>
              </a:spcAft>
              <a:buNone/>
            </a:pPr>
            <a:r>
              <a:rPr lang="en-IL"/>
              <a:t>• כל עמודה היא קמפיין אחר, וכל צבע מייצג שיטה להגדרת קבוצה. כל נקודה מציגה את הממוצע של אותה שיטה.</a:t>
            </a:r>
            <a:endParaRPr/>
          </a:p>
          <a:p>
            <a:pPr indent="0" lvl="0" marL="0" rtl="1" algn="r">
              <a:spcBef>
                <a:spcPts val="0"/>
              </a:spcBef>
              <a:spcAft>
                <a:spcPts val="0"/>
              </a:spcAft>
              <a:buNone/>
            </a:pPr>
            <a:r>
              <a:rPr lang="en-IL"/>
              <a:t>• ככל שהנקודה ימינה, שיעור החשבונות של מבצע ההשפעה בקבוצות גבוה יותר.</a:t>
            </a:r>
            <a:endParaRPr/>
          </a:p>
          <a:p>
            <a:pPr indent="0" lvl="0" marL="0" rtl="1" algn="r">
              <a:spcBef>
                <a:spcPts val="0"/>
              </a:spcBef>
              <a:spcAft>
                <a:spcPts val="0"/>
              </a:spcAft>
              <a:buNone/>
            </a:pPr>
            <a:r>
              <a:rPr lang="en-IL"/>
              <a:t>• ככל שהנקודה למעלה, יותר חשבונות בקבוצות חולקים את הנושא המוביל של החשבון שבוחנים.</a:t>
            </a:r>
            <a:endParaRPr/>
          </a:p>
          <a:p>
            <a:pPr indent="0" lvl="0" marL="0" rtl="1" algn="r">
              <a:spcBef>
                <a:spcPts val="0"/>
              </a:spcBef>
              <a:spcAft>
                <a:spcPts val="0"/>
              </a:spcAft>
              <a:buNone/>
            </a:pPr>
            <a:r>
              <a:rPr lang="en-IL"/>
              <a:t>• לכן מחפשים שילוב של ימינה ולמעלה.</a:t>
            </a:r>
            <a:endParaRPr/>
          </a:p>
          <a:p>
            <a:pPr indent="0" lvl="0" marL="0" rtl="1" algn="r">
              <a:spcBef>
                <a:spcPts val="0"/>
              </a:spcBef>
              <a:spcAft>
                <a:spcPts val="0"/>
              </a:spcAft>
              <a:buNone/>
            </a:pPr>
            <a:r>
              <a:rPr lang="en-IL"/>
              <a:t>• בשורה התחתונה הניתוח כולל את כלל החשבונות. בשורה העליונה מגבילים את בניית הקבוצות לחשבונות שהמודל סיווג כחשבונות של מבצע השפעה.</a:t>
            </a:r>
            <a:endParaRPr/>
          </a:p>
          <a:p>
            <a:pPr indent="0" lvl="0" marL="0" rtl="1" algn="r">
              <a:spcBef>
                <a:spcPts val="0"/>
              </a:spcBef>
              <a:spcAft>
                <a:spcPts val="0"/>
              </a:spcAft>
              <a:buNone/>
            </a:pPr>
            <a:r>
              <a:rPr lang="en-IL"/>
              <a:t>מה לומדים?</a:t>
            </a:r>
            <a:endParaRPr/>
          </a:p>
          <a:p>
            <a:pPr indent="0" lvl="0" marL="0" rtl="1" algn="r">
              <a:spcBef>
                <a:spcPts val="0"/>
              </a:spcBef>
              <a:spcAft>
                <a:spcPts val="0"/>
              </a:spcAft>
              <a:buNone/>
            </a:pPr>
            <a:r>
              <a:rPr lang="en-IL"/>
              <a:t>• קבוצות לפי נושא משותף נמצאות למעלה, כי זו ההגדרה שלהן, אבל הן עשויות לכלול הרבה חשבונות שאינם חלק ממבצע השפעה.</a:t>
            </a:r>
            <a:endParaRPr/>
          </a:p>
          <a:p>
            <a:pPr indent="0" lvl="0" marL="0" rtl="1" algn="r">
              <a:spcBef>
                <a:spcPts val="0"/>
              </a:spcBef>
              <a:spcAft>
                <a:spcPts val="0"/>
              </a:spcAft>
              <a:buNone/>
            </a:pPr>
            <a:r>
              <a:rPr lang="en-IL"/>
              <a:t>• קבוצות המבוססות על ליבה ושכנים ישירים מציעות שילוב מועיל של ריכוז חשבונות מבצע השפעה והתאמה בנושא. האיזון משתנה בין הקמפיינים.</a:t>
            </a:r>
            <a:endParaRPr/>
          </a:p>
          <a:p>
            <a:pPr indent="0" lvl="0" marL="0" rtl="1" algn="r">
              <a:spcBef>
                <a:spcPts val="0"/>
              </a:spcBef>
              <a:spcAft>
                <a:spcPts val="0"/>
              </a:spcAft>
              <a:buNone/>
            </a:pPr>
            <a:r>
              <a:rPr lang="en-IL"/>
              <a:t>אפשר לומר בהצגה: בדקנו אילו קבוצות מרכזות גם חשבונות של מבצע השפעה וגם פעילות בנושא משותף. קבוצות המבוססות על ליבה ושכנים ישירים סיפקו בסיס מועיל להמשך החקירה.</a:t>
            </a:r>
            <a:endParaRPr/>
          </a:p>
          <a:p>
            <a:pPr indent="0" lvl="0" marL="0" rtl="1" algn="r">
              <a:spcBef>
                <a:spcPts val="0"/>
              </a:spcBef>
              <a:spcAft>
                <a:spcPts val="0"/>
              </a:spcAft>
              <a:buNone/>
            </a:pPr>
            <a:r>
              <a:t/>
            </a:r>
            <a:endParaRPr/>
          </a:p>
        </p:txBody>
      </p:sp>
      <p:sp>
        <p:nvSpPr>
          <p:cNvPr id="442" name="Google Shape;44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r>
              <a:rPr b="1" lang="en-IL"/>
              <a:t>Source: Backbone_Graph (1).pdf, Figure 4 and Section 4.3, pp. 9–10.</a:t>
            </a:r>
            <a:endParaRPr/>
          </a:p>
          <a:p>
            <a:pPr indent="0" lvl="0" marL="0" rtl="0" algn="r">
              <a:spcBef>
                <a:spcPts val="0"/>
              </a:spcBef>
              <a:spcAft>
                <a:spcPts val="0"/>
              </a:spcAft>
              <a:buClr>
                <a:schemeClr val="dk1"/>
              </a:buClr>
              <a:buSzPts val="1200"/>
              <a:buFont typeface="Calibri"/>
              <a:buNone/>
            </a:pPr>
            <a:r>
              <a:rPr b="1" lang="en-IL"/>
              <a:t>בשני חלקי האיור מוצג אותו גרף, עם אותם חשבונות ובאותם מיקומים. משמאל הצבע מייצג את מספר הליבה. מימין הצבע מייצג את תיוג האמת: אדום לחשבונות של מבצע השפעה וכחול לחשבונות ביקורת. אלה אינם צבעים של תחזיות המודל.</a:t>
            </a:r>
            <a:endParaRPr/>
          </a:p>
          <a:p>
            <a:pPr indent="0" lvl="0" marL="0" rtl="0" algn="r">
              <a:spcBef>
                <a:spcPts val="0"/>
              </a:spcBef>
              <a:spcAft>
                <a:spcPts val="0"/>
              </a:spcAft>
              <a:buClr>
                <a:schemeClr val="dk1"/>
              </a:buClr>
              <a:buSzPts val="1200"/>
              <a:buFont typeface="Calibri"/>
              <a:buNone/>
            </a:pPr>
            <a:r>
              <a:rPr b="1" lang="en-IL"/>
              <a:t>אפשר לראות שאזורים בעלי מספר ליבה גבוה חופפים לריכוזים של חשבונות מבצע השפעה. זו המחשה מבנית לתפקיד האפשרי של המדד, לצד שאר המדדים שהוצגו. האיור אינו מסמן במפורש איזה רכיב נבחר לדוגמה, ואינו מוכיח שכל חשבון בליבה הוא חשבון של מבצע השפעה. בשקופית הבאה נסביר איך נבחר רכיב קשיר של 312 חשבונות מתוך הליבה המרבית, ולאחר מכן נבחן את התוכן שפורסם.</a:t>
            </a:r>
            <a:endParaRPr/>
          </a:p>
        </p:txBody>
      </p:sp>
      <p:sp>
        <p:nvSpPr>
          <p:cNvPr id="452" name="Google Shape;45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h44a970ce36d02707_0_5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h44a970ce36d02707_0_5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h2e08d342f2b398b2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h2e08d342f2b398b2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2"/>
          <p:cNvSpPr txBox="1"/>
          <p:nvPr>
            <p:ph type="ctrTitle"/>
          </p:nvPr>
        </p:nvSpPr>
        <p:spPr>
          <a:xfrm>
            <a:off x="1865376" y="1354011"/>
            <a:ext cx="9144000"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9DBB"/>
              </a:buClr>
              <a:buSzPts val="4800"/>
              <a:buFont typeface="Calibri"/>
              <a:buNone/>
              <a:defRPr sz="4800">
                <a:solidFill>
                  <a:srgbClr val="009DBB"/>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2"/>
          <p:cNvSpPr txBox="1"/>
          <p:nvPr>
            <p:ph idx="1" type="subTitle"/>
          </p:nvPr>
        </p:nvSpPr>
        <p:spPr>
          <a:xfrm>
            <a:off x="1865376" y="4218431"/>
            <a:ext cx="9144000" cy="1374013"/>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888888"/>
              </a:buClr>
              <a:buSzPts val="2000"/>
              <a:buNone/>
              <a:defRPr sz="2000">
                <a:solidFill>
                  <a:srgbClr val="888888"/>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32"/>
          <p:cNvSpPr txBox="1"/>
          <p:nvPr>
            <p:ph idx="10" type="dt"/>
          </p:nvPr>
        </p:nvSpPr>
        <p:spPr>
          <a:xfrm>
            <a:off x="1310143"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2"/>
          <p:cNvSpPr txBox="1"/>
          <p:nvPr>
            <p:ph idx="11" type="ftr"/>
          </p:nvPr>
        </p:nvSpPr>
        <p:spPr>
          <a:xfrm>
            <a:off x="4510543"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2"/>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33"/>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9DBB"/>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3"/>
          <p:cNvSpPr txBox="1"/>
          <p:nvPr>
            <p:ph idx="1" type="body"/>
          </p:nvPr>
        </p:nvSpPr>
        <p:spPr>
          <a:xfrm>
            <a:off x="1236991" y="1821101"/>
            <a:ext cx="5181600" cy="4351338"/>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33"/>
          <p:cNvSpPr txBox="1"/>
          <p:nvPr>
            <p:ph idx="2" type="body"/>
          </p:nvPr>
        </p:nvSpPr>
        <p:spPr>
          <a:xfrm>
            <a:off x="6570991" y="1821101"/>
            <a:ext cx="5181600" cy="4351338"/>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33"/>
          <p:cNvSpPr txBox="1"/>
          <p:nvPr>
            <p:ph idx="10" type="dt"/>
          </p:nvPr>
        </p:nvSpPr>
        <p:spPr>
          <a:xfrm>
            <a:off x="1310143"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3"/>
          <p:cNvSpPr txBox="1"/>
          <p:nvPr>
            <p:ph idx="11" type="ftr"/>
          </p:nvPr>
        </p:nvSpPr>
        <p:spPr>
          <a:xfrm>
            <a:off x="4510543"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3"/>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34"/>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34"/>
          <p:cNvSpPr txBox="1"/>
          <p:nvPr>
            <p:ph idx="1" type="body"/>
          </p:nvPr>
        </p:nvSpPr>
        <p:spPr>
          <a:xfrm>
            <a:off x="1243087" y="1825625"/>
            <a:ext cx="10582656" cy="435133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Font typeface="Courier New"/>
              <a:buChar char="o"/>
              <a:defRPr sz="20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4"/>
          <p:cNvSpPr txBox="1"/>
          <p:nvPr>
            <p:ph idx="10" type="dt"/>
          </p:nvPr>
        </p:nvSpPr>
        <p:spPr>
          <a:xfrm>
            <a:off x="1310143"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4"/>
          <p:cNvSpPr txBox="1"/>
          <p:nvPr>
            <p:ph idx="11" type="ftr"/>
          </p:nvPr>
        </p:nvSpPr>
        <p:spPr>
          <a:xfrm>
            <a:off x="4510543"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4"/>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35"/>
          <p:cNvSpPr txBox="1"/>
          <p:nvPr>
            <p:ph type="title"/>
          </p:nvPr>
        </p:nvSpPr>
        <p:spPr>
          <a:xfrm>
            <a:off x="1479550" y="1709738"/>
            <a:ext cx="7852146"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9DBB"/>
              </a:buClr>
              <a:buSzPts val="5400"/>
              <a:buFont typeface="Calibri"/>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5"/>
          <p:cNvSpPr txBox="1"/>
          <p:nvPr>
            <p:ph idx="1" type="body"/>
          </p:nvPr>
        </p:nvSpPr>
        <p:spPr>
          <a:xfrm>
            <a:off x="14795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9" name="Google Shape;39;p35"/>
          <p:cNvSpPr txBox="1"/>
          <p:nvPr>
            <p:ph idx="10" type="dt"/>
          </p:nvPr>
        </p:nvSpPr>
        <p:spPr>
          <a:xfrm>
            <a:off x="1310143"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5"/>
          <p:cNvSpPr txBox="1"/>
          <p:nvPr>
            <p:ph idx="11" type="ftr"/>
          </p:nvPr>
        </p:nvSpPr>
        <p:spPr>
          <a:xfrm>
            <a:off x="4510543"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5"/>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36"/>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36"/>
          <p:cNvSpPr txBox="1"/>
          <p:nvPr>
            <p:ph idx="10" type="dt"/>
          </p:nvPr>
        </p:nvSpPr>
        <p:spPr>
          <a:xfrm>
            <a:off x="1310143"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6"/>
          <p:cNvSpPr txBox="1"/>
          <p:nvPr>
            <p:ph idx="11" type="ftr"/>
          </p:nvPr>
        </p:nvSpPr>
        <p:spPr>
          <a:xfrm>
            <a:off x="4510543"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6"/>
          <p:cNvSpPr txBox="1"/>
          <p:nvPr>
            <p:ph idx="12" type="sldNum"/>
          </p:nvPr>
        </p:nvSpPr>
        <p:spPr>
          <a:xfrm>
            <a:off x="11728704" y="6452457"/>
            <a:ext cx="452233"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37"/>
          <p:cNvSpPr txBox="1"/>
          <p:nvPr>
            <p:ph type="title"/>
          </p:nvPr>
        </p:nvSpPr>
        <p:spPr>
          <a:xfrm>
            <a:off x="3083117" y="355600"/>
            <a:ext cx="8743124"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9DBB"/>
              </a:buClr>
              <a:buSzPts val="4400"/>
              <a:buFont typeface="Calibri"/>
              <a:buNone/>
              <a:defRPr sz="4400">
                <a:solidFill>
                  <a:srgbClr val="009DBB"/>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7"/>
          <p:cNvSpPr txBox="1"/>
          <p:nvPr>
            <p:ph idx="1" type="body"/>
          </p:nvPr>
        </p:nvSpPr>
        <p:spPr>
          <a:xfrm>
            <a:off x="1053148" y="1717419"/>
            <a:ext cx="5157787" cy="823912"/>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rgbClr val="009DBB"/>
              </a:buClr>
              <a:buSzPts val="2400"/>
              <a:buNone/>
              <a:defRPr sz="2400">
                <a:solidFill>
                  <a:srgbClr val="009DBB"/>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7"/>
          <p:cNvSpPr txBox="1"/>
          <p:nvPr>
            <p:ph idx="2" type="body"/>
          </p:nvPr>
        </p:nvSpPr>
        <p:spPr>
          <a:xfrm>
            <a:off x="1053148" y="2511171"/>
            <a:ext cx="5157787" cy="3684588"/>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7"/>
          <p:cNvSpPr txBox="1"/>
          <p:nvPr>
            <p:ph idx="3" type="body"/>
          </p:nvPr>
        </p:nvSpPr>
        <p:spPr>
          <a:xfrm>
            <a:off x="6641752" y="1717419"/>
            <a:ext cx="5183188" cy="823912"/>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rgbClr val="009DBB"/>
              </a:buClr>
              <a:buSzPts val="2400"/>
              <a:buNone/>
              <a:defRPr sz="2400">
                <a:solidFill>
                  <a:srgbClr val="009DBB"/>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37"/>
          <p:cNvSpPr txBox="1"/>
          <p:nvPr>
            <p:ph idx="4" type="body"/>
          </p:nvPr>
        </p:nvSpPr>
        <p:spPr>
          <a:xfrm>
            <a:off x="6641752" y="2517267"/>
            <a:ext cx="5183188" cy="3684588"/>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37"/>
          <p:cNvSpPr txBox="1"/>
          <p:nvPr>
            <p:ph idx="10" type="dt"/>
          </p:nvPr>
        </p:nvSpPr>
        <p:spPr>
          <a:xfrm>
            <a:off x="1310143"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7"/>
          <p:cNvSpPr txBox="1"/>
          <p:nvPr>
            <p:ph idx="11" type="ftr"/>
          </p:nvPr>
        </p:nvSpPr>
        <p:spPr>
          <a:xfrm>
            <a:off x="4510543"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7"/>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38"/>
          <p:cNvSpPr txBox="1"/>
          <p:nvPr>
            <p:ph idx="10" type="dt"/>
          </p:nvPr>
        </p:nvSpPr>
        <p:spPr>
          <a:xfrm>
            <a:off x="1310143"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8"/>
          <p:cNvSpPr txBox="1"/>
          <p:nvPr>
            <p:ph idx="11" type="ftr"/>
          </p:nvPr>
        </p:nvSpPr>
        <p:spPr>
          <a:xfrm>
            <a:off x="4510543"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8"/>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39"/>
          <p:cNvSpPr txBox="1"/>
          <p:nvPr>
            <p:ph type="title"/>
          </p:nvPr>
        </p:nvSpPr>
        <p:spPr>
          <a:xfrm>
            <a:off x="1912684" y="981329"/>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9DBB"/>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39"/>
          <p:cNvSpPr txBox="1"/>
          <p:nvPr>
            <p:ph idx="1" type="body"/>
          </p:nvPr>
        </p:nvSpPr>
        <p:spPr>
          <a:xfrm>
            <a:off x="5920804" y="987425"/>
            <a:ext cx="617220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39"/>
          <p:cNvSpPr txBox="1"/>
          <p:nvPr>
            <p:ph idx="2" type="body"/>
          </p:nvPr>
        </p:nvSpPr>
        <p:spPr>
          <a:xfrm>
            <a:off x="1912684" y="2581529"/>
            <a:ext cx="3932237" cy="3295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39"/>
          <p:cNvSpPr txBox="1"/>
          <p:nvPr>
            <p:ph idx="10" type="dt"/>
          </p:nvPr>
        </p:nvSpPr>
        <p:spPr>
          <a:xfrm>
            <a:off x="1310143"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9"/>
          <p:cNvSpPr txBox="1"/>
          <p:nvPr>
            <p:ph idx="11" type="ftr"/>
          </p:nvPr>
        </p:nvSpPr>
        <p:spPr>
          <a:xfrm>
            <a:off x="4510543"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9"/>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40"/>
          <p:cNvSpPr txBox="1"/>
          <p:nvPr>
            <p:ph type="title"/>
          </p:nvPr>
        </p:nvSpPr>
        <p:spPr>
          <a:xfrm>
            <a:off x="2127173" y="987424"/>
            <a:ext cx="3932237" cy="1069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9DBB"/>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40"/>
          <p:cNvSpPr/>
          <p:nvPr>
            <p:ph idx="2" type="pic"/>
          </p:nvPr>
        </p:nvSpPr>
        <p:spPr>
          <a:xfrm>
            <a:off x="6096000" y="987425"/>
            <a:ext cx="5259387" cy="4873625"/>
          </a:xfrm>
          <a:prstGeom prst="rect">
            <a:avLst/>
          </a:prstGeom>
          <a:noFill/>
          <a:ln>
            <a:noFill/>
          </a:ln>
        </p:spPr>
      </p:sp>
      <p:sp>
        <p:nvSpPr>
          <p:cNvPr id="70" name="Google Shape;70;p40"/>
          <p:cNvSpPr txBox="1"/>
          <p:nvPr>
            <p:ph idx="1" type="body"/>
          </p:nvPr>
        </p:nvSpPr>
        <p:spPr>
          <a:xfrm>
            <a:off x="2127173"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40"/>
          <p:cNvSpPr txBox="1"/>
          <p:nvPr>
            <p:ph idx="10" type="dt"/>
          </p:nvPr>
        </p:nvSpPr>
        <p:spPr>
          <a:xfrm>
            <a:off x="1310143"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0"/>
          <p:cNvSpPr txBox="1"/>
          <p:nvPr>
            <p:ph idx="11" type="ftr"/>
          </p:nvPr>
        </p:nvSpPr>
        <p:spPr>
          <a:xfrm>
            <a:off x="4510543"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0"/>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41"/>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1"/>
          <p:cNvSpPr txBox="1"/>
          <p:nvPr>
            <p:ph idx="1" type="body"/>
          </p:nvPr>
        </p:nvSpPr>
        <p:spPr>
          <a:xfrm rot="5400000">
            <a:off x="4392274" y="-1256506"/>
            <a:ext cx="4351338" cy="105156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1"/>
          <p:cNvSpPr txBox="1"/>
          <p:nvPr>
            <p:ph idx="10" type="dt"/>
          </p:nvPr>
        </p:nvSpPr>
        <p:spPr>
          <a:xfrm>
            <a:off x="1310143"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1"/>
          <p:cNvSpPr txBox="1"/>
          <p:nvPr>
            <p:ph idx="11" type="ftr"/>
          </p:nvPr>
        </p:nvSpPr>
        <p:spPr>
          <a:xfrm>
            <a:off x="4510543"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1"/>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4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42"/>
          <p:cNvSpPr txBox="1"/>
          <p:nvPr>
            <p:ph idx="1" type="body"/>
          </p:nvPr>
        </p:nvSpPr>
        <p:spPr>
          <a:xfrm rot="5400000">
            <a:off x="2035402" y="-360135"/>
            <a:ext cx="5811838" cy="7262357"/>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42"/>
          <p:cNvSpPr txBox="1"/>
          <p:nvPr>
            <p:ph idx="10" type="dt"/>
          </p:nvPr>
        </p:nvSpPr>
        <p:spPr>
          <a:xfrm>
            <a:off x="1310143"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2"/>
          <p:cNvSpPr txBox="1"/>
          <p:nvPr>
            <p:ph idx="11" type="ftr"/>
          </p:nvPr>
        </p:nvSpPr>
        <p:spPr>
          <a:xfrm>
            <a:off x="4510543"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2"/>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orkflow">
  <p:cSld name="Workflow">
    <p:spTree>
      <p:nvGrpSpPr>
        <p:cNvPr id="86" name="Shape 86"/>
        <p:cNvGrpSpPr/>
        <p:nvPr/>
      </p:nvGrpSpPr>
      <p:grpSpPr>
        <a:xfrm>
          <a:off x="0" y="0"/>
          <a:ext cx="0" cy="0"/>
          <a:chOff x="0" y="0"/>
          <a:chExt cx="0" cy="0"/>
        </a:xfrm>
      </p:grpSpPr>
      <p:sp>
        <p:nvSpPr>
          <p:cNvPr id="87" name="Google Shape;87;p43"/>
          <p:cNvSpPr txBox="1"/>
          <p:nvPr>
            <p:ph idx="10" type="dt"/>
          </p:nvPr>
        </p:nvSpPr>
        <p:spPr>
          <a:xfrm>
            <a:off x="1310143"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3"/>
          <p:cNvSpPr txBox="1"/>
          <p:nvPr>
            <p:ph idx="11" type="ftr"/>
          </p:nvPr>
        </p:nvSpPr>
        <p:spPr>
          <a:xfrm>
            <a:off x="4510543"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3"/>
          <p:cNvSpPr txBox="1"/>
          <p:nvPr>
            <p:ph idx="12" type="sldNum"/>
          </p:nvPr>
        </p:nvSpPr>
        <p:spPr>
          <a:xfrm>
            <a:off x="11728704" y="6476841"/>
            <a:ext cx="452233"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pic>
        <p:nvPicPr>
          <p:cNvPr descr="A document with text on it&#10;&#10;AI-generated content may be incorrect." id="90" name="Google Shape;90;p43"/>
          <p:cNvPicPr preferRelativeResize="0"/>
          <p:nvPr/>
        </p:nvPicPr>
        <p:blipFill rotWithShape="1">
          <a:blip r:embed="rId2">
            <a:alphaModFix/>
          </a:blip>
          <a:srcRect b="78094" l="11606" r="8034" t="8664"/>
          <a:stretch/>
        </p:blipFill>
        <p:spPr>
          <a:xfrm>
            <a:off x="1038256" y="2478278"/>
            <a:ext cx="10821413" cy="2294289"/>
          </a:xfrm>
          <a:prstGeom prst="rect">
            <a:avLst/>
          </a:prstGeom>
          <a:noFill/>
          <a:ln>
            <a:noFill/>
          </a:ln>
        </p:spPr>
      </p:pic>
      <p:sp>
        <p:nvSpPr>
          <p:cNvPr id="91" name="Google Shape;91;p43"/>
          <p:cNvSpPr txBox="1"/>
          <p:nvPr/>
        </p:nvSpPr>
        <p:spPr>
          <a:xfrm>
            <a:off x="3072268" y="679697"/>
            <a:ext cx="8753475"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IL" sz="4400">
                <a:solidFill>
                  <a:srgbClr val="009DBB"/>
                </a:solidFill>
                <a:latin typeface="Calibri"/>
                <a:ea typeface="Calibri"/>
                <a:cs typeface="Calibri"/>
                <a:sym typeface="Calibri"/>
              </a:rPr>
              <a:t>Workflow</a:t>
            </a:r>
            <a:endParaRPr b="0" sz="4400">
              <a:solidFill>
                <a:srgbClr val="009DBB"/>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0" name="Shape 100"/>
        <p:cNvGrpSpPr/>
        <p:nvPr/>
      </p:nvGrpSpPr>
      <p:grpSpPr>
        <a:xfrm>
          <a:off x="0" y="0"/>
          <a:ext cx="0" cy="0"/>
          <a:chOff x="0" y="0"/>
          <a:chExt cx="0" cy="0"/>
        </a:xfrm>
      </p:grpSpPr>
      <p:sp>
        <p:nvSpPr>
          <p:cNvPr id="101" name="Google Shape;101;h44a970ce36d02707_0_820"/>
          <p:cNvSpPr txBox="1"/>
          <p:nvPr>
            <p:ph type="ctrTitle"/>
          </p:nvPr>
        </p:nvSpPr>
        <p:spPr>
          <a:xfrm>
            <a:off x="1865376" y="1354011"/>
            <a:ext cx="9144000" cy="2387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9DBB"/>
              </a:buClr>
              <a:buSzPts val="4800"/>
              <a:buFont typeface="Calibri"/>
              <a:buNone/>
              <a:defRPr sz="4800">
                <a:solidFill>
                  <a:srgbClr val="009DBB"/>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h44a970ce36d02707_0_820"/>
          <p:cNvSpPr txBox="1"/>
          <p:nvPr>
            <p:ph idx="1" type="subTitle"/>
          </p:nvPr>
        </p:nvSpPr>
        <p:spPr>
          <a:xfrm>
            <a:off x="1865376" y="4218431"/>
            <a:ext cx="9144000" cy="1374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888888"/>
              </a:buClr>
              <a:buSzPts val="2000"/>
              <a:buNone/>
              <a:defRPr sz="2000">
                <a:solidFill>
                  <a:srgbClr val="888888"/>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3" name="Google Shape;103;h44a970ce36d02707_0_820"/>
          <p:cNvSpPr txBox="1"/>
          <p:nvPr>
            <p:ph idx="10" type="dt"/>
          </p:nvPr>
        </p:nvSpPr>
        <p:spPr>
          <a:xfrm>
            <a:off x="1310143" y="6356350"/>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h44a970ce36d02707_0_820"/>
          <p:cNvSpPr txBox="1"/>
          <p:nvPr>
            <p:ph idx="11" type="ftr"/>
          </p:nvPr>
        </p:nvSpPr>
        <p:spPr>
          <a:xfrm>
            <a:off x="4510543"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h44a970ce36d02707_0_820"/>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6" name="Shape 106"/>
        <p:cNvGrpSpPr/>
        <p:nvPr/>
      </p:nvGrpSpPr>
      <p:grpSpPr>
        <a:xfrm>
          <a:off x="0" y="0"/>
          <a:ext cx="0" cy="0"/>
          <a:chOff x="0" y="0"/>
          <a:chExt cx="0" cy="0"/>
        </a:xfrm>
      </p:grpSpPr>
      <p:sp>
        <p:nvSpPr>
          <p:cNvPr id="107" name="Google Shape;107;h44a970ce36d02707_0_826"/>
          <p:cNvSpPr txBox="1"/>
          <p:nvPr>
            <p:ph type="title"/>
          </p:nvPr>
        </p:nvSpPr>
        <p:spPr>
          <a:xfrm>
            <a:off x="3072268" y="401637"/>
            <a:ext cx="87534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9DBB"/>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h44a970ce36d02707_0_826"/>
          <p:cNvSpPr txBox="1"/>
          <p:nvPr>
            <p:ph idx="1" type="body"/>
          </p:nvPr>
        </p:nvSpPr>
        <p:spPr>
          <a:xfrm>
            <a:off x="1236991" y="1821101"/>
            <a:ext cx="5181600" cy="43512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h44a970ce36d02707_0_826"/>
          <p:cNvSpPr txBox="1"/>
          <p:nvPr>
            <p:ph idx="2" type="body"/>
          </p:nvPr>
        </p:nvSpPr>
        <p:spPr>
          <a:xfrm>
            <a:off x="6570991" y="1821101"/>
            <a:ext cx="5181600" cy="43512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h44a970ce36d02707_0_826"/>
          <p:cNvSpPr txBox="1"/>
          <p:nvPr>
            <p:ph idx="10" type="dt"/>
          </p:nvPr>
        </p:nvSpPr>
        <p:spPr>
          <a:xfrm>
            <a:off x="1310143" y="6356350"/>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h44a970ce36d02707_0_826"/>
          <p:cNvSpPr txBox="1"/>
          <p:nvPr>
            <p:ph idx="11" type="ftr"/>
          </p:nvPr>
        </p:nvSpPr>
        <p:spPr>
          <a:xfrm>
            <a:off x="4510543"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h44a970ce36d02707_0_826"/>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3" name="Shape 113"/>
        <p:cNvGrpSpPr/>
        <p:nvPr/>
      </p:nvGrpSpPr>
      <p:grpSpPr>
        <a:xfrm>
          <a:off x="0" y="0"/>
          <a:ext cx="0" cy="0"/>
          <a:chOff x="0" y="0"/>
          <a:chExt cx="0" cy="0"/>
        </a:xfrm>
      </p:grpSpPr>
      <p:sp>
        <p:nvSpPr>
          <p:cNvPr id="114" name="Google Shape;114;h44a970ce36d02707_0_833"/>
          <p:cNvSpPr txBox="1"/>
          <p:nvPr>
            <p:ph type="title"/>
          </p:nvPr>
        </p:nvSpPr>
        <p:spPr>
          <a:xfrm>
            <a:off x="3072268" y="401637"/>
            <a:ext cx="87534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h44a970ce36d02707_0_833"/>
          <p:cNvSpPr txBox="1"/>
          <p:nvPr>
            <p:ph idx="1" type="body"/>
          </p:nvPr>
        </p:nvSpPr>
        <p:spPr>
          <a:xfrm>
            <a:off x="1243087" y="1825625"/>
            <a:ext cx="10582800" cy="43512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Font typeface="Courier New"/>
              <a:buChar char="o"/>
              <a:defRPr sz="20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h44a970ce36d02707_0_833"/>
          <p:cNvSpPr txBox="1"/>
          <p:nvPr>
            <p:ph idx="10" type="dt"/>
          </p:nvPr>
        </p:nvSpPr>
        <p:spPr>
          <a:xfrm>
            <a:off x="1310143" y="6356350"/>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h44a970ce36d02707_0_833"/>
          <p:cNvSpPr txBox="1"/>
          <p:nvPr>
            <p:ph idx="11" type="ftr"/>
          </p:nvPr>
        </p:nvSpPr>
        <p:spPr>
          <a:xfrm>
            <a:off x="4510543"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h44a970ce36d02707_0_833"/>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9" name="Shape 119"/>
        <p:cNvGrpSpPr/>
        <p:nvPr/>
      </p:nvGrpSpPr>
      <p:grpSpPr>
        <a:xfrm>
          <a:off x="0" y="0"/>
          <a:ext cx="0" cy="0"/>
          <a:chOff x="0" y="0"/>
          <a:chExt cx="0" cy="0"/>
        </a:xfrm>
      </p:grpSpPr>
      <p:sp>
        <p:nvSpPr>
          <p:cNvPr id="120" name="Google Shape;120;h44a970ce36d02707_0_839"/>
          <p:cNvSpPr txBox="1"/>
          <p:nvPr>
            <p:ph type="title"/>
          </p:nvPr>
        </p:nvSpPr>
        <p:spPr>
          <a:xfrm>
            <a:off x="1479550" y="1709738"/>
            <a:ext cx="78522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9DBB"/>
              </a:buClr>
              <a:buSzPts val="5400"/>
              <a:buFont typeface="Calibri"/>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h44a970ce36d02707_0_839"/>
          <p:cNvSpPr txBox="1"/>
          <p:nvPr>
            <p:ph idx="1" type="body"/>
          </p:nvPr>
        </p:nvSpPr>
        <p:spPr>
          <a:xfrm>
            <a:off x="14795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22" name="Google Shape;122;h44a970ce36d02707_0_839"/>
          <p:cNvSpPr txBox="1"/>
          <p:nvPr>
            <p:ph idx="10" type="dt"/>
          </p:nvPr>
        </p:nvSpPr>
        <p:spPr>
          <a:xfrm>
            <a:off x="1310143" y="6356350"/>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h44a970ce36d02707_0_839"/>
          <p:cNvSpPr txBox="1"/>
          <p:nvPr>
            <p:ph idx="11" type="ftr"/>
          </p:nvPr>
        </p:nvSpPr>
        <p:spPr>
          <a:xfrm>
            <a:off x="4510543"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h44a970ce36d02707_0_839"/>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sp>
        <p:nvSpPr>
          <p:cNvPr id="126" name="Google Shape;126;h44a970ce36d02707_0_845"/>
          <p:cNvSpPr txBox="1"/>
          <p:nvPr>
            <p:ph type="title"/>
          </p:nvPr>
        </p:nvSpPr>
        <p:spPr>
          <a:xfrm>
            <a:off x="3072268" y="401637"/>
            <a:ext cx="87534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h44a970ce36d02707_0_845"/>
          <p:cNvSpPr txBox="1"/>
          <p:nvPr>
            <p:ph idx="10" type="dt"/>
          </p:nvPr>
        </p:nvSpPr>
        <p:spPr>
          <a:xfrm>
            <a:off x="1310143" y="6356350"/>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h44a970ce36d02707_0_845"/>
          <p:cNvSpPr txBox="1"/>
          <p:nvPr>
            <p:ph idx="11" type="ftr"/>
          </p:nvPr>
        </p:nvSpPr>
        <p:spPr>
          <a:xfrm>
            <a:off x="4510543"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h44a970ce36d02707_0_845"/>
          <p:cNvSpPr txBox="1"/>
          <p:nvPr>
            <p:ph idx="12" type="sldNum"/>
          </p:nvPr>
        </p:nvSpPr>
        <p:spPr>
          <a:xfrm>
            <a:off x="11728704" y="6452457"/>
            <a:ext cx="452100" cy="3651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0" name="Shape 130"/>
        <p:cNvGrpSpPr/>
        <p:nvPr/>
      </p:nvGrpSpPr>
      <p:grpSpPr>
        <a:xfrm>
          <a:off x="0" y="0"/>
          <a:ext cx="0" cy="0"/>
          <a:chOff x="0" y="0"/>
          <a:chExt cx="0" cy="0"/>
        </a:xfrm>
      </p:grpSpPr>
      <p:sp>
        <p:nvSpPr>
          <p:cNvPr id="131" name="Google Shape;131;h44a970ce36d02707_0_850"/>
          <p:cNvSpPr txBox="1"/>
          <p:nvPr>
            <p:ph type="title"/>
          </p:nvPr>
        </p:nvSpPr>
        <p:spPr>
          <a:xfrm>
            <a:off x="3083117" y="355600"/>
            <a:ext cx="87432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9DBB"/>
              </a:buClr>
              <a:buSzPts val="4400"/>
              <a:buFont typeface="Calibri"/>
              <a:buNone/>
              <a:defRPr sz="4400">
                <a:solidFill>
                  <a:srgbClr val="009DBB"/>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h44a970ce36d02707_0_850"/>
          <p:cNvSpPr txBox="1"/>
          <p:nvPr>
            <p:ph idx="1" type="body"/>
          </p:nvPr>
        </p:nvSpPr>
        <p:spPr>
          <a:xfrm>
            <a:off x="1053148" y="1717419"/>
            <a:ext cx="5157900" cy="823800"/>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rgbClr val="009DBB"/>
              </a:buClr>
              <a:buSzPts val="2400"/>
              <a:buNone/>
              <a:defRPr sz="2400">
                <a:solidFill>
                  <a:srgbClr val="009DBB"/>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3" name="Google Shape;133;h44a970ce36d02707_0_850"/>
          <p:cNvSpPr txBox="1"/>
          <p:nvPr>
            <p:ph idx="2" type="body"/>
          </p:nvPr>
        </p:nvSpPr>
        <p:spPr>
          <a:xfrm>
            <a:off x="1053148" y="2511171"/>
            <a:ext cx="5157900" cy="36846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h44a970ce36d02707_0_850"/>
          <p:cNvSpPr txBox="1"/>
          <p:nvPr>
            <p:ph idx="3" type="body"/>
          </p:nvPr>
        </p:nvSpPr>
        <p:spPr>
          <a:xfrm>
            <a:off x="6641752" y="1717419"/>
            <a:ext cx="5183100" cy="823800"/>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rgbClr val="009DBB"/>
              </a:buClr>
              <a:buSzPts val="2400"/>
              <a:buNone/>
              <a:defRPr sz="2400">
                <a:solidFill>
                  <a:srgbClr val="009DBB"/>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5" name="Google Shape;135;h44a970ce36d02707_0_850"/>
          <p:cNvSpPr txBox="1"/>
          <p:nvPr>
            <p:ph idx="4" type="body"/>
          </p:nvPr>
        </p:nvSpPr>
        <p:spPr>
          <a:xfrm>
            <a:off x="6641752" y="2517267"/>
            <a:ext cx="5183100" cy="36846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 name="Google Shape;136;h44a970ce36d02707_0_850"/>
          <p:cNvSpPr txBox="1"/>
          <p:nvPr>
            <p:ph idx="10" type="dt"/>
          </p:nvPr>
        </p:nvSpPr>
        <p:spPr>
          <a:xfrm>
            <a:off x="1310143" y="6356350"/>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h44a970ce36d02707_0_850"/>
          <p:cNvSpPr txBox="1"/>
          <p:nvPr>
            <p:ph idx="11" type="ftr"/>
          </p:nvPr>
        </p:nvSpPr>
        <p:spPr>
          <a:xfrm>
            <a:off x="4510543"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h44a970ce36d02707_0_850"/>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9" name="Shape 139"/>
        <p:cNvGrpSpPr/>
        <p:nvPr/>
      </p:nvGrpSpPr>
      <p:grpSpPr>
        <a:xfrm>
          <a:off x="0" y="0"/>
          <a:ext cx="0" cy="0"/>
          <a:chOff x="0" y="0"/>
          <a:chExt cx="0" cy="0"/>
        </a:xfrm>
      </p:grpSpPr>
      <p:sp>
        <p:nvSpPr>
          <p:cNvPr id="140" name="Google Shape;140;h44a970ce36d02707_0_859"/>
          <p:cNvSpPr txBox="1"/>
          <p:nvPr>
            <p:ph idx="10" type="dt"/>
          </p:nvPr>
        </p:nvSpPr>
        <p:spPr>
          <a:xfrm>
            <a:off x="1310143" y="6356350"/>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h44a970ce36d02707_0_859"/>
          <p:cNvSpPr txBox="1"/>
          <p:nvPr>
            <p:ph idx="11" type="ftr"/>
          </p:nvPr>
        </p:nvSpPr>
        <p:spPr>
          <a:xfrm>
            <a:off x="4510543"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h44a970ce36d02707_0_859"/>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3" name="Shape 143"/>
        <p:cNvGrpSpPr/>
        <p:nvPr/>
      </p:nvGrpSpPr>
      <p:grpSpPr>
        <a:xfrm>
          <a:off x="0" y="0"/>
          <a:ext cx="0" cy="0"/>
          <a:chOff x="0" y="0"/>
          <a:chExt cx="0" cy="0"/>
        </a:xfrm>
      </p:grpSpPr>
      <p:sp>
        <p:nvSpPr>
          <p:cNvPr id="144" name="Google Shape;144;h44a970ce36d02707_0_863"/>
          <p:cNvSpPr txBox="1"/>
          <p:nvPr>
            <p:ph type="title"/>
          </p:nvPr>
        </p:nvSpPr>
        <p:spPr>
          <a:xfrm>
            <a:off x="1912684" y="981329"/>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9DBB"/>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h44a970ce36d02707_0_863"/>
          <p:cNvSpPr txBox="1"/>
          <p:nvPr>
            <p:ph idx="1" type="body"/>
          </p:nvPr>
        </p:nvSpPr>
        <p:spPr>
          <a:xfrm>
            <a:off x="5920804" y="987425"/>
            <a:ext cx="6172200" cy="48735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46" name="Google Shape;146;h44a970ce36d02707_0_863"/>
          <p:cNvSpPr txBox="1"/>
          <p:nvPr>
            <p:ph idx="2" type="body"/>
          </p:nvPr>
        </p:nvSpPr>
        <p:spPr>
          <a:xfrm>
            <a:off x="1912684" y="2581529"/>
            <a:ext cx="3932100" cy="3295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7" name="Google Shape;147;h44a970ce36d02707_0_863"/>
          <p:cNvSpPr txBox="1"/>
          <p:nvPr>
            <p:ph idx="10" type="dt"/>
          </p:nvPr>
        </p:nvSpPr>
        <p:spPr>
          <a:xfrm>
            <a:off x="1310143" y="6356350"/>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h44a970ce36d02707_0_863"/>
          <p:cNvSpPr txBox="1"/>
          <p:nvPr>
            <p:ph idx="11" type="ftr"/>
          </p:nvPr>
        </p:nvSpPr>
        <p:spPr>
          <a:xfrm>
            <a:off x="4510543"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h44a970ce36d02707_0_863"/>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0" name="Shape 150"/>
        <p:cNvGrpSpPr/>
        <p:nvPr/>
      </p:nvGrpSpPr>
      <p:grpSpPr>
        <a:xfrm>
          <a:off x="0" y="0"/>
          <a:ext cx="0" cy="0"/>
          <a:chOff x="0" y="0"/>
          <a:chExt cx="0" cy="0"/>
        </a:xfrm>
      </p:grpSpPr>
      <p:sp>
        <p:nvSpPr>
          <p:cNvPr id="151" name="Google Shape;151;h44a970ce36d02707_0_870"/>
          <p:cNvSpPr txBox="1"/>
          <p:nvPr>
            <p:ph type="title"/>
          </p:nvPr>
        </p:nvSpPr>
        <p:spPr>
          <a:xfrm>
            <a:off x="2127173" y="987424"/>
            <a:ext cx="3932100" cy="10701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9DBB"/>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h44a970ce36d02707_0_870"/>
          <p:cNvSpPr/>
          <p:nvPr>
            <p:ph idx="2" type="pic"/>
          </p:nvPr>
        </p:nvSpPr>
        <p:spPr>
          <a:xfrm>
            <a:off x="6096000" y="987425"/>
            <a:ext cx="5259300" cy="4873500"/>
          </a:xfrm>
          <a:prstGeom prst="rect">
            <a:avLst/>
          </a:prstGeom>
          <a:noFill/>
          <a:ln>
            <a:noFill/>
          </a:ln>
        </p:spPr>
      </p:sp>
      <p:sp>
        <p:nvSpPr>
          <p:cNvPr id="153" name="Google Shape;153;h44a970ce36d02707_0_870"/>
          <p:cNvSpPr txBox="1"/>
          <p:nvPr>
            <p:ph idx="1" type="body"/>
          </p:nvPr>
        </p:nvSpPr>
        <p:spPr>
          <a:xfrm>
            <a:off x="2127173"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4" name="Google Shape;154;h44a970ce36d02707_0_870"/>
          <p:cNvSpPr txBox="1"/>
          <p:nvPr>
            <p:ph idx="10" type="dt"/>
          </p:nvPr>
        </p:nvSpPr>
        <p:spPr>
          <a:xfrm>
            <a:off x="1310143" y="6356350"/>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h44a970ce36d02707_0_870"/>
          <p:cNvSpPr txBox="1"/>
          <p:nvPr>
            <p:ph idx="11" type="ftr"/>
          </p:nvPr>
        </p:nvSpPr>
        <p:spPr>
          <a:xfrm>
            <a:off x="4510543"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h44a970ce36d02707_0_870"/>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7" name="Shape 157"/>
        <p:cNvGrpSpPr/>
        <p:nvPr/>
      </p:nvGrpSpPr>
      <p:grpSpPr>
        <a:xfrm>
          <a:off x="0" y="0"/>
          <a:ext cx="0" cy="0"/>
          <a:chOff x="0" y="0"/>
          <a:chExt cx="0" cy="0"/>
        </a:xfrm>
      </p:grpSpPr>
      <p:sp>
        <p:nvSpPr>
          <p:cNvPr id="158" name="Google Shape;158;h44a970ce36d02707_0_877"/>
          <p:cNvSpPr txBox="1"/>
          <p:nvPr>
            <p:ph type="title"/>
          </p:nvPr>
        </p:nvSpPr>
        <p:spPr>
          <a:xfrm>
            <a:off x="3072268" y="401637"/>
            <a:ext cx="87534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h44a970ce36d02707_0_877"/>
          <p:cNvSpPr txBox="1"/>
          <p:nvPr>
            <p:ph idx="1" type="body"/>
          </p:nvPr>
        </p:nvSpPr>
        <p:spPr>
          <a:xfrm rot="5400000">
            <a:off x="4392343" y="-1256575"/>
            <a:ext cx="4351200" cy="105156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 name="Google Shape;160;h44a970ce36d02707_0_877"/>
          <p:cNvSpPr txBox="1"/>
          <p:nvPr>
            <p:ph idx="10" type="dt"/>
          </p:nvPr>
        </p:nvSpPr>
        <p:spPr>
          <a:xfrm>
            <a:off x="1310143" y="6356350"/>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h44a970ce36d02707_0_877"/>
          <p:cNvSpPr txBox="1"/>
          <p:nvPr>
            <p:ph idx="11" type="ftr"/>
          </p:nvPr>
        </p:nvSpPr>
        <p:spPr>
          <a:xfrm>
            <a:off x="4510543"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h44a970ce36d02707_0_877"/>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3" name="Shape 163"/>
        <p:cNvGrpSpPr/>
        <p:nvPr/>
      </p:nvGrpSpPr>
      <p:grpSpPr>
        <a:xfrm>
          <a:off x="0" y="0"/>
          <a:ext cx="0" cy="0"/>
          <a:chOff x="0" y="0"/>
          <a:chExt cx="0" cy="0"/>
        </a:xfrm>
      </p:grpSpPr>
      <p:sp>
        <p:nvSpPr>
          <p:cNvPr id="164" name="Google Shape;164;h44a970ce36d02707_0_883"/>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5" name="Google Shape;165;h44a970ce36d02707_0_883"/>
          <p:cNvSpPr txBox="1"/>
          <p:nvPr>
            <p:ph idx="1" type="body"/>
          </p:nvPr>
        </p:nvSpPr>
        <p:spPr>
          <a:xfrm rot="5400000">
            <a:off x="2035349" y="-360125"/>
            <a:ext cx="5811900" cy="72624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 name="Google Shape;166;h44a970ce36d02707_0_883"/>
          <p:cNvSpPr txBox="1"/>
          <p:nvPr>
            <p:ph idx="10" type="dt"/>
          </p:nvPr>
        </p:nvSpPr>
        <p:spPr>
          <a:xfrm>
            <a:off x="1310143" y="6356350"/>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h44a970ce36d02707_0_883"/>
          <p:cNvSpPr txBox="1"/>
          <p:nvPr>
            <p:ph idx="11" type="ftr"/>
          </p:nvPr>
        </p:nvSpPr>
        <p:spPr>
          <a:xfrm>
            <a:off x="4510543"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h44a970ce36d02707_0_883"/>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orkflow">
  <p:cSld name="Workflow">
    <p:spTree>
      <p:nvGrpSpPr>
        <p:cNvPr id="169" name="Shape 169"/>
        <p:cNvGrpSpPr/>
        <p:nvPr/>
      </p:nvGrpSpPr>
      <p:grpSpPr>
        <a:xfrm>
          <a:off x="0" y="0"/>
          <a:ext cx="0" cy="0"/>
          <a:chOff x="0" y="0"/>
          <a:chExt cx="0" cy="0"/>
        </a:xfrm>
      </p:grpSpPr>
      <p:sp>
        <p:nvSpPr>
          <p:cNvPr id="170" name="Google Shape;170;h44a970ce36d02707_0_889"/>
          <p:cNvSpPr txBox="1"/>
          <p:nvPr>
            <p:ph idx="10" type="dt"/>
          </p:nvPr>
        </p:nvSpPr>
        <p:spPr>
          <a:xfrm>
            <a:off x="1310143" y="6356350"/>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h44a970ce36d02707_0_889"/>
          <p:cNvSpPr txBox="1"/>
          <p:nvPr>
            <p:ph idx="11" type="ftr"/>
          </p:nvPr>
        </p:nvSpPr>
        <p:spPr>
          <a:xfrm>
            <a:off x="4510543"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h44a970ce36d02707_0_889"/>
          <p:cNvSpPr txBox="1"/>
          <p:nvPr>
            <p:ph idx="12" type="sldNum"/>
          </p:nvPr>
        </p:nvSpPr>
        <p:spPr>
          <a:xfrm>
            <a:off x="11728704" y="6476841"/>
            <a:ext cx="452100" cy="3651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L"/>
              <a:t>‹#›</a:t>
            </a:fld>
            <a:endParaRPr/>
          </a:p>
        </p:txBody>
      </p:sp>
      <p:pic>
        <p:nvPicPr>
          <p:cNvPr descr="A document with text on it&#10;&#10;AI-generated content may be incorrect." id="173" name="Google Shape;173;h44a970ce36d02707_0_889"/>
          <p:cNvPicPr preferRelativeResize="0"/>
          <p:nvPr/>
        </p:nvPicPr>
        <p:blipFill rotWithShape="1">
          <a:blip r:embed="rId2">
            <a:alphaModFix/>
          </a:blip>
          <a:srcRect b="78094" l="11606" r="8034" t="8664"/>
          <a:stretch/>
        </p:blipFill>
        <p:spPr>
          <a:xfrm>
            <a:off x="1038256" y="2478278"/>
            <a:ext cx="10821413" cy="2294288"/>
          </a:xfrm>
          <a:prstGeom prst="rect">
            <a:avLst/>
          </a:prstGeom>
          <a:noFill/>
          <a:ln>
            <a:noFill/>
          </a:ln>
        </p:spPr>
      </p:pic>
      <p:sp>
        <p:nvSpPr>
          <p:cNvPr id="174" name="Google Shape;174;h44a970ce36d02707_0_889"/>
          <p:cNvSpPr txBox="1"/>
          <p:nvPr/>
        </p:nvSpPr>
        <p:spPr>
          <a:xfrm>
            <a:off x="3072268" y="679697"/>
            <a:ext cx="87534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IL" sz="4400">
                <a:solidFill>
                  <a:srgbClr val="009DBB"/>
                </a:solidFill>
                <a:latin typeface="Calibri"/>
                <a:ea typeface="Calibri"/>
                <a:cs typeface="Calibri"/>
                <a:sym typeface="Calibri"/>
              </a:rPr>
              <a:t>Workflow</a:t>
            </a:r>
            <a:endParaRPr b="0" sz="4400">
              <a:solidFill>
                <a:srgbClr val="009DBB"/>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2.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theme" Target="../theme/theme1.xml"/><Relationship Id="rId14" Type="http://schemas.openxmlformats.org/officeDocument/2006/relationships/slideLayout" Target="../slideLayouts/slideLayout2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31"/>
          <p:cNvPicPr preferRelativeResize="0"/>
          <p:nvPr/>
        </p:nvPicPr>
        <p:blipFill rotWithShape="1">
          <a:blip r:embed="rId1">
            <a:alphaModFix/>
          </a:blip>
          <a:srcRect b="0" l="0" r="0" t="0"/>
          <a:stretch/>
        </p:blipFill>
        <p:spPr>
          <a:xfrm>
            <a:off x="-333375" y="0"/>
            <a:ext cx="12192000" cy="6858000"/>
          </a:xfrm>
          <a:prstGeom prst="rect">
            <a:avLst/>
          </a:prstGeom>
          <a:noFill/>
          <a:ln>
            <a:noFill/>
          </a:ln>
        </p:spPr>
      </p:pic>
      <p:sp>
        <p:nvSpPr>
          <p:cNvPr id="11" name="Google Shape;11;p31"/>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9DBB"/>
              </a:buClr>
              <a:buSzPts val="4400"/>
              <a:buFont typeface="Calibri"/>
              <a:buNone/>
              <a:defRPr b="0" i="0" sz="4400" u="none" cap="none" strike="noStrike">
                <a:solidFill>
                  <a:srgbClr val="009DBB"/>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31"/>
          <p:cNvSpPr txBox="1"/>
          <p:nvPr>
            <p:ph idx="1" type="body"/>
          </p:nvPr>
        </p:nvSpPr>
        <p:spPr>
          <a:xfrm>
            <a:off x="1310143" y="1825625"/>
            <a:ext cx="10515600" cy="4351338"/>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0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31"/>
          <p:cNvSpPr txBox="1"/>
          <p:nvPr>
            <p:ph idx="10" type="dt"/>
          </p:nvPr>
        </p:nvSpPr>
        <p:spPr>
          <a:xfrm>
            <a:off x="1310143" y="6356350"/>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1"/>
          <p:cNvSpPr txBox="1"/>
          <p:nvPr>
            <p:ph idx="11" type="ftr"/>
          </p:nvPr>
        </p:nvSpPr>
        <p:spPr>
          <a:xfrm>
            <a:off x="4510543"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31"/>
          <p:cNvSpPr txBox="1"/>
          <p:nvPr>
            <p:ph idx="12" type="sldNum"/>
          </p:nvPr>
        </p:nvSpPr>
        <p:spPr>
          <a:xfrm>
            <a:off x="11728704" y="6476841"/>
            <a:ext cx="452233" cy="365125"/>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0" i="0" sz="1200" u="none" cap="none" strike="noStrike">
                <a:solidFill>
                  <a:srgbClr val="888888"/>
                </a:solidFill>
                <a:latin typeface="Calibri"/>
                <a:ea typeface="Calibri"/>
                <a:cs typeface="Calibri"/>
                <a:sym typeface="Calibri"/>
              </a:defRPr>
            </a:lvl1pPr>
            <a:lvl2pPr indent="0" lvl="1" marL="0" marR="0" rtl="0" algn="ctr">
              <a:spcBef>
                <a:spcPts val="0"/>
              </a:spcBef>
              <a:buNone/>
              <a:defRPr b="0" i="0" sz="1200" u="none" cap="none" strike="noStrike">
                <a:solidFill>
                  <a:srgbClr val="888888"/>
                </a:solidFill>
                <a:latin typeface="Calibri"/>
                <a:ea typeface="Calibri"/>
                <a:cs typeface="Calibri"/>
                <a:sym typeface="Calibri"/>
              </a:defRPr>
            </a:lvl2pPr>
            <a:lvl3pPr indent="0" lvl="2" marL="0" marR="0" rtl="0" algn="ctr">
              <a:spcBef>
                <a:spcPts val="0"/>
              </a:spcBef>
              <a:buNone/>
              <a:defRPr b="0" i="0" sz="1200" u="none" cap="none" strike="noStrike">
                <a:solidFill>
                  <a:srgbClr val="888888"/>
                </a:solidFill>
                <a:latin typeface="Calibri"/>
                <a:ea typeface="Calibri"/>
                <a:cs typeface="Calibri"/>
                <a:sym typeface="Calibri"/>
              </a:defRPr>
            </a:lvl3pPr>
            <a:lvl4pPr indent="0" lvl="3" marL="0" marR="0" rtl="0" algn="ctr">
              <a:spcBef>
                <a:spcPts val="0"/>
              </a:spcBef>
              <a:buNone/>
              <a:defRPr b="0" i="0" sz="1200" u="none" cap="none" strike="noStrike">
                <a:solidFill>
                  <a:srgbClr val="888888"/>
                </a:solidFill>
                <a:latin typeface="Calibri"/>
                <a:ea typeface="Calibri"/>
                <a:cs typeface="Calibri"/>
                <a:sym typeface="Calibri"/>
              </a:defRPr>
            </a:lvl4pPr>
            <a:lvl5pPr indent="0" lvl="4" marL="0" marR="0" rtl="0" algn="ctr">
              <a:spcBef>
                <a:spcPts val="0"/>
              </a:spcBef>
              <a:buNone/>
              <a:defRPr b="0" i="0" sz="1200" u="none" cap="none" strike="noStrike">
                <a:solidFill>
                  <a:srgbClr val="888888"/>
                </a:solidFill>
                <a:latin typeface="Calibri"/>
                <a:ea typeface="Calibri"/>
                <a:cs typeface="Calibri"/>
                <a:sym typeface="Calibri"/>
              </a:defRPr>
            </a:lvl5pPr>
            <a:lvl6pPr indent="0" lvl="5" marL="0" marR="0" rtl="0" algn="ctr">
              <a:spcBef>
                <a:spcPts val="0"/>
              </a:spcBef>
              <a:buNone/>
              <a:defRPr b="0" i="0" sz="1200" u="none" cap="none" strike="noStrike">
                <a:solidFill>
                  <a:srgbClr val="888888"/>
                </a:solidFill>
                <a:latin typeface="Calibri"/>
                <a:ea typeface="Calibri"/>
                <a:cs typeface="Calibri"/>
                <a:sym typeface="Calibri"/>
              </a:defRPr>
            </a:lvl6pPr>
            <a:lvl7pPr indent="0" lvl="6" marL="0" marR="0" rtl="0" algn="ctr">
              <a:spcBef>
                <a:spcPts val="0"/>
              </a:spcBef>
              <a:buNone/>
              <a:defRPr b="0" i="0" sz="1200" u="none" cap="none" strike="noStrike">
                <a:solidFill>
                  <a:srgbClr val="888888"/>
                </a:solidFill>
                <a:latin typeface="Calibri"/>
                <a:ea typeface="Calibri"/>
                <a:cs typeface="Calibri"/>
                <a:sym typeface="Calibri"/>
              </a:defRPr>
            </a:lvl7pPr>
            <a:lvl8pPr indent="0" lvl="7" marL="0" marR="0" rtl="0" algn="ctr">
              <a:spcBef>
                <a:spcPts val="0"/>
              </a:spcBef>
              <a:buNone/>
              <a:defRPr b="0" i="0" sz="1200" u="none" cap="none" strike="noStrike">
                <a:solidFill>
                  <a:srgbClr val="888888"/>
                </a:solidFill>
                <a:latin typeface="Calibri"/>
                <a:ea typeface="Calibri"/>
                <a:cs typeface="Calibri"/>
                <a:sym typeface="Calibri"/>
              </a:defRPr>
            </a:lvl8pPr>
            <a:lvl9pPr indent="0" lvl="8" marL="0" marR="0" rtl="0" algn="ctr">
              <a:spcBef>
                <a:spcPts val="0"/>
              </a:spcBef>
              <a:buNone/>
              <a:defRPr b="0" i="0" sz="12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IL"/>
              <a:t>‹#›</a:t>
            </a:fld>
            <a:endParaRPr/>
          </a:p>
        </p:txBody>
      </p:sp>
      <p:pic>
        <p:nvPicPr>
          <p:cNvPr id="16" name="Google Shape;16;p31"/>
          <p:cNvPicPr preferRelativeResize="0"/>
          <p:nvPr/>
        </p:nvPicPr>
        <p:blipFill rotWithShape="1">
          <a:blip r:embed="rId2">
            <a:alphaModFix/>
          </a:blip>
          <a:srcRect b="0" l="0" r="0" t="0"/>
          <a:stretch/>
        </p:blipFill>
        <p:spPr>
          <a:xfrm>
            <a:off x="9052957" y="6139952"/>
            <a:ext cx="2642865" cy="79791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pic>
        <p:nvPicPr>
          <p:cNvPr id="93" name="Google Shape;93;h44a970ce36d02707_0_812"/>
          <p:cNvPicPr preferRelativeResize="0"/>
          <p:nvPr/>
        </p:nvPicPr>
        <p:blipFill rotWithShape="1">
          <a:blip r:embed="rId1">
            <a:alphaModFix/>
          </a:blip>
          <a:srcRect b="0" l="0" r="0" t="0"/>
          <a:stretch/>
        </p:blipFill>
        <p:spPr>
          <a:xfrm>
            <a:off x="-333375" y="0"/>
            <a:ext cx="12192000" cy="6858000"/>
          </a:xfrm>
          <a:prstGeom prst="rect">
            <a:avLst/>
          </a:prstGeom>
          <a:noFill/>
          <a:ln>
            <a:noFill/>
          </a:ln>
        </p:spPr>
      </p:pic>
      <p:sp>
        <p:nvSpPr>
          <p:cNvPr id="94" name="Google Shape;94;h44a970ce36d02707_0_812"/>
          <p:cNvSpPr txBox="1"/>
          <p:nvPr>
            <p:ph type="title"/>
          </p:nvPr>
        </p:nvSpPr>
        <p:spPr>
          <a:xfrm>
            <a:off x="3072268" y="401637"/>
            <a:ext cx="87534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9DBB"/>
              </a:buClr>
              <a:buSzPts val="4400"/>
              <a:buFont typeface="Calibri"/>
              <a:buNone/>
              <a:defRPr b="0" i="0" sz="4400" u="none" cap="none" strike="noStrike">
                <a:solidFill>
                  <a:srgbClr val="009DBB"/>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5" name="Google Shape;95;h44a970ce36d02707_0_812"/>
          <p:cNvSpPr txBox="1"/>
          <p:nvPr>
            <p:ph idx="1" type="body"/>
          </p:nvPr>
        </p:nvSpPr>
        <p:spPr>
          <a:xfrm>
            <a:off x="1310143" y="1825625"/>
            <a:ext cx="10515600" cy="43512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0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6" name="Google Shape;96;h44a970ce36d02707_0_812"/>
          <p:cNvSpPr txBox="1"/>
          <p:nvPr>
            <p:ph idx="10" type="dt"/>
          </p:nvPr>
        </p:nvSpPr>
        <p:spPr>
          <a:xfrm>
            <a:off x="1310143" y="6356350"/>
            <a:ext cx="2743200" cy="3651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7" name="Google Shape;97;h44a970ce36d02707_0_812"/>
          <p:cNvSpPr txBox="1"/>
          <p:nvPr>
            <p:ph idx="11" type="ftr"/>
          </p:nvPr>
        </p:nvSpPr>
        <p:spPr>
          <a:xfrm>
            <a:off x="4510543" y="6356350"/>
            <a:ext cx="4114800" cy="3651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h44a970ce36d02707_0_812"/>
          <p:cNvSpPr txBox="1"/>
          <p:nvPr>
            <p:ph idx="12" type="sldNum"/>
          </p:nvPr>
        </p:nvSpPr>
        <p:spPr>
          <a:xfrm>
            <a:off x="11728704" y="6476841"/>
            <a:ext cx="452100" cy="365100"/>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0" i="0" sz="1200" u="none" cap="none" strike="noStrike">
                <a:solidFill>
                  <a:srgbClr val="888888"/>
                </a:solidFill>
                <a:latin typeface="Calibri"/>
                <a:ea typeface="Calibri"/>
                <a:cs typeface="Calibri"/>
                <a:sym typeface="Calibri"/>
              </a:defRPr>
            </a:lvl1pPr>
            <a:lvl2pPr indent="0" lvl="1" marL="0" marR="0" rtl="0" algn="ctr">
              <a:spcBef>
                <a:spcPts val="0"/>
              </a:spcBef>
              <a:buNone/>
              <a:defRPr b="0" i="0" sz="1200" u="none" cap="none" strike="noStrike">
                <a:solidFill>
                  <a:srgbClr val="888888"/>
                </a:solidFill>
                <a:latin typeface="Calibri"/>
                <a:ea typeface="Calibri"/>
                <a:cs typeface="Calibri"/>
                <a:sym typeface="Calibri"/>
              </a:defRPr>
            </a:lvl2pPr>
            <a:lvl3pPr indent="0" lvl="2" marL="0" marR="0" rtl="0" algn="ctr">
              <a:spcBef>
                <a:spcPts val="0"/>
              </a:spcBef>
              <a:buNone/>
              <a:defRPr b="0" i="0" sz="1200" u="none" cap="none" strike="noStrike">
                <a:solidFill>
                  <a:srgbClr val="888888"/>
                </a:solidFill>
                <a:latin typeface="Calibri"/>
                <a:ea typeface="Calibri"/>
                <a:cs typeface="Calibri"/>
                <a:sym typeface="Calibri"/>
              </a:defRPr>
            </a:lvl3pPr>
            <a:lvl4pPr indent="0" lvl="3" marL="0" marR="0" rtl="0" algn="ctr">
              <a:spcBef>
                <a:spcPts val="0"/>
              </a:spcBef>
              <a:buNone/>
              <a:defRPr b="0" i="0" sz="1200" u="none" cap="none" strike="noStrike">
                <a:solidFill>
                  <a:srgbClr val="888888"/>
                </a:solidFill>
                <a:latin typeface="Calibri"/>
                <a:ea typeface="Calibri"/>
                <a:cs typeface="Calibri"/>
                <a:sym typeface="Calibri"/>
              </a:defRPr>
            </a:lvl4pPr>
            <a:lvl5pPr indent="0" lvl="4" marL="0" marR="0" rtl="0" algn="ctr">
              <a:spcBef>
                <a:spcPts val="0"/>
              </a:spcBef>
              <a:buNone/>
              <a:defRPr b="0" i="0" sz="1200" u="none" cap="none" strike="noStrike">
                <a:solidFill>
                  <a:srgbClr val="888888"/>
                </a:solidFill>
                <a:latin typeface="Calibri"/>
                <a:ea typeface="Calibri"/>
                <a:cs typeface="Calibri"/>
                <a:sym typeface="Calibri"/>
              </a:defRPr>
            </a:lvl5pPr>
            <a:lvl6pPr indent="0" lvl="5" marL="0" marR="0" rtl="0" algn="ctr">
              <a:spcBef>
                <a:spcPts val="0"/>
              </a:spcBef>
              <a:buNone/>
              <a:defRPr b="0" i="0" sz="1200" u="none" cap="none" strike="noStrike">
                <a:solidFill>
                  <a:srgbClr val="888888"/>
                </a:solidFill>
                <a:latin typeface="Calibri"/>
                <a:ea typeface="Calibri"/>
                <a:cs typeface="Calibri"/>
                <a:sym typeface="Calibri"/>
              </a:defRPr>
            </a:lvl6pPr>
            <a:lvl7pPr indent="0" lvl="6" marL="0" marR="0" rtl="0" algn="ctr">
              <a:spcBef>
                <a:spcPts val="0"/>
              </a:spcBef>
              <a:buNone/>
              <a:defRPr b="0" i="0" sz="1200" u="none" cap="none" strike="noStrike">
                <a:solidFill>
                  <a:srgbClr val="888888"/>
                </a:solidFill>
                <a:latin typeface="Calibri"/>
                <a:ea typeface="Calibri"/>
                <a:cs typeface="Calibri"/>
                <a:sym typeface="Calibri"/>
              </a:defRPr>
            </a:lvl7pPr>
            <a:lvl8pPr indent="0" lvl="7" marL="0" marR="0" rtl="0" algn="ctr">
              <a:spcBef>
                <a:spcPts val="0"/>
              </a:spcBef>
              <a:buNone/>
              <a:defRPr b="0" i="0" sz="1200" u="none" cap="none" strike="noStrike">
                <a:solidFill>
                  <a:srgbClr val="888888"/>
                </a:solidFill>
                <a:latin typeface="Calibri"/>
                <a:ea typeface="Calibri"/>
                <a:cs typeface="Calibri"/>
                <a:sym typeface="Calibri"/>
              </a:defRPr>
            </a:lvl8pPr>
            <a:lvl9pPr indent="0" lvl="8" marL="0" marR="0" rtl="0" algn="ctr">
              <a:spcBef>
                <a:spcPts val="0"/>
              </a:spcBef>
              <a:buNone/>
              <a:defRPr b="0" i="0" sz="12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IL"/>
              <a:t>‹#›</a:t>
            </a:fld>
            <a:endParaRPr/>
          </a:p>
        </p:txBody>
      </p:sp>
      <p:pic>
        <p:nvPicPr>
          <p:cNvPr id="99" name="Google Shape;99;h44a970ce36d02707_0_812"/>
          <p:cNvPicPr preferRelativeResize="0"/>
          <p:nvPr/>
        </p:nvPicPr>
        <p:blipFill rotWithShape="1">
          <a:blip r:embed="rId2">
            <a:alphaModFix/>
          </a:blip>
          <a:srcRect b="0" l="0" r="0" t="0"/>
          <a:stretch/>
        </p:blipFill>
        <p:spPr>
          <a:xfrm>
            <a:off x="9052957" y="6139952"/>
            <a:ext cx="2642864" cy="79791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7.jp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omments" Target="../comments/commen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comments" Target="../comments/comment3.xml"/><Relationship Id="rId4" Type="http://schemas.openxmlformats.org/officeDocument/2006/relationships/image" Target="../media/image14.png"/><Relationship Id="rId5" Type="http://schemas.openxmlformats.org/officeDocument/2006/relationships/image" Target="../media/image9.png"/><Relationship Id="rId6" Type="http://schemas.openxmlformats.org/officeDocument/2006/relationships/image" Target="../media/image16.png"/><Relationship Id="rId7"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jp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 name="Shape 178"/>
        <p:cNvGrpSpPr/>
        <p:nvPr/>
      </p:nvGrpSpPr>
      <p:grpSpPr>
        <a:xfrm>
          <a:off x="0" y="0"/>
          <a:ext cx="0" cy="0"/>
          <a:chOff x="0" y="0"/>
          <a:chExt cx="0" cy="0"/>
        </a:xfrm>
      </p:grpSpPr>
      <p:sp>
        <p:nvSpPr>
          <p:cNvPr id="179" name="Google Shape;179;p1"/>
          <p:cNvSpPr/>
          <p:nvPr/>
        </p:nvSpPr>
        <p:spPr>
          <a:xfrm>
            <a:off x="0" y="0"/>
            <a:ext cx="12192000" cy="68580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A green object on a black surface&#10;&#10;Description automatically generated with low confidence" id="180" name="Google Shape;180;p1"/>
          <p:cNvPicPr preferRelativeResize="0"/>
          <p:nvPr/>
        </p:nvPicPr>
        <p:blipFill rotWithShape="1">
          <a:blip r:embed="rId3">
            <a:alphaModFix/>
          </a:blip>
          <a:srcRect b="26261" l="0" r="11818" t="20416"/>
          <a:stretch/>
        </p:blipFill>
        <p:spPr>
          <a:xfrm>
            <a:off x="4547937" y="0"/>
            <a:ext cx="7644062" cy="3656797"/>
          </a:xfrm>
          <a:prstGeom prst="rect">
            <a:avLst/>
          </a:prstGeom>
          <a:noFill/>
          <a:ln>
            <a:noFill/>
          </a:ln>
        </p:spPr>
      </p:pic>
      <p:pic>
        <p:nvPicPr>
          <p:cNvPr id="181" name="Google Shape;181;p1"/>
          <p:cNvPicPr preferRelativeResize="0"/>
          <p:nvPr/>
        </p:nvPicPr>
        <p:blipFill rotWithShape="1">
          <a:blip r:embed="rId4">
            <a:alphaModFix/>
          </a:blip>
          <a:srcRect b="7292" l="0" r="-1" t="18830"/>
          <a:stretch/>
        </p:blipFill>
        <p:spPr>
          <a:xfrm>
            <a:off x="4547938" y="3681409"/>
            <a:ext cx="7644062" cy="3176595"/>
          </a:xfrm>
          <a:prstGeom prst="rect">
            <a:avLst/>
          </a:prstGeom>
          <a:noFill/>
          <a:ln>
            <a:noFill/>
          </a:ln>
        </p:spPr>
      </p:pic>
      <p:sp>
        <p:nvSpPr>
          <p:cNvPr id="182" name="Google Shape;182;p1"/>
          <p:cNvSpPr/>
          <p:nvPr/>
        </p:nvSpPr>
        <p:spPr>
          <a:xfrm>
            <a:off x="0" y="0"/>
            <a:ext cx="12192000" cy="6858000"/>
          </a:xfrm>
          <a:prstGeom prst="rect">
            <a:avLst/>
          </a:prstGeom>
          <a:gradFill>
            <a:gsLst>
              <a:gs pos="0">
                <a:srgbClr val="0C0C0C"/>
              </a:gs>
              <a:gs pos="36000">
                <a:srgbClr val="0C0C0C"/>
              </a:gs>
              <a:gs pos="81000">
                <a:srgbClr val="0C0C0C">
                  <a:alpha val="0"/>
                </a:srgbClr>
              </a:gs>
              <a:gs pos="100000">
                <a:srgbClr val="0C0C0C">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3" name="Google Shape;183;p1"/>
          <p:cNvSpPr txBox="1"/>
          <p:nvPr>
            <p:ph type="ctrTitle"/>
          </p:nvPr>
        </p:nvSpPr>
        <p:spPr>
          <a:xfrm>
            <a:off x="838199" y="1956582"/>
            <a:ext cx="6234954" cy="1724819"/>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alibri"/>
              <a:buNone/>
            </a:pPr>
            <a:r>
              <a:rPr lang="en-IL" sz="4000">
                <a:solidFill>
                  <a:schemeClr val="lt1"/>
                </a:solidFill>
              </a:rPr>
              <a:t>I Can See </a:t>
            </a:r>
            <a:r>
              <a:rPr b="1" lang="en-IL" sz="4000">
                <a:solidFill>
                  <a:srgbClr val="FF0000"/>
                </a:solidFill>
              </a:rPr>
              <a:t>U</a:t>
            </a:r>
            <a:r>
              <a:rPr b="1" lang="en-IL" sz="4000">
                <a:solidFill>
                  <a:schemeClr val="lt1"/>
                </a:solidFill>
              </a:rPr>
              <a:t>.</a:t>
            </a:r>
            <a:br>
              <a:rPr lang="en-IL" sz="4000">
                <a:solidFill>
                  <a:schemeClr val="lt1"/>
                </a:solidFill>
              </a:rPr>
            </a:br>
            <a:r>
              <a:rPr lang="en-IL" sz="2400">
                <a:solidFill>
                  <a:schemeClr val="lt1"/>
                </a:solidFill>
              </a:rPr>
              <a:t>Indicator-Based Information Operation Detection and Topic-Aware Group Analysis</a:t>
            </a:r>
            <a:endParaRPr sz="4000">
              <a:solidFill>
                <a:schemeClr val="lt1"/>
              </a:solidFill>
            </a:endParaRPr>
          </a:p>
        </p:txBody>
      </p:sp>
      <p:sp>
        <p:nvSpPr>
          <p:cNvPr id="184" name="Google Shape;184;p1"/>
          <p:cNvSpPr txBox="1"/>
          <p:nvPr>
            <p:ph idx="1" type="subTitle"/>
          </p:nvPr>
        </p:nvSpPr>
        <p:spPr>
          <a:xfrm>
            <a:off x="838200" y="3824627"/>
            <a:ext cx="4361329" cy="191780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FFFFFF"/>
              </a:buClr>
              <a:buSzPts val="2000"/>
              <a:buNone/>
            </a:pPr>
            <a:r>
              <a:rPr b="1" lang="en-IL">
                <a:solidFill>
                  <a:srgbClr val="FFFFFF"/>
                </a:solidFill>
              </a:rPr>
              <a:t>23.09.2026</a:t>
            </a:r>
            <a:endParaRPr/>
          </a:p>
          <a:p>
            <a:pPr indent="0" lvl="0" marL="0" rtl="0" algn="l">
              <a:lnSpc>
                <a:spcPct val="90000"/>
              </a:lnSpc>
              <a:spcBef>
                <a:spcPts val="1000"/>
              </a:spcBef>
              <a:spcAft>
                <a:spcPts val="0"/>
              </a:spcAft>
              <a:buClr>
                <a:srgbClr val="888888"/>
              </a:buClr>
              <a:buSzPts val="2000"/>
              <a:buNone/>
            </a:pPr>
            <a:r>
              <a:rPr lang="en-IL"/>
              <a:t>Amit Ner Gaon, Noa Tal</a:t>
            </a:r>
            <a:endParaRPr/>
          </a:p>
          <a:p>
            <a:pPr indent="0" lvl="0" marL="0" rtl="0" algn="l">
              <a:lnSpc>
                <a:spcPct val="90000"/>
              </a:lnSpc>
              <a:spcBef>
                <a:spcPts val="1000"/>
              </a:spcBef>
              <a:spcAft>
                <a:spcPts val="0"/>
              </a:spcAft>
              <a:buClr>
                <a:srgbClr val="888888"/>
              </a:buClr>
              <a:buSzPts val="2000"/>
              <a:buNone/>
            </a:pPr>
            <a:r>
              <a:rPr lang="en-IL"/>
              <a:t>Prof. Rami Puzis</a:t>
            </a:r>
            <a:endParaRPr/>
          </a:p>
          <a:p>
            <a:pPr indent="0" lvl="0" marL="0" rtl="0" algn="l">
              <a:lnSpc>
                <a:spcPct val="90000"/>
              </a:lnSpc>
              <a:spcBef>
                <a:spcPts val="1000"/>
              </a:spcBef>
              <a:spcAft>
                <a:spcPts val="0"/>
              </a:spcAft>
              <a:buClr>
                <a:srgbClr val="888888"/>
              </a:buClr>
              <a:buSzPts val="2000"/>
              <a:buNone/>
            </a:pPr>
            <a:r>
              <a:t/>
            </a:r>
            <a:endParaRPr b="1">
              <a:solidFill>
                <a:srgbClr val="FFFFFF"/>
              </a:solidFill>
            </a:endParaRPr>
          </a:p>
        </p:txBody>
      </p:sp>
      <p:cxnSp>
        <p:nvCxnSpPr>
          <p:cNvPr id="185" name="Google Shape;185;p1"/>
          <p:cNvCxnSpPr/>
          <p:nvPr/>
        </p:nvCxnSpPr>
        <p:spPr>
          <a:xfrm rot="10800000">
            <a:off x="838200" y="3681408"/>
            <a:ext cx="11353799" cy="0"/>
          </a:xfrm>
          <a:prstGeom prst="straightConnector1">
            <a:avLst/>
          </a:prstGeom>
          <a:noFill/>
          <a:ln cap="flat" cmpd="sng" w="12700">
            <a:solidFill>
              <a:schemeClr val="accent2"/>
            </a:solidFill>
            <a:prstDash val="solid"/>
            <a:miter lim="8000"/>
            <a:headEnd len="sm" w="sm" type="none"/>
            <a:tailEnd len="sm" w="sm" type="none"/>
          </a:ln>
        </p:spPr>
      </p:cxnSp>
      <p:sp>
        <p:nvSpPr>
          <p:cNvPr id="186" name="Google Shape;186;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FFFF"/>
              </a:buClr>
              <a:buSzPts val="1200"/>
              <a:buFont typeface="Calibri"/>
              <a:buNone/>
            </a:pPr>
            <a:fld id="{00000000-1234-1234-1234-123412341234}" type="slidenum">
              <a:rPr b="0" i="0" lang="en-IL" sz="1200" u="none" cap="none" strike="noStrike">
                <a:solidFill>
                  <a:srgbClr val="FFFFFF"/>
                </a:solidFill>
                <a:latin typeface="Calibri"/>
                <a:ea typeface="Calibri"/>
                <a:cs typeface="Calibri"/>
                <a:sym typeface="Calibri"/>
              </a:rPr>
              <a:t>‹#›</a:t>
            </a:fld>
            <a:endParaRPr b="0" i="0" sz="1200" u="none" cap="none" strike="noStrike">
              <a:solidFill>
                <a:srgbClr val="FFFFFF"/>
              </a:solidFill>
              <a:latin typeface="Calibri"/>
              <a:ea typeface="Calibri"/>
              <a:cs typeface="Calibri"/>
              <a:sym typeface="Calibri"/>
            </a:endParaRPr>
          </a:p>
        </p:txBody>
      </p:sp>
      <p:sp>
        <p:nvSpPr>
          <p:cNvPr id="187" name="Google Shape;187;p1"/>
          <p:cNvSpPr txBox="1"/>
          <p:nvPr/>
        </p:nvSpPr>
        <p:spPr>
          <a:xfrm>
            <a:off x="838200" y="3706020"/>
            <a:ext cx="3138714" cy="625462"/>
          </a:xfrm>
          <a:prstGeom prst="rect">
            <a:avLst/>
          </a:prstGeom>
          <a:noFill/>
          <a:ln>
            <a:noFill/>
          </a:ln>
        </p:spPr>
        <p:txBody>
          <a:bodyPr anchorCtr="0" anchor="b" bIns="45700" lIns="91425" spcFirstLastPara="1" rIns="91425" wrap="square" tIns="45700">
            <a:normAutofit lnSpcReduction="10000"/>
          </a:bodyPr>
          <a:lstStyle/>
          <a:p>
            <a:pPr indent="0" lvl="0" marL="0" marR="0" rtl="0" algn="l">
              <a:lnSpc>
                <a:spcPct val="90000"/>
              </a:lnSpc>
              <a:spcBef>
                <a:spcPts val="0"/>
              </a:spcBef>
              <a:spcAft>
                <a:spcPts val="0"/>
              </a:spcAft>
              <a:buClr>
                <a:srgbClr val="009DBB"/>
              </a:buClr>
              <a:buSzPts val="4000"/>
              <a:buFont typeface="Calibri"/>
              <a:buNone/>
            </a:pPr>
            <a:r>
              <a:t/>
            </a:r>
            <a:endParaRPr b="0" i="0" sz="4000" u="none" cap="none" strike="noStrike">
              <a:solidFill>
                <a:srgbClr val="FFFFFF"/>
              </a:solidFill>
              <a:latin typeface="Calibri"/>
              <a:ea typeface="Calibri"/>
              <a:cs typeface="Calibri"/>
              <a:sym typeface="Calibri"/>
            </a:endParaRPr>
          </a:p>
        </p:txBody>
      </p:sp>
      <p:pic>
        <p:nvPicPr>
          <p:cNvPr id="188" name="Google Shape;188;p1"/>
          <p:cNvPicPr preferRelativeResize="0"/>
          <p:nvPr/>
        </p:nvPicPr>
        <p:blipFill rotWithShape="1">
          <a:blip r:embed="rId5">
            <a:alphaModFix/>
          </a:blip>
          <a:srcRect b="0" l="0" r="0" t="0"/>
          <a:stretch/>
        </p:blipFill>
        <p:spPr>
          <a:xfrm>
            <a:off x="50203" y="0"/>
            <a:ext cx="2642865" cy="79791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Motivation</a:t>
            </a:r>
            <a:endParaRPr/>
          </a:p>
        </p:txBody>
      </p:sp>
      <p:sp>
        <p:nvSpPr>
          <p:cNvPr id="194" name="Google Shape;194;p2"/>
          <p:cNvSpPr txBox="1"/>
          <p:nvPr>
            <p:ph idx="1" type="body"/>
          </p:nvPr>
        </p:nvSpPr>
        <p:spPr>
          <a:xfrm>
            <a:off x="1236990" y="1821101"/>
            <a:ext cx="5944860" cy="4749032"/>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3000"/>
              <a:buChar char="•"/>
            </a:pPr>
            <a:r>
              <a:rPr lang="en-IL" sz="3000"/>
              <a:t>Social media platforms are central spaces for public discourse. </a:t>
            </a:r>
            <a:endParaRPr/>
          </a:p>
          <a:p>
            <a:pPr indent="0" lvl="0" marL="0" rtl="0" algn="l">
              <a:lnSpc>
                <a:spcPct val="90000"/>
              </a:lnSpc>
              <a:spcBef>
                <a:spcPts val="1000"/>
              </a:spcBef>
              <a:spcAft>
                <a:spcPts val="0"/>
              </a:spcAft>
              <a:buClr>
                <a:schemeClr val="dk1"/>
              </a:buClr>
              <a:buSzPts val="1400"/>
              <a:buNone/>
            </a:pPr>
            <a:r>
              <a:rPr lang="en-IL" sz="1400"/>
              <a:t>Seckin et al. (2025). “Sharing without clicking on news in social media.”</a:t>
            </a:r>
            <a:endParaRPr/>
          </a:p>
          <a:p>
            <a:pPr indent="-228600" lvl="0" marL="228600" rtl="0" algn="l">
              <a:lnSpc>
                <a:spcPct val="90000"/>
              </a:lnSpc>
              <a:spcBef>
                <a:spcPts val="1000"/>
              </a:spcBef>
              <a:spcAft>
                <a:spcPts val="0"/>
              </a:spcAft>
              <a:buClr>
                <a:srgbClr val="FF0000"/>
              </a:buClr>
              <a:buSzPts val="3000"/>
              <a:buChar char="•"/>
            </a:pPr>
            <a:r>
              <a:rPr b="1" lang="en-IL" sz="3000">
                <a:solidFill>
                  <a:srgbClr val="FF0000"/>
                </a:solidFill>
              </a:rPr>
              <a:t>Information operations (IOs) </a:t>
            </a:r>
            <a:r>
              <a:rPr lang="en-IL" sz="3000"/>
              <a:t>exploit the openness of social media to manipulate online discourse, threatening democratic processes, public trust, and societal cohesion.</a:t>
            </a:r>
            <a:endParaRPr/>
          </a:p>
          <a:p>
            <a:pPr indent="0" lvl="0" marL="0" rtl="0" algn="l">
              <a:lnSpc>
                <a:spcPct val="90000"/>
              </a:lnSpc>
              <a:spcBef>
                <a:spcPts val="1000"/>
              </a:spcBef>
              <a:spcAft>
                <a:spcPts val="0"/>
              </a:spcAft>
              <a:buClr>
                <a:schemeClr val="dk1"/>
              </a:buClr>
              <a:buSzPts val="1400"/>
              <a:buNone/>
            </a:pPr>
            <a:r>
              <a:rPr lang="en-IL" sz="1400"/>
              <a:t>Weedon et al. (2017), “Information Operations and Facebook”</a:t>
            </a:r>
            <a:endParaRPr/>
          </a:p>
        </p:txBody>
      </p:sp>
      <p:pic>
        <p:nvPicPr>
          <p:cNvPr id="195" name="Google Shape;195;p2"/>
          <p:cNvPicPr preferRelativeResize="0"/>
          <p:nvPr/>
        </p:nvPicPr>
        <p:blipFill rotWithShape="1">
          <a:blip r:embed="rId3">
            <a:alphaModFix/>
          </a:blip>
          <a:srcRect b="9582" l="0" r="0" t="0"/>
          <a:stretch/>
        </p:blipFill>
        <p:spPr>
          <a:xfrm>
            <a:off x="7001397" y="1546558"/>
            <a:ext cx="5181600" cy="4210775"/>
          </a:xfrm>
          <a:prstGeom prst="rect">
            <a:avLst/>
          </a:prstGeom>
          <a:noFill/>
          <a:ln>
            <a:noFill/>
          </a:ln>
        </p:spPr>
      </p:pic>
      <p:sp>
        <p:nvSpPr>
          <p:cNvPr id="196" name="Google Shape;196;p2"/>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IO &amp; Coordination</a:t>
            </a:r>
            <a:endParaRPr/>
          </a:p>
        </p:txBody>
      </p:sp>
      <p:sp>
        <p:nvSpPr>
          <p:cNvPr id="202" name="Google Shape;202;p3"/>
          <p:cNvSpPr txBox="1"/>
          <p:nvPr>
            <p:ph idx="1" type="body"/>
          </p:nvPr>
        </p:nvSpPr>
        <p:spPr>
          <a:xfrm>
            <a:off x="1243087" y="1825625"/>
            <a:ext cx="10582656" cy="2987007"/>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IL" sz="3200"/>
              <a:t>IOs rely on fleets of coordinated accounts acting toward a shared objective. Coordination is what amplifies their influence. </a:t>
            </a:r>
            <a:endParaRPr/>
          </a:p>
          <a:p>
            <a:pPr indent="0" lvl="0" marL="0" rtl="0" algn="l">
              <a:lnSpc>
                <a:spcPct val="90000"/>
              </a:lnSpc>
              <a:spcBef>
                <a:spcPts val="1000"/>
              </a:spcBef>
              <a:spcAft>
                <a:spcPts val="0"/>
              </a:spcAft>
              <a:buClr>
                <a:schemeClr val="dk1"/>
              </a:buClr>
              <a:buSzPct val="100000"/>
              <a:buNone/>
            </a:pPr>
            <a:r>
              <a:rPr lang="en-IL" sz="1500"/>
              <a:t>Pacheco et al. “Uncovering Coordinated Networks on Social Media: Methods and Case Studies”</a:t>
            </a:r>
            <a:endParaRPr/>
          </a:p>
          <a:p>
            <a:pPr indent="-228600" lvl="0" marL="228600" rtl="0" algn="l">
              <a:lnSpc>
                <a:spcPct val="90000"/>
              </a:lnSpc>
              <a:spcBef>
                <a:spcPts val="1000"/>
              </a:spcBef>
              <a:spcAft>
                <a:spcPts val="0"/>
              </a:spcAft>
              <a:buClr>
                <a:schemeClr val="dk1"/>
              </a:buClr>
              <a:buSzPct val="100000"/>
              <a:buChar char="•"/>
            </a:pPr>
            <a:r>
              <a:rPr lang="en-IL" sz="3200"/>
              <a:t>Coordinated activity leaves observable traces of behavioural similarity. </a:t>
            </a:r>
            <a:endParaRPr sz="3200"/>
          </a:p>
          <a:p>
            <a:pPr indent="0" lvl="0" marL="0" rtl="0" algn="l">
              <a:lnSpc>
                <a:spcPct val="90000"/>
              </a:lnSpc>
              <a:spcBef>
                <a:spcPts val="1000"/>
              </a:spcBef>
              <a:spcAft>
                <a:spcPts val="0"/>
              </a:spcAft>
              <a:buClr>
                <a:schemeClr val="dk1"/>
              </a:buClr>
              <a:buSzPct val="100000"/>
              <a:buNone/>
            </a:pPr>
            <a:r>
              <a:rPr lang="en-IL" sz="1500"/>
              <a:t>Luceri et al. (2024), “Unmasking the Web of Deceit: Uncovering Coordinated Activity to Expose Information Operations on Twitter”</a:t>
            </a:r>
            <a:endParaRPr sz="1500"/>
          </a:p>
          <a:p>
            <a:pPr indent="-228600" lvl="0" marL="228600" rtl="0" algn="l">
              <a:lnSpc>
                <a:spcPct val="90000"/>
              </a:lnSpc>
              <a:spcBef>
                <a:spcPts val="1000"/>
              </a:spcBef>
              <a:spcAft>
                <a:spcPts val="0"/>
              </a:spcAft>
              <a:buClr>
                <a:schemeClr val="dk1"/>
              </a:buClr>
              <a:buSzPct val="100000"/>
              <a:buChar char="•"/>
            </a:pPr>
            <a:r>
              <a:rPr lang="en-IL" sz="3200"/>
              <a:t>Therefore, </a:t>
            </a:r>
            <a:r>
              <a:rPr lang="en-IL" sz="3200">
                <a:solidFill>
                  <a:schemeClr val="accent6"/>
                </a:solidFill>
              </a:rPr>
              <a:t>identifying coordination is a key step toward detecting IO drivers.</a:t>
            </a:r>
            <a:endParaRPr/>
          </a:p>
          <a:p>
            <a:pPr indent="-40640" lvl="0" marL="228600" rtl="0" algn="l">
              <a:lnSpc>
                <a:spcPct val="90000"/>
              </a:lnSpc>
              <a:spcBef>
                <a:spcPts val="1000"/>
              </a:spcBef>
              <a:spcAft>
                <a:spcPts val="0"/>
              </a:spcAft>
              <a:buClr>
                <a:schemeClr val="dk1"/>
              </a:buClr>
              <a:buSzPct val="100000"/>
              <a:buNone/>
            </a:pPr>
            <a:r>
              <a:t/>
            </a:r>
            <a:endParaRPr sz="3200"/>
          </a:p>
        </p:txBody>
      </p:sp>
      <p:sp>
        <p:nvSpPr>
          <p:cNvPr id="203" name="Google Shape;203;p3"/>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pic>
        <p:nvPicPr>
          <p:cNvPr id="204" name="Google Shape;204;p3"/>
          <p:cNvPicPr preferRelativeResize="0"/>
          <p:nvPr/>
        </p:nvPicPr>
        <p:blipFill rotWithShape="1">
          <a:blip r:embed="rId3">
            <a:alphaModFix/>
          </a:blip>
          <a:srcRect b="2865" l="0" r="0" t="24253"/>
          <a:stretch/>
        </p:blipFill>
        <p:spPr>
          <a:xfrm>
            <a:off x="3603428" y="4398614"/>
            <a:ext cx="4985144" cy="255628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Related Work</a:t>
            </a:r>
            <a:endParaRPr/>
          </a:p>
        </p:txBody>
      </p:sp>
      <p:sp>
        <p:nvSpPr>
          <p:cNvPr id="210" name="Google Shape;210;p4"/>
          <p:cNvSpPr txBox="1"/>
          <p:nvPr>
            <p:ph idx="1" type="body"/>
          </p:nvPr>
        </p:nvSpPr>
        <p:spPr>
          <a:xfrm>
            <a:off x="1243087" y="1825625"/>
            <a:ext cx="10582656" cy="453035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b="1" lang="en-IL"/>
              <a:t>IO-Driver Detection Methods:</a:t>
            </a:r>
            <a:endParaRPr/>
          </a:p>
          <a:p>
            <a:pPr indent="-228600" lvl="0" marL="228600" rtl="0" algn="l">
              <a:lnSpc>
                <a:spcPct val="90000"/>
              </a:lnSpc>
              <a:spcBef>
                <a:spcPts val="900"/>
              </a:spcBef>
              <a:spcAft>
                <a:spcPts val="0"/>
              </a:spcAft>
              <a:buClr>
                <a:schemeClr val="dk1"/>
              </a:buClr>
              <a:buSzPts val="2400"/>
              <a:buChar char="•"/>
            </a:pPr>
            <a:r>
              <a:rPr b="1" lang="en-IL"/>
              <a:t>Node-Local: </a:t>
            </a:r>
            <a:r>
              <a:rPr lang="en-IL"/>
              <a:t>detect suspicious users from their individual content, activity, and behaviour.</a:t>
            </a:r>
            <a:endParaRPr/>
          </a:p>
          <a:p>
            <a:pPr indent="0" lvl="0" marL="342900" rtl="0" algn="l">
              <a:lnSpc>
                <a:spcPct val="90000"/>
              </a:lnSpc>
              <a:spcBef>
                <a:spcPts val="1000"/>
              </a:spcBef>
              <a:spcAft>
                <a:spcPts val="0"/>
              </a:spcAft>
              <a:buClr>
                <a:srgbClr val="7F7F7F"/>
              </a:buClr>
              <a:buSzPts val="1400"/>
              <a:buNone/>
            </a:pPr>
            <a:r>
              <a:rPr i="1" lang="en-IL" sz="1400">
                <a:solidFill>
                  <a:srgbClr val="7F7F7F"/>
                </a:solidFill>
              </a:rPr>
              <a:t>Tomaiuolo et al. (2020), A Survey on Troll Detection</a:t>
            </a:r>
            <a:endParaRPr/>
          </a:p>
          <a:p>
            <a:pPr indent="-228600" lvl="0" marL="228600" rtl="0" algn="l">
              <a:lnSpc>
                <a:spcPct val="90000"/>
              </a:lnSpc>
              <a:spcBef>
                <a:spcPts val="900"/>
              </a:spcBef>
              <a:spcAft>
                <a:spcPts val="0"/>
              </a:spcAft>
              <a:buClr>
                <a:schemeClr val="dk1"/>
              </a:buClr>
              <a:buSzPts val="2400"/>
              <a:buChar char="•"/>
            </a:pPr>
            <a:r>
              <a:rPr b="1" lang="en-IL"/>
              <a:t>Network-Based: </a:t>
            </a:r>
            <a:r>
              <a:rPr lang="en-IL"/>
              <a:t>detect coordinated groups from graph structure and behavioural similarity.</a:t>
            </a:r>
            <a:endParaRPr/>
          </a:p>
          <a:p>
            <a:pPr indent="0" lvl="0" marL="342900" rtl="0" algn="l">
              <a:lnSpc>
                <a:spcPct val="90000"/>
              </a:lnSpc>
              <a:spcBef>
                <a:spcPts val="1000"/>
              </a:spcBef>
              <a:spcAft>
                <a:spcPts val="0"/>
              </a:spcAft>
              <a:buClr>
                <a:srgbClr val="7F7F7F"/>
              </a:buClr>
              <a:buSzPts val="1400"/>
              <a:buNone/>
            </a:pPr>
            <a:r>
              <a:rPr i="1" lang="en-IL" sz="1400">
                <a:solidFill>
                  <a:srgbClr val="7F7F7F"/>
                </a:solidFill>
              </a:rPr>
              <a:t>Pacheco et al. (2021), Uncovering Coordinated Networks on Social Media: Methods and Case Studies</a:t>
            </a:r>
            <a:endParaRPr/>
          </a:p>
          <a:p>
            <a:pPr indent="-228600" lvl="0" marL="228600" rtl="0" algn="l">
              <a:lnSpc>
                <a:spcPct val="90000"/>
              </a:lnSpc>
              <a:spcBef>
                <a:spcPts val="900"/>
              </a:spcBef>
              <a:spcAft>
                <a:spcPts val="0"/>
              </a:spcAft>
              <a:buClr>
                <a:schemeClr val="dk1"/>
              </a:buClr>
              <a:buSzPts val="2400"/>
              <a:buChar char="•"/>
            </a:pPr>
            <a:r>
              <a:rPr b="1" lang="en-IL"/>
              <a:t>Hybrid: </a:t>
            </a:r>
            <a:r>
              <a:rPr lang="en-IL"/>
              <a:t>combine user content with network information to detect IO drivers.</a:t>
            </a:r>
            <a:endParaRPr/>
          </a:p>
          <a:p>
            <a:pPr indent="0" lvl="0" marL="342900" rtl="0" algn="l">
              <a:lnSpc>
                <a:spcPct val="90000"/>
              </a:lnSpc>
              <a:spcBef>
                <a:spcPts val="1000"/>
              </a:spcBef>
              <a:spcAft>
                <a:spcPts val="0"/>
              </a:spcAft>
              <a:buClr>
                <a:srgbClr val="7F7F7F"/>
              </a:buClr>
              <a:buSzPts val="1400"/>
              <a:buNone/>
            </a:pPr>
            <a:r>
              <a:rPr i="1" lang="en-IL" sz="1400">
                <a:solidFill>
                  <a:srgbClr val="7F7F7F"/>
                </a:solidFill>
              </a:rPr>
              <a:t>Minici et al. (2025), IOHunter: Graph Foundation Model to Uncover Online Information Operation</a:t>
            </a:r>
            <a:r>
              <a:rPr i="1" lang="en-IL" sz="1400">
                <a:solidFill>
                  <a:srgbClr val="7F7F7F"/>
                </a:solidFill>
              </a:rPr>
              <a:t>s</a:t>
            </a:r>
            <a:endParaRPr/>
          </a:p>
          <a:p>
            <a:pPr indent="0" lvl="0" marL="0" rtl="0" algn="ctr">
              <a:lnSpc>
                <a:spcPct val="90000"/>
              </a:lnSpc>
              <a:spcBef>
                <a:spcPts val="1000"/>
              </a:spcBef>
              <a:spcAft>
                <a:spcPts val="0"/>
              </a:spcAft>
              <a:buClr>
                <a:schemeClr val="dk1"/>
              </a:buClr>
              <a:buSzPts val="2000"/>
              <a:buNone/>
            </a:pPr>
            <a:r>
              <a:rPr b="1" lang="en-IL" sz="2000"/>
              <a:t>The gap: existing approaches either detect coordinated groups without quantifying each account’s depth of involvement, or implicitly encode structural embeddedness within black-box models. None provides an explicit, interpretable, account-level measure of coordination depth.</a:t>
            </a:r>
            <a:endParaRPr/>
          </a:p>
        </p:txBody>
      </p:sp>
      <p:sp>
        <p:nvSpPr>
          <p:cNvPr id="211" name="Google Shape;211;p4"/>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5"/>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Our Contributions</a:t>
            </a:r>
            <a:endParaRPr/>
          </a:p>
        </p:txBody>
      </p:sp>
      <p:sp>
        <p:nvSpPr>
          <p:cNvPr id="217" name="Google Shape;217;p5"/>
          <p:cNvSpPr txBox="1"/>
          <p:nvPr>
            <p:ph idx="1" type="body"/>
          </p:nvPr>
        </p:nvSpPr>
        <p:spPr>
          <a:xfrm>
            <a:off x="1243087" y="1825625"/>
            <a:ext cx="10582656" cy="4769728"/>
          </a:xfrm>
          <a:prstGeom prst="rect">
            <a:avLst/>
          </a:prstGeom>
          <a:noFill/>
          <a:ln>
            <a:noFill/>
          </a:ln>
        </p:spPr>
        <p:txBody>
          <a:bodyPr anchorCtr="0" anchor="t" bIns="45700" lIns="91425" spcFirstLastPara="1" rIns="91425" wrap="square" tIns="45700">
            <a:normAutofit/>
          </a:bodyPr>
          <a:lstStyle/>
          <a:p>
            <a:pPr indent="-254000" lvl="0" marL="228600" rtl="0" algn="l">
              <a:lnSpc>
                <a:spcPct val="90000"/>
              </a:lnSpc>
              <a:spcBef>
                <a:spcPts val="0"/>
              </a:spcBef>
              <a:spcAft>
                <a:spcPts val="0"/>
              </a:spcAft>
              <a:buClr>
                <a:schemeClr val="dk1"/>
              </a:buClr>
              <a:buSzPts val="4000"/>
              <a:buChar char="•"/>
            </a:pPr>
            <a:r>
              <a:rPr lang="en-IL" sz="4000"/>
              <a:t>An interpretable, indicator-based approach for account-level IO detection.</a:t>
            </a:r>
            <a:endParaRPr sz="4000"/>
          </a:p>
          <a:p>
            <a:pPr indent="0" lvl="0" marL="228600" rtl="0" algn="l">
              <a:lnSpc>
                <a:spcPct val="90000"/>
              </a:lnSpc>
              <a:spcBef>
                <a:spcPts val="1000"/>
              </a:spcBef>
              <a:spcAft>
                <a:spcPts val="0"/>
              </a:spcAft>
              <a:buClr>
                <a:schemeClr val="dk1"/>
              </a:buClr>
              <a:buSzPts val="4000"/>
              <a:buNone/>
            </a:pPr>
            <a:r>
              <a:t/>
            </a:r>
            <a:endParaRPr sz="4000"/>
          </a:p>
          <a:p>
            <a:pPr indent="-254000" lvl="0" marL="228600" rtl="0" algn="l">
              <a:lnSpc>
                <a:spcPct val="90000"/>
              </a:lnSpc>
              <a:spcBef>
                <a:spcPts val="1000"/>
              </a:spcBef>
              <a:spcAft>
                <a:spcPts val="0"/>
              </a:spcAft>
              <a:buClr>
                <a:schemeClr val="dk1"/>
              </a:buClr>
              <a:buSzPts val="4000"/>
              <a:buChar char="•"/>
            </a:pPr>
            <a:r>
              <a:rPr lang="en-IL" sz="4000"/>
              <a:t>Topic-aware Group analysis of the detected coordinated group (k-core), revealing the campaign’s agenda.</a:t>
            </a:r>
            <a:endParaRPr/>
          </a:p>
        </p:txBody>
      </p:sp>
      <p:sp>
        <p:nvSpPr>
          <p:cNvPr id="218" name="Google Shape;218;p5"/>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6"/>
          <p:cNvSpPr txBox="1"/>
          <p:nvPr>
            <p:ph type="title"/>
          </p:nvPr>
        </p:nvSpPr>
        <p:spPr>
          <a:xfrm>
            <a:off x="1479549" y="1709738"/>
            <a:ext cx="9914592"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9DBB"/>
              </a:buClr>
              <a:buSzPts val="5400"/>
              <a:buFont typeface="Calibri"/>
              <a:buNone/>
            </a:pPr>
            <a:br>
              <a:rPr lang="en-IL"/>
            </a:br>
            <a:r>
              <a:rPr lang="en-IL"/>
              <a:t>Interpretable Indicators</a:t>
            </a:r>
            <a:endParaRPr/>
          </a:p>
        </p:txBody>
      </p:sp>
      <p:sp>
        <p:nvSpPr>
          <p:cNvPr id="224" name="Google Shape;224;p6"/>
          <p:cNvSpPr txBox="1"/>
          <p:nvPr>
            <p:ph idx="1" type="body"/>
          </p:nvPr>
        </p:nvSpPr>
        <p:spPr>
          <a:xfrm>
            <a:off x="14795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
        <p:nvSpPr>
          <p:cNvPr id="225" name="Google Shape;225;p6"/>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9"/>
          <p:cNvSpPr txBox="1"/>
          <p:nvPr>
            <p:ph type="title"/>
          </p:nvPr>
        </p:nvSpPr>
        <p:spPr>
          <a:xfrm>
            <a:off x="3072268" y="401637"/>
            <a:ext cx="894904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Co-Action Graph</a:t>
            </a:r>
            <a:endParaRPr/>
          </a:p>
        </p:txBody>
      </p:sp>
      <p:sp>
        <p:nvSpPr>
          <p:cNvPr id="232" name="Google Shape;232;p9"/>
          <p:cNvSpPr txBox="1"/>
          <p:nvPr>
            <p:ph idx="1" type="body"/>
          </p:nvPr>
        </p:nvSpPr>
        <p:spPr>
          <a:xfrm>
            <a:off x="1243087" y="1825624"/>
            <a:ext cx="10582656" cy="44418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b="1" lang="en-IL" sz="3200"/>
              <a:t>Nodes:</a:t>
            </a:r>
            <a:r>
              <a:rPr lang="en-IL" sz="3200"/>
              <a:t> authors in the discourse.</a:t>
            </a:r>
            <a:endParaRPr/>
          </a:p>
          <a:p>
            <a:pPr indent="-228600" lvl="0" marL="228600" rtl="0" algn="l">
              <a:lnSpc>
                <a:spcPct val="90000"/>
              </a:lnSpc>
              <a:spcBef>
                <a:spcPts val="1000"/>
              </a:spcBef>
              <a:spcAft>
                <a:spcPts val="0"/>
              </a:spcAft>
              <a:buClr>
                <a:schemeClr val="dk1"/>
              </a:buClr>
              <a:buSzPts val="3200"/>
              <a:buChar char="•"/>
            </a:pPr>
            <a:r>
              <a:rPr b="1" lang="en-IL" sz="3200"/>
              <a:t>Edges: </a:t>
            </a:r>
            <a:r>
              <a:rPr lang="en-IL" sz="3200"/>
              <a:t>co-action relations between a pair of authors (e.g., posting the same hashtag). Represents </a:t>
            </a:r>
            <a:r>
              <a:rPr b="1" lang="en-IL" sz="3200"/>
              <a:t>behavioral similarity </a:t>
            </a:r>
            <a:r>
              <a:rPr lang="en-IL" sz="3200"/>
              <a:t>between the authors.</a:t>
            </a:r>
            <a:endParaRPr/>
          </a:p>
          <a:p>
            <a:pPr indent="-228600" lvl="0" marL="228600" rtl="0" algn="l">
              <a:lnSpc>
                <a:spcPct val="90000"/>
              </a:lnSpc>
              <a:spcBef>
                <a:spcPts val="1000"/>
              </a:spcBef>
              <a:spcAft>
                <a:spcPts val="0"/>
              </a:spcAft>
              <a:buClr>
                <a:schemeClr val="dk1"/>
              </a:buClr>
              <a:buSzPts val="3200"/>
              <a:buChar char="•"/>
            </a:pPr>
            <a:r>
              <a:rPr b="1" lang="en-IL" sz="3200"/>
              <a:t>Purpose</a:t>
            </a:r>
            <a:r>
              <a:rPr lang="en-IL" sz="3200"/>
              <a:t>: expose coordinated behaviour for IO detection.</a:t>
            </a:r>
            <a:endParaRPr/>
          </a:p>
          <a:p>
            <a:pPr indent="-50800" lvl="0" marL="228600" rtl="0" algn="l">
              <a:lnSpc>
                <a:spcPct val="90000"/>
              </a:lnSpc>
              <a:spcBef>
                <a:spcPts val="1000"/>
              </a:spcBef>
              <a:spcAft>
                <a:spcPts val="0"/>
              </a:spcAft>
              <a:buClr>
                <a:schemeClr val="dk1"/>
              </a:buClr>
              <a:buSzPts val="2800"/>
              <a:buNone/>
            </a:pPr>
            <a:r>
              <a:t/>
            </a:r>
            <a:endParaRPr sz="2800"/>
          </a:p>
          <a:p>
            <a:pPr indent="-50800" lvl="0" marL="228600" rtl="0" algn="l">
              <a:lnSpc>
                <a:spcPct val="90000"/>
              </a:lnSpc>
              <a:spcBef>
                <a:spcPts val="1000"/>
              </a:spcBef>
              <a:spcAft>
                <a:spcPts val="0"/>
              </a:spcAft>
              <a:buClr>
                <a:schemeClr val="dk1"/>
              </a:buClr>
              <a:buSzPts val="2800"/>
              <a:buNone/>
            </a:pPr>
            <a:r>
              <a:t/>
            </a:r>
            <a:endParaRPr sz="2800"/>
          </a:p>
          <a:p>
            <a:pPr indent="0" lvl="1" marL="457200" rtl="0" algn="l">
              <a:lnSpc>
                <a:spcPct val="90000"/>
              </a:lnSpc>
              <a:spcBef>
                <a:spcPts val="500"/>
              </a:spcBef>
              <a:spcAft>
                <a:spcPts val="0"/>
              </a:spcAft>
              <a:buClr>
                <a:schemeClr val="dk1"/>
              </a:buClr>
              <a:buSzPts val="4000"/>
              <a:buNone/>
            </a:pPr>
            <a:r>
              <a:t/>
            </a:r>
            <a:endParaRPr sz="4000"/>
          </a:p>
        </p:txBody>
      </p:sp>
      <p:sp>
        <p:nvSpPr>
          <p:cNvPr id="233" name="Google Shape;233;p9"/>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pic>
        <p:nvPicPr>
          <p:cNvPr id="234" name="Google Shape;234;p9"/>
          <p:cNvPicPr preferRelativeResize="0"/>
          <p:nvPr/>
        </p:nvPicPr>
        <p:blipFill rotWithShape="1">
          <a:blip r:embed="rId3">
            <a:alphaModFix/>
          </a:blip>
          <a:srcRect b="10900" l="0" r="0" t="41062"/>
          <a:stretch/>
        </p:blipFill>
        <p:spPr>
          <a:xfrm>
            <a:off x="1243087" y="4439118"/>
            <a:ext cx="9585434" cy="212367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8" name="Shape 238"/>
        <p:cNvGrpSpPr/>
        <p:nvPr/>
      </p:nvGrpSpPr>
      <p:grpSpPr>
        <a:xfrm>
          <a:off x="0" y="0"/>
          <a:ext cx="0" cy="0"/>
          <a:chOff x="0" y="0"/>
          <a:chExt cx="0" cy="0"/>
        </a:xfrm>
      </p:grpSpPr>
      <p:sp>
        <p:nvSpPr>
          <p:cNvPr id="239" name="Google Shape;239;p7"/>
          <p:cNvSpPr txBox="1"/>
          <p:nvPr>
            <p:ph type="title"/>
          </p:nvPr>
        </p:nvSpPr>
        <p:spPr>
          <a:xfrm>
            <a:off x="2975229" y="391697"/>
            <a:ext cx="87534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Overview</a:t>
            </a:r>
            <a:r>
              <a:rPr lang="en-IL"/>
              <a:t> of Indicators</a:t>
            </a:r>
            <a:endParaRPr/>
          </a:p>
        </p:txBody>
      </p:sp>
      <p:sp>
        <p:nvSpPr>
          <p:cNvPr id="240" name="Google Shape;240;p7"/>
          <p:cNvSpPr txBox="1"/>
          <p:nvPr>
            <p:ph idx="1" type="body"/>
          </p:nvPr>
        </p:nvSpPr>
        <p:spPr>
          <a:xfrm>
            <a:off x="1357603" y="1851075"/>
            <a:ext cx="10582800" cy="4769700"/>
          </a:xfrm>
          <a:prstGeom prst="rect">
            <a:avLst/>
          </a:prstGeom>
          <a:noFill/>
          <a:ln>
            <a:noFill/>
          </a:ln>
        </p:spPr>
        <p:txBody>
          <a:bodyPr anchorCtr="0" anchor="t" bIns="45700" lIns="91425" spcFirstLastPara="1" rIns="91425" wrap="square" tIns="45700">
            <a:normAutofit lnSpcReduction="10000"/>
          </a:bodyPr>
          <a:lstStyle/>
          <a:p>
            <a:pPr indent="-262890" lvl="0" marL="228600" rtl="0" algn="l">
              <a:lnSpc>
                <a:spcPct val="90000"/>
              </a:lnSpc>
              <a:spcBef>
                <a:spcPts val="1000"/>
              </a:spcBef>
              <a:spcAft>
                <a:spcPts val="0"/>
              </a:spcAft>
              <a:buClr>
                <a:schemeClr val="dk1"/>
              </a:buClr>
              <a:buSzPts val="3600"/>
              <a:buChar char="•"/>
            </a:pPr>
            <a:r>
              <a:rPr lang="en-IL" sz="3600"/>
              <a:t>Graph-Based Indicators</a:t>
            </a:r>
            <a:endParaRPr sz="3600"/>
          </a:p>
          <a:p>
            <a:pPr indent="-317500" lvl="1" marL="685800" rtl="0" algn="l">
              <a:lnSpc>
                <a:spcPct val="90000"/>
              </a:lnSpc>
              <a:spcBef>
                <a:spcPts val="1000"/>
              </a:spcBef>
              <a:spcAft>
                <a:spcPts val="0"/>
              </a:spcAft>
              <a:buClr>
                <a:schemeClr val="dk1"/>
              </a:buClr>
              <a:buSzPts val="3400"/>
              <a:buChar char="o"/>
            </a:pPr>
            <a:r>
              <a:rPr lang="en-IL" sz="3000"/>
              <a:t>Describe how each account connects to other accounts.</a:t>
            </a:r>
            <a:endParaRPr sz="3000"/>
          </a:p>
          <a:p>
            <a:pPr indent="-317500" lvl="1" marL="685800" rtl="0" algn="l">
              <a:lnSpc>
                <a:spcPct val="90000"/>
              </a:lnSpc>
              <a:spcBef>
                <a:spcPts val="1000"/>
              </a:spcBef>
              <a:spcAft>
                <a:spcPts val="0"/>
              </a:spcAft>
              <a:buClr>
                <a:schemeClr val="dk1"/>
              </a:buClr>
              <a:buSzPts val="3400"/>
              <a:buChar char="o"/>
            </a:pPr>
            <a:r>
              <a:rPr lang="en-IL" sz="3000"/>
              <a:t>Capture its position in the network and membership in groups of connected accounts.</a:t>
            </a:r>
            <a:endParaRPr sz="3400"/>
          </a:p>
          <a:p>
            <a:pPr indent="-262890" lvl="0" marL="228600" rtl="0" algn="l">
              <a:lnSpc>
                <a:spcPct val="90000"/>
              </a:lnSpc>
              <a:spcBef>
                <a:spcPts val="1000"/>
              </a:spcBef>
              <a:spcAft>
                <a:spcPts val="0"/>
              </a:spcAft>
              <a:buClr>
                <a:schemeClr val="dk1"/>
              </a:buClr>
              <a:buSzPts val="3600"/>
              <a:buChar char="•"/>
            </a:pPr>
            <a:r>
              <a:rPr lang="en-IL" sz="3600"/>
              <a:t>Topic-Based Indicators</a:t>
            </a:r>
            <a:endParaRPr sz="3600"/>
          </a:p>
          <a:p>
            <a:pPr indent="-317500" lvl="1" marL="685800" rtl="0" algn="l">
              <a:lnSpc>
                <a:spcPct val="90000"/>
              </a:lnSpc>
              <a:spcBef>
                <a:spcPts val="1000"/>
              </a:spcBef>
              <a:spcAft>
                <a:spcPts val="0"/>
              </a:spcAft>
              <a:buClr>
                <a:schemeClr val="dk1"/>
              </a:buClr>
              <a:buSzPts val="3400"/>
              <a:buChar char="o"/>
            </a:pPr>
            <a:r>
              <a:rPr lang="en-IL" sz="3000"/>
              <a:t>Describe which topics each account discusses.</a:t>
            </a:r>
            <a:endParaRPr sz="3000"/>
          </a:p>
          <a:p>
            <a:pPr indent="-317500" lvl="1" marL="685800" rtl="0" algn="l">
              <a:lnSpc>
                <a:spcPct val="90000"/>
              </a:lnSpc>
              <a:spcBef>
                <a:spcPts val="1000"/>
              </a:spcBef>
              <a:spcAft>
                <a:spcPts val="0"/>
              </a:spcAft>
              <a:buClr>
                <a:schemeClr val="dk1"/>
              </a:buClr>
              <a:buSzPts val="3400"/>
              <a:buChar char="o"/>
            </a:pPr>
            <a:r>
              <a:rPr lang="en-IL" sz="3000"/>
              <a:t>Capture how its activity is distributed across topics and which terms characterize its posts.</a:t>
            </a:r>
            <a:endParaRPr sz="3000"/>
          </a:p>
          <a:p>
            <a:pPr indent="-55880" lvl="1" marL="685800" rtl="0" algn="l">
              <a:lnSpc>
                <a:spcPct val="90000"/>
              </a:lnSpc>
              <a:spcBef>
                <a:spcPts val="500"/>
              </a:spcBef>
              <a:spcAft>
                <a:spcPts val="0"/>
              </a:spcAft>
              <a:buClr>
                <a:schemeClr val="dk1"/>
              </a:buClr>
              <a:buSzPts val="3200"/>
              <a:buNone/>
            </a:pPr>
            <a:r>
              <a:t/>
            </a:r>
            <a:endParaRPr sz="3200"/>
          </a:p>
        </p:txBody>
      </p:sp>
      <p:sp>
        <p:nvSpPr>
          <p:cNvPr id="241" name="Google Shape;241;p7"/>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0"/>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Graph-Based Indicators</a:t>
            </a:r>
            <a:endParaRPr/>
          </a:p>
        </p:txBody>
      </p:sp>
      <p:sp>
        <p:nvSpPr>
          <p:cNvPr id="247" name="Google Shape;247;p10"/>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
        <p:nvSpPr>
          <p:cNvPr id="248" name="Google Shape;248;p10"/>
          <p:cNvSpPr txBox="1"/>
          <p:nvPr>
            <p:ph idx="1" type="body"/>
          </p:nvPr>
        </p:nvSpPr>
        <p:spPr>
          <a:xfrm>
            <a:off x="1243087" y="1825625"/>
            <a:ext cx="10582656"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IL" sz="3200"/>
              <a:t>Using the Co-Action Graph, we calculate well-established graph indicators for each author (node) to characterize their structural role.</a:t>
            </a:r>
            <a:endParaRPr sz="3200"/>
          </a:p>
          <a:p>
            <a:pPr indent="-228600" lvl="1" marL="685800" rtl="0" algn="l">
              <a:lnSpc>
                <a:spcPct val="90000"/>
              </a:lnSpc>
              <a:spcBef>
                <a:spcPts val="500"/>
              </a:spcBef>
              <a:spcAft>
                <a:spcPts val="0"/>
              </a:spcAft>
              <a:buClr>
                <a:schemeClr val="dk1"/>
              </a:buClr>
              <a:buSzPts val="2800"/>
              <a:buChar char="o"/>
            </a:pPr>
            <a:r>
              <a:rPr b="1" lang="en-IL" sz="2800"/>
              <a:t>Centrality:</a:t>
            </a:r>
            <a:r>
              <a:rPr lang="en-IL" sz="2800"/>
              <a:t> Degree, Harmonic, Eigenvector, Betweenness, PageRank </a:t>
            </a:r>
            <a:endParaRPr/>
          </a:p>
          <a:p>
            <a:pPr indent="-228600" lvl="1" marL="685800" rtl="0" algn="l">
              <a:lnSpc>
                <a:spcPct val="90000"/>
              </a:lnSpc>
              <a:spcBef>
                <a:spcPts val="500"/>
              </a:spcBef>
              <a:spcAft>
                <a:spcPts val="0"/>
              </a:spcAft>
              <a:buClr>
                <a:schemeClr val="dk1"/>
              </a:buClr>
              <a:buSzPts val="2800"/>
              <a:buChar char="o"/>
            </a:pPr>
            <a:r>
              <a:rPr b="1" lang="en-IL" sz="2800"/>
              <a:t>Cohesion:</a:t>
            </a:r>
            <a:r>
              <a:rPr lang="en-IL" sz="2800"/>
              <a:t> Core Number, Clustering Coefficient </a:t>
            </a:r>
            <a:endParaRPr/>
          </a:p>
          <a:p>
            <a:pPr indent="-228600" lvl="1" marL="685800" rtl="0" algn="l">
              <a:lnSpc>
                <a:spcPct val="90000"/>
              </a:lnSpc>
              <a:spcBef>
                <a:spcPts val="500"/>
              </a:spcBef>
              <a:spcAft>
                <a:spcPts val="0"/>
              </a:spcAft>
              <a:buClr>
                <a:schemeClr val="dk1"/>
              </a:buClr>
              <a:buSzPts val="2800"/>
              <a:buChar char="o"/>
            </a:pPr>
            <a:r>
              <a:rPr b="1" lang="en-IL" sz="2800"/>
              <a:t>Community:</a:t>
            </a:r>
            <a:r>
              <a:rPr lang="en-IL" sz="2800"/>
              <a:t> Louvain Community ID</a:t>
            </a:r>
            <a:endParaRPr/>
          </a:p>
          <a:p>
            <a:pPr indent="-228600" lvl="0" marL="228600" rtl="0" algn="l">
              <a:lnSpc>
                <a:spcPct val="90000"/>
              </a:lnSpc>
              <a:spcBef>
                <a:spcPts val="1000"/>
              </a:spcBef>
              <a:spcAft>
                <a:spcPts val="0"/>
              </a:spcAft>
              <a:buClr>
                <a:schemeClr val="dk1"/>
              </a:buClr>
              <a:buSzPts val="3200"/>
              <a:buChar char="•"/>
            </a:pPr>
            <a:r>
              <a:rPr lang="en-IL" sz="3200"/>
              <a:t>These indicators provide </a:t>
            </a:r>
            <a:r>
              <a:rPr b="1" lang="en-IL" sz="3200"/>
              <a:t>interpretable structural features.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3" name="Shape 253"/>
        <p:cNvGrpSpPr/>
        <p:nvPr/>
      </p:nvGrpSpPr>
      <p:grpSpPr>
        <a:xfrm>
          <a:off x="0" y="0"/>
          <a:ext cx="0" cy="0"/>
          <a:chOff x="0" y="0"/>
          <a:chExt cx="0" cy="0"/>
        </a:xfrm>
      </p:grpSpPr>
      <p:sp>
        <p:nvSpPr>
          <p:cNvPr id="254" name="Google Shape;254;h2e08d342f2b398b2_0_35"/>
          <p:cNvSpPr txBox="1"/>
          <p:nvPr>
            <p:ph type="title"/>
          </p:nvPr>
        </p:nvSpPr>
        <p:spPr>
          <a:xfrm>
            <a:off x="3072268" y="401637"/>
            <a:ext cx="87534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55" name="Google Shape;255;h2e08d342f2b398b2_0_35"/>
          <p:cNvSpPr txBox="1"/>
          <p:nvPr>
            <p:ph idx="1" type="body"/>
          </p:nvPr>
        </p:nvSpPr>
        <p:spPr>
          <a:xfrm>
            <a:off x="1243087" y="1825625"/>
            <a:ext cx="105828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256" name="Google Shape;256;h2e08d342f2b398b2_0_35"/>
          <p:cNvSpPr txBox="1"/>
          <p:nvPr>
            <p:ph idx="12" type="sldNum"/>
          </p:nvPr>
        </p:nvSpPr>
        <p:spPr>
          <a:xfrm>
            <a:off x="11728704" y="6464649"/>
            <a:ext cx="452100" cy="365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fld id="{00000000-1234-1234-1234-123412341234}" type="slidenum">
              <a:rPr lang="en-IL"/>
              <a:t>‹#›</a:t>
            </a:fld>
            <a:endParaRPr/>
          </a:p>
        </p:txBody>
      </p:sp>
      <p:pic>
        <p:nvPicPr>
          <p:cNvPr id="257" name="Google Shape;257;h2e08d342f2b398b2_0_35"/>
          <p:cNvPicPr preferRelativeResize="0"/>
          <p:nvPr/>
        </p:nvPicPr>
        <p:blipFill>
          <a:blip r:embed="rId3">
            <a:alphaModFix/>
          </a:blip>
          <a:stretch>
            <a:fillRect/>
          </a:stretch>
        </p:blipFill>
        <p:spPr>
          <a:xfrm>
            <a:off x="152400" y="152400"/>
            <a:ext cx="12192000" cy="685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2"/>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TF-IDF and Account Relevance</a:t>
            </a:r>
            <a:endParaRPr/>
          </a:p>
        </p:txBody>
      </p:sp>
      <p:sp>
        <p:nvSpPr>
          <p:cNvPr id="263" name="Google Shape;263;p12"/>
          <p:cNvSpPr txBox="1"/>
          <p:nvPr>
            <p:ph idx="1" type="body"/>
          </p:nvPr>
        </p:nvSpPr>
        <p:spPr>
          <a:xfrm>
            <a:off x="1243087" y="1825625"/>
            <a:ext cx="10582656" cy="4769728"/>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200"/>
              </a:spcBef>
              <a:spcAft>
                <a:spcPts val="0"/>
              </a:spcAft>
              <a:buSzPts val="605"/>
              <a:buNone/>
            </a:pPr>
            <a:r>
              <a:rPr lang="en-IL" sz="2060"/>
              <a:t>TF-IDF measures how characteristic a term is of a topic compared with other topics. We use these term weights to calculate each account’s relevance to a topic based on the entities it uses.</a:t>
            </a:r>
            <a:endParaRPr sz="1840"/>
          </a:p>
          <a:p>
            <a:pPr indent="-173386" lvl="0" marL="228600" rtl="0" algn="l">
              <a:lnSpc>
                <a:spcPct val="150000"/>
              </a:lnSpc>
              <a:spcBef>
                <a:spcPts val="1200"/>
              </a:spcBef>
              <a:spcAft>
                <a:spcPts val="0"/>
              </a:spcAft>
              <a:buSzPts val="1530"/>
              <a:buChar char="•"/>
            </a:pPr>
            <a:r>
              <a:rPr b="1" lang="en-IL" sz="1530">
                <a:latin typeface="Arial"/>
                <a:ea typeface="Arial"/>
                <a:cs typeface="Arial"/>
                <a:sym typeface="Arial"/>
              </a:rPr>
              <a:t>Topic representation:</a:t>
            </a:r>
            <a:r>
              <a:rPr lang="en-IL" sz="1530">
                <a:latin typeface="Arial"/>
                <a:ea typeface="Arial"/>
                <a:cs typeface="Arial"/>
                <a:sym typeface="Arial"/>
              </a:rPr>
              <a:t> Treat each topic as a collection of its associated posts.</a:t>
            </a:r>
            <a:endParaRPr sz="1530">
              <a:latin typeface="Arial"/>
              <a:ea typeface="Arial"/>
              <a:cs typeface="Arial"/>
              <a:sym typeface="Arial"/>
            </a:endParaRPr>
          </a:p>
          <a:p>
            <a:pPr indent="-173386" lvl="0" marL="228600" rtl="0" algn="l">
              <a:lnSpc>
                <a:spcPct val="150000"/>
              </a:lnSpc>
              <a:spcBef>
                <a:spcPts val="0"/>
              </a:spcBef>
              <a:spcAft>
                <a:spcPts val="0"/>
              </a:spcAft>
              <a:buSzPts val="1530"/>
              <a:buChar char="•"/>
            </a:pPr>
            <a:r>
              <a:rPr b="1" lang="en-IL" sz="1530">
                <a:latin typeface="Arial"/>
                <a:ea typeface="Arial"/>
                <a:cs typeface="Arial"/>
                <a:sym typeface="Arial"/>
              </a:rPr>
              <a:t>Entity weighting:</a:t>
            </a:r>
            <a:r>
              <a:rPr lang="en-IL" sz="1530">
                <a:latin typeface="Arial"/>
                <a:ea typeface="Arial"/>
                <a:cs typeface="Arial"/>
                <a:sym typeface="Arial"/>
              </a:rPr>
              <a:t> Use TF-IDF to assign higher weights to entities that are frequent within a topic but uncommon across other topics.</a:t>
            </a:r>
            <a:endParaRPr sz="1530">
              <a:latin typeface="Arial"/>
              <a:ea typeface="Arial"/>
              <a:cs typeface="Arial"/>
              <a:sym typeface="Arial"/>
            </a:endParaRPr>
          </a:p>
          <a:p>
            <a:pPr indent="-173386" lvl="0" marL="228600" rtl="0" algn="l">
              <a:lnSpc>
                <a:spcPct val="150000"/>
              </a:lnSpc>
              <a:spcBef>
                <a:spcPts val="0"/>
              </a:spcBef>
              <a:spcAft>
                <a:spcPts val="0"/>
              </a:spcAft>
              <a:buSzPts val="1530"/>
              <a:buChar char="•"/>
            </a:pPr>
            <a:r>
              <a:rPr b="1" lang="en-IL" sz="1530">
                <a:latin typeface="Arial"/>
                <a:ea typeface="Arial"/>
                <a:cs typeface="Arial"/>
                <a:sym typeface="Arial"/>
              </a:rPr>
              <a:t>Account relevance:</a:t>
            </a:r>
            <a:r>
              <a:rPr lang="en-IL" sz="1530">
                <a:latin typeface="Arial"/>
                <a:ea typeface="Arial"/>
                <a:cs typeface="Arial"/>
                <a:sym typeface="Arial"/>
              </a:rPr>
              <a:t> Aggregate the TF-IDF scores of the entities an account uses within a topic to calculate its Key Score, with a penalty for activity across multiple topics.</a:t>
            </a:r>
            <a:endParaRPr sz="1530">
              <a:latin typeface="Arial"/>
              <a:ea typeface="Arial"/>
              <a:cs typeface="Arial"/>
              <a:sym typeface="Arial"/>
            </a:endParaRPr>
          </a:p>
          <a:p>
            <a:pPr indent="-173386" lvl="0" marL="228600" rtl="0" algn="l">
              <a:lnSpc>
                <a:spcPct val="150000"/>
              </a:lnSpc>
              <a:spcBef>
                <a:spcPts val="0"/>
              </a:spcBef>
              <a:spcAft>
                <a:spcPts val="0"/>
              </a:spcAft>
              <a:buSzPts val="1530"/>
              <a:buChar char="•"/>
            </a:pPr>
            <a:r>
              <a:rPr b="1" lang="en-IL" sz="1530">
                <a:latin typeface="Arial"/>
                <a:ea typeface="Arial"/>
                <a:cs typeface="Arial"/>
                <a:sym typeface="Arial"/>
              </a:rPr>
              <a:t>Account indicators:</a:t>
            </a:r>
            <a:r>
              <a:rPr lang="en-IL" sz="1530">
                <a:latin typeface="Arial"/>
                <a:ea typeface="Arial"/>
                <a:cs typeface="Arial"/>
                <a:sym typeface="Arial"/>
              </a:rPr>
              <a:t> Summarize these scores using Key Score Sum and Key Score Dominance.</a:t>
            </a:r>
            <a:endParaRPr sz="2245"/>
          </a:p>
          <a:p>
            <a:pPr indent="-87630" lvl="0" marL="228600" rtl="0" algn="l">
              <a:lnSpc>
                <a:spcPct val="150000"/>
              </a:lnSpc>
              <a:spcBef>
                <a:spcPts val="1200"/>
              </a:spcBef>
              <a:spcAft>
                <a:spcPts val="0"/>
              </a:spcAft>
              <a:buClr>
                <a:schemeClr val="dk1"/>
              </a:buClr>
              <a:buSzPts val="1320"/>
              <a:buNone/>
            </a:pPr>
            <a:r>
              <a:t/>
            </a:r>
            <a:endParaRPr sz="1420"/>
          </a:p>
          <a:p>
            <a:pPr indent="-87630" lvl="0" marL="228600" rtl="0" algn="l">
              <a:lnSpc>
                <a:spcPct val="150000"/>
              </a:lnSpc>
              <a:spcBef>
                <a:spcPts val="1000"/>
              </a:spcBef>
              <a:spcAft>
                <a:spcPts val="0"/>
              </a:spcAft>
              <a:buClr>
                <a:schemeClr val="dk1"/>
              </a:buClr>
              <a:buSzPts val="1320"/>
              <a:buNone/>
            </a:pPr>
            <a:r>
              <a:t/>
            </a:r>
            <a:endParaRPr sz="1420"/>
          </a:p>
          <a:p>
            <a:pPr indent="-87630" lvl="0" marL="228600" rtl="0" algn="l">
              <a:lnSpc>
                <a:spcPct val="150000"/>
              </a:lnSpc>
              <a:spcBef>
                <a:spcPts val="1000"/>
              </a:spcBef>
              <a:spcAft>
                <a:spcPts val="0"/>
              </a:spcAft>
              <a:buClr>
                <a:schemeClr val="dk1"/>
              </a:buClr>
              <a:buSzPts val="1320"/>
              <a:buNone/>
            </a:pPr>
            <a:r>
              <a:t/>
            </a:r>
            <a:endParaRPr sz="1420"/>
          </a:p>
          <a:p>
            <a:pPr indent="-87630" lvl="0" marL="228600" rtl="0" algn="l">
              <a:lnSpc>
                <a:spcPct val="150000"/>
              </a:lnSpc>
              <a:spcBef>
                <a:spcPts val="1000"/>
              </a:spcBef>
              <a:spcAft>
                <a:spcPts val="0"/>
              </a:spcAft>
              <a:buClr>
                <a:schemeClr val="dk1"/>
              </a:buClr>
              <a:buSzPts val="1320"/>
              <a:buNone/>
            </a:pPr>
            <a:r>
              <a:t/>
            </a:r>
            <a:endParaRPr sz="1420"/>
          </a:p>
          <a:p>
            <a:pPr indent="0" lvl="0" marL="0" rtl="0" algn="l">
              <a:lnSpc>
                <a:spcPct val="150000"/>
              </a:lnSpc>
              <a:spcBef>
                <a:spcPts val="1000"/>
              </a:spcBef>
              <a:spcAft>
                <a:spcPts val="0"/>
              </a:spcAft>
              <a:buSzPts val="605"/>
              <a:buNone/>
            </a:pPr>
            <a:r>
              <a:t/>
            </a:r>
            <a:endParaRPr sz="1420"/>
          </a:p>
        </p:txBody>
      </p:sp>
      <p:sp>
        <p:nvSpPr>
          <p:cNvPr id="264" name="Google Shape;264;p12"/>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pic>
        <p:nvPicPr>
          <p:cNvPr descr="idf_formula" id="265" name="Google Shape;265;p12"/>
          <p:cNvPicPr preferRelativeResize="0"/>
          <p:nvPr/>
        </p:nvPicPr>
        <p:blipFill rotWithShape="1">
          <a:blip r:embed="rId4">
            <a:alphaModFix/>
          </a:blip>
          <a:srcRect b="0" l="0" r="0" t="0"/>
          <a:stretch/>
        </p:blipFill>
        <p:spPr>
          <a:xfrm>
            <a:off x="3531169" y="5259566"/>
            <a:ext cx="5569130" cy="891061"/>
          </a:xfrm>
          <a:prstGeom prst="rect">
            <a:avLst/>
          </a:prstGeom>
          <a:noFill/>
          <a:ln>
            <a:noFill/>
          </a:ln>
        </p:spPr>
      </p:pic>
      <p:sp>
        <p:nvSpPr>
          <p:cNvPr id="266" name="Google Shape;266;p12"/>
          <p:cNvSpPr txBox="1"/>
          <p:nvPr/>
        </p:nvSpPr>
        <p:spPr>
          <a:xfrm>
            <a:off x="1329674" y="6598942"/>
            <a:ext cx="6262966"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L" sz="900" u="none" cap="none" strike="noStrike">
                <a:solidFill>
                  <a:schemeClr val="dk1"/>
                </a:solidFill>
                <a:latin typeface="Calibri"/>
                <a:ea typeface="Calibri"/>
                <a:cs typeface="Calibri"/>
                <a:sym typeface="Calibri"/>
              </a:rPr>
              <a:t>https://www.geeksforgeeks.org/machine-learning/understanding-tf-idf-term-frequency-inverse-document-frequency/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1"/>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Topic-Based Indicators</a:t>
            </a:r>
            <a:endParaRPr/>
          </a:p>
        </p:txBody>
      </p:sp>
      <p:sp>
        <p:nvSpPr>
          <p:cNvPr id="272" name="Google Shape;272;p11"/>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
        <p:nvSpPr>
          <p:cNvPr id="273" name="Google Shape;273;p11"/>
          <p:cNvSpPr txBox="1"/>
          <p:nvPr>
            <p:ph idx="1" type="body"/>
          </p:nvPr>
        </p:nvSpPr>
        <p:spPr>
          <a:xfrm>
            <a:off x="1243087" y="1825624"/>
            <a:ext cx="10582656" cy="4546601"/>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IL"/>
              <a:t>Calculated from each </a:t>
            </a:r>
            <a:r>
              <a:rPr b="1" lang="en-IL"/>
              <a:t>author’s posts and hashtags</a:t>
            </a:r>
            <a:r>
              <a:rPr lang="en-IL"/>
              <a:t> to capture their thematic activity.</a:t>
            </a:r>
            <a:endParaRPr/>
          </a:p>
          <a:p>
            <a:pPr indent="-228600" lvl="0" marL="228600" rtl="0" algn="l">
              <a:lnSpc>
                <a:spcPct val="90000"/>
              </a:lnSpc>
              <a:spcBef>
                <a:spcPts val="1000"/>
              </a:spcBef>
              <a:spcAft>
                <a:spcPts val="0"/>
              </a:spcAft>
              <a:buClr>
                <a:schemeClr val="dk1"/>
              </a:buClr>
              <a:buSzPct val="100000"/>
              <a:buChar char="•"/>
            </a:pPr>
            <a:r>
              <a:rPr lang="en-IL"/>
              <a:t>Activity-Based Indicators</a:t>
            </a:r>
            <a:endParaRPr/>
          </a:p>
          <a:p>
            <a:pPr indent="-228600" lvl="1" marL="685800" rtl="0" algn="l">
              <a:lnSpc>
                <a:spcPct val="90000"/>
              </a:lnSpc>
              <a:spcBef>
                <a:spcPts val="500"/>
              </a:spcBef>
              <a:spcAft>
                <a:spcPts val="0"/>
              </a:spcAft>
              <a:buClr>
                <a:schemeClr val="dk1"/>
              </a:buClr>
              <a:buSzPct val="100000"/>
              <a:buChar char="o"/>
            </a:pPr>
            <a:r>
              <a:rPr b="1" lang="en-IL" sz="2400"/>
              <a:t>Posting Dominance </a:t>
            </a:r>
            <a:r>
              <a:rPr lang="en-IL" sz="2400"/>
              <a:t>- proportion of an author’s posts assigned to their most frequent topic. </a:t>
            </a:r>
            <a:endParaRPr/>
          </a:p>
          <a:p>
            <a:pPr indent="-228600" lvl="1" marL="685800" rtl="0" algn="l">
              <a:lnSpc>
                <a:spcPct val="90000"/>
              </a:lnSpc>
              <a:spcBef>
                <a:spcPts val="500"/>
              </a:spcBef>
              <a:spcAft>
                <a:spcPts val="0"/>
              </a:spcAft>
              <a:buClr>
                <a:schemeClr val="dk1"/>
              </a:buClr>
              <a:buSzPct val="100000"/>
              <a:buChar char="o"/>
            </a:pPr>
            <a:r>
              <a:rPr b="1" lang="en-IL" sz="2400"/>
              <a:t>Top Topic</a:t>
            </a:r>
            <a:r>
              <a:rPr lang="en-IL" sz="2400"/>
              <a:t> - the author’s dominant topic. </a:t>
            </a:r>
            <a:endParaRPr/>
          </a:p>
          <a:p>
            <a:pPr indent="-228600" lvl="0" marL="228600" rtl="0" algn="l">
              <a:lnSpc>
                <a:spcPct val="90000"/>
              </a:lnSpc>
              <a:spcBef>
                <a:spcPts val="1000"/>
              </a:spcBef>
              <a:spcAft>
                <a:spcPts val="0"/>
              </a:spcAft>
              <a:buClr>
                <a:schemeClr val="dk1"/>
              </a:buClr>
              <a:buSzPct val="126316"/>
              <a:buChar char="•"/>
            </a:pPr>
            <a:r>
              <a:rPr lang="en-IL"/>
              <a:t>TF-IDF-Based Indicators </a:t>
            </a:r>
            <a:r>
              <a:rPr lang="en-IL" sz="1900"/>
              <a:t>(see next slide)</a:t>
            </a:r>
            <a:endParaRPr sz="1900"/>
          </a:p>
          <a:p>
            <a:pPr indent="-228600" lvl="1" marL="685800" rtl="0" algn="l">
              <a:lnSpc>
                <a:spcPct val="90000"/>
              </a:lnSpc>
              <a:spcBef>
                <a:spcPts val="500"/>
              </a:spcBef>
              <a:spcAft>
                <a:spcPts val="0"/>
              </a:spcAft>
              <a:buClr>
                <a:schemeClr val="dk1"/>
              </a:buClr>
              <a:buSzPct val="100000"/>
              <a:buChar char="o"/>
            </a:pPr>
            <a:r>
              <a:rPr b="1" lang="en-IL" sz="2400"/>
              <a:t>Key Score (Topic)</a:t>
            </a:r>
            <a:r>
              <a:rPr lang="en-IL" sz="2400"/>
              <a:t> - author’s relevance to a specific topic, calculated by aggregating the TF-IDF scores of the entities used by the author in that topic, with a penalty for activity across multiple topics. </a:t>
            </a:r>
            <a:endParaRPr/>
          </a:p>
          <a:p>
            <a:pPr indent="-228600" lvl="1" marL="685800" rtl="0" algn="l">
              <a:lnSpc>
                <a:spcPct val="90000"/>
              </a:lnSpc>
              <a:spcBef>
                <a:spcPts val="500"/>
              </a:spcBef>
              <a:spcAft>
                <a:spcPts val="0"/>
              </a:spcAft>
              <a:buClr>
                <a:schemeClr val="dk1"/>
              </a:buClr>
              <a:buSzPct val="100000"/>
              <a:buChar char="o"/>
            </a:pPr>
            <a:r>
              <a:rPr b="1" lang="en-IL" sz="2400"/>
              <a:t>Key Score Sum </a:t>
            </a:r>
            <a:r>
              <a:rPr lang="en-IL" sz="2400"/>
              <a:t>- sum of the author’s key scores across all topics. </a:t>
            </a:r>
            <a:endParaRPr/>
          </a:p>
          <a:p>
            <a:pPr indent="-228600" lvl="1" marL="685800" rtl="0" algn="l">
              <a:lnSpc>
                <a:spcPct val="90000"/>
              </a:lnSpc>
              <a:spcBef>
                <a:spcPts val="500"/>
              </a:spcBef>
              <a:spcAft>
                <a:spcPts val="0"/>
              </a:spcAft>
              <a:buClr>
                <a:schemeClr val="dk1"/>
              </a:buClr>
              <a:buSzPct val="100000"/>
              <a:buChar char="o"/>
            </a:pPr>
            <a:r>
              <a:rPr b="1" lang="en-IL" sz="2400"/>
              <a:t>Key Score Dominance </a:t>
            </a:r>
            <a:r>
              <a:rPr lang="en-IL" sz="2400"/>
              <a:t>- proportion of the total key score concentrated in the author’s strongest topic.</a:t>
            </a:r>
            <a:endParaRPr/>
          </a:p>
          <a:p>
            <a:pPr indent="-228600" lvl="0" marL="228600" rtl="0" algn="l">
              <a:lnSpc>
                <a:spcPct val="90000"/>
              </a:lnSpc>
              <a:spcBef>
                <a:spcPts val="1000"/>
              </a:spcBef>
              <a:spcAft>
                <a:spcPts val="0"/>
              </a:spcAft>
              <a:buClr>
                <a:schemeClr val="dk1"/>
              </a:buClr>
              <a:buSzPct val="100000"/>
              <a:buChar char="•"/>
            </a:pPr>
            <a:r>
              <a:rPr lang="en-IL"/>
              <a:t>Together, these indicators capture the </a:t>
            </a:r>
            <a:r>
              <a:rPr b="1" lang="en-IL"/>
              <a:t>author’s narrative focus and thematic behaviour</a:t>
            </a:r>
            <a:r>
              <a:rPr lang="en-IL"/>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8"/>
          <p:cNvSpPr txBox="1"/>
          <p:nvPr>
            <p:ph type="title"/>
          </p:nvPr>
        </p:nvSpPr>
        <p:spPr>
          <a:xfrm>
            <a:off x="2509858" y="867800"/>
            <a:ext cx="10477500" cy="666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IL" sz="3800">
                <a:solidFill>
                  <a:srgbClr val="009DBB"/>
                </a:solidFill>
                <a:latin typeface="Calibri"/>
                <a:ea typeface="Calibri"/>
                <a:cs typeface="Calibri"/>
                <a:sym typeface="Calibri"/>
              </a:rPr>
              <a:t>Indicators Workflow</a:t>
            </a:r>
            <a:endParaRPr b="1" sz="3800">
              <a:solidFill>
                <a:srgbClr val="009DBB"/>
              </a:solidFill>
              <a:latin typeface="Calibri"/>
              <a:ea typeface="Calibri"/>
              <a:cs typeface="Calibri"/>
              <a:sym typeface="Calibri"/>
            </a:endParaRPr>
          </a:p>
        </p:txBody>
      </p:sp>
      <p:pic>
        <p:nvPicPr>
          <p:cNvPr id="279" name="Google Shape;279;p8"/>
          <p:cNvPicPr preferRelativeResize="0"/>
          <p:nvPr/>
        </p:nvPicPr>
        <p:blipFill rotWithShape="1">
          <a:blip r:embed="rId4">
            <a:alphaModFix/>
          </a:blip>
          <a:srcRect b="0" l="0" r="0" t="0"/>
          <a:stretch/>
        </p:blipFill>
        <p:spPr>
          <a:xfrm>
            <a:off x="1652588" y="2418531"/>
            <a:ext cx="28500" cy="647700"/>
          </a:xfrm>
          <a:prstGeom prst="rect">
            <a:avLst/>
          </a:prstGeom>
          <a:noFill/>
          <a:ln>
            <a:noFill/>
          </a:ln>
        </p:spPr>
      </p:pic>
      <p:pic>
        <p:nvPicPr>
          <p:cNvPr id="280" name="Google Shape;280;p8"/>
          <p:cNvPicPr preferRelativeResize="0"/>
          <p:nvPr/>
        </p:nvPicPr>
        <p:blipFill rotWithShape="1">
          <a:blip r:embed="rId5">
            <a:alphaModFix/>
          </a:blip>
          <a:srcRect b="0" l="0" r="0" t="0"/>
          <a:stretch/>
        </p:blipFill>
        <p:spPr>
          <a:xfrm>
            <a:off x="1652588" y="3561531"/>
            <a:ext cx="28500" cy="647700"/>
          </a:xfrm>
          <a:prstGeom prst="rect">
            <a:avLst/>
          </a:prstGeom>
          <a:noFill/>
          <a:ln>
            <a:noFill/>
          </a:ln>
        </p:spPr>
      </p:pic>
      <p:pic>
        <p:nvPicPr>
          <p:cNvPr id="281" name="Google Shape;281;p8"/>
          <p:cNvPicPr preferRelativeResize="0"/>
          <p:nvPr/>
        </p:nvPicPr>
        <p:blipFill rotWithShape="1">
          <a:blip r:embed="rId6">
            <a:alphaModFix/>
          </a:blip>
          <a:srcRect b="0" l="0" r="0" t="0"/>
          <a:stretch/>
        </p:blipFill>
        <p:spPr>
          <a:xfrm>
            <a:off x="1652588" y="4704531"/>
            <a:ext cx="28500" cy="647700"/>
          </a:xfrm>
          <a:prstGeom prst="rect">
            <a:avLst/>
          </a:prstGeom>
          <a:noFill/>
          <a:ln>
            <a:noFill/>
          </a:ln>
        </p:spPr>
      </p:pic>
      <p:grpSp>
        <p:nvGrpSpPr>
          <p:cNvPr id="282" name="Google Shape;282;p8"/>
          <p:cNvGrpSpPr/>
          <p:nvPr/>
        </p:nvGrpSpPr>
        <p:grpSpPr>
          <a:xfrm>
            <a:off x="7810500" y="1713681"/>
            <a:ext cx="4000500" cy="4572000"/>
            <a:chOff x="0" y="0"/>
            <a:chExt cx="4000500" cy="4572000"/>
          </a:xfrm>
        </p:grpSpPr>
        <p:sp>
          <p:nvSpPr>
            <p:cNvPr id="283" name="Google Shape;283;p8"/>
            <p:cNvSpPr/>
            <p:nvPr/>
          </p:nvSpPr>
          <p:spPr>
            <a:xfrm>
              <a:off x="0" y="0"/>
              <a:ext cx="4000500" cy="4572000"/>
            </a:xfrm>
            <a:prstGeom prst="roundRect">
              <a:avLst>
                <a:gd fmla="val 2857"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8"/>
            <p:cNvSpPr txBox="1"/>
            <p:nvPr/>
          </p:nvSpPr>
          <p:spPr>
            <a:xfrm>
              <a:off x="142875" y="114300"/>
              <a:ext cx="37149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IL" sz="1600">
                  <a:solidFill>
                    <a:srgbClr val="0F172A"/>
                  </a:solidFill>
                  <a:latin typeface="Calibri"/>
                  <a:ea typeface="Calibri"/>
                  <a:cs typeface="Calibri"/>
                  <a:sym typeface="Calibri"/>
                </a:rPr>
                <a:t>Author Feature Vector (Example)</a:t>
              </a:r>
              <a:endParaRPr b="1" sz="1600">
                <a:solidFill>
                  <a:srgbClr val="0F172A"/>
                </a:solidFill>
                <a:latin typeface="Calibri"/>
                <a:ea typeface="Calibri"/>
                <a:cs typeface="Calibri"/>
                <a:sym typeface="Calibri"/>
              </a:endParaRPr>
            </a:p>
          </p:txBody>
        </p:sp>
      </p:grpSp>
      <p:sp>
        <p:nvSpPr>
          <p:cNvPr id="285" name="Google Shape;285;p8"/>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grpSp>
        <p:nvGrpSpPr>
          <p:cNvPr id="286" name="Google Shape;286;p8"/>
          <p:cNvGrpSpPr/>
          <p:nvPr/>
        </p:nvGrpSpPr>
        <p:grpSpPr>
          <a:xfrm>
            <a:off x="1238250" y="1713681"/>
            <a:ext cx="6286500" cy="914400"/>
            <a:chOff x="0" y="0"/>
            <a:chExt cx="6286500" cy="914400"/>
          </a:xfrm>
        </p:grpSpPr>
        <p:sp>
          <p:nvSpPr>
            <p:cNvPr id="287" name="Google Shape;287;p8"/>
            <p:cNvSpPr/>
            <p:nvPr/>
          </p:nvSpPr>
          <p:spPr>
            <a:xfrm>
              <a:off x="0" y="0"/>
              <a:ext cx="6286500" cy="914400"/>
            </a:xfrm>
            <a:prstGeom prst="roundRect">
              <a:avLst>
                <a:gd fmla="val 10416" name="adj"/>
              </a:avLst>
            </a:prstGeom>
            <a:solidFill>
              <a:srgbClr val="FFFFFF"/>
            </a:solidFill>
            <a:ln cap="flat" cmpd="sng" w="19050">
              <a:solidFill>
                <a:srgbClr val="009DB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8"/>
            <p:cNvSpPr/>
            <p:nvPr/>
          </p:nvSpPr>
          <p:spPr>
            <a:xfrm>
              <a:off x="219075" y="247650"/>
              <a:ext cx="419100" cy="419100"/>
            </a:xfrm>
            <a:prstGeom prst="ellipse">
              <a:avLst/>
            </a:prstGeom>
            <a:solidFill>
              <a:srgbClr val="009DB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9" name="Google Shape;289;p8"/>
            <p:cNvSpPr txBox="1"/>
            <p:nvPr/>
          </p:nvSpPr>
          <p:spPr>
            <a:xfrm>
              <a:off x="219075" y="247650"/>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IL" sz="1400">
                  <a:solidFill>
                    <a:srgbClr val="FFFFFF"/>
                  </a:solidFill>
                  <a:latin typeface="Calibri"/>
                  <a:ea typeface="Calibri"/>
                  <a:cs typeface="Calibri"/>
                  <a:sym typeface="Calibri"/>
                </a:rPr>
                <a:t>01</a:t>
              </a:r>
              <a:endParaRPr b="1" sz="1400">
                <a:solidFill>
                  <a:srgbClr val="FFFFFF"/>
                </a:solidFill>
                <a:latin typeface="Calibri"/>
                <a:ea typeface="Calibri"/>
                <a:cs typeface="Calibri"/>
                <a:sym typeface="Calibri"/>
              </a:endParaRPr>
            </a:p>
          </p:txBody>
        </p:sp>
        <p:sp>
          <p:nvSpPr>
            <p:cNvPr id="290" name="Google Shape;290;p8"/>
            <p:cNvSpPr txBox="1"/>
            <p:nvPr/>
          </p:nvSpPr>
          <p:spPr>
            <a:xfrm>
              <a:off x="809625" y="0"/>
              <a:ext cx="5238900" cy="914400"/>
            </a:xfrm>
            <a:prstGeom prst="rect">
              <a:avLst/>
            </a:prstGeom>
            <a:noFill/>
            <a:ln>
              <a:noFill/>
            </a:ln>
          </p:spPr>
          <p:txBody>
            <a:bodyPr anchorCtr="0" anchor="ctr" bIns="0" lIns="0" spcFirstLastPara="1" rIns="142875" wrap="square" tIns="0">
              <a:noAutofit/>
            </a:bodyPr>
            <a:lstStyle/>
            <a:p>
              <a:pPr indent="0" lvl="0" marL="0" rtl="0" algn="l">
                <a:spcBef>
                  <a:spcPts val="0"/>
                </a:spcBef>
                <a:spcAft>
                  <a:spcPts val="0"/>
                </a:spcAft>
                <a:buNone/>
              </a:pPr>
              <a:r>
                <a:rPr b="0" lang="en-IL" sz="1500">
                  <a:solidFill>
                    <a:srgbClr val="1E293B"/>
                  </a:solidFill>
                  <a:latin typeface="Calibri"/>
                  <a:ea typeface="Calibri"/>
                  <a:cs typeface="Calibri"/>
                  <a:sym typeface="Calibri"/>
                </a:rPr>
                <a:t>Build a co-action graph connecting accounts with similar activity.</a:t>
              </a:r>
              <a:endParaRPr b="0" sz="1500">
                <a:solidFill>
                  <a:srgbClr val="1E293B"/>
                </a:solidFill>
                <a:latin typeface="Calibri"/>
                <a:ea typeface="Calibri"/>
                <a:cs typeface="Calibri"/>
                <a:sym typeface="Calibri"/>
              </a:endParaRPr>
            </a:p>
          </p:txBody>
        </p:sp>
      </p:grpSp>
      <p:grpSp>
        <p:nvGrpSpPr>
          <p:cNvPr id="291" name="Google Shape;291;p8"/>
          <p:cNvGrpSpPr/>
          <p:nvPr/>
        </p:nvGrpSpPr>
        <p:grpSpPr>
          <a:xfrm>
            <a:off x="1238250" y="2856681"/>
            <a:ext cx="6286500" cy="914400"/>
            <a:chOff x="0" y="0"/>
            <a:chExt cx="6286500" cy="914400"/>
          </a:xfrm>
        </p:grpSpPr>
        <p:sp>
          <p:nvSpPr>
            <p:cNvPr id="292" name="Google Shape;292;p8"/>
            <p:cNvSpPr/>
            <p:nvPr/>
          </p:nvSpPr>
          <p:spPr>
            <a:xfrm>
              <a:off x="0" y="0"/>
              <a:ext cx="6286500" cy="914400"/>
            </a:xfrm>
            <a:prstGeom prst="roundRect">
              <a:avLst>
                <a:gd fmla="val 1041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8"/>
            <p:cNvSpPr/>
            <p:nvPr/>
          </p:nvSpPr>
          <p:spPr>
            <a:xfrm>
              <a:off x="219075" y="247650"/>
              <a:ext cx="419100" cy="419100"/>
            </a:xfrm>
            <a:prstGeom prst="ellipse">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8"/>
            <p:cNvSpPr txBox="1"/>
            <p:nvPr/>
          </p:nvSpPr>
          <p:spPr>
            <a:xfrm>
              <a:off x="219075" y="247650"/>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IL" sz="1400">
                  <a:solidFill>
                    <a:srgbClr val="FFFFFF"/>
                  </a:solidFill>
                  <a:latin typeface="Calibri"/>
                  <a:ea typeface="Calibri"/>
                  <a:cs typeface="Calibri"/>
                  <a:sym typeface="Calibri"/>
                </a:rPr>
                <a:t>02</a:t>
              </a:r>
              <a:endParaRPr b="1" sz="1400">
                <a:solidFill>
                  <a:srgbClr val="FFFFFF"/>
                </a:solidFill>
                <a:latin typeface="Calibri"/>
                <a:ea typeface="Calibri"/>
                <a:cs typeface="Calibri"/>
                <a:sym typeface="Calibri"/>
              </a:endParaRPr>
            </a:p>
          </p:txBody>
        </p:sp>
        <p:sp>
          <p:nvSpPr>
            <p:cNvPr id="295" name="Google Shape;295;p8"/>
            <p:cNvSpPr txBox="1"/>
            <p:nvPr/>
          </p:nvSpPr>
          <p:spPr>
            <a:xfrm>
              <a:off x="809625" y="0"/>
              <a:ext cx="5238900" cy="914400"/>
            </a:xfrm>
            <a:prstGeom prst="rect">
              <a:avLst/>
            </a:prstGeom>
            <a:noFill/>
            <a:ln>
              <a:noFill/>
            </a:ln>
          </p:spPr>
          <p:txBody>
            <a:bodyPr anchorCtr="0" anchor="ctr" bIns="0" lIns="0" spcFirstLastPara="1" rIns="142875" wrap="square" tIns="0">
              <a:noAutofit/>
            </a:bodyPr>
            <a:lstStyle/>
            <a:p>
              <a:pPr indent="0" lvl="0" marL="0" rtl="0" algn="l">
                <a:spcBef>
                  <a:spcPts val="0"/>
                </a:spcBef>
                <a:spcAft>
                  <a:spcPts val="0"/>
                </a:spcAft>
                <a:buNone/>
              </a:pPr>
              <a:r>
                <a:rPr b="0" lang="en-IL" sz="1400">
                  <a:solidFill>
                    <a:srgbClr val="1E293B"/>
                  </a:solidFill>
                  <a:latin typeface="Calibri"/>
                  <a:ea typeface="Calibri"/>
                  <a:cs typeface="Calibri"/>
                  <a:sym typeface="Calibri"/>
                </a:rPr>
                <a:t>Calculate </a:t>
              </a:r>
              <a:r>
                <a:rPr lang="en-IL">
                  <a:solidFill>
                    <a:srgbClr val="1E293B"/>
                  </a:solidFill>
                  <a:latin typeface="Calibri"/>
                  <a:ea typeface="Calibri"/>
                  <a:cs typeface="Calibri"/>
                  <a:sym typeface="Calibri"/>
                </a:rPr>
                <a:t>graph-based indicators and topic-based indicators.</a:t>
              </a:r>
              <a:endParaRPr b="0" sz="1400">
                <a:solidFill>
                  <a:srgbClr val="1E293B"/>
                </a:solidFill>
                <a:latin typeface="Calibri"/>
                <a:ea typeface="Calibri"/>
                <a:cs typeface="Calibri"/>
                <a:sym typeface="Calibri"/>
              </a:endParaRPr>
            </a:p>
          </p:txBody>
        </p:sp>
      </p:grpSp>
      <p:grpSp>
        <p:nvGrpSpPr>
          <p:cNvPr id="296" name="Google Shape;296;p8"/>
          <p:cNvGrpSpPr/>
          <p:nvPr/>
        </p:nvGrpSpPr>
        <p:grpSpPr>
          <a:xfrm>
            <a:off x="1238250" y="3999681"/>
            <a:ext cx="6286500" cy="914400"/>
            <a:chOff x="0" y="0"/>
            <a:chExt cx="6286500" cy="914400"/>
          </a:xfrm>
        </p:grpSpPr>
        <p:sp>
          <p:nvSpPr>
            <p:cNvPr id="297" name="Google Shape;297;p8"/>
            <p:cNvSpPr/>
            <p:nvPr/>
          </p:nvSpPr>
          <p:spPr>
            <a:xfrm>
              <a:off x="0" y="0"/>
              <a:ext cx="6286500" cy="914400"/>
            </a:xfrm>
            <a:prstGeom prst="roundRect">
              <a:avLst>
                <a:gd fmla="val 1041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8"/>
            <p:cNvSpPr/>
            <p:nvPr/>
          </p:nvSpPr>
          <p:spPr>
            <a:xfrm>
              <a:off x="219075" y="247650"/>
              <a:ext cx="419100" cy="419100"/>
            </a:xfrm>
            <a:prstGeom prst="ellipse">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8"/>
            <p:cNvSpPr txBox="1"/>
            <p:nvPr/>
          </p:nvSpPr>
          <p:spPr>
            <a:xfrm>
              <a:off x="219075" y="247650"/>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IL" sz="1400">
                  <a:solidFill>
                    <a:srgbClr val="FFFFFF"/>
                  </a:solidFill>
                  <a:latin typeface="Calibri"/>
                  <a:ea typeface="Calibri"/>
                  <a:cs typeface="Calibri"/>
                  <a:sym typeface="Calibri"/>
                </a:rPr>
                <a:t>03</a:t>
              </a:r>
              <a:endParaRPr b="1" sz="1400">
                <a:solidFill>
                  <a:srgbClr val="FFFFFF"/>
                </a:solidFill>
                <a:latin typeface="Calibri"/>
                <a:ea typeface="Calibri"/>
                <a:cs typeface="Calibri"/>
                <a:sym typeface="Calibri"/>
              </a:endParaRPr>
            </a:p>
          </p:txBody>
        </p:sp>
        <p:sp>
          <p:nvSpPr>
            <p:cNvPr id="300" name="Google Shape;300;p8"/>
            <p:cNvSpPr txBox="1"/>
            <p:nvPr/>
          </p:nvSpPr>
          <p:spPr>
            <a:xfrm>
              <a:off x="809625" y="0"/>
              <a:ext cx="5238900" cy="914400"/>
            </a:xfrm>
            <a:prstGeom prst="rect">
              <a:avLst/>
            </a:prstGeom>
            <a:noFill/>
            <a:ln>
              <a:noFill/>
            </a:ln>
          </p:spPr>
          <p:txBody>
            <a:bodyPr anchorCtr="0" anchor="ctr" bIns="0" lIns="0" spcFirstLastPara="1" rIns="142875" wrap="square" tIns="0">
              <a:noAutofit/>
            </a:bodyPr>
            <a:lstStyle/>
            <a:p>
              <a:pPr indent="0" lvl="0" marL="0" rtl="0" algn="l">
                <a:spcBef>
                  <a:spcPts val="0"/>
                </a:spcBef>
                <a:spcAft>
                  <a:spcPts val="0"/>
                </a:spcAft>
                <a:buNone/>
              </a:pPr>
              <a:r>
                <a:rPr b="0" lang="en-IL" sz="1500">
                  <a:solidFill>
                    <a:srgbClr val="1E293B"/>
                  </a:solidFill>
                  <a:latin typeface="Calibri"/>
                  <a:ea typeface="Calibri"/>
                  <a:cs typeface="Calibri"/>
                  <a:sym typeface="Calibri"/>
                </a:rPr>
                <a:t>Combine the indicator values into a feature vector for each account.</a:t>
              </a:r>
              <a:endParaRPr b="0" sz="1500">
                <a:solidFill>
                  <a:srgbClr val="1E293B"/>
                </a:solidFill>
                <a:latin typeface="Calibri"/>
                <a:ea typeface="Calibri"/>
                <a:cs typeface="Calibri"/>
                <a:sym typeface="Calibri"/>
              </a:endParaRPr>
            </a:p>
          </p:txBody>
        </p:sp>
      </p:grpSp>
      <p:grpSp>
        <p:nvGrpSpPr>
          <p:cNvPr id="301" name="Google Shape;301;p8"/>
          <p:cNvGrpSpPr/>
          <p:nvPr/>
        </p:nvGrpSpPr>
        <p:grpSpPr>
          <a:xfrm>
            <a:off x="1238250" y="5142681"/>
            <a:ext cx="6286500" cy="914400"/>
            <a:chOff x="0" y="0"/>
            <a:chExt cx="6286500" cy="914400"/>
          </a:xfrm>
        </p:grpSpPr>
        <p:sp>
          <p:nvSpPr>
            <p:cNvPr id="302" name="Google Shape;302;p8"/>
            <p:cNvSpPr/>
            <p:nvPr/>
          </p:nvSpPr>
          <p:spPr>
            <a:xfrm>
              <a:off x="0" y="0"/>
              <a:ext cx="6286500" cy="914400"/>
            </a:xfrm>
            <a:prstGeom prst="roundRect">
              <a:avLst>
                <a:gd fmla="val 1041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8"/>
            <p:cNvSpPr/>
            <p:nvPr/>
          </p:nvSpPr>
          <p:spPr>
            <a:xfrm>
              <a:off x="219075" y="247650"/>
              <a:ext cx="419100" cy="419100"/>
            </a:xfrm>
            <a:prstGeom prst="ellipse">
              <a:avLst/>
            </a:prstGeom>
            <a:solidFill>
              <a:srgbClr val="4F46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4" name="Google Shape;304;p8"/>
            <p:cNvSpPr txBox="1"/>
            <p:nvPr/>
          </p:nvSpPr>
          <p:spPr>
            <a:xfrm>
              <a:off x="219075" y="247650"/>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IL" sz="1400">
                  <a:solidFill>
                    <a:srgbClr val="FFFFFF"/>
                  </a:solidFill>
                  <a:latin typeface="Calibri"/>
                  <a:ea typeface="Calibri"/>
                  <a:cs typeface="Calibri"/>
                  <a:sym typeface="Calibri"/>
                </a:rPr>
                <a:t>04</a:t>
              </a:r>
              <a:endParaRPr b="1" sz="1400">
                <a:solidFill>
                  <a:srgbClr val="FFFFFF"/>
                </a:solidFill>
                <a:latin typeface="Calibri"/>
                <a:ea typeface="Calibri"/>
                <a:cs typeface="Calibri"/>
                <a:sym typeface="Calibri"/>
              </a:endParaRPr>
            </a:p>
          </p:txBody>
        </p:sp>
        <p:sp>
          <p:nvSpPr>
            <p:cNvPr id="305" name="Google Shape;305;p8"/>
            <p:cNvSpPr txBox="1"/>
            <p:nvPr/>
          </p:nvSpPr>
          <p:spPr>
            <a:xfrm>
              <a:off x="809625" y="0"/>
              <a:ext cx="5238900" cy="914400"/>
            </a:xfrm>
            <a:prstGeom prst="rect">
              <a:avLst/>
            </a:prstGeom>
            <a:noFill/>
            <a:ln>
              <a:noFill/>
            </a:ln>
          </p:spPr>
          <p:txBody>
            <a:bodyPr anchorCtr="0" anchor="ctr" bIns="0" lIns="0" spcFirstLastPara="1" rIns="142875" wrap="square" tIns="0">
              <a:noAutofit/>
            </a:bodyPr>
            <a:lstStyle/>
            <a:p>
              <a:pPr indent="0" lvl="0" marL="0" rtl="0" algn="l">
                <a:spcBef>
                  <a:spcPts val="0"/>
                </a:spcBef>
                <a:spcAft>
                  <a:spcPts val="0"/>
                </a:spcAft>
                <a:buNone/>
              </a:pPr>
              <a:r>
                <a:rPr b="0" lang="en-IL" sz="1500">
                  <a:solidFill>
                    <a:srgbClr val="1E293B"/>
                  </a:solidFill>
                  <a:latin typeface="Calibri"/>
                  <a:ea typeface="Calibri"/>
                  <a:cs typeface="Calibri"/>
                  <a:sym typeface="Calibri"/>
                </a:rPr>
                <a:t>Use these feature vectors to classify accounts as IO or non-IO.</a:t>
              </a:r>
              <a:endParaRPr b="0" sz="1500">
                <a:solidFill>
                  <a:srgbClr val="1E293B"/>
                </a:solidFill>
                <a:latin typeface="Calibri"/>
                <a:ea typeface="Calibri"/>
                <a:cs typeface="Calibri"/>
                <a:sym typeface="Calibri"/>
              </a:endParaRPr>
            </a:p>
          </p:txBody>
        </p:sp>
      </p:grpSp>
      <p:pic>
        <p:nvPicPr>
          <p:cNvPr id="306" name="Google Shape;306;p8"/>
          <p:cNvPicPr preferRelativeResize="0"/>
          <p:nvPr/>
        </p:nvPicPr>
        <p:blipFill rotWithShape="1">
          <a:blip r:embed="rId7">
            <a:alphaModFix/>
          </a:blip>
          <a:srcRect b="0" l="3514" r="3514" t="0"/>
          <a:stretch/>
        </p:blipFill>
        <p:spPr>
          <a:xfrm>
            <a:off x="7953375" y="2208981"/>
            <a:ext cx="3714900" cy="3952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3"/>
          <p:cNvSpPr txBox="1"/>
          <p:nvPr>
            <p:ph type="title"/>
          </p:nvPr>
        </p:nvSpPr>
        <p:spPr>
          <a:xfrm>
            <a:off x="1479549" y="1709738"/>
            <a:ext cx="9914592"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9DBB"/>
              </a:buClr>
              <a:buSzPts val="5400"/>
              <a:buFont typeface="Calibri"/>
              <a:buNone/>
            </a:pPr>
            <a:r>
              <a:rPr lang="en-IL"/>
              <a:t>Group Analysis</a:t>
            </a:r>
            <a:endParaRPr/>
          </a:p>
        </p:txBody>
      </p:sp>
      <p:sp>
        <p:nvSpPr>
          <p:cNvPr id="312" name="Google Shape;312;p13"/>
          <p:cNvSpPr txBox="1"/>
          <p:nvPr>
            <p:ph idx="1" type="body"/>
          </p:nvPr>
        </p:nvSpPr>
        <p:spPr>
          <a:xfrm>
            <a:off x="14795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
        <p:nvSpPr>
          <p:cNvPr id="313" name="Google Shape;313;p13"/>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4"/>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Overview</a:t>
            </a:r>
            <a:endParaRPr/>
          </a:p>
        </p:txBody>
      </p:sp>
      <p:sp>
        <p:nvSpPr>
          <p:cNvPr id="319" name="Google Shape;319;p14"/>
          <p:cNvSpPr txBox="1"/>
          <p:nvPr>
            <p:ph idx="1" type="body"/>
          </p:nvPr>
        </p:nvSpPr>
        <p:spPr>
          <a:xfrm>
            <a:off x="1243087" y="1825625"/>
            <a:ext cx="10582656" cy="476972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IL" sz="3200"/>
              <a:t>At the </a:t>
            </a:r>
            <a:r>
              <a:rPr b="1" lang="en-IL" sz="3200"/>
              <a:t>group level</a:t>
            </a:r>
            <a:r>
              <a:rPr lang="en-IL" sz="3200"/>
              <a:t>, we can reveal </a:t>
            </a:r>
            <a:r>
              <a:rPr b="1" lang="en-IL" sz="3200"/>
              <a:t>shared narratives and thematic patterns</a:t>
            </a:r>
            <a:r>
              <a:rPr lang="en-IL" sz="3200"/>
              <a:t> that may not be visible when analysing individual accounts. </a:t>
            </a:r>
            <a:endParaRPr/>
          </a:p>
          <a:p>
            <a:pPr indent="-228600" lvl="0" marL="228600" rtl="0" algn="l">
              <a:lnSpc>
                <a:spcPct val="90000"/>
              </a:lnSpc>
              <a:spcBef>
                <a:spcPts val="1000"/>
              </a:spcBef>
              <a:spcAft>
                <a:spcPts val="0"/>
              </a:spcAft>
              <a:buClr>
                <a:schemeClr val="dk1"/>
              </a:buClr>
              <a:buSzPts val="3200"/>
              <a:buChar char="•"/>
            </a:pPr>
            <a:r>
              <a:rPr b="1" lang="en-IL" sz="3200"/>
              <a:t>Goal:</a:t>
            </a:r>
            <a:r>
              <a:rPr lang="en-IL" sz="3200"/>
              <a:t> Move from </a:t>
            </a:r>
            <a:r>
              <a:rPr i="1" lang="en-IL" sz="3200"/>
              <a:t>“Who participates in an IO?”</a:t>
            </a:r>
            <a:r>
              <a:rPr lang="en-IL" sz="3200"/>
              <a:t> to </a:t>
            </a:r>
            <a:r>
              <a:rPr i="1" lang="en-IL" sz="3200"/>
              <a:t>“How do coordinated groups operate, and what narratives characterize their activity?”</a:t>
            </a:r>
            <a:endParaRPr sz="3200"/>
          </a:p>
          <a:p>
            <a:pPr indent="0" lvl="1" marL="457200" rtl="0" algn="l">
              <a:lnSpc>
                <a:spcPct val="90000"/>
              </a:lnSpc>
              <a:spcBef>
                <a:spcPts val="500"/>
              </a:spcBef>
              <a:spcAft>
                <a:spcPts val="0"/>
              </a:spcAft>
              <a:buClr>
                <a:schemeClr val="dk1"/>
              </a:buClr>
              <a:buSzPts val="3200"/>
              <a:buNone/>
            </a:pPr>
            <a:r>
              <a:t/>
            </a:r>
            <a:endParaRPr sz="3200"/>
          </a:p>
        </p:txBody>
      </p:sp>
      <p:sp>
        <p:nvSpPr>
          <p:cNvPr id="320" name="Google Shape;320;p14"/>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pic>
        <p:nvPicPr>
          <p:cNvPr id="321" name="Google Shape;321;p14"/>
          <p:cNvPicPr preferRelativeResize="0"/>
          <p:nvPr/>
        </p:nvPicPr>
        <p:blipFill rotWithShape="1">
          <a:blip r:embed="rId3">
            <a:alphaModFix/>
          </a:blip>
          <a:srcRect b="12173" l="0" r="0" t="30198"/>
          <a:stretch/>
        </p:blipFill>
        <p:spPr>
          <a:xfrm>
            <a:off x="2492400" y="5117509"/>
            <a:ext cx="5987999" cy="14778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5"/>
          <p:cNvSpPr txBox="1"/>
          <p:nvPr>
            <p:ph type="title"/>
          </p:nvPr>
        </p:nvSpPr>
        <p:spPr>
          <a:xfrm>
            <a:off x="2551183" y="805050"/>
            <a:ext cx="87534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Group Definitions</a:t>
            </a:r>
            <a:endParaRPr/>
          </a:p>
          <a:p>
            <a:pPr indent="0" lvl="0" marL="0" rtl="0" algn="l">
              <a:lnSpc>
                <a:spcPct val="90000"/>
              </a:lnSpc>
              <a:spcBef>
                <a:spcPts val="0"/>
              </a:spcBef>
              <a:spcAft>
                <a:spcPts val="0"/>
              </a:spcAft>
              <a:buClr>
                <a:srgbClr val="009DBB"/>
              </a:buClr>
              <a:buSzPts val="4400"/>
              <a:buFont typeface="Calibri"/>
              <a:buNone/>
            </a:pPr>
            <a:r>
              <a:t/>
            </a:r>
            <a:endParaRPr/>
          </a:p>
        </p:txBody>
      </p:sp>
      <p:sp>
        <p:nvSpPr>
          <p:cNvPr id="327" name="Google Shape;327;p15"/>
          <p:cNvSpPr txBox="1"/>
          <p:nvPr>
            <p:ph idx="1" type="body"/>
          </p:nvPr>
        </p:nvSpPr>
        <p:spPr>
          <a:xfrm>
            <a:off x="1243075" y="1825625"/>
            <a:ext cx="10582800" cy="4564800"/>
          </a:xfrm>
          <a:prstGeom prst="rect">
            <a:avLst/>
          </a:prstGeom>
          <a:noFill/>
          <a:ln>
            <a:noFill/>
          </a:ln>
        </p:spPr>
        <p:txBody>
          <a:bodyPr anchorCtr="0" anchor="t" bIns="45700" lIns="91425" spcFirstLastPara="1" rIns="91425" wrap="square" tIns="45700">
            <a:normAutofit fontScale="85000" lnSpcReduction="10000"/>
          </a:bodyPr>
          <a:lstStyle/>
          <a:p>
            <a:pPr indent="-248920" lvl="0" marL="228600" rtl="0" algn="l">
              <a:lnSpc>
                <a:spcPct val="115000"/>
              </a:lnSpc>
              <a:spcBef>
                <a:spcPts val="1200"/>
              </a:spcBef>
              <a:spcAft>
                <a:spcPts val="0"/>
              </a:spcAft>
              <a:buSzPct val="100000"/>
              <a:buChar char="•"/>
            </a:pPr>
            <a:r>
              <a:rPr lang="en-IL" sz="3200"/>
              <a:t>We compare groups of accounts defined by graph structure, dominant topic, or model predictions:</a:t>
            </a:r>
            <a:endParaRPr/>
          </a:p>
          <a:p>
            <a:pPr indent="-160972" lvl="1" marL="685800" rtl="0" algn="l">
              <a:lnSpc>
                <a:spcPct val="115000"/>
              </a:lnSpc>
              <a:spcBef>
                <a:spcPts val="0"/>
              </a:spcBef>
              <a:spcAft>
                <a:spcPts val="0"/>
              </a:spcAft>
              <a:buSzPct val="39286"/>
              <a:buFont typeface="Arial"/>
              <a:buChar char="o"/>
            </a:pPr>
            <a:r>
              <a:rPr b="1" lang="en-IL" sz="2800"/>
              <a:t>Maximal k-Core Connected Component</a:t>
            </a:r>
            <a:r>
              <a:rPr lang="en-IL" sz="2800"/>
              <a:t>: Accounts in the same connected component of the highest k-core containing the focal account.</a:t>
            </a:r>
            <a:endParaRPr sz="2800"/>
          </a:p>
          <a:p>
            <a:pPr indent="-160972" lvl="1" marL="685800" rtl="0" algn="l">
              <a:lnSpc>
                <a:spcPct val="115000"/>
              </a:lnSpc>
              <a:spcBef>
                <a:spcPts val="0"/>
              </a:spcBef>
              <a:spcAft>
                <a:spcPts val="0"/>
              </a:spcAft>
              <a:buSzPct val="39286"/>
              <a:buFont typeface="Arial"/>
              <a:buChar char="o"/>
            </a:pPr>
            <a:r>
              <a:rPr b="1" lang="en-IL" sz="2800"/>
              <a:t>Direct Neighbours</a:t>
            </a:r>
            <a:r>
              <a:rPr lang="en-IL" sz="2800"/>
              <a:t>: Accounts directly connected to the focal account.</a:t>
            </a:r>
            <a:endParaRPr sz="2800"/>
          </a:p>
          <a:p>
            <a:pPr indent="-160972" lvl="1" marL="685800" rtl="0" algn="l">
              <a:lnSpc>
                <a:spcPct val="115000"/>
              </a:lnSpc>
              <a:spcBef>
                <a:spcPts val="0"/>
              </a:spcBef>
              <a:spcAft>
                <a:spcPts val="0"/>
              </a:spcAft>
              <a:buSzPct val="39286"/>
              <a:buFont typeface="Arial"/>
              <a:buChar char="o"/>
            </a:pPr>
            <a:r>
              <a:rPr b="1" lang="en-IL" sz="2800"/>
              <a:t>Louvain Community Group</a:t>
            </a:r>
            <a:r>
              <a:rPr lang="en-IL" sz="2800"/>
              <a:t>: Accounts assigned to the same community by the Louvain algorithm. Community membership is an account attribute; here, we analyse the members together as a group.</a:t>
            </a:r>
            <a:endParaRPr sz="2800"/>
          </a:p>
          <a:p>
            <a:pPr indent="-160972" lvl="1" marL="685800" rtl="0" algn="l">
              <a:lnSpc>
                <a:spcPct val="115000"/>
              </a:lnSpc>
              <a:spcBef>
                <a:spcPts val="0"/>
              </a:spcBef>
              <a:spcAft>
                <a:spcPts val="0"/>
              </a:spcAft>
              <a:buSzPct val="39286"/>
              <a:buFont typeface="Arial"/>
              <a:buChar char="o"/>
            </a:pPr>
            <a:r>
              <a:rPr b="1" lang="en-IL" sz="2800"/>
              <a:t>Shared Top Topic</a:t>
            </a:r>
            <a:r>
              <a:rPr lang="en-IL" sz="2800"/>
              <a:t>: Accounts with the same dominant topic.</a:t>
            </a:r>
            <a:endParaRPr sz="2800"/>
          </a:p>
          <a:p>
            <a:pPr indent="-160972" lvl="1" marL="685800" rtl="0" algn="l">
              <a:lnSpc>
                <a:spcPct val="115000"/>
              </a:lnSpc>
              <a:spcBef>
                <a:spcPts val="0"/>
              </a:spcBef>
              <a:spcAft>
                <a:spcPts val="0"/>
              </a:spcAft>
              <a:buSzPct val="39286"/>
              <a:buFont typeface="Arial"/>
              <a:buChar char="o"/>
            </a:pPr>
            <a:r>
              <a:rPr b="1" lang="en-IL" sz="2800"/>
              <a:t>RF-Predicted IO</a:t>
            </a:r>
            <a:r>
              <a:rPr lang="en-IL" sz="2800"/>
              <a:t>: Accounts classified as IO by Random Forest.</a:t>
            </a:r>
            <a:endParaRPr sz="2800"/>
          </a:p>
          <a:p>
            <a:pPr indent="-160972" lvl="1" marL="685800" rtl="0" algn="l">
              <a:lnSpc>
                <a:spcPct val="115000"/>
              </a:lnSpc>
              <a:spcBef>
                <a:spcPts val="0"/>
              </a:spcBef>
              <a:spcAft>
                <a:spcPts val="0"/>
              </a:spcAft>
              <a:buSzPct val="39286"/>
              <a:buFont typeface="Arial"/>
              <a:buChar char="o"/>
            </a:pPr>
            <a:r>
              <a:rPr b="1" lang="en-IL" sz="2800"/>
              <a:t>XGBoost-Predicted IO</a:t>
            </a:r>
            <a:r>
              <a:rPr lang="en-IL" sz="2800"/>
              <a:t>: Accounts classified as IO by XGBoost.</a:t>
            </a:r>
            <a:endParaRPr sz="3200"/>
          </a:p>
        </p:txBody>
      </p:sp>
      <p:sp>
        <p:nvSpPr>
          <p:cNvPr id="328" name="Google Shape;328;p15"/>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h2e08d342f2b398b2_0_0"/>
          <p:cNvSpPr txBox="1"/>
          <p:nvPr>
            <p:ph type="title"/>
          </p:nvPr>
        </p:nvSpPr>
        <p:spPr>
          <a:xfrm>
            <a:off x="2551183" y="805050"/>
            <a:ext cx="87534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Evaluation</a:t>
            </a:r>
            <a:endParaRPr/>
          </a:p>
          <a:p>
            <a:pPr indent="0" lvl="0" marL="0" rtl="0" algn="l">
              <a:lnSpc>
                <a:spcPct val="90000"/>
              </a:lnSpc>
              <a:spcBef>
                <a:spcPts val="0"/>
              </a:spcBef>
              <a:spcAft>
                <a:spcPts val="0"/>
              </a:spcAft>
              <a:buClr>
                <a:srgbClr val="009DBB"/>
              </a:buClr>
              <a:buSzPts val="4400"/>
              <a:buFont typeface="Calibri"/>
              <a:buNone/>
            </a:pPr>
            <a:r>
              <a:t/>
            </a:r>
            <a:endParaRPr/>
          </a:p>
        </p:txBody>
      </p:sp>
      <p:sp>
        <p:nvSpPr>
          <p:cNvPr id="334" name="Google Shape;334;h2e08d342f2b398b2_0_0"/>
          <p:cNvSpPr txBox="1"/>
          <p:nvPr>
            <p:ph idx="1" type="body"/>
          </p:nvPr>
        </p:nvSpPr>
        <p:spPr>
          <a:xfrm>
            <a:off x="1243087" y="1825625"/>
            <a:ext cx="10582800" cy="4769700"/>
          </a:xfrm>
          <a:prstGeom prst="rect">
            <a:avLst/>
          </a:prstGeom>
          <a:noFill/>
          <a:ln>
            <a:noFill/>
          </a:ln>
        </p:spPr>
        <p:txBody>
          <a:bodyPr anchorCtr="0" anchor="t" bIns="45700" lIns="91425" spcFirstLastPara="1" rIns="91425" wrap="square" tIns="45700">
            <a:normAutofit/>
          </a:bodyPr>
          <a:lstStyle/>
          <a:p>
            <a:pPr indent="-473201" lvl="0" marL="450000" marR="0" rtl="0" algn="l">
              <a:lnSpc>
                <a:spcPct val="115000"/>
              </a:lnSpc>
              <a:spcBef>
                <a:spcPts val="1200"/>
              </a:spcBef>
              <a:spcAft>
                <a:spcPts val="0"/>
              </a:spcAft>
              <a:buSzPts val="3200"/>
              <a:buChar char="•"/>
            </a:pPr>
            <a:r>
              <a:rPr lang="en-IL" sz="3200"/>
              <a:t>W</a:t>
            </a:r>
            <a:r>
              <a:rPr lang="en-IL" sz="3200"/>
              <a:t>e evaluate each group using</a:t>
            </a:r>
            <a:r>
              <a:rPr b="1" lang="en-IL" sz="3200"/>
              <a:t> IO concentration</a:t>
            </a:r>
            <a:r>
              <a:rPr lang="en-IL" sz="3200"/>
              <a:t>, the proportion of accounts labelled as IO, and </a:t>
            </a:r>
            <a:r>
              <a:rPr b="1" lang="en-IL" sz="3200"/>
              <a:t>topic alignment</a:t>
            </a:r>
            <a:r>
              <a:rPr lang="en-IL" sz="3200"/>
              <a:t>, the similarity of members’ topical activity.</a:t>
            </a:r>
            <a:endParaRPr sz="3200"/>
          </a:p>
          <a:p>
            <a:pPr indent="-480400" lvl="0" marL="457200" marR="0" rtl="0" algn="l">
              <a:lnSpc>
                <a:spcPct val="115000"/>
              </a:lnSpc>
              <a:spcBef>
                <a:spcPts val="0"/>
              </a:spcBef>
              <a:spcAft>
                <a:spcPts val="0"/>
              </a:spcAft>
              <a:buSzPts val="3200"/>
              <a:buChar char="•"/>
            </a:pPr>
            <a:r>
              <a:rPr lang="en-IL" sz="3200"/>
              <a:t>We select </a:t>
            </a:r>
            <a:r>
              <a:rPr b="1" lang="en-IL" sz="3200"/>
              <a:t>k-core connected components</a:t>
            </a:r>
            <a:r>
              <a:rPr lang="en-IL" sz="3200"/>
              <a:t> for further analysis because they provide a good balance between IO concentration and topic alignment.</a:t>
            </a:r>
            <a:endParaRPr sz="3200"/>
          </a:p>
        </p:txBody>
      </p:sp>
      <p:sp>
        <p:nvSpPr>
          <p:cNvPr id="335" name="Google Shape;335;h2e08d342f2b398b2_0_0"/>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6"/>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K-Core  Definition</a:t>
            </a:r>
            <a:endParaRPr/>
          </a:p>
        </p:txBody>
      </p:sp>
      <p:sp>
        <p:nvSpPr>
          <p:cNvPr id="341" name="Google Shape;341;p16"/>
          <p:cNvSpPr txBox="1"/>
          <p:nvPr>
            <p:ph idx="1" type="body"/>
          </p:nvPr>
        </p:nvSpPr>
        <p:spPr>
          <a:xfrm>
            <a:off x="1243087" y="1825625"/>
            <a:ext cx="10582656" cy="4769728"/>
          </a:xfrm>
          <a:prstGeom prst="rect">
            <a:avLst/>
          </a:prstGeom>
          <a:blipFill rotWithShape="1">
            <a:blip r:embed="rId3">
              <a:alphaModFix/>
            </a:blip>
            <a:stretch>
              <a:fillRect b="-4342" l="-1382" r="-634" t="-3448"/>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400"/>
              <a:buChar char="•"/>
            </a:pPr>
            <a:r>
              <a:rPr lang="en-IL"/>
              <a:t> </a:t>
            </a:r>
            <a:endParaRPr/>
          </a:p>
        </p:txBody>
      </p:sp>
      <p:sp>
        <p:nvSpPr>
          <p:cNvPr id="342" name="Google Shape;342;p16"/>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7"/>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Core Number: Example</a:t>
            </a:r>
            <a:endParaRPr/>
          </a:p>
        </p:txBody>
      </p:sp>
      <p:sp>
        <p:nvSpPr>
          <p:cNvPr id="348" name="Google Shape;348;p17"/>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pic>
        <p:nvPicPr>
          <p:cNvPr descr="k-Core of a graph" id="349" name="Google Shape;349;p17"/>
          <p:cNvPicPr preferRelativeResize="0"/>
          <p:nvPr/>
        </p:nvPicPr>
        <p:blipFill rotWithShape="1">
          <a:blip r:embed="rId3">
            <a:alphaModFix/>
          </a:blip>
          <a:srcRect b="0" l="0" r="0" t="0"/>
          <a:stretch/>
        </p:blipFill>
        <p:spPr>
          <a:xfrm>
            <a:off x="1255283" y="1867838"/>
            <a:ext cx="10174718" cy="4107071"/>
          </a:xfrm>
          <a:prstGeom prst="rect">
            <a:avLst/>
          </a:prstGeom>
          <a:noFill/>
          <a:ln>
            <a:noFill/>
          </a:ln>
        </p:spPr>
      </p:pic>
      <p:sp>
        <p:nvSpPr>
          <p:cNvPr id="350" name="Google Shape;350;p17"/>
          <p:cNvSpPr txBox="1"/>
          <p:nvPr/>
        </p:nvSpPr>
        <p:spPr>
          <a:xfrm rot="-341375">
            <a:off x="6110596" y="1919799"/>
            <a:ext cx="137759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#DeepState</a:t>
            </a:r>
            <a:endParaRPr sz="1600">
              <a:solidFill>
                <a:schemeClr val="dk1"/>
              </a:solidFill>
              <a:latin typeface="Calibri"/>
              <a:ea typeface="Calibri"/>
              <a:cs typeface="Calibri"/>
              <a:sym typeface="Calibri"/>
            </a:endParaRPr>
          </a:p>
        </p:txBody>
      </p:sp>
      <p:sp>
        <p:nvSpPr>
          <p:cNvPr id="351" name="Google Shape;351;p17"/>
          <p:cNvSpPr txBox="1"/>
          <p:nvPr/>
        </p:nvSpPr>
        <p:spPr>
          <a:xfrm rot="4810671">
            <a:off x="5646712" y="3149197"/>
            <a:ext cx="120515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#CoverUp</a:t>
            </a:r>
            <a:endParaRPr sz="1600">
              <a:solidFill>
                <a:schemeClr val="dk1"/>
              </a:solidFill>
              <a:latin typeface="Calibri"/>
              <a:ea typeface="Calibri"/>
              <a:cs typeface="Calibri"/>
              <a:sym typeface="Calibri"/>
            </a:endParaRPr>
          </a:p>
        </p:txBody>
      </p:sp>
      <p:sp>
        <p:nvSpPr>
          <p:cNvPr id="352" name="Google Shape;352;p17"/>
          <p:cNvSpPr txBox="1"/>
          <p:nvPr/>
        </p:nvSpPr>
        <p:spPr>
          <a:xfrm>
            <a:off x="6742558" y="3771025"/>
            <a:ext cx="147731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#TruthExposed</a:t>
            </a:r>
            <a:endParaRPr sz="1600">
              <a:solidFill>
                <a:schemeClr val="dk1"/>
              </a:solidFill>
              <a:latin typeface="Calibri"/>
              <a:ea typeface="Calibri"/>
              <a:cs typeface="Calibri"/>
              <a:sym typeface="Calibri"/>
            </a:endParaRPr>
          </a:p>
        </p:txBody>
      </p:sp>
      <p:sp>
        <p:nvSpPr>
          <p:cNvPr id="353" name="Google Shape;353;p17"/>
          <p:cNvSpPr txBox="1"/>
          <p:nvPr/>
        </p:nvSpPr>
        <p:spPr>
          <a:xfrm rot="4119364">
            <a:off x="7794291" y="2828263"/>
            <a:ext cx="137759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#DeepState</a:t>
            </a:r>
            <a:endParaRPr sz="1600">
              <a:solidFill>
                <a:schemeClr val="dk1"/>
              </a:solidFill>
              <a:latin typeface="Calibri"/>
              <a:ea typeface="Calibri"/>
              <a:cs typeface="Calibri"/>
              <a:sym typeface="Calibri"/>
            </a:endParaRPr>
          </a:p>
        </p:txBody>
      </p:sp>
      <p:sp>
        <p:nvSpPr>
          <p:cNvPr id="354" name="Google Shape;354;p17"/>
          <p:cNvSpPr txBox="1"/>
          <p:nvPr/>
        </p:nvSpPr>
        <p:spPr>
          <a:xfrm rot="1762880">
            <a:off x="7204790" y="3201896"/>
            <a:ext cx="120515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#CoverUp</a:t>
            </a:r>
            <a:endParaRPr sz="1600">
              <a:solidFill>
                <a:schemeClr val="dk1"/>
              </a:solidFill>
              <a:latin typeface="Calibri"/>
              <a:ea typeface="Calibri"/>
              <a:cs typeface="Calibri"/>
              <a:sym typeface="Calibri"/>
            </a:endParaRPr>
          </a:p>
        </p:txBody>
      </p:sp>
      <p:sp>
        <p:nvSpPr>
          <p:cNvPr id="355" name="Google Shape;355;p17"/>
          <p:cNvSpPr txBox="1"/>
          <p:nvPr/>
        </p:nvSpPr>
        <p:spPr>
          <a:xfrm rot="-3233223">
            <a:off x="6630407" y="2490587"/>
            <a:ext cx="120515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#True</a:t>
            </a:r>
            <a:endParaRPr sz="1600">
              <a:solidFill>
                <a:schemeClr val="dk1"/>
              </a:solidFill>
              <a:latin typeface="Calibri"/>
              <a:ea typeface="Calibri"/>
              <a:cs typeface="Calibri"/>
              <a:sym typeface="Calibri"/>
            </a:endParaRPr>
          </a:p>
        </p:txBody>
      </p:sp>
      <p:sp>
        <p:nvSpPr>
          <p:cNvPr id="356" name="Google Shape;356;p17"/>
          <p:cNvSpPr txBox="1"/>
          <p:nvPr/>
        </p:nvSpPr>
        <p:spPr>
          <a:xfrm>
            <a:off x="4618686" y="3805712"/>
            <a:ext cx="147731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#Trending</a:t>
            </a:r>
            <a:endParaRPr sz="1600">
              <a:solidFill>
                <a:schemeClr val="dk1"/>
              </a:solidFill>
              <a:latin typeface="Calibri"/>
              <a:ea typeface="Calibri"/>
              <a:cs typeface="Calibri"/>
              <a:sym typeface="Calibri"/>
            </a:endParaRPr>
          </a:p>
        </p:txBody>
      </p:sp>
      <p:sp>
        <p:nvSpPr>
          <p:cNvPr id="357" name="Google Shape;357;p17"/>
          <p:cNvSpPr txBox="1"/>
          <p:nvPr/>
        </p:nvSpPr>
        <p:spPr>
          <a:xfrm rot="3114557">
            <a:off x="9656857" y="2508597"/>
            <a:ext cx="137759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#Music</a:t>
            </a:r>
            <a:endParaRPr sz="1600">
              <a:solidFill>
                <a:schemeClr val="dk1"/>
              </a:solidFill>
              <a:latin typeface="Calibri"/>
              <a:ea typeface="Calibri"/>
              <a:cs typeface="Calibri"/>
              <a:sym typeface="Calibri"/>
            </a:endParaRPr>
          </a:p>
        </p:txBody>
      </p:sp>
      <p:sp>
        <p:nvSpPr>
          <p:cNvPr id="358" name="Google Shape;358;p17"/>
          <p:cNvSpPr txBox="1"/>
          <p:nvPr/>
        </p:nvSpPr>
        <p:spPr>
          <a:xfrm rot="-4064924">
            <a:off x="8457906" y="2864984"/>
            <a:ext cx="137759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#DeepState</a:t>
            </a:r>
            <a:endParaRPr sz="1600">
              <a:solidFill>
                <a:schemeClr val="dk1"/>
              </a:solidFill>
              <a:latin typeface="Calibri"/>
              <a:ea typeface="Calibri"/>
              <a:cs typeface="Calibri"/>
              <a:sym typeface="Calibri"/>
            </a:endParaRPr>
          </a:p>
        </p:txBody>
      </p:sp>
      <p:sp>
        <p:nvSpPr>
          <p:cNvPr id="359" name="Google Shape;359;p17"/>
          <p:cNvSpPr txBox="1"/>
          <p:nvPr/>
        </p:nvSpPr>
        <p:spPr>
          <a:xfrm>
            <a:off x="9656856" y="1791741"/>
            <a:ext cx="137759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#Music</a:t>
            </a:r>
            <a:endParaRPr sz="1600">
              <a:solidFill>
                <a:schemeClr val="dk1"/>
              </a:solidFill>
              <a:latin typeface="Calibri"/>
              <a:ea typeface="Calibri"/>
              <a:cs typeface="Calibri"/>
              <a:sym typeface="Calibri"/>
            </a:endParaRPr>
          </a:p>
        </p:txBody>
      </p:sp>
      <p:sp>
        <p:nvSpPr>
          <p:cNvPr id="360" name="Google Shape;360;p17"/>
          <p:cNvSpPr txBox="1"/>
          <p:nvPr/>
        </p:nvSpPr>
        <p:spPr>
          <a:xfrm rot="-965281">
            <a:off x="9166637" y="3480230"/>
            <a:ext cx="137759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 Media</a:t>
            </a:r>
            <a:endParaRPr sz="1600">
              <a:solidFill>
                <a:schemeClr val="dk1"/>
              </a:solidFill>
              <a:latin typeface="Calibri"/>
              <a:ea typeface="Calibri"/>
              <a:cs typeface="Calibri"/>
              <a:sym typeface="Calibri"/>
            </a:endParaRPr>
          </a:p>
        </p:txBody>
      </p:sp>
      <p:sp>
        <p:nvSpPr>
          <p:cNvPr id="361" name="Google Shape;361;p17"/>
          <p:cNvSpPr txBox="1"/>
          <p:nvPr/>
        </p:nvSpPr>
        <p:spPr>
          <a:xfrm rot="-5848324">
            <a:off x="8165907" y="4724186"/>
            <a:ext cx="137759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800">
                <a:solidFill>
                  <a:schemeClr val="dk1"/>
                </a:solidFill>
                <a:latin typeface="Calibri"/>
                <a:ea typeface="Calibri"/>
                <a:cs typeface="Calibri"/>
                <a:sym typeface="Calibri"/>
              </a:rPr>
              <a:t>#</a:t>
            </a:r>
            <a:r>
              <a:rPr lang="en-IL" sz="1600">
                <a:solidFill>
                  <a:schemeClr val="dk1"/>
                </a:solidFill>
                <a:latin typeface="Calibri"/>
                <a:ea typeface="Calibri"/>
                <a:cs typeface="Calibri"/>
                <a:sym typeface="Calibri"/>
              </a:rPr>
              <a:t>DeepState</a:t>
            </a:r>
            <a:endParaRPr sz="1600">
              <a:solidFill>
                <a:schemeClr val="dk1"/>
              </a:solidFill>
              <a:latin typeface="Calibri"/>
              <a:ea typeface="Calibri"/>
              <a:cs typeface="Calibri"/>
              <a:sym typeface="Calibri"/>
            </a:endParaRPr>
          </a:p>
        </p:txBody>
      </p:sp>
      <p:sp>
        <p:nvSpPr>
          <p:cNvPr id="362" name="Google Shape;362;p17"/>
          <p:cNvSpPr txBox="1"/>
          <p:nvPr/>
        </p:nvSpPr>
        <p:spPr>
          <a:xfrm rot="5187585">
            <a:off x="5916302" y="4788727"/>
            <a:ext cx="120515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#True</a:t>
            </a:r>
            <a:endParaRPr sz="1600">
              <a:solidFill>
                <a:schemeClr val="dk1"/>
              </a:solidFill>
              <a:latin typeface="Calibri"/>
              <a:ea typeface="Calibri"/>
              <a:cs typeface="Calibri"/>
              <a:sym typeface="Calibri"/>
            </a:endParaRPr>
          </a:p>
        </p:txBody>
      </p:sp>
      <p:sp>
        <p:nvSpPr>
          <p:cNvPr id="363" name="Google Shape;363;p17"/>
          <p:cNvSpPr txBox="1"/>
          <p:nvPr/>
        </p:nvSpPr>
        <p:spPr>
          <a:xfrm rot="-3154579">
            <a:off x="4377158" y="2864983"/>
            <a:ext cx="120515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#CoverUp</a:t>
            </a:r>
            <a:endParaRPr sz="1600">
              <a:solidFill>
                <a:schemeClr val="dk1"/>
              </a:solidFill>
              <a:latin typeface="Calibri"/>
              <a:ea typeface="Calibri"/>
              <a:cs typeface="Calibri"/>
              <a:sym typeface="Calibri"/>
            </a:endParaRPr>
          </a:p>
        </p:txBody>
      </p:sp>
      <p:sp>
        <p:nvSpPr>
          <p:cNvPr id="364" name="Google Shape;364;p17"/>
          <p:cNvSpPr txBox="1"/>
          <p:nvPr/>
        </p:nvSpPr>
        <p:spPr>
          <a:xfrm rot="4499005">
            <a:off x="3739807" y="2936281"/>
            <a:ext cx="120515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#CoverUp</a:t>
            </a:r>
            <a:endParaRPr sz="1600">
              <a:solidFill>
                <a:schemeClr val="dk1"/>
              </a:solidFill>
              <a:latin typeface="Calibri"/>
              <a:ea typeface="Calibri"/>
              <a:cs typeface="Calibri"/>
              <a:sym typeface="Calibri"/>
            </a:endParaRPr>
          </a:p>
        </p:txBody>
      </p:sp>
      <p:sp>
        <p:nvSpPr>
          <p:cNvPr id="365" name="Google Shape;365;p17"/>
          <p:cNvSpPr txBox="1"/>
          <p:nvPr/>
        </p:nvSpPr>
        <p:spPr>
          <a:xfrm rot="-4136910">
            <a:off x="3407513" y="4683885"/>
            <a:ext cx="120515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#CoverUp</a:t>
            </a:r>
            <a:endParaRPr sz="1600">
              <a:solidFill>
                <a:schemeClr val="dk1"/>
              </a:solidFill>
              <a:latin typeface="Calibri"/>
              <a:ea typeface="Calibri"/>
              <a:cs typeface="Calibri"/>
              <a:sym typeface="Calibri"/>
            </a:endParaRPr>
          </a:p>
        </p:txBody>
      </p:sp>
      <p:sp>
        <p:nvSpPr>
          <p:cNvPr id="366" name="Google Shape;366;p17"/>
          <p:cNvSpPr txBox="1"/>
          <p:nvPr/>
        </p:nvSpPr>
        <p:spPr>
          <a:xfrm rot="1702415">
            <a:off x="7159342" y="4609927"/>
            <a:ext cx="137759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 Media</a:t>
            </a:r>
            <a:endParaRPr sz="1600">
              <a:solidFill>
                <a:schemeClr val="dk1"/>
              </a:solidFill>
              <a:latin typeface="Calibri"/>
              <a:ea typeface="Calibri"/>
              <a:cs typeface="Calibri"/>
              <a:sym typeface="Calibri"/>
            </a:endParaRPr>
          </a:p>
        </p:txBody>
      </p:sp>
      <p:sp>
        <p:nvSpPr>
          <p:cNvPr id="367" name="Google Shape;367;p17"/>
          <p:cNvSpPr/>
          <p:nvPr/>
        </p:nvSpPr>
        <p:spPr>
          <a:xfrm rot="1340853">
            <a:off x="5185122" y="1691846"/>
            <a:ext cx="4186974" cy="3126336"/>
          </a:xfrm>
          <a:prstGeom prst="ellipse">
            <a:avLst/>
          </a:prstGeom>
          <a:noFill/>
          <a:ln cap="flat" cmpd="sng" w="28575">
            <a:solidFill>
              <a:srgbClr val="C55A1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1"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 name="Google Shape;368;p17"/>
          <p:cNvSpPr txBox="1"/>
          <p:nvPr/>
        </p:nvSpPr>
        <p:spPr>
          <a:xfrm rot="1676257">
            <a:off x="7596847" y="1699407"/>
            <a:ext cx="210466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L" sz="2800">
                <a:solidFill>
                  <a:srgbClr val="C55A11"/>
                </a:solidFill>
                <a:latin typeface="Calibri"/>
                <a:ea typeface="Calibri"/>
                <a:cs typeface="Calibri"/>
                <a:sym typeface="Calibri"/>
              </a:rPr>
              <a:t>IO Drivers</a:t>
            </a:r>
            <a:endParaRPr sz="2800">
              <a:solidFill>
                <a:srgbClr val="C55A11"/>
              </a:solidFill>
              <a:latin typeface="Calibri"/>
              <a:ea typeface="Calibri"/>
              <a:cs typeface="Calibri"/>
              <a:sym typeface="Calibri"/>
            </a:endParaRPr>
          </a:p>
        </p:txBody>
      </p:sp>
      <p:sp>
        <p:nvSpPr>
          <p:cNvPr id="369" name="Google Shape;369;p17"/>
          <p:cNvSpPr txBox="1"/>
          <p:nvPr/>
        </p:nvSpPr>
        <p:spPr>
          <a:xfrm>
            <a:off x="9351225" y="1341654"/>
            <a:ext cx="19530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L" sz="1800">
                <a:solidFill>
                  <a:schemeClr val="dk1"/>
                </a:solidFill>
                <a:latin typeface="Calibri"/>
                <a:ea typeface="Calibri"/>
                <a:cs typeface="Calibri"/>
                <a:sym typeface="Calibri"/>
              </a:rPr>
              <a:t>Co-Action Graph</a:t>
            </a:r>
            <a:endParaRPr sz="1800">
              <a:solidFill>
                <a:schemeClr val="dk1"/>
              </a:solidFill>
              <a:latin typeface="Calibri"/>
              <a:ea typeface="Calibri"/>
              <a:cs typeface="Calibri"/>
              <a:sym typeface="Calibri"/>
            </a:endParaRPr>
          </a:p>
        </p:txBody>
      </p:sp>
      <p:sp>
        <p:nvSpPr>
          <p:cNvPr id="370" name="Google Shape;370;p17"/>
          <p:cNvSpPr txBox="1"/>
          <p:nvPr/>
        </p:nvSpPr>
        <p:spPr>
          <a:xfrm rot="-2913931">
            <a:off x="9036591" y="4390791"/>
            <a:ext cx="137759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600">
                <a:solidFill>
                  <a:schemeClr val="dk1"/>
                </a:solidFill>
                <a:latin typeface="Calibri"/>
                <a:ea typeface="Calibri"/>
                <a:cs typeface="Calibri"/>
                <a:sym typeface="Calibri"/>
              </a:rPr>
              <a:t>#Eurovision</a:t>
            </a:r>
            <a:endParaRPr sz="1600">
              <a:solidFill>
                <a:schemeClr val="dk1"/>
              </a:solidFill>
              <a:latin typeface="Calibri"/>
              <a:ea typeface="Calibri"/>
              <a:cs typeface="Calibri"/>
              <a:sym typeface="Calibri"/>
            </a:endParaRPr>
          </a:p>
        </p:txBody>
      </p:sp>
      <p:sp>
        <p:nvSpPr>
          <p:cNvPr id="371" name="Google Shape;371;p17"/>
          <p:cNvSpPr txBox="1"/>
          <p:nvPr/>
        </p:nvSpPr>
        <p:spPr>
          <a:xfrm>
            <a:off x="9660367" y="4785395"/>
            <a:ext cx="2552699" cy="1569660"/>
          </a:xfrm>
          <a:prstGeom prst="rect">
            <a:avLst/>
          </a:prstGeom>
          <a:blipFill rotWithShape="1">
            <a:blip r:embed="rId4">
              <a:alphaModFix/>
            </a:blip>
            <a:stretch>
              <a:fillRect b="-4280" l="-1435" r="0" t="-116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L" sz="1800">
                <a:latin typeface="Calibri"/>
                <a:ea typeface="Calibri"/>
                <a:cs typeface="Calibri"/>
                <a:sym typeface="Calibri"/>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par>
                                <p:cTn fill="hold" nodeType="with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8"/>
          <p:cNvSpPr txBox="1"/>
          <p:nvPr>
            <p:ph type="title"/>
          </p:nvPr>
        </p:nvSpPr>
        <p:spPr>
          <a:xfrm>
            <a:off x="3072268" y="401637"/>
            <a:ext cx="87534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Maximal K-Core Motivation</a:t>
            </a:r>
            <a:endParaRPr/>
          </a:p>
        </p:txBody>
      </p:sp>
      <p:grpSp>
        <p:nvGrpSpPr>
          <p:cNvPr id="377" name="Google Shape;377;p18"/>
          <p:cNvGrpSpPr/>
          <p:nvPr/>
        </p:nvGrpSpPr>
        <p:grpSpPr>
          <a:xfrm>
            <a:off x="1785549" y="1606036"/>
            <a:ext cx="9548146" cy="4614350"/>
            <a:chOff x="1238250" y="1428750"/>
            <a:chExt cx="10477500" cy="4000650"/>
          </a:xfrm>
        </p:grpSpPr>
        <p:sp>
          <p:nvSpPr>
            <p:cNvPr id="378" name="Google Shape;378;p18"/>
            <p:cNvSpPr txBox="1"/>
            <p:nvPr/>
          </p:nvSpPr>
          <p:spPr>
            <a:xfrm>
              <a:off x="1238250" y="4572000"/>
              <a:ext cx="10477500" cy="857400"/>
            </a:xfrm>
            <a:prstGeom prst="rect">
              <a:avLst/>
            </a:prstGeom>
            <a:solidFill>
              <a:srgbClr val="009DBB"/>
            </a:solidFill>
            <a:ln>
              <a:noFill/>
            </a:ln>
          </p:spPr>
          <p:txBody>
            <a:bodyPr anchorCtr="0" anchor="ctr" bIns="86800" lIns="173600" spcFirstLastPara="1" rIns="173600" wrap="square" tIns="86800">
              <a:noAutofit/>
            </a:bodyPr>
            <a:lstStyle/>
            <a:p>
              <a:pPr indent="0" lvl="0" marL="0" rtl="0" algn="ctr">
                <a:spcBef>
                  <a:spcPts val="0"/>
                </a:spcBef>
                <a:spcAft>
                  <a:spcPts val="0"/>
                </a:spcAft>
                <a:buNone/>
              </a:pPr>
              <a:r>
                <a:rPr lang="en-IL" sz="2005">
                  <a:solidFill>
                    <a:srgbClr val="FFFFFF"/>
                  </a:solidFill>
                  <a:latin typeface="Calibri"/>
                  <a:ea typeface="Calibri"/>
                  <a:cs typeface="Calibri"/>
                  <a:sym typeface="Calibri"/>
                </a:rPr>
                <a:t>4. Content and a</a:t>
              </a:r>
              <a:r>
                <a:rPr lang="en-IL" sz="2005">
                  <a:solidFill>
                    <a:srgbClr val="FFFFFF"/>
                  </a:solidFill>
                  <a:latin typeface="Calibri"/>
                  <a:ea typeface="Calibri"/>
                  <a:cs typeface="Calibri"/>
                  <a:sym typeface="Calibri"/>
                </a:rPr>
                <a:t>ctivity analysis identify and characterize the narratives promoted by each group. </a:t>
              </a:r>
              <a:endParaRPr sz="2005">
                <a:solidFill>
                  <a:srgbClr val="FFFFFF"/>
                </a:solidFill>
                <a:latin typeface="Calibri"/>
                <a:ea typeface="Calibri"/>
                <a:cs typeface="Calibri"/>
                <a:sym typeface="Calibri"/>
              </a:endParaRPr>
            </a:p>
          </p:txBody>
        </p:sp>
        <p:sp>
          <p:nvSpPr>
            <p:cNvPr id="379" name="Google Shape;379;p18"/>
            <p:cNvSpPr txBox="1"/>
            <p:nvPr/>
          </p:nvSpPr>
          <p:spPr>
            <a:xfrm>
              <a:off x="1238250" y="3524250"/>
              <a:ext cx="10477500" cy="809700"/>
            </a:xfrm>
            <a:prstGeom prst="rect">
              <a:avLst/>
            </a:prstGeom>
            <a:solidFill>
              <a:srgbClr val="0284C7"/>
            </a:solidFill>
            <a:ln>
              <a:noFill/>
            </a:ln>
          </p:spPr>
          <p:txBody>
            <a:bodyPr anchorCtr="0" anchor="ctr" bIns="86800" lIns="173600" spcFirstLastPara="1" rIns="173600" wrap="square" tIns="86800">
              <a:noAutofit/>
            </a:bodyPr>
            <a:lstStyle/>
            <a:p>
              <a:pPr indent="0" lvl="0" marL="0" rtl="0" algn="ctr">
                <a:spcBef>
                  <a:spcPts val="0"/>
                </a:spcBef>
                <a:spcAft>
                  <a:spcPts val="0"/>
                </a:spcAft>
                <a:buNone/>
              </a:pPr>
              <a:r>
                <a:rPr b="0" lang="en-IL" sz="2023">
                  <a:solidFill>
                    <a:srgbClr val="FFFFFF"/>
                  </a:solidFill>
                  <a:latin typeface="Calibri"/>
                  <a:ea typeface="Calibri"/>
                  <a:cs typeface="Calibri"/>
                  <a:sym typeface="Calibri"/>
                </a:rPr>
                <a:t>3. </a:t>
              </a:r>
              <a:r>
                <a:rPr lang="en-IL" sz="2023">
                  <a:solidFill>
                    <a:srgbClr val="FFFFFF"/>
                  </a:solidFill>
                  <a:latin typeface="Calibri"/>
                  <a:ea typeface="Calibri"/>
                  <a:cs typeface="Calibri"/>
                  <a:sym typeface="Calibri"/>
                </a:rPr>
                <a:t>Maximal k-cores identify these inter-connected groups, yielding groups of coordinated authors that amplify related narratives.</a:t>
              </a:r>
              <a:endParaRPr sz="2023">
                <a:solidFill>
                  <a:srgbClr val="FFFFFF"/>
                </a:solidFill>
                <a:latin typeface="Calibri"/>
                <a:ea typeface="Calibri"/>
                <a:cs typeface="Calibri"/>
                <a:sym typeface="Calibri"/>
              </a:endParaRPr>
            </a:p>
          </p:txBody>
        </p:sp>
        <p:sp>
          <p:nvSpPr>
            <p:cNvPr id="380" name="Google Shape;380;p18"/>
            <p:cNvSpPr txBox="1"/>
            <p:nvPr/>
          </p:nvSpPr>
          <p:spPr>
            <a:xfrm>
              <a:off x="1238250" y="2476500"/>
              <a:ext cx="10477500" cy="809700"/>
            </a:xfrm>
            <a:prstGeom prst="rect">
              <a:avLst/>
            </a:prstGeom>
            <a:solidFill>
              <a:srgbClr val="0369A1"/>
            </a:solidFill>
            <a:ln>
              <a:noFill/>
            </a:ln>
          </p:spPr>
          <p:txBody>
            <a:bodyPr anchorCtr="0" anchor="ctr" bIns="86800" lIns="173600" spcFirstLastPara="1" rIns="173600" wrap="square" tIns="86800">
              <a:noAutofit/>
            </a:bodyPr>
            <a:lstStyle/>
            <a:p>
              <a:pPr indent="0" lvl="0" marL="0" rtl="0" algn="ctr">
                <a:spcBef>
                  <a:spcPts val="0"/>
                </a:spcBef>
                <a:spcAft>
                  <a:spcPts val="0"/>
                </a:spcAft>
                <a:buNone/>
              </a:pPr>
              <a:r>
                <a:rPr b="0" lang="en-IL" sz="2023">
                  <a:solidFill>
                    <a:srgbClr val="FFFFFF"/>
                  </a:solidFill>
                  <a:latin typeface="Calibri"/>
                  <a:ea typeface="Calibri"/>
                  <a:cs typeface="Calibri"/>
                  <a:sym typeface="Calibri"/>
                </a:rPr>
                <a:t>2. Coordinated authors are highly inter-connected in the co-action graph.</a:t>
              </a:r>
              <a:endParaRPr b="0" sz="2023">
                <a:solidFill>
                  <a:srgbClr val="FFFFFF"/>
                </a:solidFill>
                <a:latin typeface="Calibri"/>
                <a:ea typeface="Calibri"/>
                <a:cs typeface="Calibri"/>
                <a:sym typeface="Calibri"/>
              </a:endParaRPr>
            </a:p>
          </p:txBody>
        </p:sp>
        <p:sp>
          <p:nvSpPr>
            <p:cNvPr id="381" name="Google Shape;381;p18"/>
            <p:cNvSpPr txBox="1"/>
            <p:nvPr/>
          </p:nvSpPr>
          <p:spPr>
            <a:xfrm>
              <a:off x="1238250" y="1428750"/>
              <a:ext cx="10477500" cy="809700"/>
            </a:xfrm>
            <a:prstGeom prst="rect">
              <a:avLst/>
            </a:prstGeom>
            <a:solidFill>
              <a:srgbClr val="0C4A6E"/>
            </a:solidFill>
            <a:ln>
              <a:noFill/>
            </a:ln>
          </p:spPr>
          <p:txBody>
            <a:bodyPr anchorCtr="0" anchor="ctr" bIns="86800" lIns="173600" spcFirstLastPara="1" rIns="173600" wrap="square" tIns="86800">
              <a:noAutofit/>
            </a:bodyPr>
            <a:lstStyle/>
            <a:p>
              <a:pPr indent="0" lvl="0" marL="0" rtl="0" algn="ctr">
                <a:spcBef>
                  <a:spcPts val="0"/>
                </a:spcBef>
                <a:spcAft>
                  <a:spcPts val="0"/>
                </a:spcAft>
                <a:buNone/>
              </a:pPr>
              <a:r>
                <a:rPr lang="en-IL" sz="2000">
                  <a:solidFill>
                    <a:srgbClr val="FFFFFF"/>
                  </a:solidFill>
                  <a:latin typeface="Calibri"/>
                  <a:ea typeface="Calibri"/>
                  <a:cs typeface="Calibri"/>
                  <a:sym typeface="Calibri"/>
                </a:rPr>
                <a:t>1. The co-action graph represents behavioural similarity between authors.</a:t>
              </a:r>
              <a:endParaRPr sz="2000">
                <a:solidFill>
                  <a:srgbClr val="FFFFFF"/>
                </a:solidFill>
                <a:latin typeface="Calibri"/>
                <a:ea typeface="Calibri"/>
                <a:cs typeface="Calibri"/>
                <a:sym typeface="Calibri"/>
              </a:endParaRPr>
            </a:p>
          </p:txBody>
        </p:sp>
      </p:grpSp>
      <p:sp>
        <p:nvSpPr>
          <p:cNvPr id="382" name="Google Shape;382;p18"/>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19"/>
          <p:cNvSpPr txBox="1"/>
          <p:nvPr>
            <p:ph type="title"/>
          </p:nvPr>
        </p:nvSpPr>
        <p:spPr>
          <a:xfrm>
            <a:off x="1479549" y="1709738"/>
            <a:ext cx="9914592"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9DBB"/>
              </a:buClr>
              <a:buSzPts val="5400"/>
              <a:buFont typeface="Calibri"/>
              <a:buNone/>
            </a:pPr>
            <a:r>
              <a:rPr lang="en-IL"/>
              <a:t>Experiments</a:t>
            </a:r>
            <a:endParaRPr/>
          </a:p>
        </p:txBody>
      </p:sp>
      <p:sp>
        <p:nvSpPr>
          <p:cNvPr id="388" name="Google Shape;388;p19"/>
          <p:cNvSpPr txBox="1"/>
          <p:nvPr>
            <p:ph idx="1" type="body"/>
          </p:nvPr>
        </p:nvSpPr>
        <p:spPr>
          <a:xfrm>
            <a:off x="14795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
        <p:nvSpPr>
          <p:cNvPr id="389" name="Google Shape;389;p19"/>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0"/>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Dataset</a:t>
            </a:r>
            <a:endParaRPr/>
          </a:p>
        </p:txBody>
      </p:sp>
      <p:sp>
        <p:nvSpPr>
          <p:cNvPr id="395" name="Google Shape;395;p20"/>
          <p:cNvSpPr txBox="1"/>
          <p:nvPr>
            <p:ph idx="1" type="body"/>
          </p:nvPr>
        </p:nvSpPr>
        <p:spPr>
          <a:xfrm>
            <a:off x="1243087" y="1825625"/>
            <a:ext cx="10582656" cy="476972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rPr b="1" lang="en-IL" sz="3600"/>
              <a:t>Labeled IO Dataset</a:t>
            </a:r>
            <a:endParaRPr/>
          </a:p>
          <a:p>
            <a:pPr indent="-228600" lvl="0" marL="228600" rtl="0" algn="l">
              <a:lnSpc>
                <a:spcPct val="90000"/>
              </a:lnSpc>
              <a:spcBef>
                <a:spcPts val="1000"/>
              </a:spcBef>
              <a:spcAft>
                <a:spcPts val="0"/>
              </a:spcAft>
              <a:buClr>
                <a:schemeClr val="dk1"/>
              </a:buClr>
              <a:buSzPts val="3600"/>
              <a:buChar char="•"/>
            </a:pPr>
            <a:r>
              <a:rPr lang="en-IL" sz="3600"/>
              <a:t>26 verified IO campaigns linked to 16 stats. </a:t>
            </a:r>
            <a:endParaRPr/>
          </a:p>
          <a:p>
            <a:pPr indent="-228600" lvl="0" marL="228600" rtl="0" algn="l">
              <a:lnSpc>
                <a:spcPct val="90000"/>
              </a:lnSpc>
              <a:spcBef>
                <a:spcPts val="1000"/>
              </a:spcBef>
              <a:spcAft>
                <a:spcPts val="0"/>
              </a:spcAft>
              <a:buClr>
                <a:schemeClr val="dk1"/>
              </a:buClr>
              <a:buSzPts val="3600"/>
              <a:buChar char="•"/>
            </a:pPr>
            <a:r>
              <a:rPr lang="en-IL" sz="3600"/>
              <a:t>Contains IO accounts and matched control accounts discussing similar topics during the same periods. </a:t>
            </a:r>
            <a:endParaRPr/>
          </a:p>
          <a:p>
            <a:pPr indent="-228600" lvl="0" marL="228600" rtl="0" algn="l">
              <a:lnSpc>
                <a:spcPct val="90000"/>
              </a:lnSpc>
              <a:spcBef>
                <a:spcPts val="1000"/>
              </a:spcBef>
              <a:spcAft>
                <a:spcPts val="0"/>
              </a:spcAft>
              <a:buClr>
                <a:schemeClr val="dk1"/>
              </a:buClr>
              <a:buSzPts val="3600"/>
              <a:buChar char="•"/>
            </a:pPr>
            <a:r>
              <a:rPr lang="en-IL" sz="3600"/>
              <a:t>Includes 303K+ accounts and 13M+ control posts. </a:t>
            </a:r>
            <a:endParaRPr/>
          </a:p>
          <a:p>
            <a:pPr indent="-228600" lvl="0" marL="228600" rtl="0" algn="l">
              <a:lnSpc>
                <a:spcPct val="90000"/>
              </a:lnSpc>
              <a:spcBef>
                <a:spcPts val="1000"/>
              </a:spcBef>
              <a:spcAft>
                <a:spcPts val="0"/>
              </a:spcAft>
              <a:buClr>
                <a:schemeClr val="dk1"/>
              </a:buClr>
              <a:buSzPts val="3600"/>
              <a:buChar char="•"/>
            </a:pPr>
            <a:r>
              <a:rPr lang="en-IL" sz="3600"/>
              <a:t>Rich activity data: posts, reposts, hashtags, and more.</a:t>
            </a:r>
            <a:endParaRPr/>
          </a:p>
          <a:p>
            <a:pPr indent="-228600" lvl="0" marL="228600" rtl="0" algn="l">
              <a:lnSpc>
                <a:spcPct val="90000"/>
              </a:lnSpc>
              <a:spcBef>
                <a:spcPts val="1000"/>
              </a:spcBef>
              <a:spcAft>
                <a:spcPts val="0"/>
              </a:spcAft>
              <a:buClr>
                <a:schemeClr val="dk1"/>
              </a:buClr>
              <a:buSzPts val="3600"/>
              <a:buChar char="•"/>
            </a:pPr>
            <a:r>
              <a:rPr lang="en-IL" sz="3600"/>
              <a:t>Each account is labeled IO or non-IO.</a:t>
            </a:r>
            <a:endParaRPr sz="3200"/>
          </a:p>
        </p:txBody>
      </p:sp>
      <p:sp>
        <p:nvSpPr>
          <p:cNvPr id="396" name="Google Shape;396;p20"/>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1"/>
          <p:cNvSpPr txBox="1"/>
          <p:nvPr>
            <p:ph type="title"/>
          </p:nvPr>
        </p:nvSpPr>
        <p:spPr>
          <a:xfrm>
            <a:off x="3072268" y="401637"/>
            <a:ext cx="87534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Evaluation Settings</a:t>
            </a:r>
            <a:endParaRPr/>
          </a:p>
        </p:txBody>
      </p:sp>
      <p:sp>
        <p:nvSpPr>
          <p:cNvPr id="402" name="Google Shape;402;p21"/>
          <p:cNvSpPr txBox="1"/>
          <p:nvPr>
            <p:ph idx="1" type="body"/>
          </p:nvPr>
        </p:nvSpPr>
        <p:spPr>
          <a:xfrm>
            <a:off x="1243087" y="1825625"/>
            <a:ext cx="10582656" cy="476972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600"/>
              <a:buChar char="•"/>
            </a:pPr>
            <a:r>
              <a:rPr b="1" lang="en-IL" sz="3600"/>
              <a:t>Within-Campaign (Transductive)</a:t>
            </a:r>
            <a:endParaRPr sz="3600"/>
          </a:p>
          <a:p>
            <a:pPr indent="-228600" lvl="1" marL="685800" rtl="0" algn="l">
              <a:lnSpc>
                <a:spcPct val="90000"/>
              </a:lnSpc>
              <a:spcBef>
                <a:spcPts val="500"/>
              </a:spcBef>
              <a:spcAft>
                <a:spcPts val="0"/>
              </a:spcAft>
              <a:buClr>
                <a:schemeClr val="dk1"/>
              </a:buClr>
              <a:buSzPts val="3200"/>
              <a:buChar char="o"/>
            </a:pPr>
            <a:r>
              <a:rPr lang="en-IL" sz="3200"/>
              <a:t>Train and test on accounts from the same campaign. </a:t>
            </a:r>
            <a:endParaRPr/>
          </a:p>
          <a:p>
            <a:pPr indent="-228600" lvl="0" marL="228600" rtl="0" algn="l">
              <a:lnSpc>
                <a:spcPct val="90000"/>
              </a:lnSpc>
              <a:spcBef>
                <a:spcPts val="1000"/>
              </a:spcBef>
              <a:spcAft>
                <a:spcPts val="0"/>
              </a:spcAft>
              <a:buClr>
                <a:schemeClr val="dk1"/>
              </a:buClr>
              <a:buSzPts val="3600"/>
              <a:buChar char="•"/>
            </a:pPr>
            <a:r>
              <a:rPr b="1" lang="en-IL" sz="3600"/>
              <a:t>Cross-Campaign (Inductive)</a:t>
            </a:r>
            <a:endParaRPr sz="3600"/>
          </a:p>
          <a:p>
            <a:pPr indent="-228600" lvl="1" marL="685800" rtl="0" algn="l">
              <a:lnSpc>
                <a:spcPct val="90000"/>
              </a:lnSpc>
              <a:spcBef>
                <a:spcPts val="500"/>
              </a:spcBef>
              <a:spcAft>
                <a:spcPts val="0"/>
              </a:spcAft>
              <a:buClr>
                <a:schemeClr val="dk1"/>
              </a:buClr>
              <a:buSzPts val="3200"/>
              <a:buChar char="o"/>
            </a:pPr>
            <a:r>
              <a:rPr lang="en-IL" sz="3200"/>
              <a:t>Train on other campaigns and test on an unseen campaign. </a:t>
            </a:r>
            <a:endParaRPr/>
          </a:p>
          <a:p>
            <a:pPr indent="-228600" lvl="1" marL="685800" rtl="0" algn="l">
              <a:lnSpc>
                <a:spcPct val="90000"/>
              </a:lnSpc>
              <a:spcBef>
                <a:spcPts val="500"/>
              </a:spcBef>
              <a:spcAft>
                <a:spcPts val="0"/>
              </a:spcAft>
              <a:buClr>
                <a:schemeClr val="dk1"/>
              </a:buClr>
              <a:buSzPts val="3200"/>
              <a:buChar char="o"/>
            </a:pPr>
            <a:r>
              <a:rPr lang="en-IL" sz="3200"/>
              <a:t>Uses a leave-one-campaign-out setting. </a:t>
            </a:r>
            <a:endParaRPr/>
          </a:p>
          <a:p>
            <a:pPr indent="-228600" lvl="1" marL="685800" rtl="0" algn="l">
              <a:lnSpc>
                <a:spcPct val="90000"/>
              </a:lnSpc>
              <a:spcBef>
                <a:spcPts val="500"/>
              </a:spcBef>
              <a:spcAft>
                <a:spcPts val="0"/>
              </a:spcAft>
              <a:buClr>
                <a:schemeClr val="dk1"/>
              </a:buClr>
              <a:buSzPts val="3200"/>
              <a:buChar char="o"/>
            </a:pPr>
            <a:r>
              <a:rPr lang="en-IL" sz="3200"/>
              <a:t>Evaluates whether structural patterns generalize to new IO campaigns.</a:t>
            </a:r>
            <a:endParaRPr/>
          </a:p>
        </p:txBody>
      </p:sp>
      <p:sp>
        <p:nvSpPr>
          <p:cNvPr id="403" name="Google Shape;403;p21"/>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2"/>
          <p:cNvSpPr/>
          <p:nvPr/>
        </p:nvSpPr>
        <p:spPr>
          <a:xfrm>
            <a:off x="3143250" y="619125"/>
            <a:ext cx="8572500" cy="1047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A0BD"/>
              </a:buClr>
              <a:buSzPts val="4200"/>
              <a:buFont typeface="Calibri"/>
              <a:buNone/>
            </a:pPr>
            <a:r>
              <a:rPr b="0" lang="en-IL" sz="4200">
                <a:solidFill>
                  <a:srgbClr val="00A0BD"/>
                </a:solidFill>
                <a:latin typeface="Calibri"/>
                <a:ea typeface="Calibri"/>
                <a:cs typeface="Calibri"/>
                <a:sym typeface="Calibri"/>
              </a:rPr>
              <a:t>Evaluated Campaigns</a:t>
            </a:r>
            <a:endParaRPr/>
          </a:p>
        </p:txBody>
      </p:sp>
      <p:sp>
        <p:nvSpPr>
          <p:cNvPr id="410" name="Google Shape;410;p22"/>
          <p:cNvSpPr/>
          <p:nvPr/>
        </p:nvSpPr>
        <p:spPr>
          <a:xfrm>
            <a:off x="11753850" y="6524625"/>
            <a:ext cx="28575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8888"/>
              </a:buClr>
              <a:buSzPts val="1125"/>
              <a:buFont typeface="Calibri"/>
              <a:buNone/>
            </a:pPr>
            <a:r>
              <a:rPr b="0" lang="en-IL" sz="1125">
                <a:solidFill>
                  <a:srgbClr val="888888"/>
                </a:solidFill>
                <a:latin typeface="Calibri"/>
                <a:ea typeface="Calibri"/>
                <a:cs typeface="Calibri"/>
                <a:sym typeface="Calibri"/>
              </a:rPr>
              <a:t>7</a:t>
            </a:r>
            <a:endParaRPr/>
          </a:p>
        </p:txBody>
      </p:sp>
      <p:graphicFrame>
        <p:nvGraphicFramePr>
          <p:cNvPr id="411" name="Google Shape;411;p22"/>
          <p:cNvGraphicFramePr/>
          <p:nvPr/>
        </p:nvGraphicFramePr>
        <p:xfrm>
          <a:off x="1381125" y="1809750"/>
          <a:ext cx="3000000" cy="3000000"/>
        </p:xfrm>
        <a:graphic>
          <a:graphicData uri="http://schemas.openxmlformats.org/drawingml/2006/table">
            <a:tbl>
              <a:tblPr>
                <a:noFill/>
                <a:tableStyleId>{1D1A47F4-52CE-4A4B-BF87-D10849F44DBD}</a:tableStyleId>
              </a:tblPr>
              <a:tblGrid>
                <a:gridCol w="1905000"/>
                <a:gridCol w="2095500"/>
                <a:gridCol w="1714500"/>
                <a:gridCol w="1809750"/>
                <a:gridCol w="2571750"/>
              </a:tblGrid>
              <a:tr h="544275">
                <a:tc>
                  <a:txBody>
                    <a:bodyPr/>
                    <a:lstStyle/>
                    <a:p>
                      <a:pPr indent="0" lvl="0" marL="0" marR="0" rtl="0" algn="l">
                        <a:spcBef>
                          <a:spcPts val="0"/>
                        </a:spcBef>
                        <a:spcAft>
                          <a:spcPts val="0"/>
                        </a:spcAft>
                        <a:buClr>
                          <a:srgbClr val="FFFFFF"/>
                        </a:buClr>
                        <a:buSzPts val="1950"/>
                        <a:buFont typeface="Calibri"/>
                        <a:buNone/>
                      </a:pPr>
                      <a:r>
                        <a:rPr b="1" lang="en-IL" sz="1950" u="none" cap="none" strike="noStrike">
                          <a:solidFill>
                            <a:srgbClr val="FFFFFF"/>
                          </a:solidFill>
                          <a:latin typeface="Calibri"/>
                          <a:ea typeface="Calibri"/>
                          <a:cs typeface="Calibri"/>
                          <a:sym typeface="Calibri"/>
                        </a:rPr>
                        <a:t>Campaign</a:t>
                      </a:r>
                      <a:endParaRPr/>
                    </a:p>
                  </a:txBody>
                  <a:tcPr marT="38100" marB="38100" marR="114300" marL="114300" anchor="ctr">
                    <a:solidFill>
                      <a:srgbClr val="00A0BD"/>
                    </a:solidFill>
                  </a:tcPr>
                </a:tc>
                <a:tc>
                  <a:txBody>
                    <a:bodyPr/>
                    <a:lstStyle/>
                    <a:p>
                      <a:pPr indent="0" lvl="0" marL="0" marR="0" rtl="0" algn="ctr">
                        <a:spcBef>
                          <a:spcPts val="0"/>
                        </a:spcBef>
                        <a:spcAft>
                          <a:spcPts val="0"/>
                        </a:spcAft>
                        <a:buClr>
                          <a:srgbClr val="FFFFFF"/>
                        </a:buClr>
                        <a:buSzPts val="1950"/>
                        <a:buFont typeface="Calibri"/>
                        <a:buNone/>
                      </a:pPr>
                      <a:r>
                        <a:rPr b="1" lang="en-IL" sz="1950" u="none" cap="none" strike="noStrike">
                          <a:solidFill>
                            <a:srgbClr val="FFFFFF"/>
                          </a:solidFill>
                          <a:latin typeface="Calibri"/>
                          <a:ea typeface="Calibri"/>
                          <a:cs typeface="Calibri"/>
                          <a:sym typeface="Calibri"/>
                        </a:rPr>
                        <a:t>Period</a:t>
                      </a:r>
                      <a:endParaRPr/>
                    </a:p>
                  </a:txBody>
                  <a:tcPr marT="38100" marB="38100" marR="114300" marL="114300" anchor="ctr">
                    <a:solidFill>
                      <a:srgbClr val="00A0BD"/>
                    </a:solidFill>
                  </a:tcPr>
                </a:tc>
                <a:tc>
                  <a:txBody>
                    <a:bodyPr/>
                    <a:lstStyle/>
                    <a:p>
                      <a:pPr indent="0" lvl="0" marL="0" marR="0" rtl="0" algn="ctr">
                        <a:spcBef>
                          <a:spcPts val="0"/>
                        </a:spcBef>
                        <a:spcAft>
                          <a:spcPts val="0"/>
                        </a:spcAft>
                        <a:buClr>
                          <a:srgbClr val="FFFFFF"/>
                        </a:buClr>
                        <a:buSzPts val="1950"/>
                        <a:buFont typeface="Calibri"/>
                        <a:buNone/>
                      </a:pPr>
                      <a:r>
                        <a:rPr b="1" lang="en-IL" sz="1950" u="none" cap="none" strike="noStrike">
                          <a:solidFill>
                            <a:srgbClr val="FFFFFF"/>
                          </a:solidFill>
                          <a:latin typeface="Calibri"/>
                          <a:ea typeface="Calibri"/>
                          <a:cs typeface="Calibri"/>
                          <a:sym typeface="Calibri"/>
                        </a:rPr>
                        <a:t>IO accounts</a:t>
                      </a:r>
                      <a:endParaRPr/>
                    </a:p>
                  </a:txBody>
                  <a:tcPr marT="38100" marB="38100" marR="114300" marL="114300" anchor="ctr">
                    <a:solidFill>
                      <a:srgbClr val="00A0BD"/>
                    </a:solidFill>
                  </a:tcPr>
                </a:tc>
                <a:tc>
                  <a:txBody>
                    <a:bodyPr/>
                    <a:lstStyle/>
                    <a:p>
                      <a:pPr indent="0" lvl="0" marL="0" marR="0" rtl="0" algn="ctr">
                        <a:spcBef>
                          <a:spcPts val="0"/>
                        </a:spcBef>
                        <a:spcAft>
                          <a:spcPts val="0"/>
                        </a:spcAft>
                        <a:buClr>
                          <a:srgbClr val="FFFFFF"/>
                        </a:buClr>
                        <a:buSzPts val="1950"/>
                        <a:buFont typeface="Calibri"/>
                        <a:buNone/>
                      </a:pPr>
                      <a:r>
                        <a:rPr b="1" lang="en-IL" sz="1950" u="none" cap="none" strike="noStrike">
                          <a:solidFill>
                            <a:srgbClr val="FFFFFF"/>
                          </a:solidFill>
                          <a:latin typeface="Calibri"/>
                          <a:ea typeface="Calibri"/>
                          <a:cs typeface="Calibri"/>
                          <a:sym typeface="Calibri"/>
                        </a:rPr>
                        <a:t>Controls</a:t>
                      </a:r>
                      <a:endParaRPr/>
                    </a:p>
                  </a:txBody>
                  <a:tcPr marT="38100" marB="38100" marR="114300" marL="114300" anchor="ctr">
                    <a:solidFill>
                      <a:srgbClr val="00A0BD"/>
                    </a:solidFill>
                  </a:tcPr>
                </a:tc>
                <a:tc>
                  <a:txBody>
                    <a:bodyPr/>
                    <a:lstStyle/>
                    <a:p>
                      <a:pPr indent="0" lvl="0" marL="0" marR="0" rtl="0" algn="ctr">
                        <a:spcBef>
                          <a:spcPts val="0"/>
                        </a:spcBef>
                        <a:spcAft>
                          <a:spcPts val="0"/>
                        </a:spcAft>
                        <a:buClr>
                          <a:srgbClr val="FFFFFF"/>
                        </a:buClr>
                        <a:buSzPts val="1950"/>
                        <a:buFont typeface="Calibri"/>
                        <a:buNone/>
                      </a:pPr>
                      <a:r>
                        <a:rPr b="1" lang="en-IL" sz="1950" u="none" cap="none" strike="noStrike">
                          <a:solidFill>
                            <a:srgbClr val="FFFFFF"/>
                          </a:solidFill>
                          <a:latin typeface="Calibri"/>
                          <a:ea typeface="Calibri"/>
                          <a:cs typeface="Calibri"/>
                          <a:sym typeface="Calibri"/>
                        </a:rPr>
                        <a:t>Posts</a:t>
                      </a:r>
                      <a:endParaRPr/>
                    </a:p>
                  </a:txBody>
                  <a:tcPr marT="38100" marB="38100" marR="114300" marL="114300" anchor="ctr">
                    <a:solidFill>
                      <a:srgbClr val="00A0BD"/>
                    </a:solidFill>
                  </a:tcPr>
                </a:tc>
              </a:tr>
              <a:tr h="544275">
                <a:tc>
                  <a:txBody>
                    <a:bodyPr/>
                    <a:lstStyle/>
                    <a:p>
                      <a:pPr indent="0" lvl="0" marL="0" marR="0" rtl="0" algn="l">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China-1</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2008–2019</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699</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42,120</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3,670,754</a:t>
                      </a:r>
                      <a:endParaRPr/>
                    </a:p>
                  </a:txBody>
                  <a:tcPr marT="38100" marB="38100" marR="114300" marL="114300" anchor="ctr">
                    <a:solidFill>
                      <a:srgbClr val="FFFFFF"/>
                    </a:solidFill>
                  </a:tcPr>
                </a:tc>
              </a:tr>
              <a:tr h="544275">
                <a:tc>
                  <a:txBody>
                    <a:bodyPr/>
                    <a:lstStyle/>
                    <a:p>
                      <a:pPr indent="0" lvl="0" marL="0" marR="0" rtl="0" algn="l">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Cuba</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2010–2020</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503</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30,099</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6,155,331</a:t>
                      </a:r>
                      <a:endParaRPr/>
                    </a:p>
                  </a:txBody>
                  <a:tcPr marT="38100" marB="38100" marR="114300" marL="114300" anchor="ctr">
                    <a:solidFill>
                      <a:srgbClr val="EEF5F6"/>
                    </a:solidFill>
                  </a:tcPr>
                </a:tc>
              </a:tr>
              <a:tr h="544275">
                <a:tc>
                  <a:txBody>
                    <a:bodyPr/>
                    <a:lstStyle/>
                    <a:p>
                      <a:pPr indent="0" lvl="0" marL="0" marR="0" rtl="0" algn="l">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Iran-1</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2010–2018</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660</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5,015</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1,322,789</a:t>
                      </a:r>
                      <a:endParaRPr/>
                    </a:p>
                  </a:txBody>
                  <a:tcPr marT="38100" marB="38100" marR="114300" marL="114300" anchor="ctr">
                    <a:solidFill>
                      <a:srgbClr val="FFFFFF"/>
                    </a:solidFill>
                  </a:tcPr>
                </a:tc>
              </a:tr>
              <a:tr h="544275">
                <a:tc>
                  <a:txBody>
                    <a:bodyPr/>
                    <a:lstStyle/>
                    <a:p>
                      <a:pPr indent="0" lvl="0" marL="0" marR="0" rtl="0" algn="l">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Russia-1</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2009–2018</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3,293</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31,299</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3,650,083</a:t>
                      </a:r>
                      <a:endParaRPr/>
                    </a:p>
                  </a:txBody>
                  <a:tcPr marT="38100" marB="38100" marR="114300" marL="114300" anchor="ctr">
                    <a:solidFill>
                      <a:srgbClr val="EEF5F6"/>
                    </a:solidFill>
                  </a:tcPr>
                </a:tc>
              </a:tr>
              <a:tr h="544275">
                <a:tc>
                  <a:txBody>
                    <a:bodyPr/>
                    <a:lstStyle/>
                    <a:p>
                      <a:pPr indent="0" lvl="0" marL="0" marR="0" rtl="0" algn="l">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UAE</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2011–2019</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3,658</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10,545</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1,707,792</a:t>
                      </a:r>
                      <a:endParaRPr/>
                    </a:p>
                  </a:txBody>
                  <a:tcPr marT="38100" marB="38100" marR="114300" marL="114300" anchor="ctr">
                    <a:solidFill>
                      <a:srgbClr val="FFFFFF"/>
                    </a:solidFill>
                  </a:tcPr>
                </a:tc>
              </a:tr>
              <a:tr h="544275">
                <a:tc>
                  <a:txBody>
                    <a:bodyPr/>
                    <a:lstStyle/>
                    <a:p>
                      <a:pPr indent="0" lvl="0" marL="0" marR="0" rtl="0" algn="l">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Venezuela</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2012–2019</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611</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9,745</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950"/>
                        <a:buFont typeface="Calibri"/>
                        <a:buNone/>
                      </a:pPr>
                      <a:r>
                        <a:rPr b="0" lang="en-IL" sz="1950" u="none" cap="none" strike="noStrike">
                          <a:solidFill>
                            <a:srgbClr val="171717"/>
                          </a:solidFill>
                          <a:latin typeface="Calibri"/>
                          <a:ea typeface="Calibri"/>
                          <a:cs typeface="Calibri"/>
                          <a:sym typeface="Calibri"/>
                        </a:rPr>
                        <a:t>1,972,732</a:t>
                      </a:r>
                      <a:endParaRPr/>
                    </a:p>
                  </a:txBody>
                  <a:tcPr marT="38100" marB="38100" marR="114300" marL="114300" anchor="ctr">
                    <a:solidFill>
                      <a:srgbClr val="EEF5F6"/>
                    </a:solidFill>
                  </a:tcPr>
                </a:tc>
              </a:tr>
            </a:tbl>
          </a:graphicData>
        </a:graphic>
      </p:graphicFrame>
      <p:sp>
        <p:nvSpPr>
          <p:cNvPr id="412" name="Google Shape;412;p22"/>
          <p:cNvSpPr/>
          <p:nvPr/>
        </p:nvSpPr>
        <p:spPr>
          <a:xfrm>
            <a:off x="1381125" y="5810250"/>
            <a:ext cx="1000125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060"/>
              </a:buClr>
              <a:buSzPts val="1725"/>
              <a:buFont typeface="Calibri"/>
              <a:buNone/>
            </a:pPr>
            <a:r>
              <a:rPr b="0" lang="en-IL" sz="1725">
                <a:solidFill>
                  <a:srgbClr val="606060"/>
                </a:solidFill>
                <a:latin typeface="Calibri"/>
                <a:ea typeface="Calibri"/>
                <a:cs typeface="Calibri"/>
                <a:sym typeface="Calibri"/>
              </a:rPr>
              <a:t>18.5 million posts across 138,247 accounts.</a:t>
            </a:r>
            <a:endParaRPr/>
          </a:p>
          <a:p>
            <a:pPr indent="0" lvl="0" marL="0" marR="0" rtl="0" algn="l">
              <a:spcBef>
                <a:spcPts val="0"/>
              </a:spcBef>
              <a:spcAft>
                <a:spcPts val="0"/>
              </a:spcAft>
              <a:buClr>
                <a:srgbClr val="606060"/>
              </a:buClr>
              <a:buSzPts val="1725"/>
              <a:buFont typeface="Calibri"/>
              <a:buNone/>
            </a:pPr>
            <a:r>
              <a:rPr b="0" lang="en-IL" sz="1725">
                <a:solidFill>
                  <a:srgbClr val="606060"/>
                </a:solidFill>
                <a:latin typeface="Calibri"/>
                <a:ea typeface="Calibri"/>
                <a:cs typeface="Calibri"/>
                <a:sym typeface="Calibri"/>
              </a:rPr>
              <a:t>Controls matched by hashtag and date.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3"/>
          <p:cNvSpPr/>
          <p:nvPr/>
        </p:nvSpPr>
        <p:spPr>
          <a:xfrm>
            <a:off x="3143250" y="619125"/>
            <a:ext cx="8572500" cy="1047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IL" sz="4400">
                <a:solidFill>
                  <a:srgbClr val="009DBB"/>
                </a:solidFill>
                <a:latin typeface="Calibri"/>
                <a:ea typeface="Calibri"/>
                <a:cs typeface="Calibri"/>
                <a:sym typeface="Calibri"/>
              </a:rPr>
              <a:t>Which Indicators Matter?</a:t>
            </a:r>
            <a:endParaRPr/>
          </a:p>
        </p:txBody>
      </p:sp>
      <p:sp>
        <p:nvSpPr>
          <p:cNvPr id="419" name="Google Shape;419;p23"/>
          <p:cNvSpPr/>
          <p:nvPr/>
        </p:nvSpPr>
        <p:spPr>
          <a:xfrm>
            <a:off x="11753850" y="6524625"/>
            <a:ext cx="28575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8888"/>
              </a:buClr>
              <a:buSzPts val="1125"/>
              <a:buFont typeface="Calibri"/>
              <a:buNone/>
            </a:pPr>
            <a:r>
              <a:rPr b="0" lang="en-IL" sz="1125">
                <a:solidFill>
                  <a:srgbClr val="888888"/>
                </a:solidFill>
                <a:latin typeface="Calibri"/>
                <a:ea typeface="Calibri"/>
                <a:cs typeface="Calibri"/>
                <a:sym typeface="Calibri"/>
              </a:rPr>
              <a:t>9</a:t>
            </a:r>
            <a:endParaRPr/>
          </a:p>
        </p:txBody>
      </p:sp>
      <p:pic>
        <p:nvPicPr>
          <p:cNvPr id="420" name="Google Shape;420;p23"/>
          <p:cNvPicPr preferRelativeResize="0"/>
          <p:nvPr/>
        </p:nvPicPr>
        <p:blipFill rotWithShape="1">
          <a:blip r:embed="rId3">
            <a:alphaModFix/>
          </a:blip>
          <a:srcRect b="2502" l="0" r="0" t="0"/>
          <a:stretch/>
        </p:blipFill>
        <p:spPr>
          <a:xfrm>
            <a:off x="2024099" y="1414654"/>
            <a:ext cx="8810552" cy="4824222"/>
          </a:xfrm>
          <a:prstGeom prst="rect">
            <a:avLst/>
          </a:prstGeom>
          <a:noFill/>
          <a:ln>
            <a:noFill/>
          </a:ln>
        </p:spPr>
      </p:pic>
      <p:sp>
        <p:nvSpPr>
          <p:cNvPr id="421" name="Google Shape;421;p23"/>
          <p:cNvSpPr/>
          <p:nvPr/>
        </p:nvSpPr>
        <p:spPr>
          <a:xfrm>
            <a:off x="1381125" y="6362700"/>
            <a:ext cx="10096500" cy="371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1717"/>
              </a:buClr>
              <a:buSzPts val="2100"/>
              <a:buFont typeface="Calibri"/>
              <a:buNone/>
            </a:pPr>
            <a:r>
              <a:t/>
            </a:r>
            <a:endParaRPr sz="2100">
              <a:solidFill>
                <a:srgbClr val="171717"/>
              </a:solidFill>
              <a:latin typeface="Calibri"/>
              <a:ea typeface="Calibri"/>
              <a:cs typeface="Calibri"/>
              <a:sym typeface="Calibri"/>
            </a:endParaRPr>
          </a:p>
        </p:txBody>
      </p:sp>
      <p:sp>
        <p:nvSpPr>
          <p:cNvPr id="422" name="Google Shape;422;p23"/>
          <p:cNvSpPr txBox="1"/>
          <p:nvPr/>
        </p:nvSpPr>
        <p:spPr>
          <a:xfrm>
            <a:off x="1381124" y="6444734"/>
            <a:ext cx="78962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L" sz="1800">
                <a:solidFill>
                  <a:schemeClr val="dk1"/>
                </a:solidFill>
                <a:latin typeface="Calibri"/>
                <a:ea typeface="Calibri"/>
                <a:cs typeface="Calibri"/>
                <a:sym typeface="Calibri"/>
              </a:rPr>
              <a:t>XGBoost: indicator importance varies across campaigns (transductive setting).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4"/>
          <p:cNvSpPr/>
          <p:nvPr/>
        </p:nvSpPr>
        <p:spPr>
          <a:xfrm>
            <a:off x="3143250" y="619125"/>
            <a:ext cx="8572500" cy="1047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9DBB"/>
              </a:buClr>
              <a:buSzPts val="4400"/>
              <a:buFont typeface="Calibri"/>
              <a:buNone/>
            </a:pPr>
            <a:r>
              <a:rPr b="0" lang="en-IL" sz="4400">
                <a:solidFill>
                  <a:srgbClr val="009DBB"/>
                </a:solidFill>
                <a:latin typeface="Calibri"/>
                <a:ea typeface="Calibri"/>
                <a:cs typeface="Calibri"/>
                <a:sym typeface="Calibri"/>
              </a:rPr>
              <a:t>Detection Across Campaigns</a:t>
            </a:r>
            <a:endParaRPr/>
          </a:p>
        </p:txBody>
      </p:sp>
      <p:pic>
        <p:nvPicPr>
          <p:cNvPr id="429" name="Google Shape;429;p24"/>
          <p:cNvPicPr preferRelativeResize="0"/>
          <p:nvPr/>
        </p:nvPicPr>
        <p:blipFill rotWithShape="1">
          <a:blip r:embed="rId3">
            <a:alphaModFix/>
          </a:blip>
          <a:srcRect b="0" l="0" r="0" t="0"/>
          <a:stretch/>
        </p:blipFill>
        <p:spPr>
          <a:xfrm>
            <a:off x="9052941" y="6048375"/>
            <a:ext cx="2642902" cy="797909"/>
          </a:xfrm>
          <a:prstGeom prst="rect">
            <a:avLst/>
          </a:prstGeom>
          <a:noFill/>
          <a:ln>
            <a:noFill/>
          </a:ln>
        </p:spPr>
      </p:pic>
      <p:sp>
        <p:nvSpPr>
          <p:cNvPr id="430" name="Google Shape;430;p24"/>
          <p:cNvSpPr/>
          <p:nvPr/>
        </p:nvSpPr>
        <p:spPr>
          <a:xfrm>
            <a:off x="11753850" y="6524625"/>
            <a:ext cx="28575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8888"/>
              </a:buClr>
              <a:buSzPts val="1125"/>
              <a:buFont typeface="Calibri"/>
              <a:buNone/>
            </a:pPr>
            <a:r>
              <a:rPr b="0" lang="en-IL" sz="1125">
                <a:solidFill>
                  <a:srgbClr val="888888"/>
                </a:solidFill>
                <a:latin typeface="Calibri"/>
                <a:ea typeface="Calibri"/>
                <a:cs typeface="Calibri"/>
                <a:sym typeface="Calibri"/>
              </a:rPr>
              <a:t>10</a:t>
            </a:r>
            <a:endParaRPr/>
          </a:p>
        </p:txBody>
      </p:sp>
      <p:sp>
        <p:nvSpPr>
          <p:cNvPr id="431" name="Google Shape;431;p24"/>
          <p:cNvSpPr/>
          <p:nvPr/>
        </p:nvSpPr>
        <p:spPr>
          <a:xfrm>
            <a:off x="3464169" y="1605329"/>
            <a:ext cx="367958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A0BD"/>
              </a:buClr>
              <a:buSzPts val="4125"/>
              <a:buFont typeface="Calibri"/>
              <a:buNone/>
            </a:pPr>
            <a:r>
              <a:rPr b="1" lang="en-IL" sz="4125">
                <a:solidFill>
                  <a:srgbClr val="00A0BD"/>
                </a:solidFill>
                <a:latin typeface="Calibri"/>
                <a:ea typeface="Calibri"/>
                <a:cs typeface="Calibri"/>
                <a:sym typeface="Calibri"/>
              </a:rPr>
              <a:t>0.990</a:t>
            </a:r>
            <a:endParaRPr/>
          </a:p>
        </p:txBody>
      </p:sp>
      <p:sp>
        <p:nvSpPr>
          <p:cNvPr id="432" name="Google Shape;432;p24"/>
          <p:cNvSpPr/>
          <p:nvPr/>
        </p:nvSpPr>
        <p:spPr>
          <a:xfrm>
            <a:off x="3525205" y="2319704"/>
            <a:ext cx="3999543"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1717"/>
              </a:buClr>
              <a:buSzPts val="1875"/>
              <a:buFont typeface="Calibri"/>
              <a:buNone/>
            </a:pPr>
            <a:r>
              <a:rPr b="0" lang="en-IL" sz="1875">
                <a:solidFill>
                  <a:srgbClr val="171717"/>
                </a:solidFill>
                <a:latin typeface="Calibri"/>
                <a:ea typeface="Calibri"/>
                <a:cs typeface="Calibri"/>
                <a:sym typeface="Calibri"/>
              </a:rPr>
              <a:t>Mean within-campaign ROC-AUC</a:t>
            </a:r>
            <a:endParaRPr/>
          </a:p>
        </p:txBody>
      </p:sp>
      <p:sp>
        <p:nvSpPr>
          <p:cNvPr id="433" name="Google Shape;433;p24"/>
          <p:cNvSpPr/>
          <p:nvPr/>
        </p:nvSpPr>
        <p:spPr>
          <a:xfrm>
            <a:off x="7524749" y="1619250"/>
            <a:ext cx="3762375"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A0BD"/>
              </a:buClr>
              <a:buSzPts val="4125"/>
              <a:buFont typeface="Calibri"/>
              <a:buNone/>
            </a:pPr>
            <a:r>
              <a:rPr b="1" lang="en-IL" sz="4125">
                <a:solidFill>
                  <a:srgbClr val="00A0BD"/>
                </a:solidFill>
                <a:latin typeface="Calibri"/>
                <a:ea typeface="Calibri"/>
                <a:cs typeface="Calibri"/>
                <a:sym typeface="Calibri"/>
              </a:rPr>
              <a:t>0.933</a:t>
            </a:r>
            <a:endParaRPr/>
          </a:p>
        </p:txBody>
      </p:sp>
      <p:sp>
        <p:nvSpPr>
          <p:cNvPr id="434" name="Google Shape;434;p24"/>
          <p:cNvSpPr/>
          <p:nvPr/>
        </p:nvSpPr>
        <p:spPr>
          <a:xfrm>
            <a:off x="7578587" y="2333625"/>
            <a:ext cx="4089538"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1717"/>
              </a:buClr>
              <a:buSzPts val="1875"/>
              <a:buFont typeface="Calibri"/>
              <a:buNone/>
            </a:pPr>
            <a:r>
              <a:rPr b="0" lang="en-IL" sz="1875">
                <a:solidFill>
                  <a:srgbClr val="171717"/>
                </a:solidFill>
                <a:latin typeface="Calibri"/>
                <a:ea typeface="Calibri"/>
                <a:cs typeface="Calibri"/>
                <a:sym typeface="Calibri"/>
              </a:rPr>
              <a:t>Mean cross-campaign ROC-AUC</a:t>
            </a:r>
            <a:endParaRPr/>
          </a:p>
        </p:txBody>
      </p:sp>
      <p:graphicFrame>
        <p:nvGraphicFramePr>
          <p:cNvPr id="435" name="Google Shape;435;p24"/>
          <p:cNvGraphicFramePr/>
          <p:nvPr/>
        </p:nvGraphicFramePr>
        <p:xfrm>
          <a:off x="1381125" y="2743200"/>
          <a:ext cx="3000000" cy="3000000"/>
        </p:xfrm>
        <a:graphic>
          <a:graphicData uri="http://schemas.openxmlformats.org/drawingml/2006/table">
            <a:tbl>
              <a:tblPr>
                <a:noFill/>
                <a:tableStyleId>{1D1A47F4-52CE-4A4B-BF87-D10849F44DBD}</a:tableStyleId>
              </a:tblPr>
              <a:tblGrid>
                <a:gridCol w="2095500"/>
                <a:gridCol w="2000250"/>
                <a:gridCol w="2000250"/>
                <a:gridCol w="2000250"/>
                <a:gridCol w="2000250"/>
              </a:tblGrid>
              <a:tr h="409575">
                <a:tc>
                  <a:txBody>
                    <a:bodyPr/>
                    <a:lstStyle/>
                    <a:p>
                      <a:pPr indent="0" lvl="0" marL="0" marR="0" rtl="0" algn="l">
                        <a:spcBef>
                          <a:spcPts val="0"/>
                        </a:spcBef>
                        <a:spcAft>
                          <a:spcPts val="0"/>
                        </a:spcAft>
                        <a:buClr>
                          <a:srgbClr val="FFFFFF"/>
                        </a:buClr>
                        <a:buSzPts val="1800"/>
                        <a:buFont typeface="Calibri"/>
                        <a:buNone/>
                      </a:pPr>
                      <a:r>
                        <a:rPr b="1" lang="en-IL" sz="1800" u="none" cap="none" strike="noStrike">
                          <a:solidFill>
                            <a:srgbClr val="FFFFFF"/>
                          </a:solidFill>
                          <a:latin typeface="Calibri"/>
                          <a:ea typeface="Calibri"/>
                          <a:cs typeface="Calibri"/>
                          <a:sym typeface="Calibri"/>
                        </a:rPr>
                        <a:t>Campaign</a:t>
                      </a:r>
                      <a:endParaRPr/>
                    </a:p>
                  </a:txBody>
                  <a:tcPr marT="38100" marB="38100" marR="114300" marL="114300" anchor="ctr">
                    <a:solidFill>
                      <a:srgbClr val="00A0BD"/>
                    </a:solidFill>
                  </a:tcPr>
                </a:tc>
                <a:tc>
                  <a:txBody>
                    <a:bodyPr/>
                    <a:lstStyle/>
                    <a:p>
                      <a:pPr indent="0" lvl="0" marL="0" marR="0" rtl="0" algn="ctr">
                        <a:spcBef>
                          <a:spcPts val="0"/>
                        </a:spcBef>
                        <a:spcAft>
                          <a:spcPts val="0"/>
                        </a:spcAft>
                        <a:buClr>
                          <a:srgbClr val="FFFFFF"/>
                        </a:buClr>
                        <a:buSzPts val="1800"/>
                        <a:buFont typeface="Calibri"/>
                        <a:buNone/>
                      </a:pPr>
                      <a:r>
                        <a:rPr b="1" lang="en-IL" sz="1800" u="none" cap="none" strike="noStrike">
                          <a:solidFill>
                            <a:srgbClr val="FFFFFF"/>
                          </a:solidFill>
                          <a:latin typeface="Calibri"/>
                          <a:ea typeface="Calibri"/>
                          <a:cs typeface="Calibri"/>
                          <a:sym typeface="Calibri"/>
                        </a:rPr>
                        <a:t>Within ROC</a:t>
                      </a:r>
                      <a:endParaRPr/>
                    </a:p>
                  </a:txBody>
                  <a:tcPr marT="38100" marB="38100" marR="114300" marL="114300" anchor="ctr">
                    <a:solidFill>
                      <a:srgbClr val="00A0BD"/>
                    </a:solidFill>
                  </a:tcPr>
                </a:tc>
                <a:tc>
                  <a:txBody>
                    <a:bodyPr/>
                    <a:lstStyle/>
                    <a:p>
                      <a:pPr indent="0" lvl="0" marL="0" marR="0" rtl="0" algn="ctr">
                        <a:spcBef>
                          <a:spcPts val="0"/>
                        </a:spcBef>
                        <a:spcAft>
                          <a:spcPts val="0"/>
                        </a:spcAft>
                        <a:buClr>
                          <a:srgbClr val="FFFFFF"/>
                        </a:buClr>
                        <a:buSzPts val="1800"/>
                        <a:buFont typeface="Calibri"/>
                        <a:buNone/>
                      </a:pPr>
                      <a:r>
                        <a:rPr b="1" lang="en-IL" sz="1800" u="none" cap="none" strike="noStrike">
                          <a:solidFill>
                            <a:srgbClr val="FFFFFF"/>
                          </a:solidFill>
                          <a:latin typeface="Calibri"/>
                          <a:ea typeface="Calibri"/>
                          <a:cs typeface="Calibri"/>
                          <a:sym typeface="Calibri"/>
                        </a:rPr>
                        <a:t>Within PR</a:t>
                      </a:r>
                      <a:endParaRPr/>
                    </a:p>
                  </a:txBody>
                  <a:tcPr marT="38100" marB="38100" marR="114300" marL="114300" anchor="ctr">
                    <a:solidFill>
                      <a:srgbClr val="00A0BD"/>
                    </a:solidFill>
                  </a:tcPr>
                </a:tc>
                <a:tc>
                  <a:txBody>
                    <a:bodyPr/>
                    <a:lstStyle/>
                    <a:p>
                      <a:pPr indent="0" lvl="0" marL="0" marR="0" rtl="0" algn="ctr">
                        <a:spcBef>
                          <a:spcPts val="0"/>
                        </a:spcBef>
                        <a:spcAft>
                          <a:spcPts val="0"/>
                        </a:spcAft>
                        <a:buClr>
                          <a:srgbClr val="FFFFFF"/>
                        </a:buClr>
                        <a:buSzPts val="1800"/>
                        <a:buFont typeface="Calibri"/>
                        <a:buNone/>
                      </a:pPr>
                      <a:r>
                        <a:rPr b="1" lang="en-IL" sz="1800" u="none" cap="none" strike="noStrike">
                          <a:solidFill>
                            <a:srgbClr val="FFFFFF"/>
                          </a:solidFill>
                          <a:latin typeface="Calibri"/>
                          <a:ea typeface="Calibri"/>
                          <a:cs typeface="Calibri"/>
                          <a:sym typeface="Calibri"/>
                        </a:rPr>
                        <a:t>Across ROC</a:t>
                      </a:r>
                      <a:endParaRPr/>
                    </a:p>
                  </a:txBody>
                  <a:tcPr marT="38100" marB="38100" marR="114300" marL="114300" anchor="ctr">
                    <a:solidFill>
                      <a:srgbClr val="00A0BD"/>
                    </a:solidFill>
                  </a:tcPr>
                </a:tc>
                <a:tc>
                  <a:txBody>
                    <a:bodyPr/>
                    <a:lstStyle/>
                    <a:p>
                      <a:pPr indent="0" lvl="0" marL="0" marR="0" rtl="0" algn="ctr">
                        <a:spcBef>
                          <a:spcPts val="0"/>
                        </a:spcBef>
                        <a:spcAft>
                          <a:spcPts val="0"/>
                        </a:spcAft>
                        <a:buClr>
                          <a:srgbClr val="FFFFFF"/>
                        </a:buClr>
                        <a:buSzPts val="1800"/>
                        <a:buFont typeface="Calibri"/>
                        <a:buNone/>
                      </a:pPr>
                      <a:r>
                        <a:rPr b="1" lang="en-IL" sz="1800" u="none" cap="none" strike="noStrike">
                          <a:solidFill>
                            <a:srgbClr val="FFFFFF"/>
                          </a:solidFill>
                          <a:latin typeface="Calibri"/>
                          <a:ea typeface="Calibri"/>
                          <a:cs typeface="Calibri"/>
                          <a:sym typeface="Calibri"/>
                        </a:rPr>
                        <a:t>Across PR</a:t>
                      </a:r>
                      <a:endParaRPr/>
                    </a:p>
                  </a:txBody>
                  <a:tcPr marT="38100" marB="38100" marR="114300" marL="114300" anchor="ctr">
                    <a:solidFill>
                      <a:srgbClr val="00A0BD"/>
                    </a:solidFill>
                  </a:tcPr>
                </a:tc>
              </a:tr>
              <a:tr h="409575">
                <a:tc>
                  <a:txBody>
                    <a:bodyPr/>
                    <a:lstStyle/>
                    <a:p>
                      <a:pPr indent="0" lvl="0" marL="0" marR="0" rtl="0" algn="l">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Iran-1</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0.991</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0.983</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0.989</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0.963</a:t>
                      </a:r>
                      <a:endParaRPr/>
                    </a:p>
                  </a:txBody>
                  <a:tcPr marT="38100" marB="38100" marR="114300" marL="114300" anchor="ctr">
                    <a:solidFill>
                      <a:srgbClr val="FFFFFF"/>
                    </a:solidFill>
                  </a:tcPr>
                </a:tc>
              </a:tr>
              <a:tr h="409575">
                <a:tc>
                  <a:txBody>
                    <a:bodyPr/>
                    <a:lstStyle/>
                    <a:p>
                      <a:pPr indent="0" lvl="0" marL="0" marR="0" rtl="0" algn="l">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UAE</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0.995</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0.992</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0.976</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0.943</a:t>
                      </a:r>
                      <a:endParaRPr/>
                    </a:p>
                  </a:txBody>
                  <a:tcPr marT="38100" marB="38100" marR="114300" marL="114300" anchor="ctr">
                    <a:solidFill>
                      <a:srgbClr val="EEF5F6"/>
                    </a:solidFill>
                  </a:tcPr>
                </a:tc>
              </a:tr>
              <a:tr h="409575">
                <a:tc>
                  <a:txBody>
                    <a:bodyPr/>
                    <a:lstStyle/>
                    <a:p>
                      <a:pPr indent="0" lvl="0" marL="0" marR="0" rtl="0" algn="l">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Venezuela</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0.984</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0.964</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0.889</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0.649</a:t>
                      </a:r>
                      <a:endParaRPr/>
                    </a:p>
                  </a:txBody>
                  <a:tcPr marT="38100" marB="38100" marR="114300" marL="114300" anchor="ctr">
                    <a:solidFill>
                      <a:srgbClr val="FFFFFF"/>
                    </a:solidFill>
                  </a:tcPr>
                </a:tc>
              </a:tr>
              <a:tr h="409575">
                <a:tc>
                  <a:txBody>
                    <a:bodyPr/>
                    <a:lstStyle/>
                    <a:p>
                      <a:pPr indent="0" lvl="0" marL="0" marR="0" rtl="0" algn="l">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China-1</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0.986</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0.940</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0.822</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0.072</a:t>
                      </a:r>
                      <a:endParaRPr/>
                    </a:p>
                  </a:txBody>
                  <a:tcPr marT="38100" marB="38100" marR="114300" marL="114300" anchor="ctr">
                    <a:solidFill>
                      <a:srgbClr val="EEF5F6"/>
                    </a:solidFill>
                  </a:tcPr>
                </a:tc>
              </a:tr>
              <a:tr h="409575">
                <a:tc>
                  <a:txBody>
                    <a:bodyPr/>
                    <a:lstStyle/>
                    <a:p>
                      <a:pPr indent="0" lvl="0" marL="0" marR="0" rtl="0" algn="l">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Cuba</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0.985</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0.966</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0.992</a:t>
                      </a:r>
                      <a:endParaRPr/>
                    </a:p>
                  </a:txBody>
                  <a:tcPr marT="38100" marB="38100" marR="114300" marL="114300" anchor="ctr">
                    <a:solidFill>
                      <a:srgbClr val="FFFFFF"/>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0.920</a:t>
                      </a:r>
                      <a:endParaRPr/>
                    </a:p>
                  </a:txBody>
                  <a:tcPr marT="38100" marB="38100" marR="114300" marL="114300" anchor="ctr">
                    <a:solidFill>
                      <a:srgbClr val="FFFFFF"/>
                    </a:solidFill>
                  </a:tcPr>
                </a:tc>
              </a:tr>
              <a:tr h="409575">
                <a:tc>
                  <a:txBody>
                    <a:bodyPr/>
                    <a:lstStyle/>
                    <a:p>
                      <a:pPr indent="0" lvl="0" marL="0" marR="0" rtl="0" algn="l">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Russia-1</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0.999</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0.994</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0.929</a:t>
                      </a:r>
                      <a:endParaRPr/>
                    </a:p>
                  </a:txBody>
                  <a:tcPr marT="38100" marB="38100" marR="114300" marL="114300" anchor="ctr">
                    <a:solidFill>
                      <a:srgbClr val="EEF5F6"/>
                    </a:solidFill>
                  </a:tcPr>
                </a:tc>
                <a:tc>
                  <a:txBody>
                    <a:bodyPr/>
                    <a:lstStyle/>
                    <a:p>
                      <a:pPr indent="0" lvl="0" marL="0" marR="0" rtl="0" algn="ctr">
                        <a:spcBef>
                          <a:spcPts val="0"/>
                        </a:spcBef>
                        <a:spcAft>
                          <a:spcPts val="0"/>
                        </a:spcAft>
                        <a:buClr>
                          <a:srgbClr val="171717"/>
                        </a:buClr>
                        <a:buSzPts val="1800"/>
                        <a:buFont typeface="Calibri"/>
                        <a:buNone/>
                      </a:pPr>
                      <a:r>
                        <a:rPr b="0" lang="en-IL" sz="1800" u="none" cap="none" strike="noStrike">
                          <a:solidFill>
                            <a:srgbClr val="171717"/>
                          </a:solidFill>
                          <a:latin typeface="Calibri"/>
                          <a:ea typeface="Calibri"/>
                          <a:cs typeface="Calibri"/>
                          <a:sym typeface="Calibri"/>
                        </a:rPr>
                        <a:t>0.794</a:t>
                      </a:r>
                      <a:endParaRPr/>
                    </a:p>
                  </a:txBody>
                  <a:tcPr marT="38100" marB="38100" marR="114300" marL="114300" anchor="ctr">
                    <a:solidFill>
                      <a:srgbClr val="EEF5F6"/>
                    </a:solidFill>
                  </a:tcPr>
                </a:tc>
              </a:tr>
            </a:tbl>
          </a:graphicData>
        </a:graphic>
      </p:graphicFrame>
      <p:sp>
        <p:nvSpPr>
          <p:cNvPr id="436" name="Google Shape;436;p24"/>
          <p:cNvSpPr/>
          <p:nvPr/>
        </p:nvSpPr>
        <p:spPr>
          <a:xfrm>
            <a:off x="1381125" y="5734050"/>
            <a:ext cx="1019175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060"/>
              </a:buClr>
              <a:buSzPts val="1650"/>
              <a:buFont typeface="Calibri"/>
              <a:buNone/>
            </a:pPr>
            <a:r>
              <a:rPr b="0" lang="en-IL" sz="1650">
                <a:solidFill>
                  <a:srgbClr val="606060"/>
                </a:solidFill>
                <a:latin typeface="Calibri"/>
                <a:ea typeface="Calibri"/>
                <a:cs typeface="Calibri"/>
                <a:sym typeface="Calibri"/>
              </a:rPr>
              <a:t>Random Forest AUC. Across: train on five campaigns, test on one.</a:t>
            </a:r>
            <a:endParaRPr/>
          </a:p>
        </p:txBody>
      </p:sp>
      <p:sp>
        <p:nvSpPr>
          <p:cNvPr id="437" name="Google Shape;437;p24"/>
          <p:cNvSpPr/>
          <p:nvPr/>
        </p:nvSpPr>
        <p:spPr>
          <a:xfrm>
            <a:off x="1381125" y="6048375"/>
            <a:ext cx="752475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060"/>
              </a:buClr>
              <a:buSzPts val="1650"/>
              <a:buFont typeface="Calibri"/>
              <a:buNone/>
            </a:pPr>
            <a:r>
              <a:rPr b="0" lang="en-IL" sz="1650">
                <a:solidFill>
                  <a:srgbClr val="606060"/>
                </a:solidFill>
                <a:latin typeface="Calibri"/>
                <a:ea typeface="Calibri"/>
                <a:cs typeface="Calibri"/>
                <a:sym typeface="Calibri"/>
              </a:rPr>
              <a:t>Mean PR-AUC: 0.973 within campaign / 0.723 across campaigns.</a:t>
            </a:r>
            <a:endParaRPr/>
          </a:p>
        </p:txBody>
      </p:sp>
      <p:sp>
        <p:nvSpPr>
          <p:cNvPr id="438" name="Google Shape;438;p24"/>
          <p:cNvSpPr/>
          <p:nvPr/>
        </p:nvSpPr>
        <p:spPr>
          <a:xfrm>
            <a:off x="1381125" y="6410325"/>
            <a:ext cx="7524750" cy="2762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060"/>
              </a:buClr>
              <a:buSzPts val="1500"/>
              <a:buFont typeface="Calibri"/>
              <a:buNone/>
            </a:pPr>
            <a:r>
              <a:rPr b="0" lang="en-IL" sz="1500">
                <a:solidFill>
                  <a:srgbClr val="606060"/>
                </a:solidFill>
                <a:latin typeface="Calibri"/>
                <a:ea typeface="Calibri"/>
                <a:cs typeface="Calibri"/>
                <a:sym typeface="Calibri"/>
              </a:rPr>
              <a:t>Macro-F1: ICSU 0.804 vs. IOHunter 0.793 (different training coverage).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25"/>
          <p:cNvSpPr/>
          <p:nvPr/>
        </p:nvSpPr>
        <p:spPr>
          <a:xfrm>
            <a:off x="3143250" y="619125"/>
            <a:ext cx="8572500" cy="1047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9DBB"/>
              </a:buClr>
              <a:buSzPts val="4400"/>
              <a:buFont typeface="Calibri"/>
              <a:buNone/>
            </a:pPr>
            <a:r>
              <a:rPr b="0" lang="en-IL" sz="4400">
                <a:solidFill>
                  <a:srgbClr val="009DBB"/>
                </a:solidFill>
                <a:latin typeface="Calibri"/>
                <a:ea typeface="Calibri"/>
                <a:cs typeface="Calibri"/>
                <a:sym typeface="Calibri"/>
              </a:rPr>
              <a:t>Group Analysis</a:t>
            </a:r>
            <a:endParaRPr/>
          </a:p>
        </p:txBody>
      </p:sp>
      <p:sp>
        <p:nvSpPr>
          <p:cNvPr id="445" name="Google Shape;445;p25"/>
          <p:cNvSpPr/>
          <p:nvPr/>
        </p:nvSpPr>
        <p:spPr>
          <a:xfrm>
            <a:off x="11753850" y="6524625"/>
            <a:ext cx="28575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8888"/>
              </a:buClr>
              <a:buSzPts val="1125"/>
              <a:buFont typeface="Calibri"/>
              <a:buNone/>
            </a:pPr>
            <a:r>
              <a:rPr b="0" lang="en-IL" sz="1125">
                <a:solidFill>
                  <a:srgbClr val="888888"/>
                </a:solidFill>
                <a:latin typeface="Calibri"/>
                <a:ea typeface="Calibri"/>
                <a:cs typeface="Calibri"/>
                <a:sym typeface="Calibri"/>
              </a:rPr>
              <a:t>12</a:t>
            </a:r>
            <a:endParaRPr/>
          </a:p>
        </p:txBody>
      </p:sp>
      <p:pic>
        <p:nvPicPr>
          <p:cNvPr id="446" name="Google Shape;446;p25"/>
          <p:cNvPicPr preferRelativeResize="0"/>
          <p:nvPr/>
        </p:nvPicPr>
        <p:blipFill rotWithShape="1">
          <a:blip r:embed="rId3">
            <a:alphaModFix/>
          </a:blip>
          <a:srcRect b="0" l="0" r="0" t="0"/>
          <a:stretch/>
        </p:blipFill>
        <p:spPr>
          <a:xfrm>
            <a:off x="1178738" y="1860636"/>
            <a:ext cx="10860862" cy="3454314"/>
          </a:xfrm>
          <a:prstGeom prst="rect">
            <a:avLst/>
          </a:prstGeom>
          <a:noFill/>
          <a:ln>
            <a:noFill/>
          </a:ln>
        </p:spPr>
      </p:pic>
      <p:sp>
        <p:nvSpPr>
          <p:cNvPr id="447" name="Google Shape;447;p25"/>
          <p:cNvSpPr/>
          <p:nvPr/>
        </p:nvSpPr>
        <p:spPr>
          <a:xfrm>
            <a:off x="1381125" y="5562600"/>
            <a:ext cx="100965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1717"/>
              </a:buClr>
              <a:buSzPts val="2325"/>
              <a:buFont typeface="Calibri"/>
              <a:buNone/>
            </a:pPr>
            <a:r>
              <a:rPr b="0" lang="en-IL" sz="2325">
                <a:solidFill>
                  <a:srgbClr val="171717"/>
                </a:solidFill>
                <a:latin typeface="Calibri"/>
                <a:ea typeface="Calibri"/>
                <a:cs typeface="Calibri"/>
                <a:sym typeface="Calibri"/>
              </a:rPr>
              <a:t>K-core groups balance IO concentration and topic alignment.</a:t>
            </a:r>
            <a:endParaRPr b="0" sz="2325">
              <a:solidFill>
                <a:srgbClr val="171717"/>
              </a:solidFill>
              <a:latin typeface="Calibri"/>
              <a:ea typeface="Calibri"/>
              <a:cs typeface="Calibri"/>
              <a:sym typeface="Calibri"/>
            </a:endParaRPr>
          </a:p>
          <a:p>
            <a:pPr indent="0" lvl="0" marL="0" marR="0" rtl="0" algn="l">
              <a:spcBef>
                <a:spcPts val="0"/>
              </a:spcBef>
              <a:spcAft>
                <a:spcPts val="0"/>
              </a:spcAft>
              <a:buClr>
                <a:srgbClr val="171717"/>
              </a:buClr>
              <a:buSzPts val="2325"/>
              <a:buFont typeface="Calibri"/>
              <a:buNone/>
            </a:pPr>
            <a:r>
              <a:rPr b="0" lang="en-IL" sz="2325">
                <a:solidFill>
                  <a:srgbClr val="171717"/>
                </a:solidFill>
                <a:latin typeface="Calibri"/>
                <a:ea typeface="Calibri"/>
                <a:cs typeface="Calibri"/>
                <a:sym typeface="Calibri"/>
              </a:rPr>
              <a:t>Direct neighbors also perform well.</a:t>
            </a:r>
            <a:endParaRPr/>
          </a:p>
        </p:txBody>
      </p:sp>
      <p:sp>
        <p:nvSpPr>
          <p:cNvPr id="448" name="Google Shape;448;p25"/>
          <p:cNvSpPr/>
          <p:nvPr/>
        </p:nvSpPr>
        <p:spPr>
          <a:xfrm>
            <a:off x="1381125" y="6419850"/>
            <a:ext cx="1000125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060"/>
              </a:buClr>
              <a:buSzPts val="1725"/>
              <a:buFont typeface="Calibri"/>
              <a:buNone/>
            </a:pPr>
            <a:r>
              <a:rPr b="0" lang="en-IL" sz="1725">
                <a:solidFill>
                  <a:srgbClr val="606060"/>
                </a:solidFill>
                <a:latin typeface="Calibri"/>
                <a:ea typeface="Calibri"/>
                <a:cs typeface="Calibri"/>
                <a:sym typeface="Calibri"/>
              </a:rPr>
              <a:t>Top: XGBoost-predicted IO accounts. Bottom: all accounts.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26"/>
          <p:cNvSpPr/>
          <p:nvPr/>
        </p:nvSpPr>
        <p:spPr>
          <a:xfrm>
            <a:off x="3143250" y="619125"/>
            <a:ext cx="8572500" cy="1047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9DBB"/>
              </a:buClr>
              <a:buSzPts val="4400"/>
              <a:buFont typeface="Calibri"/>
              <a:buNone/>
            </a:pPr>
            <a:r>
              <a:rPr b="0" lang="en-IL" sz="4400">
                <a:solidFill>
                  <a:srgbClr val="009DBB"/>
                </a:solidFill>
                <a:latin typeface="Calibri"/>
                <a:ea typeface="Calibri"/>
                <a:cs typeface="Calibri"/>
                <a:sym typeface="Calibri"/>
              </a:rPr>
              <a:t>The Iran-1 Network</a:t>
            </a:r>
            <a:endParaRPr/>
          </a:p>
        </p:txBody>
      </p:sp>
      <p:sp>
        <p:nvSpPr>
          <p:cNvPr id="455" name="Google Shape;455;p26"/>
          <p:cNvSpPr/>
          <p:nvPr/>
        </p:nvSpPr>
        <p:spPr>
          <a:xfrm>
            <a:off x="11753850" y="6524625"/>
            <a:ext cx="28575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88888"/>
              </a:buClr>
              <a:buSzPts val="1125"/>
              <a:buFont typeface="Calibri"/>
              <a:buNone/>
            </a:pPr>
            <a:r>
              <a:rPr b="0" lang="en-IL" sz="1125">
                <a:solidFill>
                  <a:srgbClr val="888888"/>
                </a:solidFill>
                <a:latin typeface="Calibri"/>
                <a:ea typeface="Calibri"/>
                <a:cs typeface="Calibri"/>
                <a:sym typeface="Calibri"/>
              </a:rPr>
              <a:t>13</a:t>
            </a:r>
            <a:endParaRPr/>
          </a:p>
        </p:txBody>
      </p:sp>
      <p:sp>
        <p:nvSpPr>
          <p:cNvPr id="456" name="Google Shape;456;p26"/>
          <p:cNvSpPr/>
          <p:nvPr/>
        </p:nvSpPr>
        <p:spPr>
          <a:xfrm>
            <a:off x="1123950" y="1762125"/>
            <a:ext cx="4876802" cy="419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0A0BD"/>
              </a:buClr>
              <a:buSzPts val="2325"/>
              <a:buFont typeface="Calibri"/>
              <a:buNone/>
            </a:pPr>
            <a:r>
              <a:rPr b="1" lang="en-IL" sz="2325">
                <a:solidFill>
                  <a:srgbClr val="00A0BD"/>
                </a:solidFill>
                <a:latin typeface="Calibri"/>
                <a:ea typeface="Calibri"/>
                <a:cs typeface="Calibri"/>
                <a:sym typeface="Calibri"/>
              </a:rPr>
              <a:t>Core number</a:t>
            </a:r>
            <a:endParaRPr/>
          </a:p>
        </p:txBody>
      </p:sp>
      <p:sp>
        <p:nvSpPr>
          <p:cNvPr id="457" name="Google Shape;457;p26"/>
          <p:cNvSpPr/>
          <p:nvPr/>
        </p:nvSpPr>
        <p:spPr>
          <a:xfrm>
            <a:off x="6191250" y="1762125"/>
            <a:ext cx="5286375" cy="419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0A0BD"/>
              </a:buClr>
              <a:buSzPts val="2325"/>
              <a:buFont typeface="Calibri"/>
              <a:buNone/>
            </a:pPr>
            <a:r>
              <a:rPr b="1" lang="en-IL" sz="2325">
                <a:solidFill>
                  <a:srgbClr val="00A0BD"/>
                </a:solidFill>
                <a:latin typeface="Calibri"/>
                <a:ea typeface="Calibri"/>
                <a:cs typeface="Calibri"/>
                <a:sym typeface="Calibri"/>
              </a:rPr>
              <a:t>Known IO labels</a:t>
            </a:r>
            <a:endParaRPr/>
          </a:p>
        </p:txBody>
      </p:sp>
      <p:pic>
        <p:nvPicPr>
          <p:cNvPr id="458" name="Google Shape;458;p26"/>
          <p:cNvPicPr preferRelativeResize="0"/>
          <p:nvPr/>
        </p:nvPicPr>
        <p:blipFill rotWithShape="1">
          <a:blip r:embed="rId3">
            <a:alphaModFix/>
          </a:blip>
          <a:srcRect b="0" l="0" r="0" t="0"/>
          <a:stretch/>
        </p:blipFill>
        <p:spPr>
          <a:xfrm>
            <a:off x="1323558" y="2276475"/>
            <a:ext cx="9681502" cy="3800475"/>
          </a:xfrm>
          <a:prstGeom prst="rect">
            <a:avLst/>
          </a:prstGeom>
          <a:noFill/>
          <a:ln>
            <a:noFill/>
          </a:ln>
        </p:spPr>
      </p:pic>
      <p:sp>
        <p:nvSpPr>
          <p:cNvPr id="459" name="Google Shape;459;p26"/>
          <p:cNvSpPr/>
          <p:nvPr/>
        </p:nvSpPr>
        <p:spPr>
          <a:xfrm>
            <a:off x="1381125" y="6319837"/>
            <a:ext cx="10096500"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1717"/>
              </a:buClr>
              <a:buSzPts val="2175"/>
              <a:buFont typeface="Calibri"/>
              <a:buNone/>
            </a:pPr>
            <a:r>
              <a:rPr b="0" lang="en-IL" sz="2175">
                <a:solidFill>
                  <a:srgbClr val="171717"/>
                </a:solidFill>
                <a:latin typeface="Calibri"/>
                <a:ea typeface="Calibri"/>
                <a:cs typeface="Calibri"/>
                <a:sym typeface="Calibri"/>
              </a:rPr>
              <a:t>High-core regions overlap with concentrations of IO accounts.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3" name="Shape 463"/>
        <p:cNvGrpSpPr/>
        <p:nvPr/>
      </p:nvGrpSpPr>
      <p:grpSpPr>
        <a:xfrm>
          <a:off x="0" y="0"/>
          <a:ext cx="0" cy="0"/>
          <a:chOff x="0" y="0"/>
          <a:chExt cx="0" cy="0"/>
        </a:xfrm>
      </p:grpSpPr>
      <p:sp>
        <p:nvSpPr>
          <p:cNvPr id="464" name="Google Shape;464;p27"/>
          <p:cNvSpPr txBox="1"/>
          <p:nvPr>
            <p:ph type="title"/>
          </p:nvPr>
        </p:nvSpPr>
        <p:spPr>
          <a:xfrm>
            <a:off x="3072268" y="401637"/>
            <a:ext cx="9108669"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Group Analysis Case Study – Iran 1</a:t>
            </a:r>
            <a:endParaRPr/>
          </a:p>
        </p:txBody>
      </p:sp>
      <p:sp>
        <p:nvSpPr>
          <p:cNvPr id="465" name="Google Shape;465;p27"/>
          <p:cNvSpPr txBox="1"/>
          <p:nvPr>
            <p:ph idx="1" type="body"/>
          </p:nvPr>
        </p:nvSpPr>
        <p:spPr>
          <a:xfrm>
            <a:off x="1243087" y="1825625"/>
            <a:ext cx="10582656" cy="476972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rPr b="1" lang="en-IL" sz="3600"/>
              <a:t>How Was the Group Selected?</a:t>
            </a:r>
            <a:endParaRPr/>
          </a:p>
          <a:p>
            <a:pPr indent="-742950" lvl="0" marL="742950" rtl="0" algn="l">
              <a:lnSpc>
                <a:spcPct val="90000"/>
              </a:lnSpc>
              <a:spcBef>
                <a:spcPts val="1000"/>
              </a:spcBef>
              <a:spcAft>
                <a:spcPts val="0"/>
              </a:spcAft>
              <a:buClr>
                <a:schemeClr val="dk1"/>
              </a:buClr>
              <a:buSzPts val="3600"/>
              <a:buAutoNum type="arabicPeriod"/>
            </a:pPr>
            <a:r>
              <a:rPr lang="en-IL" sz="3600"/>
              <a:t>Build the Iran-1 co-action graph</a:t>
            </a:r>
            <a:endParaRPr sz="3600"/>
          </a:p>
          <a:p>
            <a:pPr indent="-742950" lvl="0" marL="742950" rtl="0" algn="l">
              <a:lnSpc>
                <a:spcPct val="90000"/>
              </a:lnSpc>
              <a:spcBef>
                <a:spcPts val="1000"/>
              </a:spcBef>
              <a:spcAft>
                <a:spcPts val="0"/>
              </a:spcAft>
              <a:buClr>
                <a:schemeClr val="dk1"/>
              </a:buClr>
              <a:buSzPts val="3600"/>
              <a:buAutoNum type="arabicPeriod"/>
            </a:pPr>
            <a:r>
              <a:rPr lang="en-IL" sz="3600"/>
              <a:t>Find the maximum k-core</a:t>
            </a:r>
            <a:endParaRPr sz="3600"/>
          </a:p>
          <a:p>
            <a:pPr indent="-742950" lvl="0" marL="742950" rtl="0" algn="l">
              <a:lnSpc>
                <a:spcPct val="90000"/>
              </a:lnSpc>
              <a:spcBef>
                <a:spcPts val="1000"/>
              </a:spcBef>
              <a:spcAft>
                <a:spcPts val="0"/>
              </a:spcAft>
              <a:buClr>
                <a:schemeClr val="dk1"/>
              </a:buClr>
              <a:buSzPts val="3600"/>
              <a:buAutoNum type="arabicPeriod"/>
            </a:pPr>
            <a:r>
              <a:rPr lang="en-IL" sz="3600"/>
              <a:t>Select a connected component from the k core</a:t>
            </a:r>
            <a:endParaRPr/>
          </a:p>
          <a:p>
            <a:pPr indent="-742950" lvl="0" marL="742950" rtl="0" algn="l">
              <a:lnSpc>
                <a:spcPct val="90000"/>
              </a:lnSpc>
              <a:spcBef>
                <a:spcPts val="1000"/>
              </a:spcBef>
              <a:spcAft>
                <a:spcPts val="0"/>
              </a:spcAft>
              <a:buClr>
                <a:schemeClr val="dk1"/>
              </a:buClr>
              <a:buSzPts val="3600"/>
              <a:buAutoNum type="arabicPeriod"/>
            </a:pPr>
            <a:r>
              <a:rPr lang="en-IL" sz="3600"/>
              <a:t>Find the peak coordination window: rank 15-minute intervals by the number of account pairs sharing hashtags.</a:t>
            </a:r>
            <a:endParaRPr/>
          </a:p>
        </p:txBody>
      </p:sp>
      <p:sp>
        <p:nvSpPr>
          <p:cNvPr id="466" name="Google Shape;466;p27"/>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h44a970ce36d02707_0_593"/>
          <p:cNvSpPr txBox="1"/>
          <p:nvPr>
            <p:ph type="title"/>
          </p:nvPr>
        </p:nvSpPr>
        <p:spPr>
          <a:xfrm>
            <a:off x="2840525" y="713903"/>
            <a:ext cx="8763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09DBB"/>
              </a:buClr>
              <a:buSzPts val="4400"/>
              <a:buFont typeface="Calibri"/>
              <a:buNone/>
            </a:pPr>
            <a:r>
              <a:rPr lang="en-IL"/>
              <a:t>Group Analysis: Iran-1 Case Study </a:t>
            </a:r>
            <a:endParaRPr sz="3400"/>
          </a:p>
        </p:txBody>
      </p:sp>
      <p:sp>
        <p:nvSpPr>
          <p:cNvPr id="472" name="Google Shape;472;h44a970ce36d02707_0_593"/>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grpSp>
        <p:nvGrpSpPr>
          <p:cNvPr id="473" name="Google Shape;473;h44a970ce36d02707_0_593"/>
          <p:cNvGrpSpPr/>
          <p:nvPr/>
        </p:nvGrpSpPr>
        <p:grpSpPr>
          <a:xfrm>
            <a:off x="2280325" y="1602275"/>
            <a:ext cx="4238700" cy="2190900"/>
            <a:chOff x="0" y="0"/>
            <a:chExt cx="4238700" cy="2190900"/>
          </a:xfrm>
        </p:grpSpPr>
        <p:sp>
          <p:nvSpPr>
            <p:cNvPr id="474" name="Google Shape;474;h44a970ce36d02707_0_593"/>
            <p:cNvSpPr/>
            <p:nvPr/>
          </p:nvSpPr>
          <p:spPr>
            <a:xfrm>
              <a:off x="0" y="0"/>
              <a:ext cx="4238700" cy="2190900"/>
            </a:xfrm>
            <a:prstGeom prst="roundRect">
              <a:avLst>
                <a:gd fmla="val 5217"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5" name="Google Shape;475;h44a970ce36d02707_0_593"/>
            <p:cNvSpPr/>
            <p:nvPr/>
          </p:nvSpPr>
          <p:spPr>
            <a:xfrm>
              <a:off x="0" y="0"/>
              <a:ext cx="57300" cy="2190900"/>
            </a:xfrm>
            <a:prstGeom prst="roundRect">
              <a:avLst>
                <a:gd fmla="val 50000" name="adj"/>
              </a:avLst>
            </a:prstGeom>
            <a:solidFill>
              <a:srgbClr val="009DB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6" name="Google Shape;476;h44a970ce36d02707_0_593"/>
            <p:cNvSpPr txBox="1"/>
            <p:nvPr/>
          </p:nvSpPr>
          <p:spPr>
            <a:xfrm>
              <a:off x="285750" y="228600"/>
              <a:ext cx="3667200" cy="173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IL" sz="2000">
                  <a:solidFill>
                    <a:srgbClr val="009DBB"/>
                  </a:solidFill>
                  <a:latin typeface="Calibri"/>
                  <a:ea typeface="Calibri"/>
                  <a:cs typeface="Calibri"/>
                  <a:sym typeface="Calibri"/>
                </a:rPr>
                <a:t>01 </a:t>
              </a:r>
              <a:r>
                <a:rPr b="1" lang="en-IL" sz="1800">
                  <a:solidFill>
                    <a:srgbClr val="0F172A"/>
                  </a:solidFill>
                  <a:latin typeface="Calibri"/>
                  <a:ea typeface="Calibri"/>
                  <a:cs typeface="Calibri"/>
                  <a:sym typeface="Calibri"/>
                </a:rPr>
                <a:t>Group Selection</a:t>
              </a:r>
              <a:endParaRPr sz="1800">
                <a:solidFill>
                  <a:schemeClr val="dk1"/>
                </a:solidFill>
                <a:latin typeface="Calibri"/>
                <a:ea typeface="Calibri"/>
                <a:cs typeface="Calibri"/>
                <a:sym typeface="Calibri"/>
              </a:endParaRPr>
            </a:p>
            <a:p>
              <a:pPr indent="0" lvl="0" marL="0" rtl="0" algn="l">
                <a:spcBef>
                  <a:spcPts val="900"/>
                </a:spcBef>
                <a:spcAft>
                  <a:spcPts val="0"/>
                </a:spcAft>
                <a:buNone/>
              </a:pPr>
              <a:br>
                <a:rPr lang="en-IL" sz="100">
                  <a:solidFill>
                    <a:schemeClr val="dk1"/>
                  </a:solidFill>
                  <a:latin typeface="Calibri"/>
                  <a:ea typeface="Calibri"/>
                  <a:cs typeface="Calibri"/>
                  <a:sym typeface="Calibri"/>
                </a:rPr>
              </a:br>
              <a:r>
                <a:rPr lang="en-IL" sz="1800">
                  <a:solidFill>
                    <a:schemeClr val="dk1"/>
                  </a:solidFill>
                  <a:latin typeface="Calibri"/>
                  <a:ea typeface="Calibri"/>
                  <a:cs typeface="Calibri"/>
                  <a:sym typeface="Calibri"/>
                </a:rPr>
                <a:t> Select a connected component from the maximum k-core of the Iran-1 co-action graph, comprising 312 accounts</a:t>
              </a:r>
              <a:r>
                <a:rPr lang="en-IL" sz="1100">
                  <a:solidFill>
                    <a:schemeClr val="dk1"/>
                  </a:solidFill>
                </a:rPr>
                <a:t>.</a:t>
              </a:r>
              <a:endParaRPr sz="1100">
                <a:solidFill>
                  <a:schemeClr val="dk1"/>
                </a:solidFill>
              </a:endParaRPr>
            </a:p>
            <a:p>
              <a:pPr indent="0" lvl="0" marL="0" rtl="0" algn="l">
                <a:spcBef>
                  <a:spcPts val="900"/>
                </a:spcBef>
                <a:spcAft>
                  <a:spcPts val="0"/>
                </a:spcAft>
                <a:buNone/>
              </a:pPr>
              <a:r>
                <a:t/>
              </a:r>
              <a:endParaRPr sz="1800">
                <a:solidFill>
                  <a:schemeClr val="dk1"/>
                </a:solidFill>
                <a:latin typeface="Calibri"/>
                <a:ea typeface="Calibri"/>
                <a:cs typeface="Calibri"/>
                <a:sym typeface="Calibri"/>
              </a:endParaRPr>
            </a:p>
          </p:txBody>
        </p:sp>
      </p:grpSp>
      <p:grpSp>
        <p:nvGrpSpPr>
          <p:cNvPr id="477" name="Google Shape;477;h44a970ce36d02707_0_593"/>
          <p:cNvGrpSpPr/>
          <p:nvPr/>
        </p:nvGrpSpPr>
        <p:grpSpPr>
          <a:xfrm>
            <a:off x="6804700" y="1602275"/>
            <a:ext cx="4238850" cy="2190900"/>
            <a:chOff x="0" y="0"/>
            <a:chExt cx="4238850" cy="2190900"/>
          </a:xfrm>
        </p:grpSpPr>
        <p:sp>
          <p:nvSpPr>
            <p:cNvPr id="478" name="Google Shape;478;h44a970ce36d02707_0_593"/>
            <p:cNvSpPr/>
            <p:nvPr/>
          </p:nvSpPr>
          <p:spPr>
            <a:xfrm>
              <a:off x="0" y="0"/>
              <a:ext cx="4238700" cy="2190900"/>
            </a:xfrm>
            <a:prstGeom prst="roundRect">
              <a:avLst>
                <a:gd fmla="val 5217"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9" name="Google Shape;479;h44a970ce36d02707_0_593"/>
            <p:cNvSpPr/>
            <p:nvPr/>
          </p:nvSpPr>
          <p:spPr>
            <a:xfrm>
              <a:off x="0" y="0"/>
              <a:ext cx="57300" cy="21909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0" name="Google Shape;480;h44a970ce36d02707_0_593"/>
            <p:cNvSpPr txBox="1"/>
            <p:nvPr/>
          </p:nvSpPr>
          <p:spPr>
            <a:xfrm>
              <a:off x="285750" y="228600"/>
              <a:ext cx="3953100" cy="173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IL" sz="2000">
                  <a:solidFill>
                    <a:srgbClr val="0284C7"/>
                  </a:solidFill>
                  <a:latin typeface="Calibri"/>
                  <a:ea typeface="Calibri"/>
                  <a:cs typeface="Calibri"/>
                  <a:sym typeface="Calibri"/>
                </a:rPr>
                <a:t>02 </a:t>
              </a:r>
              <a:r>
                <a:rPr b="1" lang="en-IL" sz="1800">
                  <a:solidFill>
                    <a:srgbClr val="0F172A"/>
                  </a:solidFill>
                  <a:latin typeface="Calibri"/>
                  <a:ea typeface="Calibri"/>
                  <a:cs typeface="Calibri"/>
                  <a:sym typeface="Calibri"/>
                </a:rPr>
                <a:t>Coordination Window</a:t>
              </a:r>
              <a:endParaRPr>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IL" sz="1700">
                  <a:solidFill>
                    <a:schemeClr val="dk1"/>
                  </a:solidFill>
                  <a:latin typeface="Calibri"/>
                  <a:ea typeface="Calibri"/>
                  <a:cs typeface="Calibri"/>
                  <a:sym typeface="Calibri"/>
                </a:rPr>
                <a:t>Score each non-overlapping 15-minute interval by summing the number of distinct account pairs sharing each hashtag. Select the highest-scoring interval.</a:t>
              </a:r>
              <a:endParaRPr sz="800">
                <a:solidFill>
                  <a:schemeClr val="dk1"/>
                </a:solidFill>
              </a:endParaRPr>
            </a:p>
            <a:p>
              <a:pPr indent="0" lvl="0" marL="0" rtl="0" algn="l">
                <a:spcBef>
                  <a:spcPts val="1200"/>
                </a:spcBef>
                <a:spcAft>
                  <a:spcPts val="0"/>
                </a:spcAft>
                <a:buNone/>
              </a:pPr>
              <a:r>
                <a:t/>
              </a:r>
              <a:endParaRPr sz="1800">
                <a:solidFill>
                  <a:schemeClr val="dk1"/>
                </a:solidFill>
                <a:latin typeface="Calibri"/>
                <a:ea typeface="Calibri"/>
                <a:cs typeface="Calibri"/>
                <a:sym typeface="Calibri"/>
              </a:endParaRPr>
            </a:p>
          </p:txBody>
        </p:sp>
      </p:grpSp>
      <p:grpSp>
        <p:nvGrpSpPr>
          <p:cNvPr id="481" name="Google Shape;481;h44a970ce36d02707_0_593"/>
          <p:cNvGrpSpPr/>
          <p:nvPr/>
        </p:nvGrpSpPr>
        <p:grpSpPr>
          <a:xfrm>
            <a:off x="2280325" y="4078775"/>
            <a:ext cx="4238700" cy="2190900"/>
            <a:chOff x="0" y="0"/>
            <a:chExt cx="4238700" cy="2190900"/>
          </a:xfrm>
        </p:grpSpPr>
        <p:sp>
          <p:nvSpPr>
            <p:cNvPr id="482" name="Google Shape;482;h44a970ce36d02707_0_593"/>
            <p:cNvSpPr/>
            <p:nvPr/>
          </p:nvSpPr>
          <p:spPr>
            <a:xfrm>
              <a:off x="0" y="0"/>
              <a:ext cx="4238700" cy="2190900"/>
            </a:xfrm>
            <a:prstGeom prst="roundRect">
              <a:avLst>
                <a:gd fmla="val 5217"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3" name="Google Shape;483;h44a970ce36d02707_0_593"/>
            <p:cNvSpPr/>
            <p:nvPr/>
          </p:nvSpPr>
          <p:spPr>
            <a:xfrm>
              <a:off x="0" y="0"/>
              <a:ext cx="57300" cy="2190900"/>
            </a:xfrm>
            <a:prstGeom prst="roundRect">
              <a:avLst>
                <a:gd fmla="val 50000" name="adj"/>
              </a:avLst>
            </a:prstGeom>
            <a:solidFill>
              <a:srgbClr val="0369A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h44a970ce36d02707_0_593"/>
            <p:cNvSpPr txBox="1"/>
            <p:nvPr/>
          </p:nvSpPr>
          <p:spPr>
            <a:xfrm>
              <a:off x="285750" y="228600"/>
              <a:ext cx="3667200" cy="173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IL" sz="2000">
                  <a:solidFill>
                    <a:srgbClr val="0369A1"/>
                  </a:solidFill>
                  <a:latin typeface="Calibri"/>
                  <a:ea typeface="Calibri"/>
                  <a:cs typeface="Calibri"/>
                  <a:sym typeface="Calibri"/>
                </a:rPr>
                <a:t>03 </a:t>
              </a:r>
              <a:r>
                <a:rPr b="1" lang="en-IL" sz="1800">
                  <a:solidFill>
                    <a:srgbClr val="0F172A"/>
                  </a:solidFill>
                  <a:latin typeface="Calibri"/>
                  <a:ea typeface="Calibri"/>
                  <a:cs typeface="Calibri"/>
                  <a:sym typeface="Calibri"/>
                </a:rPr>
                <a:t>Activity Analysis</a:t>
              </a:r>
              <a:endParaRPr>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IL" sz="1800">
                  <a:solidFill>
                    <a:schemeClr val="dk1"/>
                  </a:solidFill>
                  <a:latin typeface="Calibri"/>
                  <a:ea typeface="Calibri"/>
                  <a:cs typeface="Calibri"/>
                  <a:sym typeface="Calibri"/>
                </a:rPr>
                <a:t> Examine posting volume, reposting patterns, and shared hashtags within the selected interval</a:t>
              </a:r>
              <a:r>
                <a:rPr lang="en-IL" sz="1100">
                  <a:solidFill>
                    <a:schemeClr val="dk1"/>
                  </a:solidFill>
                </a:rPr>
                <a:t>.</a:t>
              </a:r>
              <a:endParaRPr sz="1100">
                <a:solidFill>
                  <a:schemeClr val="dk1"/>
                </a:solidFill>
              </a:endParaRPr>
            </a:p>
            <a:p>
              <a:pPr indent="0" lvl="0" marL="0" rtl="0" algn="l">
                <a:spcBef>
                  <a:spcPts val="1200"/>
                </a:spcBef>
                <a:spcAft>
                  <a:spcPts val="0"/>
                </a:spcAft>
                <a:buNone/>
              </a:pPr>
              <a:r>
                <a:t/>
              </a:r>
              <a:endParaRPr sz="1800">
                <a:solidFill>
                  <a:schemeClr val="dk1"/>
                </a:solidFill>
                <a:latin typeface="Calibri"/>
                <a:ea typeface="Calibri"/>
                <a:cs typeface="Calibri"/>
                <a:sym typeface="Calibri"/>
              </a:endParaRPr>
            </a:p>
          </p:txBody>
        </p:sp>
      </p:grpSp>
      <p:grpSp>
        <p:nvGrpSpPr>
          <p:cNvPr id="485" name="Google Shape;485;h44a970ce36d02707_0_593"/>
          <p:cNvGrpSpPr/>
          <p:nvPr/>
        </p:nvGrpSpPr>
        <p:grpSpPr>
          <a:xfrm>
            <a:off x="6804700" y="4078775"/>
            <a:ext cx="4238700" cy="2190900"/>
            <a:chOff x="0" y="0"/>
            <a:chExt cx="4238700" cy="2190900"/>
          </a:xfrm>
        </p:grpSpPr>
        <p:sp>
          <p:nvSpPr>
            <p:cNvPr id="486" name="Google Shape;486;h44a970ce36d02707_0_593"/>
            <p:cNvSpPr/>
            <p:nvPr/>
          </p:nvSpPr>
          <p:spPr>
            <a:xfrm>
              <a:off x="0" y="0"/>
              <a:ext cx="4238700" cy="2190900"/>
            </a:xfrm>
            <a:prstGeom prst="roundRect">
              <a:avLst>
                <a:gd fmla="val 5217"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h44a970ce36d02707_0_593"/>
            <p:cNvSpPr/>
            <p:nvPr/>
          </p:nvSpPr>
          <p:spPr>
            <a:xfrm>
              <a:off x="0" y="0"/>
              <a:ext cx="57300" cy="2190900"/>
            </a:xfrm>
            <a:prstGeom prst="roundRect">
              <a:avLst>
                <a:gd fmla="val 50000" name="adj"/>
              </a:avLst>
            </a:prstGeom>
            <a:solidFill>
              <a:srgbClr val="0C4A6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8" name="Google Shape;488;h44a970ce36d02707_0_593"/>
            <p:cNvSpPr txBox="1"/>
            <p:nvPr/>
          </p:nvSpPr>
          <p:spPr>
            <a:xfrm>
              <a:off x="285750" y="228600"/>
              <a:ext cx="3667200" cy="173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IL" sz="2000">
                  <a:solidFill>
                    <a:srgbClr val="0C4A6E"/>
                  </a:solidFill>
                  <a:latin typeface="Calibri"/>
                  <a:ea typeface="Calibri"/>
                  <a:cs typeface="Calibri"/>
                  <a:sym typeface="Calibri"/>
                </a:rPr>
                <a:t>04 </a:t>
              </a:r>
              <a:r>
                <a:rPr b="1" lang="en-IL" sz="1800">
                  <a:solidFill>
                    <a:srgbClr val="0F172A"/>
                  </a:solidFill>
                  <a:latin typeface="Calibri"/>
                  <a:ea typeface="Calibri"/>
                  <a:cs typeface="Calibri"/>
                  <a:sym typeface="Calibri"/>
                </a:rPr>
                <a:t>Content Analysis</a:t>
              </a:r>
              <a:endParaRPr>
                <a:latin typeface="Calibri"/>
                <a:ea typeface="Calibri"/>
                <a:cs typeface="Calibri"/>
                <a:sym typeface="Calibri"/>
              </a:endParaRPr>
            </a:p>
            <a:p>
              <a:pPr indent="0" lvl="0" marL="0" rtl="0" algn="l">
                <a:lnSpc>
                  <a:spcPct val="115000"/>
                </a:lnSpc>
                <a:spcBef>
                  <a:spcPts val="1200"/>
                </a:spcBef>
                <a:spcAft>
                  <a:spcPts val="1200"/>
                </a:spcAft>
                <a:buClr>
                  <a:schemeClr val="dk1"/>
                </a:buClr>
                <a:buSzPts val="1100"/>
                <a:buFont typeface="Arial"/>
                <a:buNone/>
              </a:pPr>
              <a:r>
                <a:rPr lang="en-IL" sz="1800">
                  <a:solidFill>
                    <a:schemeClr val="dk1"/>
                  </a:solidFill>
                  <a:latin typeface="Calibri"/>
                  <a:ea typeface="Calibri"/>
                  <a:cs typeface="Calibri"/>
                  <a:sym typeface="Calibri"/>
                </a:rPr>
                <a:t> Examine the reposted source posts and shared hashtags to characterize the amplified content and recurring political messages.</a:t>
              </a:r>
              <a:endParaRPr sz="1800">
                <a:solidFill>
                  <a:schemeClr val="dk1"/>
                </a:solidFill>
                <a:latin typeface="Calibri"/>
                <a:ea typeface="Calibri"/>
                <a:cs typeface="Calibri"/>
                <a:sym typeface="Calibri"/>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28"/>
          <p:cNvSpPr txBox="1"/>
          <p:nvPr>
            <p:ph type="title"/>
          </p:nvPr>
        </p:nvSpPr>
        <p:spPr>
          <a:xfrm>
            <a:off x="3072268" y="401637"/>
            <a:ext cx="9108669" cy="132556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IL"/>
              <a:t>Group Analysis: Iran-1 Case Study </a:t>
            </a:r>
            <a:endParaRPr/>
          </a:p>
        </p:txBody>
      </p:sp>
      <p:sp>
        <p:nvSpPr>
          <p:cNvPr id="494" name="Google Shape;494;p28"/>
          <p:cNvSpPr txBox="1"/>
          <p:nvPr>
            <p:ph idx="1" type="body"/>
          </p:nvPr>
        </p:nvSpPr>
        <p:spPr>
          <a:xfrm>
            <a:off x="1243087" y="1730375"/>
            <a:ext cx="10582656" cy="4769728"/>
          </a:xfrm>
          <a:prstGeom prst="rect">
            <a:avLst/>
          </a:prstGeom>
          <a:noFill/>
          <a:ln>
            <a:noFill/>
          </a:ln>
        </p:spPr>
        <p:txBody>
          <a:bodyPr anchorCtr="0" anchor="t" bIns="45700" lIns="91425" spcFirstLastPara="1" rIns="91425" wrap="square" tIns="45700">
            <a:noAutofit/>
          </a:bodyPr>
          <a:lstStyle/>
          <a:p>
            <a:pPr indent="-235903" lvl="0" marL="228600" rtl="0" algn="l">
              <a:lnSpc>
                <a:spcPct val="150000"/>
              </a:lnSpc>
              <a:spcBef>
                <a:spcPts val="0"/>
              </a:spcBef>
              <a:spcAft>
                <a:spcPts val="0"/>
              </a:spcAft>
              <a:buClr>
                <a:schemeClr val="dk1"/>
              </a:buClr>
              <a:buSzPts val="3715"/>
              <a:buChar char="•"/>
            </a:pPr>
            <a:r>
              <a:rPr lang="en-IL" sz="3715"/>
              <a:t> I</a:t>
            </a:r>
            <a:r>
              <a:rPr lang="en-IL" sz="2715"/>
              <a:t>n the selected group and during the selected 15-minute interval:</a:t>
            </a:r>
            <a:endParaRPr sz="2715"/>
          </a:p>
          <a:p>
            <a:pPr indent="-148463" lvl="1" marL="685800" rtl="0" algn="l">
              <a:lnSpc>
                <a:spcPct val="150000"/>
              </a:lnSpc>
              <a:spcBef>
                <a:spcPts val="500"/>
              </a:spcBef>
              <a:spcAft>
                <a:spcPts val="0"/>
              </a:spcAft>
              <a:buClr>
                <a:schemeClr val="dk1"/>
              </a:buClr>
              <a:buSzPts val="1975"/>
              <a:buChar char="o"/>
            </a:pPr>
            <a:r>
              <a:rPr lang="en-IL" sz="1975"/>
              <a:t>15 accounts produced 244 posts. </a:t>
            </a:r>
            <a:endParaRPr sz="700"/>
          </a:p>
          <a:p>
            <a:pPr indent="-148463" lvl="1" marL="685800" rtl="0" algn="l">
              <a:lnSpc>
                <a:spcPct val="150000"/>
              </a:lnSpc>
              <a:spcBef>
                <a:spcPts val="500"/>
              </a:spcBef>
              <a:spcAft>
                <a:spcPts val="0"/>
              </a:spcAft>
              <a:buClr>
                <a:schemeClr val="dk1"/>
              </a:buClr>
              <a:buSzPts val="1975"/>
              <a:buChar char="o"/>
            </a:pPr>
            <a:r>
              <a:rPr lang="en-IL" sz="1975"/>
              <a:t>242 of 244 posts were reposts. </a:t>
            </a:r>
            <a:endParaRPr sz="700"/>
          </a:p>
          <a:p>
            <a:pPr indent="-148463" lvl="1" marL="685800" rtl="0" algn="l">
              <a:lnSpc>
                <a:spcPct val="150000"/>
              </a:lnSpc>
              <a:spcBef>
                <a:spcPts val="500"/>
              </a:spcBef>
              <a:spcAft>
                <a:spcPts val="0"/>
              </a:spcAft>
              <a:buClr>
                <a:schemeClr val="dk1"/>
              </a:buClr>
              <a:buSzPts val="1975"/>
              <a:buChar char="o"/>
            </a:pPr>
            <a:r>
              <a:rPr lang="en-IL" sz="1975"/>
              <a:t>The activity included 30 shared hashtags. </a:t>
            </a:r>
            <a:endParaRPr sz="700"/>
          </a:p>
          <a:p>
            <a:pPr indent="-148463" lvl="1" marL="685800" rtl="0" algn="l">
              <a:lnSpc>
                <a:spcPct val="150000"/>
              </a:lnSpc>
              <a:spcBef>
                <a:spcPts val="500"/>
              </a:spcBef>
              <a:spcAft>
                <a:spcPts val="0"/>
              </a:spcAft>
              <a:buClr>
                <a:schemeClr val="dk1"/>
              </a:buClr>
              <a:buSzPts val="1975"/>
              <a:buChar char="o"/>
            </a:pPr>
            <a:r>
              <a:rPr lang="en-IL" sz="1975"/>
              <a:t>16 of 19 reposted source posts focused on U.S. politics. </a:t>
            </a:r>
            <a:endParaRPr sz="700"/>
          </a:p>
          <a:p>
            <a:pPr indent="-148463" lvl="1" marL="685800" rtl="0" algn="l">
              <a:lnSpc>
                <a:spcPct val="150000"/>
              </a:lnSpc>
              <a:spcBef>
                <a:spcPts val="500"/>
              </a:spcBef>
              <a:spcAft>
                <a:spcPts val="0"/>
              </a:spcAft>
              <a:buClr>
                <a:schemeClr val="dk1"/>
              </a:buClr>
              <a:buSzPts val="1975"/>
              <a:buChar char="o"/>
            </a:pPr>
            <a:r>
              <a:rPr lang="en-IL" sz="1975"/>
              <a:t>The dominant narrative included criticism of Donald Trump and opposition to tax legislation.</a:t>
            </a:r>
            <a:endParaRPr sz="2315"/>
          </a:p>
          <a:p>
            <a:pPr indent="-172403" lvl="0" marL="228600" rtl="0" algn="l">
              <a:lnSpc>
                <a:spcPct val="150000"/>
              </a:lnSpc>
              <a:spcBef>
                <a:spcPts val="1000"/>
              </a:spcBef>
              <a:spcAft>
                <a:spcPts val="0"/>
              </a:spcAft>
              <a:buClr>
                <a:schemeClr val="dk1"/>
              </a:buClr>
              <a:buSzPts val="2715"/>
              <a:buChar char="•"/>
            </a:pPr>
            <a:r>
              <a:rPr lang="en-IL" sz="2715"/>
              <a:t>Key finding: The group amplified U.S. political messages through reposting.</a:t>
            </a:r>
            <a:endParaRPr sz="1440"/>
          </a:p>
          <a:p>
            <a:pPr indent="-17145" lvl="0" marL="228600" rtl="0" algn="l">
              <a:lnSpc>
                <a:spcPct val="70000"/>
              </a:lnSpc>
              <a:spcBef>
                <a:spcPts val="1000"/>
              </a:spcBef>
              <a:spcAft>
                <a:spcPts val="0"/>
              </a:spcAft>
              <a:buClr>
                <a:schemeClr val="dk1"/>
              </a:buClr>
              <a:buSzPts val="3060"/>
              <a:buNone/>
            </a:pPr>
            <a:r>
              <a:t/>
            </a:r>
            <a:endParaRPr sz="3460"/>
          </a:p>
          <a:p>
            <a:pPr indent="0" lvl="1" marL="457200" rtl="0" algn="l">
              <a:lnSpc>
                <a:spcPct val="70000"/>
              </a:lnSpc>
              <a:spcBef>
                <a:spcPts val="500"/>
              </a:spcBef>
              <a:spcAft>
                <a:spcPts val="0"/>
              </a:spcAft>
              <a:buClr>
                <a:schemeClr val="dk1"/>
              </a:buClr>
              <a:buSzPts val="2720"/>
              <a:buNone/>
            </a:pPr>
            <a:r>
              <a:t/>
            </a:r>
            <a:endParaRPr sz="3120"/>
          </a:p>
        </p:txBody>
      </p:sp>
      <p:sp>
        <p:nvSpPr>
          <p:cNvPr id="495" name="Google Shape;495;p28"/>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h2e08d342f2b398b2_0_20"/>
          <p:cNvSpPr txBox="1"/>
          <p:nvPr>
            <p:ph type="title"/>
          </p:nvPr>
        </p:nvSpPr>
        <p:spPr>
          <a:xfrm>
            <a:off x="1479549" y="1709738"/>
            <a:ext cx="9914700" cy="2852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9DBB"/>
              </a:buClr>
              <a:buSzPts val="5400"/>
              <a:buFont typeface="Calibri"/>
              <a:buNone/>
            </a:pPr>
            <a:r>
              <a:rPr lang="en-IL"/>
              <a:t>Summary</a:t>
            </a:r>
            <a:endParaRPr/>
          </a:p>
        </p:txBody>
      </p:sp>
      <p:sp>
        <p:nvSpPr>
          <p:cNvPr id="501" name="Google Shape;501;h2e08d342f2b398b2_0_20"/>
          <p:cNvSpPr txBox="1"/>
          <p:nvPr>
            <p:ph idx="1" type="body"/>
          </p:nvPr>
        </p:nvSpPr>
        <p:spPr>
          <a:xfrm>
            <a:off x="1479550" y="4589463"/>
            <a:ext cx="10515600" cy="1500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
        <p:nvSpPr>
          <p:cNvPr id="502" name="Google Shape;502;h2e08d342f2b398b2_0_20"/>
          <p:cNvSpPr txBox="1"/>
          <p:nvPr>
            <p:ph idx="12" type="sldNum"/>
          </p:nvPr>
        </p:nvSpPr>
        <p:spPr>
          <a:xfrm>
            <a:off x="11728704" y="6464649"/>
            <a:ext cx="4521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29"/>
          <p:cNvSpPr txBox="1"/>
          <p:nvPr>
            <p:ph type="title"/>
          </p:nvPr>
        </p:nvSpPr>
        <p:spPr>
          <a:xfrm>
            <a:off x="3072268" y="401637"/>
            <a:ext cx="9108669"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Summary of Results</a:t>
            </a:r>
            <a:endParaRPr/>
          </a:p>
        </p:txBody>
      </p:sp>
      <p:sp>
        <p:nvSpPr>
          <p:cNvPr id="508" name="Google Shape;508;p29"/>
          <p:cNvSpPr txBox="1"/>
          <p:nvPr>
            <p:ph idx="1" type="body"/>
          </p:nvPr>
        </p:nvSpPr>
        <p:spPr>
          <a:xfrm>
            <a:off x="1243087" y="1730375"/>
            <a:ext cx="10582656" cy="476972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b="1" lang="en-IL" sz="4000"/>
              <a:t>Account Detection</a:t>
            </a:r>
            <a:endParaRPr b="1" sz="4000"/>
          </a:p>
          <a:p>
            <a:pPr indent="-228600" lvl="1" marL="685800" rtl="0" algn="l">
              <a:lnSpc>
                <a:spcPct val="90000"/>
              </a:lnSpc>
              <a:spcBef>
                <a:spcPts val="500"/>
              </a:spcBef>
              <a:spcAft>
                <a:spcPts val="0"/>
              </a:spcAft>
              <a:buClr>
                <a:schemeClr val="dk1"/>
              </a:buClr>
              <a:buSzPct val="100000"/>
              <a:buChar char="o"/>
            </a:pPr>
            <a:r>
              <a:rPr lang="en-IL" sz="3600"/>
              <a:t>Interpretable Indicators</a:t>
            </a:r>
            <a:endParaRPr sz="4000"/>
          </a:p>
          <a:p>
            <a:pPr indent="-228600" lvl="1" marL="685800" rtl="0" algn="l">
              <a:lnSpc>
                <a:spcPct val="90000"/>
              </a:lnSpc>
              <a:spcBef>
                <a:spcPts val="500"/>
              </a:spcBef>
              <a:spcAft>
                <a:spcPts val="0"/>
              </a:spcAft>
              <a:buClr>
                <a:schemeClr val="dk1"/>
              </a:buClr>
              <a:buSzPct val="100000"/>
              <a:buChar char="o"/>
            </a:pPr>
            <a:r>
              <a:rPr lang="en-IL" sz="3600"/>
              <a:t>Mean ROC–AUC: </a:t>
            </a:r>
            <a:r>
              <a:rPr b="1" lang="en-IL" sz="3600"/>
              <a:t>0.990 within campaigns</a:t>
            </a:r>
            <a:r>
              <a:rPr lang="en-IL" sz="3600"/>
              <a:t> and </a:t>
            </a:r>
            <a:r>
              <a:rPr b="1" lang="en-IL" sz="3600"/>
              <a:t>0.933 across campaigns</a:t>
            </a:r>
            <a:r>
              <a:rPr lang="en-IL" sz="3600"/>
              <a:t> </a:t>
            </a:r>
            <a:endParaRPr/>
          </a:p>
          <a:p>
            <a:pPr indent="-228600" lvl="0" marL="228600" rtl="0" algn="l">
              <a:lnSpc>
                <a:spcPct val="90000"/>
              </a:lnSpc>
              <a:spcBef>
                <a:spcPts val="1000"/>
              </a:spcBef>
              <a:spcAft>
                <a:spcPts val="0"/>
              </a:spcAft>
              <a:buClr>
                <a:schemeClr val="dk1"/>
              </a:buClr>
              <a:buSzPct val="100000"/>
              <a:buChar char="•"/>
            </a:pPr>
            <a:r>
              <a:rPr lang="en-IL" sz="4000"/>
              <a:t>Indicator importance varied across campaigns </a:t>
            </a:r>
            <a:endParaRPr/>
          </a:p>
          <a:p>
            <a:pPr indent="-228600" lvl="0" marL="228600" rtl="0" algn="l">
              <a:lnSpc>
                <a:spcPct val="90000"/>
              </a:lnSpc>
              <a:spcBef>
                <a:spcPts val="1000"/>
              </a:spcBef>
              <a:spcAft>
                <a:spcPts val="0"/>
              </a:spcAft>
              <a:buClr>
                <a:schemeClr val="dk1"/>
              </a:buClr>
              <a:buSzPct val="100000"/>
              <a:buChar char="•"/>
            </a:pPr>
            <a:r>
              <a:rPr b="1" lang="en-IL" sz="4000"/>
              <a:t>Group Analysis</a:t>
            </a:r>
            <a:endParaRPr sz="4000"/>
          </a:p>
          <a:p>
            <a:pPr indent="-228600" lvl="1" marL="685800" rtl="0" algn="l">
              <a:lnSpc>
                <a:spcPct val="90000"/>
              </a:lnSpc>
              <a:spcBef>
                <a:spcPts val="500"/>
              </a:spcBef>
              <a:spcAft>
                <a:spcPts val="0"/>
              </a:spcAft>
              <a:buClr>
                <a:schemeClr val="dk1"/>
              </a:buClr>
              <a:buSzPct val="100000"/>
              <a:buChar char="o"/>
            </a:pPr>
            <a:r>
              <a:rPr lang="en-IL" sz="3600"/>
              <a:t>K-core groups showed a strong balance between IO concentration and topic alignment </a:t>
            </a:r>
            <a:endParaRPr/>
          </a:p>
          <a:p>
            <a:pPr indent="-228600" lvl="0" marL="228600" rtl="0" algn="l">
              <a:lnSpc>
                <a:spcPct val="90000"/>
              </a:lnSpc>
              <a:spcBef>
                <a:spcPts val="1000"/>
              </a:spcBef>
              <a:spcAft>
                <a:spcPts val="0"/>
              </a:spcAft>
              <a:buClr>
                <a:schemeClr val="dk1"/>
              </a:buClr>
              <a:buSzPct val="100000"/>
              <a:buChar char="•"/>
            </a:pPr>
            <a:r>
              <a:rPr b="1" lang="en-IL" sz="4000"/>
              <a:t>Iran-1 Case Study</a:t>
            </a:r>
            <a:endParaRPr sz="4000"/>
          </a:p>
          <a:p>
            <a:pPr indent="-228600" lvl="1" marL="685800" rtl="0" algn="l">
              <a:lnSpc>
                <a:spcPct val="90000"/>
              </a:lnSpc>
              <a:spcBef>
                <a:spcPts val="500"/>
              </a:spcBef>
              <a:spcAft>
                <a:spcPts val="0"/>
              </a:spcAft>
              <a:buClr>
                <a:schemeClr val="dk1"/>
              </a:buClr>
              <a:buSzPct val="100000"/>
              <a:buChar char="o"/>
            </a:pPr>
            <a:r>
              <a:rPr lang="en-IL" sz="3600"/>
              <a:t>15 accounts → 244 posts in 15 minutes → 242 reposts </a:t>
            </a:r>
            <a:endParaRPr/>
          </a:p>
          <a:p>
            <a:pPr indent="-228600" lvl="1" marL="685800" rtl="0" algn="l">
              <a:lnSpc>
                <a:spcPct val="90000"/>
              </a:lnSpc>
              <a:spcBef>
                <a:spcPts val="500"/>
              </a:spcBef>
              <a:spcAft>
                <a:spcPts val="0"/>
              </a:spcAft>
              <a:buClr>
                <a:schemeClr val="dk1"/>
              </a:buClr>
              <a:buSzPct val="100000"/>
              <a:buChar char="o"/>
            </a:pPr>
            <a:r>
              <a:rPr lang="en-IL" sz="3600"/>
              <a:t>16 of 19 reposted source posts focused on U.S. politics </a:t>
            </a:r>
            <a:endParaRPr/>
          </a:p>
          <a:p>
            <a:pPr indent="-228600" lvl="1" marL="685800" rtl="0" algn="l">
              <a:lnSpc>
                <a:spcPct val="90000"/>
              </a:lnSpc>
              <a:spcBef>
                <a:spcPts val="500"/>
              </a:spcBef>
              <a:spcAft>
                <a:spcPts val="0"/>
              </a:spcAft>
              <a:buClr>
                <a:schemeClr val="dk1"/>
              </a:buClr>
              <a:buSzPct val="100000"/>
              <a:buChar char="o"/>
            </a:pPr>
            <a:r>
              <a:rPr lang="en-IL" sz="3600"/>
              <a:t>Revealed the shared narrative behind coordinated activity</a:t>
            </a:r>
            <a:endParaRPr/>
          </a:p>
        </p:txBody>
      </p:sp>
      <p:sp>
        <p:nvSpPr>
          <p:cNvPr id="509" name="Google Shape;509;p29"/>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30"/>
          <p:cNvSpPr txBox="1"/>
          <p:nvPr>
            <p:ph type="title"/>
          </p:nvPr>
        </p:nvSpPr>
        <p:spPr>
          <a:xfrm>
            <a:off x="3072268" y="401637"/>
            <a:ext cx="9108669"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9DBB"/>
              </a:buClr>
              <a:buSzPts val="4400"/>
              <a:buFont typeface="Calibri"/>
              <a:buNone/>
            </a:pPr>
            <a:r>
              <a:rPr lang="en-IL"/>
              <a:t>Next Steps</a:t>
            </a:r>
            <a:endParaRPr/>
          </a:p>
        </p:txBody>
      </p:sp>
      <p:sp>
        <p:nvSpPr>
          <p:cNvPr id="515" name="Google Shape;515;p30"/>
          <p:cNvSpPr txBox="1"/>
          <p:nvPr>
            <p:ph idx="1" type="body"/>
          </p:nvPr>
        </p:nvSpPr>
        <p:spPr>
          <a:xfrm>
            <a:off x="1243087" y="1730375"/>
            <a:ext cx="10582656" cy="4769728"/>
          </a:xfrm>
          <a:prstGeom prst="rect">
            <a:avLst/>
          </a:prstGeom>
          <a:noFill/>
          <a:ln>
            <a:noFill/>
          </a:ln>
        </p:spPr>
        <p:txBody>
          <a:bodyPr anchorCtr="0" anchor="t" bIns="45700" lIns="91425" spcFirstLastPara="1" rIns="91425" wrap="square" tIns="45700">
            <a:normAutofit/>
          </a:bodyPr>
          <a:lstStyle/>
          <a:p>
            <a:pPr indent="-254000" lvl="0" marL="228600" rtl="0" algn="l">
              <a:lnSpc>
                <a:spcPct val="90000"/>
              </a:lnSpc>
              <a:spcBef>
                <a:spcPts val="0"/>
              </a:spcBef>
              <a:spcAft>
                <a:spcPts val="0"/>
              </a:spcAft>
              <a:buClr>
                <a:schemeClr val="dk1"/>
              </a:buClr>
              <a:buSzPts val="4000"/>
              <a:buChar char="•"/>
            </a:pPr>
            <a:r>
              <a:rPr b="1" lang="en-IL" sz="4000"/>
              <a:t>Psychological Characterization</a:t>
            </a:r>
            <a:endParaRPr b="1" sz="4000"/>
          </a:p>
          <a:p>
            <a:pPr indent="-228600" lvl="1" marL="685800" rtl="0" algn="l">
              <a:lnSpc>
                <a:spcPct val="90000"/>
              </a:lnSpc>
              <a:spcBef>
                <a:spcPts val="500"/>
              </a:spcBef>
              <a:spcAft>
                <a:spcPts val="0"/>
              </a:spcAft>
              <a:buClr>
                <a:schemeClr val="dk1"/>
              </a:buClr>
              <a:buSzPts val="3600"/>
              <a:buChar char="o"/>
            </a:pPr>
            <a:r>
              <a:rPr lang="en-IL" sz="3600"/>
              <a:t>Use prompt-based psychological questionnaires to explore characteristics that distinguish IO accounts from other accounts.</a:t>
            </a:r>
            <a:endParaRPr sz="3600"/>
          </a:p>
          <a:p>
            <a:pPr indent="0" lvl="1" marL="685800" rtl="0" algn="l">
              <a:lnSpc>
                <a:spcPct val="90000"/>
              </a:lnSpc>
              <a:spcBef>
                <a:spcPts val="500"/>
              </a:spcBef>
              <a:spcAft>
                <a:spcPts val="0"/>
              </a:spcAft>
              <a:buClr>
                <a:schemeClr val="dk1"/>
              </a:buClr>
              <a:buSzPts val="3600"/>
              <a:buNone/>
            </a:pPr>
            <a:r>
              <a:t/>
            </a:r>
            <a:endParaRPr sz="3600"/>
          </a:p>
          <a:p>
            <a:pPr indent="0" lvl="1" marL="685800" rtl="0" algn="l">
              <a:lnSpc>
                <a:spcPct val="90000"/>
              </a:lnSpc>
              <a:spcBef>
                <a:spcPts val="500"/>
              </a:spcBef>
              <a:spcAft>
                <a:spcPts val="0"/>
              </a:spcAft>
              <a:buClr>
                <a:schemeClr val="dk1"/>
              </a:buClr>
              <a:buSzPts val="3600"/>
              <a:buNone/>
            </a:pPr>
            <a:r>
              <a:t/>
            </a:r>
            <a:endParaRPr sz="3600"/>
          </a:p>
        </p:txBody>
      </p:sp>
      <p:sp>
        <p:nvSpPr>
          <p:cNvPr id="516" name="Google Shape;516;p30"/>
          <p:cNvSpPr txBox="1"/>
          <p:nvPr>
            <p:ph idx="12" type="sldNum"/>
          </p:nvPr>
        </p:nvSpPr>
        <p:spPr>
          <a:xfrm>
            <a:off x="11728704" y="6464649"/>
            <a:ext cx="452233"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L"/>
              <a:t>‹#›</a:t>
            </a:fld>
            <a:endParaRPr/>
          </a:p>
        </p:txBody>
      </p:sp>
      <p:pic>
        <p:nvPicPr>
          <p:cNvPr descr="Social media addiction brain - Social Media Psychology" id="517" name="Google Shape;517;p30"/>
          <p:cNvPicPr preferRelativeResize="0"/>
          <p:nvPr/>
        </p:nvPicPr>
        <p:blipFill rotWithShape="1">
          <a:blip r:embed="rId3">
            <a:alphaModFix amt="85000"/>
          </a:blip>
          <a:srcRect b="0" l="0" r="0" t="0"/>
          <a:stretch/>
        </p:blipFill>
        <p:spPr>
          <a:xfrm>
            <a:off x="4043112" y="3992784"/>
            <a:ext cx="3952875" cy="2471865"/>
          </a:xfrm>
          <a:prstGeom prst="rect">
            <a:avLst/>
          </a:prstGeom>
          <a:noFill/>
          <a:ln>
            <a:noFill/>
          </a:ln>
        </p:spPr>
      </p:pic>
      <p:sp>
        <p:nvSpPr>
          <p:cNvPr id="518" name="Google Shape;518;p30"/>
          <p:cNvSpPr txBox="1"/>
          <p:nvPr/>
        </p:nvSpPr>
        <p:spPr>
          <a:xfrm>
            <a:off x="4043112" y="6456363"/>
            <a:ext cx="3952875"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L" sz="1200">
                <a:solidFill>
                  <a:schemeClr val="dk1"/>
                </a:solidFill>
                <a:latin typeface="Calibri"/>
                <a:ea typeface="Calibri"/>
                <a:cs typeface="Calibri"/>
                <a:sym typeface="Calibri"/>
              </a:rPr>
              <a:t>https://netpsychology.org/social-media-psychology/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2021-05-04T15:24:24Z</dcterms:created>
  <dc:creator>Edita Grolman</dc:creator>
</cp:coreProperties>
</file>